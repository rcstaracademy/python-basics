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1"/>
  </p:notesMasterIdLst>
  <p:sldIdLst>
    <p:sldId id="2561" r:id="rId5"/>
    <p:sldId id="2562" r:id="rId6"/>
    <p:sldId id="298" r:id="rId7"/>
    <p:sldId id="2563" r:id="rId8"/>
    <p:sldId id="2564" r:id="rId9"/>
    <p:sldId id="2565" r:id="rId10"/>
    <p:sldId id="2566" r:id="rId11"/>
    <p:sldId id="2567" r:id="rId12"/>
    <p:sldId id="2568" r:id="rId13"/>
    <p:sldId id="2569" r:id="rId14"/>
    <p:sldId id="2570" r:id="rId15"/>
    <p:sldId id="2571" r:id="rId16"/>
    <p:sldId id="2572" r:id="rId17"/>
    <p:sldId id="2573" r:id="rId18"/>
    <p:sldId id="2574" r:id="rId19"/>
    <p:sldId id="2575" r:id="rId20"/>
    <p:sldId id="2576" r:id="rId21"/>
    <p:sldId id="2577" r:id="rId22"/>
    <p:sldId id="299" r:id="rId23"/>
    <p:sldId id="300" r:id="rId24"/>
    <p:sldId id="301" r:id="rId25"/>
    <p:sldId id="302" r:id="rId26"/>
    <p:sldId id="303" r:id="rId27"/>
    <p:sldId id="304" r:id="rId28"/>
    <p:sldId id="305" r:id="rId29"/>
    <p:sldId id="306" r:id="rId30"/>
    <p:sldId id="307" r:id="rId31"/>
    <p:sldId id="308" r:id="rId32"/>
    <p:sldId id="309" r:id="rId33"/>
    <p:sldId id="2582" r:id="rId34"/>
    <p:sldId id="310" r:id="rId35"/>
    <p:sldId id="2583" r:id="rId36"/>
    <p:sldId id="2578" r:id="rId37"/>
    <p:sldId id="2579" r:id="rId38"/>
    <p:sldId id="2580" r:id="rId39"/>
    <p:sldId id="258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stering Regular Expressions in Python" id="{107EF024-2EC7-4F6C-BF60-8281425BB365}">
          <p14:sldIdLst>
            <p14:sldId id="2561"/>
          </p14:sldIdLst>
        </p14:section>
        <p14:section name="Introduction" id="{C44C0003-2A4F-45DA-A543-87F06DF4C1FE}">
          <p14:sldIdLst>
            <p14:sldId id="2562"/>
            <p14:sldId id="298"/>
            <p14:sldId id="2563"/>
          </p14:sldIdLst>
        </p14:section>
        <p14:section name="Basics of RegEx" id="{8A117CDE-1B99-4326-BEFB-932715D5E977}">
          <p14:sldIdLst>
            <p14:sldId id="2564"/>
            <p14:sldId id="2565"/>
          </p14:sldIdLst>
        </p14:section>
        <p14:section name="Python re Module" id="{010E7184-16EF-4B75-84E6-6F5F0BCB4BD7}">
          <p14:sldIdLst>
            <p14:sldId id="2566"/>
            <p14:sldId id="2567"/>
          </p14:sldIdLst>
        </p14:section>
        <p14:section name="Character Classes and Quantifiers" id="{A7A2AFD8-9C44-4E68-8711-381EEE6B1250}">
          <p14:sldIdLst>
            <p14:sldId id="2568"/>
            <p14:sldId id="2569"/>
          </p14:sldIdLst>
        </p14:section>
        <p14:section name="Anchors and Groups" id="{123AF230-F3A5-4AFC-ABC3-DE6A8F1E56BD}">
          <p14:sldIdLst>
            <p14:sldId id="2570"/>
            <p14:sldId id="2571"/>
          </p14:sldIdLst>
        </p14:section>
        <p14:section name="Advanced Features" id="{00BECD64-8942-4003-A48D-0C08ECB4A94F}">
          <p14:sldIdLst>
            <p14:sldId id="2572"/>
            <p14:sldId id="2573"/>
          </p14:sldIdLst>
        </p14:section>
        <p14:section name="Common Use Cases" id="{0362E9BF-F5FF-4CD4-B883-06DF5066B2C8}">
          <p14:sldIdLst>
            <p14:sldId id="2574"/>
            <p14:sldId id="2575"/>
          </p14:sldIdLst>
        </p14:section>
        <p14:section name="Best Practices" id="{FEDC57A6-A911-4156-A831-D885F61FB2CF}">
          <p14:sldIdLst>
            <p14:sldId id="2576"/>
            <p14:sldId id="2577"/>
            <p14:sldId id="299"/>
            <p14:sldId id="300"/>
            <p14:sldId id="301"/>
            <p14:sldId id="302"/>
            <p14:sldId id="303"/>
            <p14:sldId id="304"/>
            <p14:sldId id="305"/>
            <p14:sldId id="306"/>
            <p14:sldId id="307"/>
            <p14:sldId id="308"/>
            <p14:sldId id="309"/>
            <p14:sldId id="2582"/>
            <p14:sldId id="310"/>
            <p14:sldId id="2583"/>
          </p14:sldIdLst>
        </p14:section>
        <p14:section name="Hands-on Exercises" id="{0E9062A0-14FB-4D9F-9B66-2EB8E475FF8C}">
          <p14:sldIdLst>
            <p14:sldId id="2578"/>
            <p14:sldId id="2579"/>
          </p14:sldIdLst>
        </p14:section>
        <p14:section name="Resources and Summary" id="{C7264764-16FE-42AD-B003-115128C9812A}">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56" d="100"/>
          <a:sy n="56" d="100"/>
        </p:scale>
        <p:origin x="1000" y="4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1E36F-FA84-4F75-B2FA-3165A88EAC14}" type="datetimeFigureOut">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B5306A-6316-450F-B4FA-4374194FCF7E}" type="slidenum">
              <a:t>‹#›</a:t>
            </a:fld>
            <a:endParaRPr lang="en-US"/>
          </a:p>
        </p:txBody>
      </p:sp>
    </p:spTree>
    <p:extLst>
      <p:ext uri="{BB962C8B-B14F-4D97-AF65-F5344CB8AC3E}">
        <p14:creationId xmlns:p14="http://schemas.microsoft.com/office/powerpoint/2010/main" val="2146553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AF4339E-2532-48A8-BEEE-9EAD5B32C7DE}" type="slidenum">
              <a:t>1</a:t>
            </a:fld>
            <a:endParaRPr lang="en-US"/>
          </a:p>
        </p:txBody>
      </p:sp>
    </p:spTree>
    <p:extLst>
      <p:ext uri="{BB962C8B-B14F-4D97-AF65-F5344CB8AC3E}">
        <p14:creationId xmlns:p14="http://schemas.microsoft.com/office/powerpoint/2010/main" val="1847959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Regular Expressions</a:t>
            </a:r>
          </a:p>
        </p:txBody>
      </p:sp>
      <p:sp>
        <p:nvSpPr>
          <p:cNvPr id="4" name="Slide Number Placeholder 3"/>
          <p:cNvSpPr>
            <a:spLocks noGrp="1"/>
          </p:cNvSpPr>
          <p:nvPr>
            <p:ph type="sldNum" sz="quarter" idx="5"/>
          </p:nvPr>
        </p:nvSpPr>
        <p:spPr/>
        <p:txBody>
          <a:bodyPr/>
          <a:lstStyle/>
          <a:p>
            <a:fld id="{1AF4339E-2532-48A8-BEEE-9EAD5B32C7DE}" type="slidenum">
              <a:t>2</a:t>
            </a:fld>
            <a:endParaRPr lang="en-US"/>
          </a:p>
        </p:txBody>
      </p:sp>
    </p:spTree>
    <p:extLst>
      <p:ext uri="{BB962C8B-B14F-4D97-AF65-F5344CB8AC3E}">
        <p14:creationId xmlns:p14="http://schemas.microsoft.com/office/powerpoint/2010/main" val="4204603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Regular Expressions (RegEx) are powerful tools for pattern matching and text manipulation. They allow developers to define search patterns that can validate, extract, or transform text efficiently. In Python, RegEx is widely used for tasks such as validating user input in web forms, parsing logs for specific entries, and scraping structured data from websites. Understanding RegEx is essential for data cleaning, text analysis, and automation workflows. Real-world examples include checking if an email address is valid, extracting phone numbers from documents, and cleaning up inconsistent whitespace in text files. By mastering RegEx, developers can handle complex text-processing challenges with concise and efficient code.</a:t>
            </a:r>
          </a:p>
        </p:txBody>
      </p:sp>
      <p:sp>
        <p:nvSpPr>
          <p:cNvPr id="4" name="Slide Number Placeholder 3"/>
          <p:cNvSpPr>
            <a:spLocks noGrp="1"/>
          </p:cNvSpPr>
          <p:nvPr>
            <p:ph type="sldNum" sz="quarter" idx="5"/>
          </p:nvPr>
        </p:nvSpPr>
        <p:spPr/>
        <p:txBody>
          <a:bodyPr/>
          <a:lstStyle/>
          <a:p>
            <a:fld id="{1AF4339E-2532-48A8-BEEE-9EAD5B32C7DE}" type="slidenum">
              <a:t>4</a:t>
            </a:fld>
            <a:endParaRPr lang="en-US"/>
          </a:p>
        </p:txBody>
      </p:sp>
    </p:spTree>
    <p:extLst>
      <p:ext uri="{BB962C8B-B14F-4D97-AF65-F5344CB8AC3E}">
        <p14:creationId xmlns:p14="http://schemas.microsoft.com/office/powerpoint/2010/main" val="2126084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Metacharacters and Simple Patterns</a:t>
            </a:r>
          </a:p>
        </p:txBody>
      </p:sp>
      <p:sp>
        <p:nvSpPr>
          <p:cNvPr id="4" name="Slide Number Placeholder 3"/>
          <p:cNvSpPr>
            <a:spLocks noGrp="1"/>
          </p:cNvSpPr>
          <p:nvPr>
            <p:ph type="sldNum" sz="quarter" idx="5"/>
          </p:nvPr>
        </p:nvSpPr>
        <p:spPr/>
        <p:txBody>
          <a:bodyPr/>
          <a:lstStyle/>
          <a:p>
            <a:fld id="{1AF4339E-2532-48A8-BEEE-9EAD5B32C7DE}" type="slidenum">
              <a:t>5</a:t>
            </a:fld>
            <a:endParaRPr lang="en-US"/>
          </a:p>
        </p:txBody>
      </p:sp>
    </p:spTree>
    <p:extLst>
      <p:ext uri="{BB962C8B-B14F-4D97-AF65-F5344CB8AC3E}">
        <p14:creationId xmlns:p14="http://schemas.microsoft.com/office/powerpoint/2010/main" val="1341954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RegEx patterns consist of literal characters and metacharacters. Literal characters match themselves, while metacharacters have special meanings. Common metacharacters include: '.' (any character), '^' (start of string), '$' (end of string), '*' (zero or more repetitions), '+' (one or more repetitions), '?' (optional), '{m,n}' (specific repetition range), '[ ]' (character classes), '\\' (escape character), and '|' (alternation). For example, the pattern 'cat' matches the word 'cat' in text, while 'c.t' matches 'cat', 'cut', or 'cot'. These basics form the foundation for building more complex patterns used in real-world scenarios like keyword searches in documents.</a:t>
            </a:r>
          </a:p>
        </p:txBody>
      </p:sp>
      <p:sp>
        <p:nvSpPr>
          <p:cNvPr id="4" name="Slide Number Placeholder 3"/>
          <p:cNvSpPr>
            <a:spLocks noGrp="1"/>
          </p:cNvSpPr>
          <p:nvPr>
            <p:ph type="sldNum" sz="quarter" idx="5"/>
          </p:nvPr>
        </p:nvSpPr>
        <p:spPr/>
        <p:txBody>
          <a:bodyPr/>
          <a:lstStyle/>
          <a:p>
            <a:fld id="{1AF4339E-2532-48A8-BEEE-9EAD5B32C7DE}" type="slidenum">
              <a:t>6</a:t>
            </a:fld>
            <a:endParaRPr lang="en-US"/>
          </a:p>
        </p:txBody>
      </p:sp>
    </p:spTree>
    <p:extLst>
      <p:ext uri="{BB962C8B-B14F-4D97-AF65-F5344CB8AC3E}">
        <p14:creationId xmlns:p14="http://schemas.microsoft.com/office/powerpoint/2010/main" val="2344626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Functions and Usage</a:t>
            </a:r>
          </a:p>
        </p:txBody>
      </p:sp>
      <p:sp>
        <p:nvSpPr>
          <p:cNvPr id="4" name="Slide Number Placeholder 3"/>
          <p:cNvSpPr>
            <a:spLocks noGrp="1"/>
          </p:cNvSpPr>
          <p:nvPr>
            <p:ph type="sldNum" sz="quarter" idx="5"/>
          </p:nvPr>
        </p:nvSpPr>
        <p:spPr/>
        <p:txBody>
          <a:bodyPr/>
          <a:lstStyle/>
          <a:p>
            <a:fld id="{1AF4339E-2532-48A8-BEEE-9EAD5B32C7DE}" type="slidenum">
              <a:t>7</a:t>
            </a:fld>
            <a:endParaRPr lang="en-US"/>
          </a:p>
        </p:txBody>
      </p:sp>
    </p:spTree>
    <p:extLst>
      <p:ext uri="{BB962C8B-B14F-4D97-AF65-F5344CB8AC3E}">
        <p14:creationId xmlns:p14="http://schemas.microsoft.com/office/powerpoint/2010/main" val="2477644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Python provides the 're' module for working with regular expressions. Key functions include: re.match() (checks for a match at the beginning of a string), re.search() (searches for a match anywhere in the string), re.findall() (returns all matches as a list), and re.sub() (replaces matches with a specified string). For example, extracting an order ID from text can be done using re.search(r'\\d+', 'Order ID: 12345').group(), which returns '12345'. These functions enable developers to implement RegEx in data validation, log analysis, and text transformation tasks efficiently.</a:t>
            </a:r>
          </a:p>
        </p:txBody>
      </p:sp>
      <p:sp>
        <p:nvSpPr>
          <p:cNvPr id="4" name="Slide Number Placeholder 3"/>
          <p:cNvSpPr>
            <a:spLocks noGrp="1"/>
          </p:cNvSpPr>
          <p:nvPr>
            <p:ph type="sldNum" sz="quarter" idx="5"/>
          </p:nvPr>
        </p:nvSpPr>
        <p:spPr/>
        <p:txBody>
          <a:bodyPr/>
          <a:lstStyle/>
          <a:p>
            <a:fld id="{1AF4339E-2532-48A8-BEEE-9EAD5B32C7DE}" type="slidenum">
              <a:t>8</a:t>
            </a:fld>
            <a:endParaRPr lang="en-US"/>
          </a:p>
        </p:txBody>
      </p:sp>
    </p:spTree>
    <p:extLst>
      <p:ext uri="{BB962C8B-B14F-4D97-AF65-F5344CB8AC3E}">
        <p14:creationId xmlns:p14="http://schemas.microsoft.com/office/powerpoint/2010/main" val="1192267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Defining Sets and Repetition</a:t>
            </a:r>
          </a:p>
        </p:txBody>
      </p:sp>
      <p:sp>
        <p:nvSpPr>
          <p:cNvPr id="4" name="Slide Number Placeholder 3"/>
          <p:cNvSpPr>
            <a:spLocks noGrp="1"/>
          </p:cNvSpPr>
          <p:nvPr>
            <p:ph type="sldNum" sz="quarter" idx="5"/>
          </p:nvPr>
        </p:nvSpPr>
        <p:spPr/>
        <p:txBody>
          <a:bodyPr/>
          <a:lstStyle/>
          <a:p>
            <a:fld id="{1AF4339E-2532-48A8-BEEE-9EAD5B32C7DE}" type="slidenum">
              <a:t>9</a:t>
            </a:fld>
            <a:endParaRPr lang="en-US"/>
          </a:p>
        </p:txBody>
      </p:sp>
    </p:spTree>
    <p:extLst>
      <p:ext uri="{BB962C8B-B14F-4D97-AF65-F5344CB8AC3E}">
        <p14:creationId xmlns:p14="http://schemas.microsoft.com/office/powerpoint/2010/main" val="11404739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Character classes allow matching specific sets of characters, such as [a-z] for lowercase letters, [0-9] for digits, and shorthand classes like \\d (digits), \\w (word characters), and \\s (whitespace). Quantifiers define how many times a pattern should repeat: '*' for zero or more, '+' for one or more, '?' for optional, and {m,n} for a specific range. For example, re.findall(r'\\d{4}', 'Year: 2023, Code: 9876') returns ['2023', '9876'], which is useful for extracting years or codes from text. These features are essential for building flexible and powerful patterns for real-world data extraction.</a:t>
            </a:r>
          </a:p>
        </p:txBody>
      </p:sp>
      <p:sp>
        <p:nvSpPr>
          <p:cNvPr id="4" name="Slide Number Placeholder 3"/>
          <p:cNvSpPr>
            <a:spLocks noGrp="1"/>
          </p:cNvSpPr>
          <p:nvPr>
            <p:ph type="sldNum" sz="quarter" idx="5"/>
          </p:nvPr>
        </p:nvSpPr>
        <p:spPr/>
        <p:txBody>
          <a:bodyPr/>
          <a:lstStyle/>
          <a:p>
            <a:fld id="{1AF4339E-2532-48A8-BEEE-9EAD5B32C7DE}" type="slidenum">
              <a:t>10</a:t>
            </a:fld>
            <a:endParaRPr lang="en-US"/>
          </a:p>
        </p:txBody>
      </p:sp>
    </p:spTree>
    <p:extLst>
      <p:ext uri="{BB962C8B-B14F-4D97-AF65-F5344CB8AC3E}">
        <p14:creationId xmlns:p14="http://schemas.microsoft.com/office/powerpoint/2010/main" val="947338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Positioning and Capturing Data</a:t>
            </a:r>
          </a:p>
        </p:txBody>
      </p:sp>
      <p:sp>
        <p:nvSpPr>
          <p:cNvPr id="4" name="Slide Number Placeholder 3"/>
          <p:cNvSpPr>
            <a:spLocks noGrp="1"/>
          </p:cNvSpPr>
          <p:nvPr>
            <p:ph type="sldNum" sz="quarter" idx="5"/>
          </p:nvPr>
        </p:nvSpPr>
        <p:spPr/>
        <p:txBody>
          <a:bodyPr/>
          <a:lstStyle/>
          <a:p>
            <a:fld id="{1AF4339E-2532-48A8-BEEE-9EAD5B32C7DE}" type="slidenum">
              <a:t>11</a:t>
            </a:fld>
            <a:endParaRPr lang="en-US"/>
          </a:p>
        </p:txBody>
      </p:sp>
    </p:spTree>
    <p:extLst>
      <p:ext uri="{BB962C8B-B14F-4D97-AF65-F5344CB8AC3E}">
        <p14:creationId xmlns:p14="http://schemas.microsoft.com/office/powerpoint/2010/main" val="3743944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Anchors specify positions in the text: '^' matches the start of a string, and '$' matches the end. Groups, defined by parentheses ( ), allow capturing parts of a match for later use. For example, re.search(r'(\\d{3})-(\\d{2})-(\\d{4})', 'SSN: 123-45-6789').groups() returns ('123', '45', '6789'). This technique is widely used for parsing structured data such as Social Security Numbers, phone numbers, or formatted IDs. Grouping also supports non-capturing groups and named groups for better readability and maintainability.</a:t>
            </a:r>
          </a:p>
        </p:txBody>
      </p:sp>
      <p:sp>
        <p:nvSpPr>
          <p:cNvPr id="4" name="Slide Number Placeholder 3"/>
          <p:cNvSpPr>
            <a:spLocks noGrp="1"/>
          </p:cNvSpPr>
          <p:nvPr>
            <p:ph type="sldNum" sz="quarter" idx="5"/>
          </p:nvPr>
        </p:nvSpPr>
        <p:spPr/>
        <p:txBody>
          <a:bodyPr/>
          <a:lstStyle/>
          <a:p>
            <a:fld id="{1AF4339E-2532-48A8-BEEE-9EAD5B32C7DE}" type="slidenum">
              <a:t>12</a:t>
            </a:fld>
            <a:endParaRPr lang="en-US"/>
          </a:p>
        </p:txBody>
      </p:sp>
    </p:spTree>
    <p:extLst>
      <p:ext uri="{BB962C8B-B14F-4D97-AF65-F5344CB8AC3E}">
        <p14:creationId xmlns:p14="http://schemas.microsoft.com/office/powerpoint/2010/main" val="2881246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Lookarounds and Flags</a:t>
            </a:r>
          </a:p>
        </p:txBody>
      </p:sp>
      <p:sp>
        <p:nvSpPr>
          <p:cNvPr id="4" name="Slide Number Placeholder 3"/>
          <p:cNvSpPr>
            <a:spLocks noGrp="1"/>
          </p:cNvSpPr>
          <p:nvPr>
            <p:ph type="sldNum" sz="quarter" idx="5"/>
          </p:nvPr>
        </p:nvSpPr>
        <p:spPr/>
        <p:txBody>
          <a:bodyPr/>
          <a:lstStyle/>
          <a:p>
            <a:fld id="{1AF4339E-2532-48A8-BEEE-9EAD5B32C7DE}" type="slidenum">
              <a:t>13</a:t>
            </a:fld>
            <a:endParaRPr lang="en-US"/>
          </a:p>
        </p:txBody>
      </p:sp>
    </p:spTree>
    <p:extLst>
      <p:ext uri="{BB962C8B-B14F-4D97-AF65-F5344CB8AC3E}">
        <p14:creationId xmlns:p14="http://schemas.microsoft.com/office/powerpoint/2010/main" val="2018953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Advanced RegEx features include lookahead and lookbehind assertions, which allow matching patterns based on context without consuming characters. For example, re.search(r'(?&lt;=USD)\\d+', 'Price: USD100').group() returns '100', extracting a number that follows 'USD'. Named groups improve clarity by assigning names to captured data. Flags like re.IGNORECASE and re.MULTILINE modify matching behavior for case-insensitive searches or multi-line text. These advanced techniques are crucial for complex text processing tasks such as financial data extraction or log analysis.</a:t>
            </a:r>
          </a:p>
        </p:txBody>
      </p:sp>
      <p:sp>
        <p:nvSpPr>
          <p:cNvPr id="4" name="Slide Number Placeholder 3"/>
          <p:cNvSpPr>
            <a:spLocks noGrp="1"/>
          </p:cNvSpPr>
          <p:nvPr>
            <p:ph type="sldNum" sz="quarter" idx="5"/>
          </p:nvPr>
        </p:nvSpPr>
        <p:spPr/>
        <p:txBody>
          <a:bodyPr/>
          <a:lstStyle/>
          <a:p>
            <a:fld id="{1AF4339E-2532-48A8-BEEE-9EAD5B32C7DE}" type="slidenum">
              <a:t>14</a:t>
            </a:fld>
            <a:endParaRPr lang="en-US"/>
          </a:p>
        </p:txBody>
      </p:sp>
    </p:spTree>
    <p:extLst>
      <p:ext uri="{BB962C8B-B14F-4D97-AF65-F5344CB8AC3E}">
        <p14:creationId xmlns:p14="http://schemas.microsoft.com/office/powerpoint/2010/main" val="38655165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Applications</a:t>
            </a:r>
          </a:p>
        </p:txBody>
      </p:sp>
      <p:sp>
        <p:nvSpPr>
          <p:cNvPr id="4" name="Slide Number Placeholder 3"/>
          <p:cNvSpPr>
            <a:spLocks noGrp="1"/>
          </p:cNvSpPr>
          <p:nvPr>
            <p:ph type="sldNum" sz="quarter" idx="5"/>
          </p:nvPr>
        </p:nvSpPr>
        <p:spPr/>
        <p:txBody>
          <a:bodyPr/>
          <a:lstStyle/>
          <a:p>
            <a:fld id="{1AF4339E-2532-48A8-BEEE-9EAD5B32C7DE}" type="slidenum">
              <a:t>15</a:t>
            </a:fld>
            <a:endParaRPr lang="en-US"/>
          </a:p>
        </p:txBody>
      </p:sp>
    </p:spTree>
    <p:extLst>
      <p:ext uri="{BB962C8B-B14F-4D97-AF65-F5344CB8AC3E}">
        <p14:creationId xmlns:p14="http://schemas.microsoft.com/office/powerpoint/2010/main" val="16902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Regular expressions are widely used in real-world applications. Common use cases include validating email addresses with patterns like ^[\\w\\.-]+@[\\w\\.-]+\\.\\w+$, extracting phone numbers from text, and cleaning up extra spaces by replacing multiple spaces with a single space using re.sub(r'\\s+', ' ', text). These tasks are essential in web development, data preprocessing, and automation scripts, making RegEx a valuable skill for Python developers.</a:t>
            </a:r>
          </a:p>
        </p:txBody>
      </p:sp>
      <p:sp>
        <p:nvSpPr>
          <p:cNvPr id="4" name="Slide Number Placeholder 3"/>
          <p:cNvSpPr>
            <a:spLocks noGrp="1"/>
          </p:cNvSpPr>
          <p:nvPr>
            <p:ph type="sldNum" sz="quarter" idx="5"/>
          </p:nvPr>
        </p:nvSpPr>
        <p:spPr/>
        <p:txBody>
          <a:bodyPr/>
          <a:lstStyle/>
          <a:p>
            <a:fld id="{1AF4339E-2532-48A8-BEEE-9EAD5B32C7DE}" type="slidenum">
              <a:t>16</a:t>
            </a:fld>
            <a:endParaRPr lang="en-US"/>
          </a:p>
        </p:txBody>
      </p:sp>
    </p:spTree>
    <p:extLst>
      <p:ext uri="{BB962C8B-B14F-4D97-AF65-F5344CB8AC3E}">
        <p14:creationId xmlns:p14="http://schemas.microsoft.com/office/powerpoint/2010/main" val="4207552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Writing Efficient and Readable Patterns</a:t>
            </a:r>
          </a:p>
        </p:txBody>
      </p:sp>
      <p:sp>
        <p:nvSpPr>
          <p:cNvPr id="4" name="Slide Number Placeholder 3"/>
          <p:cNvSpPr>
            <a:spLocks noGrp="1"/>
          </p:cNvSpPr>
          <p:nvPr>
            <p:ph type="sldNum" sz="quarter" idx="5"/>
          </p:nvPr>
        </p:nvSpPr>
        <p:spPr/>
        <p:txBody>
          <a:bodyPr/>
          <a:lstStyle/>
          <a:p>
            <a:fld id="{1AF4339E-2532-48A8-BEEE-9EAD5B32C7DE}" type="slidenum">
              <a:t>17</a:t>
            </a:fld>
            <a:endParaRPr lang="en-US"/>
          </a:p>
        </p:txBody>
      </p:sp>
    </p:spTree>
    <p:extLst>
      <p:ext uri="{BB962C8B-B14F-4D97-AF65-F5344CB8AC3E}">
        <p14:creationId xmlns:p14="http://schemas.microsoft.com/office/powerpoint/2010/main" val="4232941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ensure maintainability and performance, follow best practices when writing RegEx patterns. Use raw strings (r"pattern") to avoid issues with escape sequences. Keep patterns readable by using comments and whitespace with the VERBOSE flag. Test patterns thoroughly using tools like Regex101 before deployment. Avoid overly complex expressions that are hard to debug, and prefer clarity over brevity. These practices help prevent errors and improve collaboration in projects involving text processing.</a:t>
            </a:r>
          </a:p>
        </p:txBody>
      </p:sp>
      <p:sp>
        <p:nvSpPr>
          <p:cNvPr id="4" name="Slide Number Placeholder 3"/>
          <p:cNvSpPr>
            <a:spLocks noGrp="1"/>
          </p:cNvSpPr>
          <p:nvPr>
            <p:ph type="sldNum" sz="quarter" idx="5"/>
          </p:nvPr>
        </p:nvSpPr>
        <p:spPr/>
        <p:txBody>
          <a:bodyPr/>
          <a:lstStyle/>
          <a:p>
            <a:fld id="{1AF4339E-2532-48A8-BEEE-9EAD5B32C7DE}" type="slidenum">
              <a:t>18</a:t>
            </a:fld>
            <a:endParaRPr lang="en-US"/>
          </a:p>
        </p:txBody>
      </p:sp>
    </p:spTree>
    <p:extLst>
      <p:ext uri="{BB962C8B-B14F-4D97-AF65-F5344CB8AC3E}">
        <p14:creationId xmlns:p14="http://schemas.microsoft.com/office/powerpoint/2010/main" val="2412366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Practice Tasks with Solutions</a:t>
            </a:r>
          </a:p>
        </p:txBody>
      </p:sp>
      <p:sp>
        <p:nvSpPr>
          <p:cNvPr id="4" name="Slide Number Placeholder 3"/>
          <p:cNvSpPr>
            <a:spLocks noGrp="1"/>
          </p:cNvSpPr>
          <p:nvPr>
            <p:ph type="sldNum" sz="quarter" idx="5"/>
          </p:nvPr>
        </p:nvSpPr>
        <p:spPr/>
        <p:txBody>
          <a:bodyPr/>
          <a:lstStyle/>
          <a:p>
            <a:fld id="{1AF4339E-2532-48A8-BEEE-9EAD5B32C7DE}" type="slidenum">
              <a:t>33</a:t>
            </a:fld>
            <a:endParaRPr lang="en-US"/>
          </a:p>
        </p:txBody>
      </p:sp>
    </p:spTree>
    <p:extLst>
      <p:ext uri="{BB962C8B-B14F-4D97-AF65-F5344CB8AC3E}">
        <p14:creationId xmlns:p14="http://schemas.microsoft.com/office/powerpoint/2010/main" val="3973960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Hands-on exercises reinforce learning. Examples include: writing a regex to validate an email address, extracting all hashtags from a tweet using re.findall(r'#\\w+', text), and replacing multiple spaces with a single space using re.sub(r'\\s+', ' ', text). These exercises simulate real-world scenarios and help learners apply concepts effectively. Providing solutions and explanations ensures understanding and builds confidence in using RegEx for practical tasks.</a:t>
            </a:r>
          </a:p>
        </p:txBody>
      </p:sp>
      <p:sp>
        <p:nvSpPr>
          <p:cNvPr id="4" name="Slide Number Placeholder 3"/>
          <p:cNvSpPr>
            <a:spLocks noGrp="1"/>
          </p:cNvSpPr>
          <p:nvPr>
            <p:ph type="sldNum" sz="quarter" idx="5"/>
          </p:nvPr>
        </p:nvSpPr>
        <p:spPr/>
        <p:txBody>
          <a:bodyPr/>
          <a:lstStyle/>
          <a:p>
            <a:fld id="{1AF4339E-2532-48A8-BEEE-9EAD5B32C7DE}" type="slidenum">
              <a:t>34</a:t>
            </a:fld>
            <a:endParaRPr lang="en-US"/>
          </a:p>
        </p:txBody>
      </p:sp>
    </p:spTree>
    <p:extLst>
      <p:ext uri="{BB962C8B-B14F-4D97-AF65-F5344CB8AC3E}">
        <p14:creationId xmlns:p14="http://schemas.microsoft.com/office/powerpoint/2010/main" val="2176953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Further Learning and Key Takeaways</a:t>
            </a:r>
          </a:p>
        </p:txBody>
      </p:sp>
      <p:sp>
        <p:nvSpPr>
          <p:cNvPr id="4" name="Slide Number Placeholder 3"/>
          <p:cNvSpPr>
            <a:spLocks noGrp="1"/>
          </p:cNvSpPr>
          <p:nvPr>
            <p:ph type="sldNum" sz="quarter" idx="5"/>
          </p:nvPr>
        </p:nvSpPr>
        <p:spPr/>
        <p:txBody>
          <a:bodyPr/>
          <a:lstStyle/>
          <a:p>
            <a:fld id="{1AF4339E-2532-48A8-BEEE-9EAD5B32C7DE}" type="slidenum">
              <a:t>35</a:t>
            </a:fld>
            <a:endParaRPr lang="en-US"/>
          </a:p>
        </p:txBody>
      </p:sp>
    </p:spTree>
    <p:extLst>
      <p:ext uri="{BB962C8B-B14F-4D97-AF65-F5344CB8AC3E}">
        <p14:creationId xmlns:p14="http://schemas.microsoft.com/office/powerpoint/2010/main" val="1216698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deepen your understanding of RegEx in Python, explore resources such as the official Python documentation, Regex101.com for interactive pattern testing, and specialized books or tutorials. Key takeaways include the versatility of RegEx for text processing, the importance of mastering basic and advanced features, and the value of best practices for writing efficient patterns. By integrating RegEx into your workflow, you can automate complex tasks and enhance data handling capabilities.</a:t>
            </a:r>
          </a:p>
        </p:txBody>
      </p:sp>
      <p:sp>
        <p:nvSpPr>
          <p:cNvPr id="4" name="Slide Number Placeholder 3"/>
          <p:cNvSpPr>
            <a:spLocks noGrp="1"/>
          </p:cNvSpPr>
          <p:nvPr>
            <p:ph type="sldNum" sz="quarter" idx="5"/>
          </p:nvPr>
        </p:nvSpPr>
        <p:spPr/>
        <p:txBody>
          <a:bodyPr/>
          <a:lstStyle/>
          <a:p>
            <a:fld id="{1AF4339E-2532-48A8-BEEE-9EAD5B32C7DE}" type="slidenum">
              <a:t>36</a:t>
            </a:fld>
            <a:endParaRPr lang="en-US"/>
          </a:p>
        </p:txBody>
      </p:sp>
    </p:spTree>
    <p:extLst>
      <p:ext uri="{BB962C8B-B14F-4D97-AF65-F5344CB8AC3E}">
        <p14:creationId xmlns:p14="http://schemas.microsoft.com/office/powerpoint/2010/main" val="14905868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3/4/2026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3/4/2026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3/4/2026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3/4/2026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3/4/2026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3/4/2026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B5EE-840E-EEB8-1988-206A9355D0E5}"/>
              </a:ext>
            </a:extLst>
          </p:cNvPr>
          <p:cNvSpPr>
            <a:spLocks noGrp="1"/>
          </p:cNvSpPr>
          <p:nvPr>
            <p:ph type="ctrTitle"/>
          </p:nvPr>
        </p:nvSpPr>
        <p:spPr>
          <a:xfrm>
            <a:off x="1752600" y="1447800"/>
            <a:ext cx="8686800" cy="2491655"/>
          </a:xfrm>
        </p:spPr>
        <p:txBody>
          <a:bodyPr anchor="b">
            <a:normAutofit/>
          </a:bodyPr>
          <a:lstStyle/>
          <a:p>
            <a:r>
              <a:rPr lang="en-US" dirty="0"/>
              <a:t>Mastering Regular Expressions in Python</a:t>
            </a:r>
          </a:p>
        </p:txBody>
      </p:sp>
      <p:sp>
        <p:nvSpPr>
          <p:cNvPr id="3" name="Subtitle 2">
            <a:extLst>
              <a:ext uri="{FF2B5EF4-FFF2-40B4-BE49-F238E27FC236}">
                <a16:creationId xmlns:a16="http://schemas.microsoft.com/office/drawing/2014/main" id="{5FCC3CA5-40E6-5848-7AEE-1FF6436305B6}"/>
              </a:ext>
            </a:extLst>
          </p:cNvPr>
          <p:cNvSpPr>
            <a:spLocks noGrp="1"/>
          </p:cNvSpPr>
          <p:nvPr>
            <p:ph type="subTitle" idx="1"/>
          </p:nvPr>
        </p:nvSpPr>
        <p:spPr>
          <a:xfrm>
            <a:off x="2301923" y="4039648"/>
            <a:ext cx="7588155" cy="1029310"/>
          </a:xfrm>
        </p:spPr>
        <p:txBody>
          <a:bodyPr>
            <a:normAutofit fontScale="85000" lnSpcReduction="20000"/>
          </a:bodyPr>
          <a:lstStyle/>
          <a:p>
            <a:r>
              <a:rPr lang="en-US" dirty="0"/>
              <a:t>Unlock powerful text processing techniques with code</a:t>
            </a:r>
          </a:p>
          <a:p>
            <a:endParaRPr lang="en-US" dirty="0"/>
          </a:p>
          <a:p>
            <a:r>
              <a:rPr lang="en-US"/>
              <a:t>Dr.</a:t>
            </a:r>
            <a:endParaRPr lang="en-US" dirty="0"/>
          </a:p>
          <a:p>
            <a:endParaRPr lang="en-US" dirty="0"/>
          </a:p>
        </p:txBody>
      </p:sp>
    </p:spTree>
    <p:extLst>
      <p:ext uri="{BB962C8B-B14F-4D97-AF65-F5344CB8AC3E}">
        <p14:creationId xmlns:p14="http://schemas.microsoft.com/office/powerpoint/2010/main" val="206486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par>
                                <p:cTn id="16" presetID="10"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A351A-C5AB-E239-5122-A78488779D85}"/>
              </a:ext>
            </a:extLst>
          </p:cNvPr>
          <p:cNvSpPr>
            <a:spLocks noGrp="1"/>
          </p:cNvSpPr>
          <p:nvPr>
            <p:ph type="title"/>
          </p:nvPr>
        </p:nvSpPr>
        <p:spPr>
          <a:xfrm>
            <a:off x="111758" y="1869103"/>
            <a:ext cx="9337042" cy="4906929"/>
          </a:xfrm>
        </p:spPr>
        <p:txBody>
          <a:bodyPr anchor="b">
            <a:normAutofit/>
          </a:bodyPr>
          <a:lstStyle/>
          <a:p>
            <a:r>
              <a:rPr lang="en-US"/>
              <a:t>Introduction</a:t>
            </a:r>
          </a:p>
        </p:txBody>
      </p:sp>
    </p:spTree>
    <p:extLst>
      <p:ext uri="{BB962C8B-B14F-4D97-AF65-F5344CB8AC3E}">
        <p14:creationId xmlns:p14="http://schemas.microsoft.com/office/powerpoint/2010/main" val="1814656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3159D-3C13-CB8D-E79E-B16D6217F1A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7C55E16-FDB0-DE81-4799-CD23B5B66BD7}"/>
              </a:ext>
            </a:extLst>
          </p:cNvPr>
          <p:cNvSpPr>
            <a:spLocks noGrp="1"/>
          </p:cNvSpPr>
          <p:nvPr>
            <p:ph idx="1"/>
          </p:nvPr>
        </p:nvSpPr>
        <p:spPr/>
        <p:txBody>
          <a:bodyPr>
            <a:normAutofit lnSpcReduction="10000"/>
          </a:bodyPr>
          <a:lstStyle/>
          <a:p>
            <a:pPr fontAlgn="base"/>
            <a:r>
              <a:rPr lang="en-US" sz="2800" dirty="0"/>
              <a:t>A Regular Expression or </a:t>
            </a:r>
            <a:r>
              <a:rPr lang="en-US" sz="2800" dirty="0" err="1"/>
              <a:t>RegEx</a:t>
            </a:r>
            <a:r>
              <a:rPr lang="en-US" sz="2800" b="1" dirty="0"/>
              <a:t> </a:t>
            </a:r>
            <a:r>
              <a:rPr lang="en-US" sz="2800" dirty="0"/>
              <a:t>is a special sequence of characters that uses a search pattern to find a string or set of strings.</a:t>
            </a:r>
          </a:p>
          <a:p>
            <a:pPr fontAlgn="base"/>
            <a:r>
              <a:rPr lang="en-US" sz="2800" dirty="0"/>
              <a:t>It can detect the presence or absence of a text by matching it with a particular pattern and also can split a pattern into one or more sub-patterns.</a:t>
            </a:r>
          </a:p>
          <a:p>
            <a:pPr fontAlgn="base"/>
            <a:endParaRPr lang="en-US" sz="2800" dirty="0"/>
          </a:p>
          <a:p>
            <a:pPr marL="0" indent="0" fontAlgn="base">
              <a:buNone/>
            </a:pPr>
            <a:r>
              <a:rPr lang="en-US" sz="2800" i="1" dirty="0"/>
              <a:t>import re</a:t>
            </a:r>
            <a:endParaRPr lang="en-US" sz="2800" dirty="0"/>
          </a:p>
          <a:p>
            <a:endParaRPr lang="en-US" dirty="0"/>
          </a:p>
        </p:txBody>
      </p:sp>
    </p:spTree>
    <p:extLst>
      <p:ext uri="{BB962C8B-B14F-4D97-AF65-F5344CB8AC3E}">
        <p14:creationId xmlns:p14="http://schemas.microsoft.com/office/powerpoint/2010/main" val="1486800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74B88-CAE9-86CB-C841-5396A5169208}"/>
              </a:ext>
            </a:extLst>
          </p:cNvPr>
          <p:cNvSpPr>
            <a:spLocks noGrp="1"/>
          </p:cNvSpPr>
          <p:nvPr>
            <p:ph type="title"/>
          </p:nvPr>
        </p:nvSpPr>
        <p:spPr>
          <a:xfrm>
            <a:off x="614677" y="1050111"/>
            <a:ext cx="3496147" cy="4940661"/>
          </a:xfrm>
        </p:spPr>
        <p:txBody>
          <a:bodyPr anchor="t">
            <a:normAutofit/>
          </a:bodyPr>
          <a:lstStyle/>
          <a:p>
            <a:r>
              <a:rPr lang="en-US"/>
              <a:t>Overview of Regular Expressions</a:t>
            </a:r>
          </a:p>
        </p:txBody>
      </p:sp>
      <p:sp>
        <p:nvSpPr>
          <p:cNvPr id="3" name="Content Placeholder 2">
            <a:extLst>
              <a:ext uri="{FF2B5EF4-FFF2-40B4-BE49-F238E27FC236}">
                <a16:creationId xmlns:a16="http://schemas.microsoft.com/office/drawing/2014/main" id="{33FB120D-5980-3677-7A20-3F54726B6580}"/>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Powerful Pattern Matching</a:t>
            </a:r>
          </a:p>
          <a:p>
            <a:pPr marL="0" lvl="1" indent="0">
              <a:buFont typeface="Arial" panose="020B0604020202020204" pitchFamily="34" charset="0"/>
              <a:buNone/>
            </a:pPr>
            <a:r>
              <a:t>RegEx enables developers to define search patterns for efficient text validation and extraction.</a:t>
            </a:r>
            <a:endParaRPr lang="en-US"/>
          </a:p>
          <a:p>
            <a:pPr marL="0" indent="0">
              <a:spcBef>
                <a:spcPts val="2500"/>
              </a:spcBef>
              <a:buFont typeface="Arial" panose="020B0604020202020204" pitchFamily="34" charset="0"/>
              <a:buNone/>
            </a:pPr>
            <a:r>
              <a:rPr lang="en-US" b="1"/>
              <a:t>Common Use Cases</a:t>
            </a:r>
          </a:p>
          <a:p>
            <a:pPr marL="0" lvl="1" indent="0">
              <a:buFont typeface="Arial" panose="020B0604020202020204" pitchFamily="34" charset="0"/>
              <a:buNone/>
            </a:pPr>
            <a:r>
              <a:t>RegEx is used for validating input, parsing logs, and scraping structured data in Python.</a:t>
            </a:r>
            <a:endParaRPr lang="en-US"/>
          </a:p>
          <a:p>
            <a:pPr marL="0" indent="0">
              <a:spcBef>
                <a:spcPts val="2500"/>
              </a:spcBef>
              <a:buFont typeface="Arial" panose="020B0604020202020204" pitchFamily="34" charset="0"/>
              <a:buNone/>
            </a:pPr>
            <a:r>
              <a:rPr lang="en-US" b="1"/>
              <a:t>Real-World Applications</a:t>
            </a:r>
          </a:p>
          <a:p>
            <a:pPr marL="0" lvl="1" indent="0">
              <a:buFont typeface="Arial" panose="020B0604020202020204" pitchFamily="34" charset="0"/>
              <a:buNone/>
            </a:pPr>
            <a:r>
              <a:t>Examples include email validation, phone number extraction, and cleaning inconsistent whitespace.</a:t>
            </a:r>
            <a:endParaRPr lang="en-US"/>
          </a:p>
          <a:p>
            <a:pPr marL="0" indent="0">
              <a:spcBef>
                <a:spcPts val="2500"/>
              </a:spcBef>
              <a:buFont typeface="Arial" panose="020B0604020202020204" pitchFamily="34" charset="0"/>
              <a:buNone/>
            </a:pPr>
            <a:r>
              <a:rPr lang="en-US" b="1"/>
              <a:t>Efficiency and Automation</a:t>
            </a:r>
          </a:p>
          <a:p>
            <a:pPr marL="0" lvl="1" indent="0">
              <a:buFont typeface="Arial" panose="020B0604020202020204" pitchFamily="34" charset="0"/>
              <a:buNone/>
            </a:pPr>
            <a:r>
              <a:t>Mastering RegEx helps handle complex text-processing with concise and efficient code.</a:t>
            </a:r>
            <a:endParaRPr lang="en-US"/>
          </a:p>
        </p:txBody>
      </p:sp>
    </p:spTree>
    <p:extLst>
      <p:ext uri="{BB962C8B-B14F-4D97-AF65-F5344CB8AC3E}">
        <p14:creationId xmlns:p14="http://schemas.microsoft.com/office/powerpoint/2010/main" val="3302983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174F-A964-0896-D4BF-FC622D10C3EA}"/>
              </a:ext>
            </a:extLst>
          </p:cNvPr>
          <p:cNvSpPr>
            <a:spLocks noGrp="1"/>
          </p:cNvSpPr>
          <p:nvPr>
            <p:ph type="title"/>
          </p:nvPr>
        </p:nvSpPr>
        <p:spPr>
          <a:xfrm>
            <a:off x="111758" y="1869103"/>
            <a:ext cx="9337042" cy="4906929"/>
          </a:xfrm>
        </p:spPr>
        <p:txBody>
          <a:bodyPr anchor="b">
            <a:normAutofit/>
          </a:bodyPr>
          <a:lstStyle/>
          <a:p>
            <a:r>
              <a:rPr lang="en-US"/>
              <a:t>Basics of RegEx</a:t>
            </a:r>
          </a:p>
        </p:txBody>
      </p:sp>
    </p:spTree>
    <p:extLst>
      <p:ext uri="{BB962C8B-B14F-4D97-AF65-F5344CB8AC3E}">
        <p14:creationId xmlns:p14="http://schemas.microsoft.com/office/powerpoint/2010/main" val="4075603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7B1A3-983E-4487-D106-23100CF0E794}"/>
              </a:ext>
            </a:extLst>
          </p:cNvPr>
          <p:cNvSpPr>
            <a:spLocks noGrp="1"/>
          </p:cNvSpPr>
          <p:nvPr>
            <p:ph type="title"/>
          </p:nvPr>
        </p:nvSpPr>
        <p:spPr>
          <a:xfrm>
            <a:off x="2784282" y="484633"/>
            <a:ext cx="6623436" cy="1070776"/>
          </a:xfrm>
        </p:spPr>
        <p:txBody>
          <a:bodyPr anchor="b">
            <a:normAutofit/>
          </a:bodyPr>
          <a:lstStyle/>
          <a:p>
            <a:r>
              <a:rPr lang="en-US" dirty="0"/>
              <a:t>Metacharacters and Simple Patterns</a:t>
            </a:r>
          </a:p>
        </p:txBody>
      </p:sp>
      <p:graphicFrame>
        <p:nvGraphicFramePr>
          <p:cNvPr id="5" name="Content Placeholder 4">
            <a:extLst>
              <a:ext uri="{FF2B5EF4-FFF2-40B4-BE49-F238E27FC236}">
                <a16:creationId xmlns:a16="http://schemas.microsoft.com/office/drawing/2014/main" id="{3790E67E-17B4-465C-8481-8B01D0621952}"/>
              </a:ext>
            </a:extLst>
          </p:cNvPr>
          <p:cNvGraphicFramePr>
            <a:graphicFrameLocks noGrp="1"/>
          </p:cNvGraphicFramePr>
          <p:nvPr>
            <p:ph sz="quarter" idx="13"/>
            <p:extLst>
              <p:ext uri="{D42A27DB-BD31-4B8C-83A1-F6EECF244321}">
                <p14:modId xmlns:p14="http://schemas.microsoft.com/office/powerpoint/2010/main" val="449096702"/>
              </p:ext>
            </p:extLst>
          </p:nvPr>
        </p:nvGraphicFramePr>
        <p:xfrm>
          <a:off x="1828800" y="1905000"/>
          <a:ext cx="8686801" cy="3971980"/>
        </p:xfrm>
        <a:graphic>
          <a:graphicData uri="http://schemas.openxmlformats.org/drawingml/2006/table">
            <a:tbl>
              <a:tblPr firstRow="1" bandRow="1">
                <a:noFill/>
                <a:tableStyleId>{5C22544A-7EE6-4342-B048-85BDC9FD1C3A}</a:tableStyleId>
              </a:tblPr>
              <a:tblGrid>
                <a:gridCol w="3610092">
                  <a:extLst>
                    <a:ext uri="{9D8B030D-6E8A-4147-A177-3AD203B41FA5}">
                      <a16:colId xmlns:a16="http://schemas.microsoft.com/office/drawing/2014/main" val="3093446842"/>
                    </a:ext>
                  </a:extLst>
                </a:gridCol>
                <a:gridCol w="2469546">
                  <a:extLst>
                    <a:ext uri="{9D8B030D-6E8A-4147-A177-3AD203B41FA5}">
                      <a16:colId xmlns:a16="http://schemas.microsoft.com/office/drawing/2014/main" val="1287113352"/>
                    </a:ext>
                  </a:extLst>
                </a:gridCol>
                <a:gridCol w="2607163">
                  <a:extLst>
                    <a:ext uri="{9D8B030D-6E8A-4147-A177-3AD203B41FA5}">
                      <a16:colId xmlns:a16="http://schemas.microsoft.com/office/drawing/2014/main" val="1374539727"/>
                    </a:ext>
                  </a:extLst>
                </a:gridCol>
              </a:tblGrid>
              <a:tr h="487060">
                <a:tc>
                  <a:txBody>
                    <a:bodyPr/>
                    <a:lstStyle/>
                    <a:p>
                      <a:pPr>
                        <a:buNone/>
                      </a:pPr>
                      <a:r>
                        <a:rPr lang="en-US" sz="1800" b="1" cap="all" spc="150" dirty="0">
                          <a:solidFill>
                            <a:schemeClr val="tx1"/>
                          </a:solidFill>
                        </a:rPr>
                        <a:t>Metacharacter</a:t>
                      </a:r>
                    </a:p>
                  </a:txBody>
                  <a:tcPr marL="74172" marR="74172" marT="74172" marB="74172"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dirty="0">
                          <a:solidFill>
                            <a:schemeClr val="tx1"/>
                          </a:solidFill>
                        </a:rPr>
                        <a:t>Meaning</a:t>
                      </a:r>
                    </a:p>
                  </a:txBody>
                  <a:tcPr marL="74172" marR="74172" marT="74172" marB="74172"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800" b="1" cap="all" spc="150">
                          <a:solidFill>
                            <a:schemeClr val="tx1"/>
                          </a:solidFill>
                        </a:rPr>
                        <a:t>Example</a:t>
                      </a:r>
                    </a:p>
                  </a:txBody>
                  <a:tcPr marL="74172" marR="74172" marT="74172" marB="74172"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4238111793"/>
                  </a:ext>
                </a:extLst>
              </a:tr>
              <a:tr h="620868">
                <a:tc>
                  <a:txBody>
                    <a:bodyPr/>
                    <a:lstStyle/>
                    <a:p>
                      <a:pPr>
                        <a:buNone/>
                      </a:pPr>
                      <a:r>
                        <a:rPr lang="en-US" sz="1800" b="1" cap="none" spc="0" dirty="0">
                          <a:solidFill>
                            <a:schemeClr val="tx1"/>
                          </a:solidFill>
                        </a:rPr>
                        <a:t>.</a:t>
                      </a:r>
                    </a:p>
                  </a:txBody>
                  <a:tcPr marL="74172" marR="74172" marT="74172" marB="74172"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Any character except newline</a:t>
                      </a:r>
                    </a:p>
                  </a:txBody>
                  <a:tcPr marL="74172" marR="74172" marT="74172" marB="74172"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c.t matches cat, cut</a:t>
                      </a:r>
                    </a:p>
                  </a:txBody>
                  <a:tcPr marL="74172" marR="74172" marT="74172" marB="74172"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2206557711"/>
                  </a:ext>
                </a:extLst>
              </a:tr>
              <a:tr h="446918">
                <a:tc>
                  <a:txBody>
                    <a:bodyPr/>
                    <a:lstStyle/>
                    <a:p>
                      <a:pPr>
                        <a:buNone/>
                      </a:pPr>
                      <a:r>
                        <a:rPr lang="en-US" sz="1800" b="1" cap="none" spc="0" dirty="0">
                          <a:solidFill>
                            <a:schemeClr val="tx1"/>
                          </a:solidFill>
                        </a:rPr>
                        <a:t>^</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Start of string</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^Hello matches Hello at start</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875803397"/>
                  </a:ext>
                </a:extLst>
              </a:tr>
              <a:tr h="446918">
                <a:tc>
                  <a:txBody>
                    <a:bodyPr/>
                    <a:lstStyle/>
                    <a:p>
                      <a:pPr>
                        <a:buNone/>
                      </a:pPr>
                      <a:r>
                        <a:rPr lang="en-US" sz="1800" b="1" cap="none" spc="0" dirty="0">
                          <a:solidFill>
                            <a:schemeClr val="tx1"/>
                          </a:solidFill>
                        </a:rPr>
                        <a:t>$</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End of string</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world$ matches world at end</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093230604"/>
                  </a:ext>
                </a:extLst>
              </a:tr>
              <a:tr h="446918">
                <a:tc>
                  <a:txBody>
                    <a:bodyPr/>
                    <a:lstStyle/>
                    <a:p>
                      <a:pPr>
                        <a:buNone/>
                      </a:pPr>
                      <a:r>
                        <a:rPr lang="en-US" sz="1800" b="1" cap="none" spc="0">
                          <a:solidFill>
                            <a:schemeClr val="tx1"/>
                          </a:solidFill>
                        </a:rPr>
                        <a:t>*</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dirty="0">
                          <a:solidFill>
                            <a:schemeClr val="tx1"/>
                          </a:solidFill>
                        </a:rPr>
                        <a:t>Zero or more repetitions</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800" cap="none" spc="0">
                          <a:solidFill>
                            <a:schemeClr val="tx1"/>
                          </a:solidFill>
                        </a:rPr>
                        <a:t>ab* matches a, ab, abb</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45778703"/>
                  </a:ext>
                </a:extLst>
              </a:tr>
              <a:tr h="446918">
                <a:tc>
                  <a:txBody>
                    <a:bodyPr/>
                    <a:lstStyle/>
                    <a:p>
                      <a:pPr>
                        <a:buNone/>
                      </a:pPr>
                      <a:r>
                        <a:rPr lang="en-US" sz="1800" b="1" cap="none" spc="0" dirty="0">
                          <a:solidFill>
                            <a:schemeClr val="tx1"/>
                          </a:solidFill>
                        </a:rPr>
                        <a:t>+</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a:solidFill>
                            <a:schemeClr val="tx1"/>
                          </a:solidFill>
                        </a:rPr>
                        <a:t>One or more repetitions</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800" b="0" cap="none" spc="0" dirty="0">
                          <a:solidFill>
                            <a:schemeClr val="tx1"/>
                          </a:solidFill>
                        </a:rPr>
                        <a:t>ab+ matches ab, abb</a:t>
                      </a:r>
                    </a:p>
                  </a:txBody>
                  <a:tcPr marL="74172" marR="74172" marT="74172" marB="74172"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18788721"/>
                  </a:ext>
                </a:extLst>
              </a:tr>
            </a:tbl>
          </a:graphicData>
        </a:graphic>
      </p:graphicFrame>
    </p:spTree>
    <p:extLst>
      <p:ext uri="{BB962C8B-B14F-4D97-AF65-F5344CB8AC3E}">
        <p14:creationId xmlns:p14="http://schemas.microsoft.com/office/powerpoint/2010/main" val="160645294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5CAB-DDE0-4215-A1BA-1ED5C5C14597}"/>
              </a:ext>
            </a:extLst>
          </p:cNvPr>
          <p:cNvSpPr>
            <a:spLocks noGrp="1"/>
          </p:cNvSpPr>
          <p:nvPr>
            <p:ph type="title"/>
          </p:nvPr>
        </p:nvSpPr>
        <p:spPr>
          <a:xfrm>
            <a:off x="111758" y="1869103"/>
            <a:ext cx="9337042" cy="4906929"/>
          </a:xfrm>
        </p:spPr>
        <p:txBody>
          <a:bodyPr anchor="b">
            <a:normAutofit/>
          </a:bodyPr>
          <a:lstStyle/>
          <a:p>
            <a:r>
              <a:rPr lang="en-US"/>
              <a:t>Python re Module</a:t>
            </a:r>
          </a:p>
        </p:txBody>
      </p:sp>
    </p:spTree>
    <p:extLst>
      <p:ext uri="{BB962C8B-B14F-4D97-AF65-F5344CB8AC3E}">
        <p14:creationId xmlns:p14="http://schemas.microsoft.com/office/powerpoint/2010/main" val="1277690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92804-9E06-A802-BA3B-67A40B41E976}"/>
              </a:ext>
            </a:extLst>
          </p:cNvPr>
          <p:cNvSpPr>
            <a:spLocks noGrp="1"/>
          </p:cNvSpPr>
          <p:nvPr>
            <p:ph type="title"/>
          </p:nvPr>
        </p:nvSpPr>
        <p:spPr>
          <a:xfrm>
            <a:off x="614677" y="1050111"/>
            <a:ext cx="3496147" cy="4940661"/>
          </a:xfrm>
        </p:spPr>
        <p:txBody>
          <a:bodyPr anchor="t">
            <a:normAutofit/>
          </a:bodyPr>
          <a:lstStyle/>
          <a:p>
            <a:r>
              <a:rPr lang="en-US"/>
              <a:t>Core Functions and Usage</a:t>
            </a:r>
          </a:p>
        </p:txBody>
      </p:sp>
      <p:sp>
        <p:nvSpPr>
          <p:cNvPr id="3" name="Content Placeholder 2">
            <a:extLst>
              <a:ext uri="{FF2B5EF4-FFF2-40B4-BE49-F238E27FC236}">
                <a16:creationId xmlns:a16="http://schemas.microsoft.com/office/drawing/2014/main" id="{DE14DB06-0EAD-DAF7-6B0A-23A84C8533E9}"/>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Matching at String Start</a:t>
            </a:r>
          </a:p>
          <a:p>
            <a:pPr marL="0" lvl="1" indent="0">
              <a:buFont typeface="Arial" panose="020B0604020202020204" pitchFamily="34" charset="0"/>
              <a:buNone/>
            </a:pPr>
            <a:r>
              <a:t>re.match() checks for a match only at the beginning of a string, useful for prefix validations.</a:t>
            </a:r>
            <a:endParaRPr lang="en-US"/>
          </a:p>
          <a:p>
            <a:pPr marL="0" indent="0">
              <a:spcBef>
                <a:spcPts val="2500"/>
              </a:spcBef>
              <a:buFont typeface="Arial" panose="020B0604020202020204" pitchFamily="34" charset="0"/>
              <a:buNone/>
            </a:pPr>
            <a:r>
              <a:rPr lang="en-US" b="1"/>
              <a:t>Searching Anywhere in String</a:t>
            </a:r>
          </a:p>
          <a:p>
            <a:pPr marL="0" lvl="1" indent="0">
              <a:buFont typeface="Arial" panose="020B0604020202020204" pitchFamily="34" charset="0"/>
              <a:buNone/>
            </a:pPr>
            <a:r>
              <a:t>re.search() scans the entire string to find the first occurrence of a pattern.</a:t>
            </a:r>
            <a:endParaRPr lang="en-US"/>
          </a:p>
          <a:p>
            <a:pPr marL="0" indent="0">
              <a:spcBef>
                <a:spcPts val="2500"/>
              </a:spcBef>
              <a:buFont typeface="Arial" panose="020B0604020202020204" pitchFamily="34" charset="0"/>
              <a:buNone/>
            </a:pPr>
            <a:r>
              <a:rPr lang="en-US" b="1"/>
              <a:t>Finding All Matches</a:t>
            </a:r>
          </a:p>
          <a:p>
            <a:pPr marL="0" lvl="1" indent="0">
              <a:buFont typeface="Arial" panose="020B0604020202020204" pitchFamily="34" charset="0"/>
              <a:buNone/>
            </a:pPr>
            <a:r>
              <a:t>re.findall() returns all non-overlapping matches of a pattern as a list.</a:t>
            </a:r>
            <a:endParaRPr lang="en-US"/>
          </a:p>
          <a:p>
            <a:pPr marL="0" indent="0">
              <a:spcBef>
                <a:spcPts val="2500"/>
              </a:spcBef>
              <a:buFont typeface="Arial" panose="020B0604020202020204" pitchFamily="34" charset="0"/>
              <a:buNone/>
            </a:pPr>
            <a:r>
              <a:rPr lang="en-US" b="1"/>
              <a:t>Substituting Text Patterns</a:t>
            </a:r>
          </a:p>
          <a:p>
            <a:pPr marL="0" lvl="1" indent="0">
              <a:buFont typeface="Arial" panose="020B0604020202020204" pitchFamily="34" charset="0"/>
              <a:buNone/>
            </a:pPr>
            <a:r>
              <a:t>re.sub() replaces all occurrences of a pattern with a specified replacement string.</a:t>
            </a:r>
            <a:endParaRPr lang="en-US"/>
          </a:p>
        </p:txBody>
      </p:sp>
    </p:spTree>
    <p:extLst>
      <p:ext uri="{BB962C8B-B14F-4D97-AF65-F5344CB8AC3E}">
        <p14:creationId xmlns:p14="http://schemas.microsoft.com/office/powerpoint/2010/main" val="1079245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2746-AE65-0F45-A846-2EE79F34CAFD}"/>
              </a:ext>
            </a:extLst>
          </p:cNvPr>
          <p:cNvSpPr>
            <a:spLocks noGrp="1"/>
          </p:cNvSpPr>
          <p:nvPr>
            <p:ph type="title"/>
          </p:nvPr>
        </p:nvSpPr>
        <p:spPr>
          <a:xfrm>
            <a:off x="111758" y="1869103"/>
            <a:ext cx="9337042" cy="4906929"/>
          </a:xfrm>
        </p:spPr>
        <p:txBody>
          <a:bodyPr anchor="b">
            <a:normAutofit/>
          </a:bodyPr>
          <a:lstStyle/>
          <a:p>
            <a:r>
              <a:rPr lang="en-US"/>
              <a:t>Character Classes and Quantifiers</a:t>
            </a:r>
          </a:p>
        </p:txBody>
      </p:sp>
    </p:spTree>
    <p:extLst>
      <p:ext uri="{BB962C8B-B14F-4D97-AF65-F5344CB8AC3E}">
        <p14:creationId xmlns:p14="http://schemas.microsoft.com/office/powerpoint/2010/main" val="28552359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237A3-4E0B-C18A-D169-34F0B7C01CF3}"/>
              </a:ext>
            </a:extLst>
          </p:cNvPr>
          <p:cNvSpPr>
            <a:spLocks noGrp="1"/>
          </p:cNvSpPr>
          <p:nvPr>
            <p:ph type="title"/>
          </p:nvPr>
        </p:nvSpPr>
        <p:spPr>
          <a:xfrm>
            <a:off x="614677" y="1050111"/>
            <a:ext cx="3496147" cy="4940661"/>
          </a:xfrm>
        </p:spPr>
        <p:txBody>
          <a:bodyPr anchor="t">
            <a:normAutofit/>
          </a:bodyPr>
          <a:lstStyle/>
          <a:p>
            <a:r>
              <a:rPr lang="en-US"/>
              <a:t>Defining Sets and Repetition</a:t>
            </a:r>
          </a:p>
        </p:txBody>
      </p:sp>
      <p:sp>
        <p:nvSpPr>
          <p:cNvPr id="3" name="Content Placeholder 2">
            <a:extLst>
              <a:ext uri="{FF2B5EF4-FFF2-40B4-BE49-F238E27FC236}">
                <a16:creationId xmlns:a16="http://schemas.microsoft.com/office/drawing/2014/main" id="{701CA398-6B80-82A8-8CB5-1D76986635C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Character Classes Explained</a:t>
            </a:r>
          </a:p>
          <a:p>
            <a:pPr marL="0" lvl="1" indent="0">
              <a:buFont typeface="Arial" panose="020B0604020202020204" pitchFamily="34" charset="0"/>
              <a:buNone/>
            </a:pPr>
            <a:r>
              <a:t>Character classes match specific groups like lowercase letters, digits, or whitespace using brackets or shorthands.</a:t>
            </a:r>
            <a:endParaRPr lang="en-US"/>
          </a:p>
          <a:p>
            <a:pPr marL="0" indent="0">
              <a:spcBef>
                <a:spcPts val="2500"/>
              </a:spcBef>
              <a:buFont typeface="Arial" panose="020B0604020202020204" pitchFamily="34" charset="0"/>
              <a:buNone/>
            </a:pPr>
            <a:r>
              <a:rPr lang="en-US" b="1"/>
              <a:t>Quantifiers in Regex</a:t>
            </a:r>
          </a:p>
          <a:p>
            <a:pPr marL="0" lvl="1" indent="0">
              <a:buFont typeface="Arial" panose="020B0604020202020204" pitchFamily="34" charset="0"/>
              <a:buNone/>
            </a:pPr>
            <a:r>
              <a:t>Quantifiers specify how many times a pattern should repeat, including '*', '+', '?', and '{m,n}'.</a:t>
            </a:r>
            <a:endParaRPr lang="en-US"/>
          </a:p>
          <a:p>
            <a:pPr marL="0" indent="0">
              <a:spcBef>
                <a:spcPts val="2500"/>
              </a:spcBef>
              <a:buFont typeface="Arial" panose="020B0604020202020204" pitchFamily="34" charset="0"/>
              <a:buNone/>
            </a:pPr>
            <a:r>
              <a:rPr lang="en-US" b="1"/>
              <a:t>Practical Example</a:t>
            </a:r>
          </a:p>
          <a:p>
            <a:pPr marL="0" lvl="1" indent="0">
              <a:buFont typeface="Arial" panose="020B0604020202020204" pitchFamily="34" charset="0"/>
              <a:buNone/>
            </a:pPr>
            <a:r>
              <a:t>Using regex to extract 4-digit numbers demonstrates real-world application of character classes and quantifiers.</a:t>
            </a:r>
            <a:endParaRPr lang="en-US"/>
          </a:p>
        </p:txBody>
      </p:sp>
    </p:spTree>
    <p:extLst>
      <p:ext uri="{BB962C8B-B14F-4D97-AF65-F5344CB8AC3E}">
        <p14:creationId xmlns:p14="http://schemas.microsoft.com/office/powerpoint/2010/main" val="13210314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3DAB9-4CFE-67CA-CFB3-91C33D02DC53}"/>
              </a:ext>
            </a:extLst>
          </p:cNvPr>
          <p:cNvSpPr>
            <a:spLocks noGrp="1"/>
          </p:cNvSpPr>
          <p:nvPr>
            <p:ph type="title"/>
          </p:nvPr>
        </p:nvSpPr>
        <p:spPr>
          <a:xfrm>
            <a:off x="111758" y="1869103"/>
            <a:ext cx="9337042" cy="4906929"/>
          </a:xfrm>
        </p:spPr>
        <p:txBody>
          <a:bodyPr anchor="b">
            <a:normAutofit/>
          </a:bodyPr>
          <a:lstStyle/>
          <a:p>
            <a:r>
              <a:rPr lang="en-US"/>
              <a:t>Anchors and Groups</a:t>
            </a:r>
          </a:p>
        </p:txBody>
      </p:sp>
    </p:spTree>
    <p:extLst>
      <p:ext uri="{BB962C8B-B14F-4D97-AF65-F5344CB8AC3E}">
        <p14:creationId xmlns:p14="http://schemas.microsoft.com/office/powerpoint/2010/main" val="24736596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F7FE8-B288-BD04-1B44-38694E7AA402}"/>
              </a:ext>
            </a:extLst>
          </p:cNvPr>
          <p:cNvSpPr>
            <a:spLocks noGrp="1"/>
          </p:cNvSpPr>
          <p:nvPr>
            <p:ph type="title"/>
          </p:nvPr>
        </p:nvSpPr>
        <p:spPr>
          <a:xfrm>
            <a:off x="614677" y="1050111"/>
            <a:ext cx="3496147" cy="4940661"/>
          </a:xfrm>
        </p:spPr>
        <p:txBody>
          <a:bodyPr anchor="t">
            <a:normAutofit/>
          </a:bodyPr>
          <a:lstStyle/>
          <a:p>
            <a:r>
              <a:rPr lang="en-US"/>
              <a:t>Positioning and Capturing Data</a:t>
            </a:r>
          </a:p>
        </p:txBody>
      </p:sp>
      <p:sp>
        <p:nvSpPr>
          <p:cNvPr id="3" name="Content Placeholder 2">
            <a:extLst>
              <a:ext uri="{FF2B5EF4-FFF2-40B4-BE49-F238E27FC236}">
                <a16:creationId xmlns:a16="http://schemas.microsoft.com/office/drawing/2014/main" id="{946A95F3-CEC6-FA9B-1342-69DD570B0D0F}"/>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Anchors in Text Patterns</a:t>
            </a:r>
          </a:p>
          <a:p>
            <a:pPr marL="0" lvl="1" indent="0">
              <a:buFont typeface="Arial" panose="020B0604020202020204" pitchFamily="34" charset="0"/>
              <a:buNone/>
            </a:pPr>
            <a:r>
              <a:t>Anchors like '^' and '$' specify the start and end positions in text matching.</a:t>
            </a:r>
            <a:endParaRPr lang="en-US"/>
          </a:p>
          <a:p>
            <a:pPr marL="0" indent="0">
              <a:spcBef>
                <a:spcPts val="2500"/>
              </a:spcBef>
              <a:buFont typeface="Arial" panose="020B0604020202020204" pitchFamily="34" charset="0"/>
              <a:buNone/>
            </a:pPr>
            <a:r>
              <a:rPr lang="en-US" b="1"/>
              <a:t>Capturing Groups</a:t>
            </a:r>
          </a:p>
          <a:p>
            <a:pPr marL="0" lvl="1" indent="0">
              <a:buFont typeface="Arial" panose="020B0604020202020204" pitchFamily="34" charset="0"/>
              <a:buNone/>
            </a:pPr>
            <a:r>
              <a:t>Parentheses define groups that capture parts of matches for further use.</a:t>
            </a:r>
            <a:endParaRPr lang="en-US"/>
          </a:p>
          <a:p>
            <a:pPr marL="0" indent="0">
              <a:spcBef>
                <a:spcPts val="2500"/>
              </a:spcBef>
              <a:buFont typeface="Arial" panose="020B0604020202020204" pitchFamily="34" charset="0"/>
              <a:buNone/>
            </a:pPr>
            <a:r>
              <a:rPr lang="en-US" b="1"/>
              <a:t>Practical Parsing Use</a:t>
            </a:r>
          </a:p>
          <a:p>
            <a:pPr marL="0" lvl="1" indent="0">
              <a:buFont typeface="Arial" panose="020B0604020202020204" pitchFamily="34" charset="0"/>
              <a:buNone/>
            </a:pPr>
            <a:r>
              <a:t>Grouping enables parsing structured data like Social Security Numbers effectively.</a:t>
            </a:r>
            <a:endParaRPr lang="en-US"/>
          </a:p>
        </p:txBody>
      </p:sp>
    </p:spTree>
    <p:extLst>
      <p:ext uri="{BB962C8B-B14F-4D97-AF65-F5344CB8AC3E}">
        <p14:creationId xmlns:p14="http://schemas.microsoft.com/office/powerpoint/2010/main" val="2993913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EF08-B6D4-1827-E34E-0A1688EA5AB7}"/>
              </a:ext>
            </a:extLst>
          </p:cNvPr>
          <p:cNvSpPr>
            <a:spLocks noGrp="1"/>
          </p:cNvSpPr>
          <p:nvPr>
            <p:ph type="title"/>
          </p:nvPr>
        </p:nvSpPr>
        <p:spPr>
          <a:xfrm>
            <a:off x="111758" y="1869103"/>
            <a:ext cx="9337042" cy="4906929"/>
          </a:xfrm>
        </p:spPr>
        <p:txBody>
          <a:bodyPr anchor="b">
            <a:normAutofit/>
          </a:bodyPr>
          <a:lstStyle/>
          <a:p>
            <a:r>
              <a:rPr lang="en-US"/>
              <a:t>Advanced Features</a:t>
            </a:r>
          </a:p>
        </p:txBody>
      </p:sp>
    </p:spTree>
    <p:extLst>
      <p:ext uri="{BB962C8B-B14F-4D97-AF65-F5344CB8AC3E}">
        <p14:creationId xmlns:p14="http://schemas.microsoft.com/office/powerpoint/2010/main" val="2233710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AE8C-2888-5353-E219-79AA342D2E98}"/>
              </a:ext>
            </a:extLst>
          </p:cNvPr>
          <p:cNvSpPr>
            <a:spLocks noGrp="1"/>
          </p:cNvSpPr>
          <p:nvPr>
            <p:ph type="title"/>
          </p:nvPr>
        </p:nvSpPr>
        <p:spPr>
          <a:xfrm>
            <a:off x="614677" y="1050111"/>
            <a:ext cx="3496147" cy="4940661"/>
          </a:xfrm>
        </p:spPr>
        <p:txBody>
          <a:bodyPr anchor="t">
            <a:normAutofit/>
          </a:bodyPr>
          <a:lstStyle/>
          <a:p>
            <a:r>
              <a:rPr lang="en-US"/>
              <a:t>Lookarounds and Flags</a:t>
            </a:r>
          </a:p>
        </p:txBody>
      </p:sp>
      <p:sp>
        <p:nvSpPr>
          <p:cNvPr id="3" name="Content Placeholder 2">
            <a:extLst>
              <a:ext uri="{FF2B5EF4-FFF2-40B4-BE49-F238E27FC236}">
                <a16:creationId xmlns:a16="http://schemas.microsoft.com/office/drawing/2014/main" id="{65BFE337-77C7-C4ED-6245-5B8B68B1C74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Lookahead and Lookbehind Assertions</a:t>
            </a:r>
          </a:p>
          <a:p>
            <a:pPr marL="0" lvl="1" indent="0">
              <a:buFont typeface="Arial" panose="020B0604020202020204" pitchFamily="34" charset="0"/>
              <a:buNone/>
            </a:pPr>
            <a:r>
              <a:t>Lookahead and lookbehind match patterns based on context without consuming characters in the text.</a:t>
            </a:r>
            <a:endParaRPr lang="en-US"/>
          </a:p>
          <a:p>
            <a:pPr marL="0" indent="0">
              <a:spcBef>
                <a:spcPts val="2500"/>
              </a:spcBef>
              <a:buFont typeface="Arial" panose="020B0604020202020204" pitchFamily="34" charset="0"/>
              <a:buNone/>
            </a:pPr>
            <a:r>
              <a:rPr lang="en-US" b="1"/>
              <a:t>Named Groups in Regex</a:t>
            </a:r>
          </a:p>
          <a:p>
            <a:pPr marL="0" lvl="1" indent="0">
              <a:buFont typeface="Arial" panose="020B0604020202020204" pitchFamily="34" charset="0"/>
              <a:buNone/>
            </a:pPr>
            <a:r>
              <a:t>Named groups assign names to captured data, improving clarity and code readability in pattern matching.</a:t>
            </a:r>
            <a:endParaRPr lang="en-US"/>
          </a:p>
          <a:p>
            <a:pPr marL="0" indent="0">
              <a:spcBef>
                <a:spcPts val="2500"/>
              </a:spcBef>
              <a:buFont typeface="Arial" panose="020B0604020202020204" pitchFamily="34" charset="0"/>
              <a:buNone/>
            </a:pPr>
            <a:r>
              <a:rPr lang="en-US" b="1"/>
              <a:t>Regex Flags Modifiers</a:t>
            </a:r>
          </a:p>
          <a:p>
            <a:pPr marL="0" lvl="1" indent="0">
              <a:buFont typeface="Arial" panose="020B0604020202020204" pitchFamily="34" charset="0"/>
              <a:buNone/>
            </a:pPr>
            <a:r>
              <a:t>Flags like IGNORECASE and MULTILINE modify matching behavior for flexible, case-insensitive, or multi-line searches.</a:t>
            </a:r>
            <a:endParaRPr lang="en-US"/>
          </a:p>
        </p:txBody>
      </p:sp>
    </p:spTree>
    <p:extLst>
      <p:ext uri="{BB962C8B-B14F-4D97-AF65-F5344CB8AC3E}">
        <p14:creationId xmlns:p14="http://schemas.microsoft.com/office/powerpoint/2010/main" val="14903538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A6E20-4CCD-620F-03D5-61F11FCE3B11}"/>
              </a:ext>
            </a:extLst>
          </p:cNvPr>
          <p:cNvSpPr>
            <a:spLocks noGrp="1"/>
          </p:cNvSpPr>
          <p:nvPr>
            <p:ph type="title"/>
          </p:nvPr>
        </p:nvSpPr>
        <p:spPr>
          <a:xfrm>
            <a:off x="111758" y="1869103"/>
            <a:ext cx="9337042" cy="4906929"/>
          </a:xfrm>
        </p:spPr>
        <p:txBody>
          <a:bodyPr anchor="b">
            <a:normAutofit/>
          </a:bodyPr>
          <a:lstStyle/>
          <a:p>
            <a:r>
              <a:rPr lang="en-US"/>
              <a:t>Common Use Cases</a:t>
            </a:r>
          </a:p>
        </p:txBody>
      </p:sp>
    </p:spTree>
    <p:extLst>
      <p:ext uri="{BB962C8B-B14F-4D97-AF65-F5344CB8AC3E}">
        <p14:creationId xmlns:p14="http://schemas.microsoft.com/office/powerpoint/2010/main" val="15119362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2076-BEEB-C2C8-B002-1E3F9AF8F6CC}"/>
              </a:ext>
            </a:extLst>
          </p:cNvPr>
          <p:cNvSpPr>
            <a:spLocks noGrp="1"/>
          </p:cNvSpPr>
          <p:nvPr>
            <p:ph type="title"/>
          </p:nvPr>
        </p:nvSpPr>
        <p:spPr>
          <a:xfrm>
            <a:off x="614677" y="1050111"/>
            <a:ext cx="3496147" cy="4940661"/>
          </a:xfrm>
        </p:spPr>
        <p:txBody>
          <a:bodyPr anchor="t">
            <a:normAutofit/>
          </a:bodyPr>
          <a:lstStyle/>
          <a:p>
            <a:r>
              <a:rPr lang="en-US"/>
              <a:t>Practical Applications</a:t>
            </a:r>
          </a:p>
        </p:txBody>
      </p:sp>
      <p:sp>
        <p:nvSpPr>
          <p:cNvPr id="3" name="Content Placeholder 2">
            <a:extLst>
              <a:ext uri="{FF2B5EF4-FFF2-40B4-BE49-F238E27FC236}">
                <a16:creationId xmlns:a16="http://schemas.microsoft.com/office/drawing/2014/main" id="{205E609B-3CF5-7725-D445-5485126F9246}"/>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Email Validation</a:t>
            </a:r>
          </a:p>
          <a:p>
            <a:pPr marL="0" lvl="1" indent="0">
              <a:buFont typeface="Arial" panose="020B0604020202020204" pitchFamily="34" charset="0"/>
              <a:buNone/>
            </a:pPr>
            <a:r>
              <a:t>Regular expressions validate email addresses using specific patterns to ensure correct format.</a:t>
            </a:r>
            <a:endParaRPr lang="en-US"/>
          </a:p>
          <a:p>
            <a:pPr marL="0" indent="0">
              <a:spcBef>
                <a:spcPts val="2500"/>
              </a:spcBef>
              <a:buFont typeface="Arial" panose="020B0604020202020204" pitchFamily="34" charset="0"/>
              <a:buNone/>
            </a:pPr>
            <a:r>
              <a:rPr lang="en-US" b="1"/>
              <a:t>Phone Number Extraction</a:t>
            </a:r>
          </a:p>
          <a:p>
            <a:pPr marL="0" lvl="1" indent="0">
              <a:buFont typeface="Arial" panose="020B0604020202020204" pitchFamily="34" charset="0"/>
              <a:buNone/>
            </a:pPr>
            <a:r>
              <a:t>RegEx extracts phone numbers from text, enabling easy data retrieval and organization.</a:t>
            </a:r>
            <a:endParaRPr lang="en-US"/>
          </a:p>
          <a:p>
            <a:pPr marL="0" indent="0">
              <a:spcBef>
                <a:spcPts val="2500"/>
              </a:spcBef>
              <a:buFont typeface="Arial" panose="020B0604020202020204" pitchFamily="34" charset="0"/>
              <a:buNone/>
            </a:pPr>
            <a:r>
              <a:rPr lang="en-US" b="1"/>
              <a:t>Text Cleanup</a:t>
            </a:r>
          </a:p>
          <a:p>
            <a:pPr marL="0" lvl="1" indent="0">
              <a:buFont typeface="Arial" panose="020B0604020202020204" pitchFamily="34" charset="0"/>
              <a:buNone/>
            </a:pPr>
            <a:r>
              <a:t>Regular expressions clean extra spaces in text by replacing multiple spaces with a single space.</a:t>
            </a:r>
            <a:endParaRPr lang="en-US"/>
          </a:p>
        </p:txBody>
      </p:sp>
    </p:spTree>
    <p:extLst>
      <p:ext uri="{BB962C8B-B14F-4D97-AF65-F5344CB8AC3E}">
        <p14:creationId xmlns:p14="http://schemas.microsoft.com/office/powerpoint/2010/main" val="20285411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A375D-9312-B1E5-9032-671778F52E48}"/>
              </a:ext>
            </a:extLst>
          </p:cNvPr>
          <p:cNvSpPr>
            <a:spLocks noGrp="1"/>
          </p:cNvSpPr>
          <p:nvPr>
            <p:ph type="title"/>
          </p:nvPr>
        </p:nvSpPr>
        <p:spPr>
          <a:xfrm>
            <a:off x="111758" y="1869103"/>
            <a:ext cx="9337042" cy="4906929"/>
          </a:xfrm>
        </p:spPr>
        <p:txBody>
          <a:bodyPr anchor="b">
            <a:normAutofit/>
          </a:bodyPr>
          <a:lstStyle/>
          <a:p>
            <a:r>
              <a:rPr lang="en-US"/>
              <a:t>Best Practices</a:t>
            </a:r>
          </a:p>
        </p:txBody>
      </p:sp>
    </p:spTree>
    <p:extLst>
      <p:ext uri="{BB962C8B-B14F-4D97-AF65-F5344CB8AC3E}">
        <p14:creationId xmlns:p14="http://schemas.microsoft.com/office/powerpoint/2010/main" val="4080718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610FF-998D-A938-37F3-0993EB110233}"/>
              </a:ext>
            </a:extLst>
          </p:cNvPr>
          <p:cNvSpPr>
            <a:spLocks noGrp="1"/>
          </p:cNvSpPr>
          <p:nvPr>
            <p:ph type="title"/>
          </p:nvPr>
        </p:nvSpPr>
        <p:spPr>
          <a:xfrm>
            <a:off x="614677" y="1050111"/>
            <a:ext cx="3496147" cy="4940661"/>
          </a:xfrm>
        </p:spPr>
        <p:txBody>
          <a:bodyPr anchor="t">
            <a:normAutofit/>
          </a:bodyPr>
          <a:lstStyle/>
          <a:p>
            <a:r>
              <a:rPr lang="en-US"/>
              <a:t>Writing Efficient and Readable Patterns</a:t>
            </a:r>
          </a:p>
        </p:txBody>
      </p:sp>
      <p:sp>
        <p:nvSpPr>
          <p:cNvPr id="3" name="Content Placeholder 2">
            <a:extLst>
              <a:ext uri="{FF2B5EF4-FFF2-40B4-BE49-F238E27FC236}">
                <a16:creationId xmlns:a16="http://schemas.microsoft.com/office/drawing/2014/main" id="{2D34FE0C-985A-2908-FCEA-46778CA9079B}"/>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Use Raw Strings</a:t>
            </a:r>
          </a:p>
          <a:p>
            <a:pPr marL="0" lvl="1" indent="0">
              <a:buFont typeface="Arial" panose="020B0604020202020204" pitchFamily="34" charset="0"/>
              <a:buNone/>
            </a:pPr>
            <a:r>
              <a:t>Utilize raw strings to prevent escape sequence errors in regular expression patterns.</a:t>
            </a:r>
            <a:endParaRPr lang="en-US"/>
          </a:p>
          <a:p>
            <a:pPr marL="0" indent="0">
              <a:spcBef>
                <a:spcPts val="2500"/>
              </a:spcBef>
              <a:buFont typeface="Arial" panose="020B0604020202020204" pitchFamily="34" charset="0"/>
              <a:buNone/>
            </a:pPr>
            <a:r>
              <a:rPr lang="en-US" b="1"/>
              <a:t>Readable Patterns with VERBOSE</a:t>
            </a:r>
          </a:p>
          <a:p>
            <a:pPr marL="0" lvl="1" indent="0">
              <a:buFont typeface="Arial" panose="020B0604020202020204" pitchFamily="34" charset="0"/>
              <a:buNone/>
            </a:pPr>
            <a:r>
              <a:t>Enhance readability by adding comments and whitespace using the VERBOSE flag in regex.</a:t>
            </a:r>
            <a:endParaRPr lang="en-US"/>
          </a:p>
          <a:p>
            <a:pPr marL="0" indent="0">
              <a:spcBef>
                <a:spcPts val="2500"/>
              </a:spcBef>
              <a:buFont typeface="Arial" panose="020B0604020202020204" pitchFamily="34" charset="0"/>
              <a:buNone/>
            </a:pPr>
            <a:r>
              <a:rPr lang="en-US" b="1"/>
              <a:t>Testing and Debugging</a:t>
            </a:r>
          </a:p>
          <a:p>
            <a:pPr marL="0" lvl="1" indent="0">
              <a:buFont typeface="Arial" panose="020B0604020202020204" pitchFamily="34" charset="0"/>
              <a:buNone/>
            </a:pPr>
            <a:r>
              <a:t>Test regex patterns with tools like Regex101 to ensure correctness before deployment.</a:t>
            </a:r>
            <a:endParaRPr lang="en-US"/>
          </a:p>
          <a:p>
            <a:pPr marL="0" indent="0">
              <a:spcBef>
                <a:spcPts val="2500"/>
              </a:spcBef>
              <a:buFont typeface="Arial" panose="020B0604020202020204" pitchFamily="34" charset="0"/>
              <a:buNone/>
            </a:pPr>
            <a:r>
              <a:rPr lang="en-US" b="1"/>
              <a:t>Clarity Over Complexity</a:t>
            </a:r>
          </a:p>
          <a:p>
            <a:pPr marL="0" lvl="1" indent="0">
              <a:buFont typeface="Arial" panose="020B0604020202020204" pitchFamily="34" charset="0"/>
              <a:buNone/>
            </a:pPr>
            <a:r>
              <a:t>Prioritize clear and simple expressions to avoid debugging difficulties and improve collaboration.</a:t>
            </a:r>
            <a:endParaRPr lang="en-US"/>
          </a:p>
        </p:txBody>
      </p:sp>
    </p:spTree>
    <p:extLst>
      <p:ext uri="{BB962C8B-B14F-4D97-AF65-F5344CB8AC3E}">
        <p14:creationId xmlns:p14="http://schemas.microsoft.com/office/powerpoint/2010/main" val="5303022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1811-561F-078B-678B-DCE83882FA06}"/>
              </a:ext>
            </a:extLst>
          </p:cNvPr>
          <p:cNvSpPr>
            <a:spLocks noGrp="1"/>
          </p:cNvSpPr>
          <p:nvPr>
            <p:ph type="title"/>
          </p:nvPr>
        </p:nvSpPr>
        <p:spPr/>
        <p:txBody>
          <a:bodyPr/>
          <a:lstStyle/>
          <a:p>
            <a:r>
              <a:rPr lang="en-US" b="1" dirty="0"/>
              <a:t>How to Use </a:t>
            </a:r>
            <a:r>
              <a:rPr lang="en-US" b="1" dirty="0" err="1"/>
              <a:t>RegEx</a:t>
            </a:r>
            <a:r>
              <a:rPr lang="en-US" b="1" dirty="0"/>
              <a:t> in Python?</a:t>
            </a:r>
            <a:br>
              <a:rPr lang="en-US" b="1" dirty="0"/>
            </a:br>
            <a:endParaRPr lang="en-US" dirty="0"/>
          </a:p>
        </p:txBody>
      </p:sp>
      <p:sp>
        <p:nvSpPr>
          <p:cNvPr id="3" name="Content Placeholder 2">
            <a:extLst>
              <a:ext uri="{FF2B5EF4-FFF2-40B4-BE49-F238E27FC236}">
                <a16:creationId xmlns:a16="http://schemas.microsoft.com/office/drawing/2014/main" id="{4AE95ED9-97F2-94AE-F94B-BA82D9AB8EDD}"/>
              </a:ext>
            </a:extLst>
          </p:cNvPr>
          <p:cNvSpPr>
            <a:spLocks noGrp="1"/>
          </p:cNvSpPr>
          <p:nvPr>
            <p:ph idx="1"/>
          </p:nvPr>
        </p:nvSpPr>
        <p:spPr/>
        <p:txBody>
          <a:bodyPr>
            <a:normAutofit/>
          </a:bodyPr>
          <a:lstStyle/>
          <a:p>
            <a:pPr marL="0" indent="0">
              <a:buNone/>
            </a:pPr>
            <a:r>
              <a:rPr lang="en-US" sz="2800" dirty="0"/>
              <a:t>import re</a:t>
            </a:r>
          </a:p>
          <a:p>
            <a:pPr marL="0" indent="0">
              <a:buNone/>
            </a:pPr>
            <a:endParaRPr lang="en-US" sz="2800" dirty="0"/>
          </a:p>
          <a:p>
            <a:pPr marL="0" indent="0">
              <a:buNone/>
            </a:pPr>
            <a:r>
              <a:rPr lang="en-US" sz="2800" dirty="0"/>
              <a:t>s = '</a:t>
            </a:r>
            <a:r>
              <a:rPr lang="en-US" sz="2800" dirty="0" err="1"/>
              <a:t>GeeksforGeeks</a:t>
            </a:r>
            <a:r>
              <a:rPr lang="en-US" sz="2800" dirty="0"/>
              <a:t>: A computer science portal for geeks'</a:t>
            </a:r>
          </a:p>
          <a:p>
            <a:pPr marL="0" indent="0">
              <a:buNone/>
            </a:pPr>
            <a:r>
              <a:rPr lang="en-US" sz="2800" dirty="0"/>
              <a:t>match = </a:t>
            </a:r>
            <a:r>
              <a:rPr lang="en-US" sz="2800" dirty="0" err="1"/>
              <a:t>re.search</a:t>
            </a:r>
            <a:r>
              <a:rPr lang="en-US" sz="2800" dirty="0"/>
              <a:t>(</a:t>
            </a:r>
            <a:r>
              <a:rPr lang="en-US" sz="2800" dirty="0" err="1"/>
              <a:t>r'portal</a:t>
            </a:r>
            <a:r>
              <a:rPr lang="en-US" sz="2800" dirty="0"/>
              <a:t>', s)</a:t>
            </a:r>
          </a:p>
          <a:p>
            <a:pPr marL="0" indent="0">
              <a:buNone/>
            </a:pPr>
            <a:endParaRPr lang="en-US" sz="2800" dirty="0"/>
          </a:p>
          <a:p>
            <a:pPr marL="0" indent="0">
              <a:buNone/>
            </a:pPr>
            <a:r>
              <a:rPr lang="en-US" sz="2800" dirty="0"/>
              <a:t>print('Start Index:', </a:t>
            </a:r>
            <a:r>
              <a:rPr lang="en-US" sz="2800" dirty="0" err="1"/>
              <a:t>match.start</a:t>
            </a:r>
            <a:r>
              <a:rPr lang="en-US" sz="2800" dirty="0"/>
              <a:t>())</a:t>
            </a:r>
          </a:p>
          <a:p>
            <a:pPr marL="0" indent="0">
              <a:buNone/>
            </a:pPr>
            <a:r>
              <a:rPr lang="en-US" sz="2800" dirty="0"/>
              <a:t>print('End Index:', </a:t>
            </a:r>
            <a:r>
              <a:rPr lang="en-US" sz="2800" dirty="0" err="1"/>
              <a:t>match.end</a:t>
            </a:r>
            <a:r>
              <a:rPr lang="en-US" sz="2800" dirty="0"/>
              <a:t>())</a:t>
            </a:r>
          </a:p>
        </p:txBody>
      </p:sp>
    </p:spTree>
    <p:extLst>
      <p:ext uri="{BB962C8B-B14F-4D97-AF65-F5344CB8AC3E}">
        <p14:creationId xmlns:p14="http://schemas.microsoft.com/office/powerpoint/2010/main" val="3609983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94385-1F4D-6292-1C7F-37F8CB13C72A}"/>
              </a:ext>
            </a:extLst>
          </p:cNvPr>
          <p:cNvSpPr>
            <a:spLocks noGrp="1"/>
          </p:cNvSpPr>
          <p:nvPr>
            <p:ph type="title"/>
          </p:nvPr>
        </p:nvSpPr>
        <p:spPr/>
        <p:txBody>
          <a:bodyPr/>
          <a:lstStyle/>
          <a:p>
            <a:r>
              <a:rPr lang="en-US" b="1" dirty="0"/>
              <a:t>1. </a:t>
            </a:r>
            <a:r>
              <a:rPr lang="en-US" b="1" dirty="0" err="1"/>
              <a:t>re.findall</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909E31C9-5303-F6C2-FD78-F2BFE4533B92}"/>
              </a:ext>
            </a:extLst>
          </p:cNvPr>
          <p:cNvSpPr>
            <a:spLocks noGrp="1"/>
          </p:cNvSpPr>
          <p:nvPr>
            <p:ph idx="1"/>
          </p:nvPr>
        </p:nvSpPr>
        <p:spPr>
          <a:xfrm>
            <a:off x="3869268" y="308610"/>
            <a:ext cx="7315200" cy="6263640"/>
          </a:xfrm>
        </p:spPr>
        <p:txBody>
          <a:bodyPr>
            <a:normAutofit fontScale="92500" lnSpcReduction="10000"/>
          </a:bodyPr>
          <a:lstStyle/>
          <a:p>
            <a:pPr marL="0" indent="0" fontAlgn="base">
              <a:buNone/>
            </a:pPr>
            <a:r>
              <a:rPr lang="en-US" sz="2400" dirty="0"/>
              <a:t>Returns all non-overlapping matches of a pattern in the string as a list. It scans the string from left to right.</a:t>
            </a:r>
          </a:p>
          <a:p>
            <a:pPr marL="0" indent="0" fontAlgn="base">
              <a:buNone/>
            </a:pPr>
            <a:r>
              <a:rPr lang="en-US" sz="2400" b="1" dirty="0"/>
              <a:t>Example: </a:t>
            </a:r>
            <a:r>
              <a:rPr lang="en-US" sz="2400" dirty="0"/>
              <a:t>This code uses regular expression </a:t>
            </a:r>
            <a:r>
              <a:rPr lang="en-US" sz="2400" b="1" dirty="0"/>
              <a:t>\d+</a:t>
            </a:r>
            <a:r>
              <a:rPr lang="en-US" sz="2400" dirty="0"/>
              <a:t> to find all sequences of one or more digits in the given string.</a:t>
            </a:r>
          </a:p>
          <a:p>
            <a:pPr marL="0" indent="0" fontAlgn="base">
              <a:buNone/>
            </a:pPr>
            <a:r>
              <a:rPr lang="en-US" sz="2400" dirty="0"/>
              <a:t>Example</a:t>
            </a:r>
          </a:p>
          <a:p>
            <a:pPr marL="0" indent="0">
              <a:buNone/>
            </a:pPr>
            <a:r>
              <a:rPr lang="en-US" sz="2400" b="1" dirty="0"/>
              <a:t>import re</a:t>
            </a:r>
          </a:p>
          <a:p>
            <a:pPr marL="0" indent="0">
              <a:buNone/>
            </a:pPr>
            <a:r>
              <a:rPr lang="en-US" sz="2400" b="1" dirty="0"/>
              <a:t>string = """Hello my Number is 123456789 and</a:t>
            </a:r>
          </a:p>
          <a:p>
            <a:pPr marL="0" indent="0">
              <a:buNone/>
            </a:pPr>
            <a:r>
              <a:rPr lang="en-US" sz="2400" b="1" dirty="0"/>
              <a:t>            my friend's number is 987654321"""</a:t>
            </a:r>
          </a:p>
          <a:p>
            <a:pPr marL="0" indent="0">
              <a:buNone/>
            </a:pPr>
            <a:r>
              <a:rPr lang="en-US" sz="2400" b="1" dirty="0"/>
              <a:t>            </a:t>
            </a:r>
          </a:p>
          <a:p>
            <a:pPr marL="0" indent="0">
              <a:buNone/>
            </a:pPr>
            <a:r>
              <a:rPr lang="en-US" sz="2400" b="1" dirty="0"/>
              <a:t>regex = '\d+'</a:t>
            </a:r>
          </a:p>
          <a:p>
            <a:pPr marL="0" indent="0">
              <a:buNone/>
            </a:pPr>
            <a:r>
              <a:rPr lang="en-US" sz="2400" b="1" dirty="0"/>
              <a:t>match = </a:t>
            </a:r>
            <a:r>
              <a:rPr lang="en-US" sz="2400" b="1" dirty="0" err="1"/>
              <a:t>re.findall</a:t>
            </a:r>
            <a:r>
              <a:rPr lang="en-US" sz="2400" b="1" dirty="0"/>
              <a:t>(regex, string)</a:t>
            </a:r>
          </a:p>
          <a:p>
            <a:pPr marL="0" indent="0">
              <a:buNone/>
            </a:pPr>
            <a:r>
              <a:rPr lang="en-US" sz="2400" b="1" dirty="0"/>
              <a:t>print(match)</a:t>
            </a:r>
          </a:p>
        </p:txBody>
      </p:sp>
    </p:spTree>
    <p:extLst>
      <p:ext uri="{BB962C8B-B14F-4D97-AF65-F5344CB8AC3E}">
        <p14:creationId xmlns:p14="http://schemas.microsoft.com/office/powerpoint/2010/main" val="2662295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4E22B-B3A6-9B24-7683-1DE725063CAC}"/>
              </a:ext>
            </a:extLst>
          </p:cNvPr>
          <p:cNvSpPr>
            <a:spLocks noGrp="1"/>
          </p:cNvSpPr>
          <p:nvPr>
            <p:ph type="title"/>
          </p:nvPr>
        </p:nvSpPr>
        <p:spPr/>
        <p:txBody>
          <a:bodyPr/>
          <a:lstStyle/>
          <a:p>
            <a:r>
              <a:rPr lang="en-US" b="1" dirty="0"/>
              <a:t>2. </a:t>
            </a:r>
            <a:r>
              <a:rPr lang="en-US" b="1" dirty="0" err="1"/>
              <a:t>re.compile</a:t>
            </a:r>
            <a:r>
              <a:rPr lang="en-US" b="1" dirty="0"/>
              <a:t>()</a:t>
            </a:r>
            <a:br>
              <a:rPr lang="en-US" b="1" dirty="0"/>
            </a:br>
            <a:endParaRPr lang="en-US" dirty="0"/>
          </a:p>
        </p:txBody>
      </p:sp>
      <p:sp>
        <p:nvSpPr>
          <p:cNvPr id="3" name="Content Placeholder 2">
            <a:extLst>
              <a:ext uri="{FF2B5EF4-FFF2-40B4-BE49-F238E27FC236}">
                <a16:creationId xmlns:a16="http://schemas.microsoft.com/office/drawing/2014/main" id="{CDB6BD6C-6EE1-9B7C-E1E9-007CA2E1D21C}"/>
              </a:ext>
            </a:extLst>
          </p:cNvPr>
          <p:cNvSpPr>
            <a:spLocks noGrp="1"/>
          </p:cNvSpPr>
          <p:nvPr>
            <p:ph idx="1"/>
          </p:nvPr>
        </p:nvSpPr>
        <p:spPr>
          <a:xfrm>
            <a:off x="3869268" y="514649"/>
            <a:ext cx="7675032" cy="5470099"/>
          </a:xfrm>
        </p:spPr>
        <p:txBody>
          <a:bodyPr>
            <a:normAutofit fontScale="92500"/>
          </a:bodyPr>
          <a:lstStyle/>
          <a:p>
            <a:pPr fontAlgn="base"/>
            <a:r>
              <a:rPr lang="en-US" sz="2400" dirty="0"/>
              <a:t>Compiles a regex into a pattern object, which can be reused for matching or substitutions.</a:t>
            </a:r>
          </a:p>
          <a:p>
            <a:pPr fontAlgn="base"/>
            <a:r>
              <a:rPr lang="en-US" sz="2400" b="1" dirty="0"/>
              <a:t>Example 1: </a:t>
            </a:r>
            <a:r>
              <a:rPr lang="en-US" sz="2400" dirty="0"/>
              <a:t>This pattern </a:t>
            </a:r>
            <a:r>
              <a:rPr lang="en-US" sz="2400" b="1" dirty="0"/>
              <a:t>[a-e]</a:t>
            </a:r>
            <a:r>
              <a:rPr lang="en-US" sz="2400" dirty="0"/>
              <a:t> matches all lowercase letters between '</a:t>
            </a:r>
            <a:r>
              <a:rPr lang="en-US" sz="2400" b="1" dirty="0"/>
              <a:t>a</a:t>
            </a:r>
            <a:r>
              <a:rPr lang="en-US" sz="2400" dirty="0"/>
              <a:t>' and '</a:t>
            </a:r>
            <a:r>
              <a:rPr lang="en-US" sz="2400" b="1" dirty="0"/>
              <a:t>e</a:t>
            </a:r>
            <a:r>
              <a:rPr lang="en-US" sz="2400" dirty="0"/>
              <a:t>', in the input string </a:t>
            </a:r>
            <a:r>
              <a:rPr lang="en-US" sz="2400" b="1" dirty="0"/>
              <a:t>"Aye, said Mr. </a:t>
            </a:r>
            <a:r>
              <a:rPr lang="en-US" sz="2400" b="1" dirty="0" err="1"/>
              <a:t>Gibenson</a:t>
            </a:r>
            <a:r>
              <a:rPr lang="en-US" sz="2400" b="1" dirty="0"/>
              <a:t> Stark".</a:t>
            </a:r>
            <a:r>
              <a:rPr lang="en-US" sz="2400" dirty="0"/>
              <a:t> The output should be </a:t>
            </a:r>
            <a:r>
              <a:rPr lang="en-US" sz="2400" b="1" dirty="0"/>
              <a:t>['e', 'a', 'd', 'b', 'e']</a:t>
            </a:r>
            <a:r>
              <a:rPr lang="en-US" sz="2400" dirty="0"/>
              <a:t>, which are matching characters.</a:t>
            </a:r>
          </a:p>
          <a:p>
            <a:pPr fontAlgn="base"/>
            <a:endParaRPr lang="en-US" sz="2400" dirty="0"/>
          </a:p>
          <a:p>
            <a:pPr marL="0" indent="0">
              <a:buNone/>
            </a:pPr>
            <a:r>
              <a:rPr lang="en-US" sz="2800" dirty="0"/>
              <a:t>import re</a:t>
            </a:r>
          </a:p>
          <a:p>
            <a:pPr marL="0" indent="0">
              <a:buNone/>
            </a:pPr>
            <a:r>
              <a:rPr lang="en-US" sz="2800" dirty="0"/>
              <a:t>p = </a:t>
            </a:r>
            <a:r>
              <a:rPr lang="en-US" sz="2800" dirty="0" err="1"/>
              <a:t>re.compile</a:t>
            </a:r>
            <a:r>
              <a:rPr lang="en-US" sz="2800" dirty="0"/>
              <a:t>('[a-e]')</a:t>
            </a:r>
          </a:p>
          <a:p>
            <a:pPr marL="0" indent="0">
              <a:buNone/>
            </a:pPr>
            <a:r>
              <a:rPr lang="en-US" sz="2800" dirty="0"/>
              <a:t>print(</a:t>
            </a:r>
            <a:r>
              <a:rPr lang="en-US" sz="2800" dirty="0" err="1"/>
              <a:t>p.findall</a:t>
            </a:r>
            <a:r>
              <a:rPr lang="en-US" sz="2800" dirty="0"/>
              <a:t>("Aye, said Mr. </a:t>
            </a:r>
            <a:r>
              <a:rPr lang="en-US" sz="2800" dirty="0" err="1"/>
              <a:t>Gibenson</a:t>
            </a:r>
            <a:r>
              <a:rPr lang="en-US" sz="2800" dirty="0"/>
              <a:t> Stark"))</a:t>
            </a:r>
          </a:p>
        </p:txBody>
      </p:sp>
    </p:spTree>
    <p:extLst>
      <p:ext uri="{BB962C8B-B14F-4D97-AF65-F5344CB8AC3E}">
        <p14:creationId xmlns:p14="http://schemas.microsoft.com/office/powerpoint/2010/main" val="1011302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362A-B2E9-B440-C7C5-87CDE78E241D}"/>
              </a:ext>
            </a:extLst>
          </p:cNvPr>
          <p:cNvSpPr>
            <a:spLocks noGrp="1"/>
          </p:cNvSpPr>
          <p:nvPr>
            <p:ph type="title"/>
          </p:nvPr>
        </p:nvSpPr>
        <p:spPr>
          <a:xfrm>
            <a:off x="612649" y="514649"/>
            <a:ext cx="2359152" cy="2152351"/>
          </a:xfrm>
        </p:spPr>
        <p:txBody>
          <a:bodyPr>
            <a:normAutofit/>
          </a:bodyPr>
          <a:lstStyle/>
          <a:p>
            <a:r>
              <a:rPr lang="en-US" dirty="0"/>
              <a:t>Word and non-word characters</a:t>
            </a:r>
          </a:p>
        </p:txBody>
      </p:sp>
      <p:sp>
        <p:nvSpPr>
          <p:cNvPr id="3" name="Content Placeholder 2">
            <a:extLst>
              <a:ext uri="{FF2B5EF4-FFF2-40B4-BE49-F238E27FC236}">
                <a16:creationId xmlns:a16="http://schemas.microsoft.com/office/drawing/2014/main" id="{FBE4EB9E-D7D3-5D27-AE49-C8CFE497A74B}"/>
              </a:ext>
            </a:extLst>
          </p:cNvPr>
          <p:cNvSpPr>
            <a:spLocks noGrp="1"/>
          </p:cNvSpPr>
          <p:nvPr>
            <p:ph idx="1"/>
          </p:nvPr>
        </p:nvSpPr>
        <p:spPr>
          <a:xfrm>
            <a:off x="3732108" y="434340"/>
            <a:ext cx="7315200" cy="5813298"/>
          </a:xfrm>
        </p:spPr>
        <p:txBody>
          <a:bodyPr>
            <a:normAutofit lnSpcReduction="10000"/>
          </a:bodyPr>
          <a:lstStyle/>
          <a:p>
            <a:pPr marL="0" indent="0" fontAlgn="base">
              <a:buNone/>
            </a:pPr>
            <a:r>
              <a:rPr lang="en-US" sz="2400" b="1" dirty="0"/>
              <a:t>\w</a:t>
            </a:r>
            <a:r>
              <a:rPr lang="en-US" sz="2400" dirty="0"/>
              <a:t> matches a single word character.</a:t>
            </a:r>
          </a:p>
          <a:p>
            <a:pPr marL="0" indent="0" fontAlgn="base">
              <a:buNone/>
            </a:pPr>
            <a:r>
              <a:rPr lang="en-US" sz="2400" b="1" dirty="0"/>
              <a:t>\w+</a:t>
            </a:r>
            <a:r>
              <a:rPr lang="en-US" sz="2400" dirty="0"/>
              <a:t> matches a group of word characters.</a:t>
            </a:r>
          </a:p>
          <a:p>
            <a:pPr marL="0" indent="0" fontAlgn="base">
              <a:buNone/>
            </a:pPr>
            <a:r>
              <a:rPr lang="en-US" sz="2400" b="1" dirty="0"/>
              <a:t>\W</a:t>
            </a:r>
            <a:r>
              <a:rPr lang="en-US" sz="2400" dirty="0"/>
              <a:t> matches non-word characters.</a:t>
            </a:r>
          </a:p>
          <a:p>
            <a:pPr marL="0" indent="0">
              <a:buNone/>
            </a:pPr>
            <a:r>
              <a:rPr lang="en-US" sz="2400" dirty="0" err="1"/>
              <a:t>mport</a:t>
            </a:r>
            <a:r>
              <a:rPr lang="en-US" sz="2400" dirty="0"/>
              <a:t> re</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("He said * in </a:t>
            </a:r>
            <a:r>
              <a:rPr lang="en-US" sz="2400" dirty="0" err="1"/>
              <a:t>some_lang</a:t>
            </a:r>
            <a:r>
              <a:rPr lang="en-US" sz="2400" dirty="0"/>
              <a:t>."))</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("I went to him at 11 A.M., he \</a:t>
            </a:r>
          </a:p>
          <a:p>
            <a:pPr marL="0" indent="0">
              <a:buNone/>
            </a:pPr>
            <a:r>
              <a:rPr lang="en-US" sz="2400" dirty="0"/>
              <a:t>said *** in </a:t>
            </a:r>
            <a:r>
              <a:rPr lang="en-US" sz="2400" dirty="0" err="1"/>
              <a:t>some_language</a:t>
            </a:r>
            <a:r>
              <a:rPr lang="en-US" sz="2400" dirty="0"/>
              <a:t>."))</a:t>
            </a:r>
          </a:p>
          <a:p>
            <a:pPr marL="0" indent="0">
              <a:buNone/>
            </a:pPr>
            <a:r>
              <a:rPr lang="en-US" sz="2400" dirty="0"/>
              <a:t>p = </a:t>
            </a:r>
            <a:r>
              <a:rPr lang="en-US" sz="2400" dirty="0" err="1"/>
              <a:t>re.compile</a:t>
            </a:r>
            <a:r>
              <a:rPr lang="en-US" sz="2400" dirty="0"/>
              <a:t>('\W')</a:t>
            </a:r>
          </a:p>
          <a:p>
            <a:pPr marL="0" indent="0">
              <a:buNone/>
            </a:pPr>
            <a:r>
              <a:rPr lang="en-US" sz="2400" dirty="0"/>
              <a:t>print(</a:t>
            </a:r>
            <a:r>
              <a:rPr lang="en-US" sz="2400" dirty="0" err="1"/>
              <a:t>p.findall</a:t>
            </a:r>
            <a:r>
              <a:rPr lang="en-US" sz="2400" dirty="0"/>
              <a:t>("he said *** in </a:t>
            </a:r>
            <a:r>
              <a:rPr lang="en-US" sz="2400" dirty="0" err="1"/>
              <a:t>some_language</a:t>
            </a:r>
            <a:r>
              <a:rPr lang="en-US" sz="2400" dirty="0"/>
              <a:t>."))</a:t>
            </a:r>
          </a:p>
        </p:txBody>
      </p:sp>
    </p:spTree>
    <p:extLst>
      <p:ext uri="{BB962C8B-B14F-4D97-AF65-F5344CB8AC3E}">
        <p14:creationId xmlns:p14="http://schemas.microsoft.com/office/powerpoint/2010/main" val="771548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57AB8-C2F5-4850-5BAB-60FD428F930D}"/>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600DB969-F7E5-7CB8-9832-CDA5CAF2F994}"/>
              </a:ext>
            </a:extLst>
          </p:cNvPr>
          <p:cNvSpPr>
            <a:spLocks noGrp="1"/>
          </p:cNvSpPr>
          <p:nvPr>
            <p:ph idx="1"/>
          </p:nvPr>
        </p:nvSpPr>
        <p:spPr/>
        <p:txBody>
          <a:bodyPr>
            <a:normAutofit/>
          </a:bodyPr>
          <a:lstStyle/>
          <a:p>
            <a:pPr marL="0" indent="0">
              <a:buNone/>
            </a:pPr>
            <a:r>
              <a:rPr lang="en-US" sz="2400" dirty="0"/>
              <a:t>The regular expression pattern '</a:t>
            </a:r>
            <a:r>
              <a:rPr lang="en-US" sz="2400" b="1" dirty="0"/>
              <a:t>ab*</a:t>
            </a:r>
            <a:r>
              <a:rPr lang="en-US" sz="2400" dirty="0"/>
              <a:t>' to find and list all occurrences of '</a:t>
            </a:r>
            <a:r>
              <a:rPr lang="en-US" sz="2400" b="1" dirty="0"/>
              <a:t>ab</a:t>
            </a:r>
            <a:r>
              <a:rPr lang="en-US" sz="2400" dirty="0"/>
              <a:t>' followed by zero or more '</a:t>
            </a:r>
            <a:r>
              <a:rPr lang="en-US" sz="2400" b="1" dirty="0"/>
              <a:t>b</a:t>
            </a:r>
            <a:r>
              <a:rPr lang="en-US" sz="2400" dirty="0"/>
              <a:t>' characters. In the input string "</a:t>
            </a:r>
            <a:r>
              <a:rPr lang="en-US" sz="2400" dirty="0" err="1"/>
              <a:t>ababbaabbb</a:t>
            </a:r>
            <a:r>
              <a:rPr lang="en-US" sz="2400" dirty="0"/>
              <a:t>". It returns the following list of matches: ['ab', 'abb', '</a:t>
            </a:r>
            <a:r>
              <a:rPr lang="en-US" sz="2400" dirty="0" err="1"/>
              <a:t>abbb</a:t>
            </a:r>
            <a:r>
              <a:rPr lang="en-US" sz="2400" dirty="0"/>
              <a:t>’].</a:t>
            </a:r>
          </a:p>
          <a:p>
            <a:pPr marL="0" indent="0">
              <a:buNone/>
            </a:pPr>
            <a:endParaRPr lang="en-US" sz="2400" dirty="0"/>
          </a:p>
          <a:p>
            <a:pPr marL="0" indent="0">
              <a:buNone/>
            </a:pPr>
            <a:r>
              <a:rPr lang="en-US" sz="2400" dirty="0"/>
              <a:t>import re</a:t>
            </a:r>
          </a:p>
          <a:p>
            <a:pPr marL="0" indent="0">
              <a:buNone/>
            </a:pPr>
            <a:r>
              <a:rPr lang="en-US" sz="2400" dirty="0"/>
              <a:t>p = </a:t>
            </a:r>
            <a:r>
              <a:rPr lang="en-US" sz="2400" dirty="0" err="1"/>
              <a:t>re.compile</a:t>
            </a:r>
            <a:r>
              <a:rPr lang="en-US" sz="2400" dirty="0"/>
              <a:t>('ab*')</a:t>
            </a:r>
          </a:p>
          <a:p>
            <a:pPr marL="0" indent="0">
              <a:buNone/>
            </a:pPr>
            <a:r>
              <a:rPr lang="en-US" sz="2400" dirty="0"/>
              <a:t>print(</a:t>
            </a:r>
            <a:r>
              <a:rPr lang="en-US" sz="2400" dirty="0" err="1"/>
              <a:t>p.findall</a:t>
            </a:r>
            <a:r>
              <a:rPr lang="en-US" sz="2400" dirty="0"/>
              <a:t>("</a:t>
            </a:r>
            <a:r>
              <a:rPr lang="en-US" sz="2400" dirty="0" err="1"/>
              <a:t>ababbaabbb</a:t>
            </a:r>
            <a:r>
              <a:rPr lang="en-US" sz="2400" dirty="0"/>
              <a:t>"))</a:t>
            </a:r>
          </a:p>
        </p:txBody>
      </p:sp>
    </p:spTree>
    <p:extLst>
      <p:ext uri="{BB962C8B-B14F-4D97-AF65-F5344CB8AC3E}">
        <p14:creationId xmlns:p14="http://schemas.microsoft.com/office/powerpoint/2010/main" val="3812635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97C96-8CA9-60FB-0195-85523F1AEB2C}"/>
              </a:ext>
            </a:extLst>
          </p:cNvPr>
          <p:cNvSpPr>
            <a:spLocks noGrp="1"/>
          </p:cNvSpPr>
          <p:nvPr>
            <p:ph type="title"/>
          </p:nvPr>
        </p:nvSpPr>
        <p:spPr/>
        <p:txBody>
          <a:bodyPr/>
          <a:lstStyle/>
          <a:p>
            <a:r>
              <a:rPr lang="en-US" b="1" dirty="0"/>
              <a:t>3. </a:t>
            </a:r>
            <a:r>
              <a:rPr lang="en-US" b="1" dirty="0" err="1"/>
              <a:t>re.split</a:t>
            </a:r>
            <a:r>
              <a:rPr lang="en-US" b="1" dirty="0"/>
              <a:t>() </a:t>
            </a:r>
            <a:br>
              <a:rPr lang="en-US" b="1" dirty="0"/>
            </a:br>
            <a:endParaRPr lang="en-US" dirty="0"/>
          </a:p>
        </p:txBody>
      </p:sp>
      <p:sp>
        <p:nvSpPr>
          <p:cNvPr id="4" name="Rectangle 1">
            <a:extLst>
              <a:ext uri="{FF2B5EF4-FFF2-40B4-BE49-F238E27FC236}">
                <a16:creationId xmlns:a16="http://schemas.microsoft.com/office/drawing/2014/main" id="{0D61E4C8-6806-3CA2-84DE-A4954EDAFD9B}"/>
              </a:ext>
            </a:extLst>
          </p:cNvPr>
          <p:cNvSpPr>
            <a:spLocks noGrp="1" noChangeArrowheads="1"/>
          </p:cNvSpPr>
          <p:nvPr>
            <p:ph idx="1"/>
          </p:nvPr>
        </p:nvSpPr>
        <p:spPr bwMode="auto">
          <a:xfrm>
            <a:off x="3464493" y="1123837"/>
            <a:ext cx="829036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Nunito" pitchFamily="2" charset="0"/>
              </a:rPr>
              <a:t>Splits a string wherever the pattern matches. The remaining characters are returned as list elements.</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Nunito" pitchFamily="2" charset="0"/>
              </a:rPr>
              <a:t>Syntax: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chemeClr val="tx1"/>
                </a:solidFill>
                <a:effectLst/>
                <a:latin typeface="Arial" panose="020B0604020202020204" pitchFamily="34" charset="0"/>
              </a:rPr>
              <a:t>re.split</a:t>
            </a:r>
            <a:r>
              <a:rPr kumimoji="0" lang="en-US" altLang="en-US" sz="2800" b="0" i="0" u="none" strike="noStrike" cap="none" normalizeH="0" baseline="0" dirty="0">
                <a:ln>
                  <a:noFill/>
                </a:ln>
                <a:solidFill>
                  <a:schemeClr val="tx1"/>
                </a:solidFill>
                <a:effectLst/>
                <a:latin typeface="Arial" panose="020B0604020202020204" pitchFamily="34" charset="0"/>
              </a:rPr>
              <a:t>(pattern, string, </a:t>
            </a:r>
            <a:r>
              <a:rPr kumimoji="0" lang="en-US" altLang="en-US" sz="2800" b="0" i="0" u="none" strike="noStrike" cap="none" normalizeH="0" baseline="0" dirty="0" err="1">
                <a:ln>
                  <a:noFill/>
                </a:ln>
                <a:solidFill>
                  <a:schemeClr val="tx1"/>
                </a:solidFill>
                <a:effectLst/>
                <a:latin typeface="Arial" panose="020B0604020202020204" pitchFamily="34" charset="0"/>
              </a:rPr>
              <a:t>maxsplit</a:t>
            </a:r>
            <a:r>
              <a:rPr kumimoji="0" lang="en-US" altLang="en-US" sz="2800" b="0" i="0" u="none" strike="noStrike" cap="none" normalizeH="0" baseline="0" dirty="0">
                <a:ln>
                  <a:noFill/>
                </a:ln>
                <a:solidFill>
                  <a:schemeClr val="tx1"/>
                </a:solidFill>
                <a:effectLst/>
                <a:latin typeface="Arial" panose="020B0604020202020204" pitchFamily="34" charset="0"/>
              </a:rPr>
              <a:t>=0, flags=0)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pattern:</a:t>
            </a:r>
            <a:r>
              <a:rPr kumimoji="0" lang="en-US" altLang="en-US" sz="2800" b="0" i="0" u="none" strike="noStrike" cap="none" normalizeH="0" baseline="0" dirty="0">
                <a:ln>
                  <a:noFill/>
                </a:ln>
                <a:solidFill>
                  <a:srgbClr val="273239"/>
                </a:solidFill>
                <a:effectLst/>
                <a:latin typeface="Nunito" pitchFamily="2" charset="0"/>
              </a:rPr>
              <a:t> Regular expression to match split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string:</a:t>
            </a:r>
            <a:r>
              <a:rPr kumimoji="0" lang="en-US" altLang="en-US" sz="2800" b="0" i="0" u="none" strike="noStrike" cap="none" normalizeH="0" baseline="0" dirty="0">
                <a:ln>
                  <a:noFill/>
                </a:ln>
                <a:solidFill>
                  <a:srgbClr val="273239"/>
                </a:solidFill>
                <a:effectLst/>
                <a:latin typeface="Nunito" pitchFamily="2" charset="0"/>
              </a:rPr>
              <a:t> The input string to split.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rgbClr val="273239"/>
                </a:solidFill>
                <a:effectLst/>
                <a:latin typeface="Nunito" pitchFamily="2" charset="0"/>
              </a:rPr>
              <a:t>maxsplit</a:t>
            </a:r>
            <a:r>
              <a:rPr kumimoji="0" lang="en-US" altLang="en-US" sz="2800" b="1" i="0" u="none" strike="noStrike" cap="none" normalizeH="0" baseline="0" dirty="0">
                <a:ln>
                  <a:noFill/>
                </a:ln>
                <a:solidFill>
                  <a:srgbClr val="273239"/>
                </a:solidFill>
                <a:effectLst/>
                <a:latin typeface="Nunito" pitchFamily="2" charset="0"/>
              </a:rPr>
              <a:t> (optional): </a:t>
            </a:r>
            <a:r>
              <a:rPr kumimoji="0" lang="en-US" altLang="en-US" sz="2800" b="0" i="0" u="none" strike="noStrike" cap="none" normalizeH="0" baseline="0" dirty="0">
                <a:ln>
                  <a:noFill/>
                </a:ln>
                <a:solidFill>
                  <a:srgbClr val="273239"/>
                </a:solidFill>
                <a:effectLst/>
                <a:latin typeface="Nunito" pitchFamily="2" charset="0"/>
              </a:rPr>
              <a:t>Limits the number of splits. Default is 0 (no limit).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273239"/>
                </a:solidFill>
                <a:effectLst/>
                <a:latin typeface="Nunito" pitchFamily="2" charset="0"/>
              </a:rPr>
              <a:t>flags (optional): </a:t>
            </a:r>
            <a:r>
              <a:rPr kumimoji="0" lang="en-US" altLang="en-US" sz="2800" b="0" i="0" u="none" strike="noStrike" cap="none" normalizeH="0" baseline="0" dirty="0">
                <a:ln>
                  <a:noFill/>
                </a:ln>
                <a:solidFill>
                  <a:srgbClr val="273239"/>
                </a:solidFill>
                <a:effectLst/>
                <a:latin typeface="Nunito" pitchFamily="2" charset="0"/>
              </a:rPr>
              <a:t>Apply regex flags like </a:t>
            </a:r>
            <a:r>
              <a:rPr kumimoji="0" lang="en-US" altLang="en-US" sz="2800" b="0" i="0" u="none" strike="noStrike" cap="none" normalizeH="0" baseline="0" dirty="0" err="1">
                <a:ln>
                  <a:noFill/>
                </a:ln>
                <a:solidFill>
                  <a:srgbClr val="273239"/>
                </a:solidFill>
                <a:effectLst/>
                <a:latin typeface="Nunito" pitchFamily="2" charset="0"/>
              </a:rPr>
              <a:t>re.IGNORECASE</a:t>
            </a:r>
            <a:r>
              <a:rPr kumimoji="0" lang="en-US" altLang="en-US" sz="2800" b="0" i="0" u="none" strike="noStrike" cap="none" normalizeH="0" baseline="0" dirty="0">
                <a:ln>
                  <a:noFill/>
                </a:ln>
                <a:solidFill>
                  <a:srgbClr val="273239"/>
                </a:solidFill>
                <a:effectLst/>
                <a:latin typeface="Nunito"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44761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134F-8EFA-75B6-1308-FB1B15778960}"/>
              </a:ext>
            </a:extLst>
          </p:cNvPr>
          <p:cNvSpPr>
            <a:spLocks noGrp="1"/>
          </p:cNvSpPr>
          <p:nvPr>
            <p:ph type="title"/>
          </p:nvPr>
        </p:nvSpPr>
        <p:spPr>
          <a:xfrm>
            <a:off x="612647" y="0"/>
            <a:ext cx="10963655" cy="972373"/>
          </a:xfrm>
        </p:spPr>
        <p:txBody>
          <a:bodyPr/>
          <a:lstStyle/>
          <a:p>
            <a:r>
              <a:rPr lang="en-US" b="1" dirty="0"/>
              <a:t>Example </a:t>
            </a:r>
            <a:endParaRPr lang="en-US" dirty="0"/>
          </a:p>
        </p:txBody>
      </p:sp>
      <p:sp>
        <p:nvSpPr>
          <p:cNvPr id="3" name="Content Placeholder 2">
            <a:extLst>
              <a:ext uri="{FF2B5EF4-FFF2-40B4-BE49-F238E27FC236}">
                <a16:creationId xmlns:a16="http://schemas.microsoft.com/office/drawing/2014/main" id="{2B4CF32F-52A7-5DF3-2CA5-77E9C6E9DCEF}"/>
              </a:ext>
            </a:extLst>
          </p:cNvPr>
          <p:cNvSpPr>
            <a:spLocks noGrp="1"/>
          </p:cNvSpPr>
          <p:nvPr>
            <p:ph idx="1"/>
          </p:nvPr>
        </p:nvSpPr>
        <p:spPr>
          <a:xfrm>
            <a:off x="533400" y="1172124"/>
            <a:ext cx="10963656" cy="5685876"/>
          </a:xfrm>
        </p:spPr>
        <p:txBody>
          <a:bodyPr>
            <a:noAutofit/>
          </a:bodyPr>
          <a:lstStyle/>
          <a:p>
            <a:pPr marL="0" indent="0" fontAlgn="base">
              <a:buNone/>
            </a:pPr>
            <a:r>
              <a:rPr lang="en-US" sz="2800" b="1" dirty="0"/>
              <a:t>Splitting by non-word characters or digits</a:t>
            </a:r>
            <a:endParaRPr lang="en-US" sz="2800" dirty="0"/>
          </a:p>
          <a:p>
            <a:pPr marL="0" indent="0" fontAlgn="base">
              <a:buNone/>
            </a:pPr>
            <a:r>
              <a:rPr lang="en-US" sz="2800" dirty="0"/>
              <a:t>This example demonstrates how to split a string using different patterns like non-word characters (\W+), apostrophes, and digits (\d+).</a:t>
            </a:r>
          </a:p>
          <a:p>
            <a:pPr marL="0" indent="0">
              <a:buNone/>
            </a:pPr>
            <a:r>
              <a:rPr lang="en-US" sz="2800" dirty="0"/>
              <a:t>from re import split</a:t>
            </a:r>
          </a:p>
          <a:p>
            <a:pPr marL="0" indent="0">
              <a:buNone/>
            </a:pPr>
            <a:r>
              <a:rPr lang="en-US" sz="2800" dirty="0"/>
              <a:t>print(split('\W+', 'Words, words , Words'))</a:t>
            </a:r>
          </a:p>
          <a:p>
            <a:pPr marL="0" indent="0">
              <a:buNone/>
            </a:pPr>
            <a:r>
              <a:rPr lang="en-US" sz="2800" dirty="0"/>
              <a:t>print(split('\W+', "Word's words Words"))</a:t>
            </a:r>
          </a:p>
          <a:p>
            <a:pPr marL="0" indent="0">
              <a:buNone/>
            </a:pPr>
            <a:r>
              <a:rPr lang="en-US" sz="2800" dirty="0"/>
              <a:t>print(split('\W+', 'On 12th Jan 2016, at 11:02 AM'))</a:t>
            </a:r>
          </a:p>
          <a:p>
            <a:pPr marL="0" indent="0">
              <a:buNone/>
            </a:pPr>
            <a:r>
              <a:rPr lang="en-US" sz="2800" dirty="0"/>
              <a:t>print(split('\d+', 'On 12th Jan 2016, at 11:02 AM'))</a:t>
            </a:r>
          </a:p>
        </p:txBody>
      </p:sp>
    </p:spTree>
    <p:extLst>
      <p:ext uri="{BB962C8B-B14F-4D97-AF65-F5344CB8AC3E}">
        <p14:creationId xmlns:p14="http://schemas.microsoft.com/office/powerpoint/2010/main" val="3200005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27A6-DF9B-CCC1-CA35-B3BC02C26A71}"/>
              </a:ext>
            </a:extLst>
          </p:cNvPr>
          <p:cNvSpPr>
            <a:spLocks noGrp="1"/>
          </p:cNvSpPr>
          <p:nvPr>
            <p:ph type="title"/>
          </p:nvPr>
        </p:nvSpPr>
        <p:spPr/>
        <p:txBody>
          <a:bodyPr/>
          <a:lstStyle/>
          <a:p>
            <a:r>
              <a:rPr lang="en-US" b="1" dirty="0"/>
              <a:t>4. </a:t>
            </a:r>
            <a:r>
              <a:rPr lang="en-US" b="1" dirty="0" err="1"/>
              <a:t>re.sub</a:t>
            </a:r>
            <a:r>
              <a:rPr lang="en-US" b="1" dirty="0"/>
              <a:t>()</a:t>
            </a:r>
            <a:br>
              <a:rPr lang="en-US" b="1" dirty="0"/>
            </a:br>
            <a:endParaRPr lang="en-US" dirty="0"/>
          </a:p>
        </p:txBody>
      </p:sp>
      <p:sp>
        <p:nvSpPr>
          <p:cNvPr id="4" name="Rectangle 1">
            <a:extLst>
              <a:ext uri="{FF2B5EF4-FFF2-40B4-BE49-F238E27FC236}">
                <a16:creationId xmlns:a16="http://schemas.microsoft.com/office/drawing/2014/main" id="{3C0FFC4D-B9E2-7D5F-606D-4855910BA2BA}"/>
              </a:ext>
            </a:extLst>
          </p:cNvPr>
          <p:cNvSpPr>
            <a:spLocks noGrp="1" noChangeArrowheads="1"/>
          </p:cNvSpPr>
          <p:nvPr>
            <p:ph idx="1"/>
          </p:nvPr>
        </p:nvSpPr>
        <p:spPr bwMode="auto">
          <a:xfrm>
            <a:off x="3200400" y="1151452"/>
            <a:ext cx="8538209" cy="45550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Nunito" pitchFamily="2" charset="0"/>
              </a:rPr>
              <a:t>The </a:t>
            </a:r>
            <a:r>
              <a:rPr kumimoji="0" lang="en-US" altLang="en-US" sz="2800" b="0" i="0" u="none" strike="noStrike" cap="none" normalizeH="0" baseline="0" dirty="0" err="1">
                <a:ln>
                  <a:noFill/>
                </a:ln>
                <a:solidFill>
                  <a:srgbClr val="273239"/>
                </a:solidFill>
                <a:effectLst/>
                <a:latin typeface="Nunito" pitchFamily="2" charset="0"/>
              </a:rPr>
              <a:t>re.sub</a:t>
            </a:r>
            <a:r>
              <a:rPr kumimoji="0" lang="en-US" altLang="en-US" sz="2800" b="0" i="0" u="none" strike="noStrike" cap="none" normalizeH="0" baseline="0" dirty="0">
                <a:ln>
                  <a:noFill/>
                </a:ln>
                <a:solidFill>
                  <a:srgbClr val="273239"/>
                </a:solidFill>
                <a:effectLst/>
                <a:latin typeface="Nunito" pitchFamily="2" charset="0"/>
              </a:rPr>
              <a:t>() function replaces all occurrences of a pattern in a string with a replacement string.</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Nunito" pitchFamily="2" charset="0"/>
              </a:rPr>
              <a:t>Syntax:</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err="1">
                <a:ln>
                  <a:noFill/>
                </a:ln>
                <a:solidFill>
                  <a:schemeClr val="tx1"/>
                </a:solidFill>
                <a:effectLst/>
                <a:latin typeface="Arial" panose="020B0604020202020204" pitchFamily="34" charset="0"/>
              </a:rPr>
              <a:t>re.sub</a:t>
            </a:r>
            <a:r>
              <a:rPr kumimoji="0" lang="en-US" altLang="en-US" sz="2800" b="0" i="0" u="none" strike="noStrike" cap="none" normalizeH="0" baseline="0" dirty="0">
                <a:ln>
                  <a:noFill/>
                </a:ln>
                <a:solidFill>
                  <a:schemeClr val="tx1"/>
                </a:solidFill>
                <a:effectLst/>
                <a:latin typeface="Arial" panose="020B0604020202020204" pitchFamily="34" charset="0"/>
              </a:rPr>
              <a:t>(pattern, </a:t>
            </a:r>
            <a:r>
              <a:rPr kumimoji="0" lang="en-US" altLang="en-US" sz="2800" b="0" i="0" u="none" strike="noStrike" cap="none" normalizeH="0" baseline="0" dirty="0" err="1">
                <a:ln>
                  <a:noFill/>
                </a:ln>
                <a:solidFill>
                  <a:schemeClr val="tx1"/>
                </a:solidFill>
                <a:effectLst/>
                <a:latin typeface="Arial" panose="020B0604020202020204" pitchFamily="34" charset="0"/>
              </a:rPr>
              <a:t>repl</a:t>
            </a:r>
            <a:r>
              <a:rPr kumimoji="0" lang="en-US" altLang="en-US" sz="2800" b="0" i="0" u="none" strike="noStrike" cap="none" normalizeH="0" baseline="0" dirty="0">
                <a:ln>
                  <a:noFill/>
                </a:ln>
                <a:solidFill>
                  <a:schemeClr val="tx1"/>
                </a:solidFill>
                <a:effectLst/>
                <a:latin typeface="Arial" panose="020B0604020202020204" pitchFamily="34" charset="0"/>
              </a:rPr>
              <a:t>, string, count=0, flags=0)</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pattern</a:t>
            </a:r>
            <a:r>
              <a:rPr kumimoji="0" lang="en-US" altLang="en-US" sz="2600" b="0" i="0" u="none" strike="noStrike" cap="none" normalizeH="0" baseline="0" dirty="0">
                <a:ln>
                  <a:noFill/>
                </a:ln>
                <a:solidFill>
                  <a:srgbClr val="273239"/>
                </a:solidFill>
                <a:effectLst/>
                <a:latin typeface="Nunito" pitchFamily="2" charset="0"/>
              </a:rPr>
              <a:t>: The regex pattern to search for.</a:t>
            </a:r>
          </a:p>
          <a:p>
            <a:pPr marL="502920" lvl="1" indent="0">
              <a:lnSpc>
                <a:spcPct val="100000"/>
              </a:lnSpc>
              <a:buClrTx/>
              <a:buFontTx/>
              <a:buChar char="•"/>
            </a:pPr>
            <a:r>
              <a:rPr kumimoji="0" lang="en-US" altLang="en-US" sz="2600" b="1" i="0" u="none" strike="noStrike" cap="none" normalizeH="0" baseline="0" dirty="0" err="1">
                <a:ln>
                  <a:noFill/>
                </a:ln>
                <a:solidFill>
                  <a:srgbClr val="273239"/>
                </a:solidFill>
                <a:effectLst/>
                <a:latin typeface="Nunito" pitchFamily="2" charset="0"/>
              </a:rPr>
              <a:t>repl</a:t>
            </a:r>
            <a:r>
              <a:rPr kumimoji="0" lang="en-US" altLang="en-US" sz="2600" b="0" i="0" u="none" strike="noStrike" cap="none" normalizeH="0" baseline="0" dirty="0">
                <a:ln>
                  <a:noFill/>
                </a:ln>
                <a:solidFill>
                  <a:srgbClr val="273239"/>
                </a:solidFill>
                <a:effectLst/>
                <a:latin typeface="Nunito" pitchFamily="2" charset="0"/>
              </a:rPr>
              <a:t>: The string to replace matches with.</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string</a:t>
            </a:r>
            <a:r>
              <a:rPr kumimoji="0" lang="en-US" altLang="en-US" sz="2600" b="0" i="0" u="none" strike="noStrike" cap="none" normalizeH="0" baseline="0" dirty="0">
                <a:ln>
                  <a:noFill/>
                </a:ln>
                <a:solidFill>
                  <a:srgbClr val="273239"/>
                </a:solidFill>
                <a:effectLst/>
                <a:latin typeface="Nunito" pitchFamily="2" charset="0"/>
              </a:rPr>
              <a:t>: The input string to process.</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count</a:t>
            </a:r>
            <a:r>
              <a:rPr kumimoji="0" lang="en-US" altLang="en-US" sz="2600" b="0" i="0" u="none" strike="noStrike" cap="none" normalizeH="0" baseline="0" dirty="0">
                <a:ln>
                  <a:noFill/>
                </a:ln>
                <a:solidFill>
                  <a:srgbClr val="273239"/>
                </a:solidFill>
                <a:effectLst/>
                <a:latin typeface="Nunito" pitchFamily="2" charset="0"/>
              </a:rPr>
              <a:t> (optional): Maximum number of substitutions (default is 0, which means replace all).</a:t>
            </a:r>
          </a:p>
          <a:p>
            <a:pPr marL="502920" lvl="1" indent="0">
              <a:lnSpc>
                <a:spcPct val="100000"/>
              </a:lnSpc>
              <a:buClrTx/>
              <a:buFontTx/>
              <a:buChar char="•"/>
            </a:pPr>
            <a:r>
              <a:rPr kumimoji="0" lang="en-US" altLang="en-US" sz="2600" b="1" i="0" u="none" strike="noStrike" cap="none" normalizeH="0" baseline="0" dirty="0">
                <a:ln>
                  <a:noFill/>
                </a:ln>
                <a:solidFill>
                  <a:srgbClr val="273239"/>
                </a:solidFill>
                <a:effectLst/>
                <a:latin typeface="Nunito" pitchFamily="2" charset="0"/>
              </a:rPr>
              <a:t>flags (optional)</a:t>
            </a:r>
            <a:r>
              <a:rPr kumimoji="0" lang="en-US" altLang="en-US" sz="2600" b="0" i="0" u="none" strike="noStrike" cap="none" normalizeH="0" baseline="0" dirty="0">
                <a:ln>
                  <a:noFill/>
                </a:ln>
                <a:solidFill>
                  <a:srgbClr val="273239"/>
                </a:solidFill>
                <a:effectLst/>
                <a:latin typeface="Nunito" pitchFamily="2" charset="0"/>
              </a:rPr>
              <a:t>: Regex flags like </a:t>
            </a:r>
            <a:r>
              <a:rPr kumimoji="0" lang="en-US" altLang="en-US" sz="2600" b="0" i="0" u="none" strike="noStrike" cap="none" normalizeH="0" baseline="0" dirty="0" err="1">
                <a:ln>
                  <a:noFill/>
                </a:ln>
                <a:solidFill>
                  <a:srgbClr val="273239"/>
                </a:solidFill>
                <a:effectLst/>
                <a:latin typeface="Nunito" pitchFamily="2" charset="0"/>
              </a:rPr>
              <a:t>re.IGNORECASE</a:t>
            </a:r>
            <a:r>
              <a:rPr kumimoji="0" lang="en-US" altLang="en-US" sz="2600" b="0" i="0" u="none" strike="noStrike" cap="none" normalizeH="0" baseline="0" dirty="0">
                <a:ln>
                  <a:noFill/>
                </a:ln>
                <a:solidFill>
                  <a:srgbClr val="273239"/>
                </a:solidFill>
                <a:effectLst/>
                <a:latin typeface="Nunito"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732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B520-DC2F-0CB7-CFA6-D62734888573}"/>
              </a:ext>
            </a:extLst>
          </p:cNvPr>
          <p:cNvSpPr>
            <a:spLocks noGrp="1"/>
          </p:cNvSpPr>
          <p:nvPr>
            <p:ph type="title"/>
          </p:nvPr>
        </p:nvSpPr>
        <p:spPr>
          <a:xfrm>
            <a:off x="614172" y="0"/>
            <a:ext cx="10963655" cy="972373"/>
          </a:xfrm>
        </p:spPr>
        <p:txBody>
          <a:bodyPr/>
          <a:lstStyle/>
          <a:p>
            <a:r>
              <a:rPr lang="en-US" dirty="0"/>
              <a:t>Different ways to replace the pattern '</a:t>
            </a:r>
            <a:r>
              <a:rPr lang="en-US" b="1" dirty="0" err="1"/>
              <a:t>ub</a:t>
            </a:r>
            <a:r>
              <a:rPr lang="en-US" dirty="0"/>
              <a:t>' with '</a:t>
            </a:r>
            <a:r>
              <a:rPr lang="en-US" b="1" dirty="0"/>
              <a:t>~*</a:t>
            </a:r>
            <a:r>
              <a:rPr lang="en-US" dirty="0"/>
              <a:t>', using various flags and count values.</a:t>
            </a:r>
          </a:p>
        </p:txBody>
      </p:sp>
      <p:sp>
        <p:nvSpPr>
          <p:cNvPr id="3" name="Content Placeholder 2">
            <a:extLst>
              <a:ext uri="{FF2B5EF4-FFF2-40B4-BE49-F238E27FC236}">
                <a16:creationId xmlns:a16="http://schemas.microsoft.com/office/drawing/2014/main" id="{AA4997E8-EDA5-2EEF-E21C-460C66C1A71D}"/>
              </a:ext>
            </a:extLst>
          </p:cNvPr>
          <p:cNvSpPr>
            <a:spLocks noGrp="1"/>
          </p:cNvSpPr>
          <p:nvPr>
            <p:ph idx="1"/>
          </p:nvPr>
        </p:nvSpPr>
        <p:spPr>
          <a:xfrm>
            <a:off x="1600200" y="1295400"/>
            <a:ext cx="8322732" cy="5120640"/>
          </a:xfrm>
        </p:spPr>
        <p:txBody>
          <a:bodyPr>
            <a:normAutofit fontScale="85000" lnSpcReduction="10000"/>
          </a:bodyPr>
          <a:lstStyle/>
          <a:p>
            <a:pPr marL="0" indent="0">
              <a:buNone/>
            </a:pPr>
            <a:r>
              <a:rPr lang="en-US" sz="2400" dirty="0"/>
              <a:t>import re</a:t>
            </a:r>
          </a:p>
          <a:p>
            <a:pPr marL="0" indent="0">
              <a:buNone/>
            </a:pPr>
            <a:r>
              <a:rPr lang="en-US" sz="2400" dirty="0"/>
              <a:t># Case-insensitive replacement of all '</a:t>
            </a:r>
            <a:r>
              <a:rPr lang="en-US" sz="2400" dirty="0" err="1"/>
              <a:t>ub</a:t>
            </a:r>
            <a:r>
              <a:rPr lang="en-US" sz="2400" dirty="0"/>
              <a:t>'</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 flags=</a:t>
            </a:r>
            <a:r>
              <a:rPr lang="en-US" sz="2400" dirty="0" err="1"/>
              <a:t>re.IGNORECASE</a:t>
            </a:r>
            <a:r>
              <a:rPr lang="en-US" sz="2400" dirty="0"/>
              <a:t>))</a:t>
            </a:r>
          </a:p>
          <a:p>
            <a:pPr marL="0" indent="0">
              <a:buNone/>
            </a:pPr>
            <a:r>
              <a:rPr lang="en-US" sz="2400" dirty="0"/>
              <a:t># Case-sensitive replacement of all '</a:t>
            </a:r>
            <a:r>
              <a:rPr lang="en-US" sz="2400" dirty="0" err="1"/>
              <a:t>ub</a:t>
            </a:r>
            <a:r>
              <a:rPr lang="en-US" sz="2400" dirty="0"/>
              <a:t>'</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a:t>
            </a:r>
          </a:p>
          <a:p>
            <a:pPr marL="0" indent="0">
              <a:buNone/>
            </a:pPr>
            <a:r>
              <a:rPr lang="en-US" sz="2400" dirty="0"/>
              <a:t># Replace only the first '</a:t>
            </a:r>
            <a:r>
              <a:rPr lang="en-US" sz="2400" dirty="0" err="1"/>
              <a:t>ub</a:t>
            </a:r>
            <a:r>
              <a:rPr lang="en-US" sz="2400" dirty="0"/>
              <a:t>', case-insensitive</a:t>
            </a:r>
          </a:p>
          <a:p>
            <a:pPr marL="0" indent="0">
              <a:buNone/>
            </a:pPr>
            <a:r>
              <a:rPr lang="en-US" sz="2400" dirty="0"/>
              <a:t>print(</a:t>
            </a:r>
            <a:r>
              <a:rPr lang="en-US" sz="2400" dirty="0" err="1"/>
              <a:t>re.sub</a:t>
            </a:r>
            <a:r>
              <a:rPr lang="en-US" sz="2400" dirty="0"/>
              <a:t>('</a:t>
            </a:r>
            <a:r>
              <a:rPr lang="en-US" sz="2400" dirty="0" err="1"/>
              <a:t>ub</a:t>
            </a:r>
            <a:r>
              <a:rPr lang="en-US" sz="2400" dirty="0"/>
              <a:t>', '~*', 'Subject has Uber booked already', count=1, flags=</a:t>
            </a:r>
            <a:r>
              <a:rPr lang="en-US" sz="2400" dirty="0" err="1"/>
              <a:t>re.IGNORECASE</a:t>
            </a:r>
            <a:r>
              <a:rPr lang="en-US" sz="2400" dirty="0"/>
              <a:t>))</a:t>
            </a:r>
          </a:p>
          <a:p>
            <a:pPr marL="0" indent="0">
              <a:buNone/>
            </a:pPr>
            <a:r>
              <a:rPr lang="en-US" sz="2400" dirty="0"/>
              <a:t># Replace "AND" with "&amp;", ignoring case</a:t>
            </a:r>
          </a:p>
          <a:p>
            <a:pPr marL="0" indent="0">
              <a:buNone/>
            </a:pPr>
            <a:r>
              <a:rPr lang="en-US" sz="2400" dirty="0"/>
              <a:t>print(</a:t>
            </a:r>
            <a:r>
              <a:rPr lang="en-US" sz="2400" dirty="0" err="1"/>
              <a:t>re.sub</a:t>
            </a:r>
            <a:r>
              <a:rPr lang="en-US" sz="2400" dirty="0"/>
              <a:t>(r'\</a:t>
            </a:r>
            <a:r>
              <a:rPr lang="en-US" sz="2400" dirty="0" err="1"/>
              <a:t>sAND</a:t>
            </a:r>
            <a:r>
              <a:rPr lang="en-US" sz="2400" dirty="0"/>
              <a:t>\s', ' &amp; ', 'Baked Beans And Spam', flags=</a:t>
            </a:r>
            <a:r>
              <a:rPr lang="en-US" sz="2400" dirty="0" err="1"/>
              <a:t>re.IGNORECASE</a:t>
            </a:r>
            <a:r>
              <a:rPr lang="en-US" sz="2400" dirty="0"/>
              <a:t>))</a:t>
            </a:r>
          </a:p>
        </p:txBody>
      </p:sp>
    </p:spTree>
    <p:extLst>
      <p:ext uri="{BB962C8B-B14F-4D97-AF65-F5344CB8AC3E}">
        <p14:creationId xmlns:p14="http://schemas.microsoft.com/office/powerpoint/2010/main" val="1659427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1650-1905-70B7-B8AD-BB7E260AD7D7}"/>
              </a:ext>
            </a:extLst>
          </p:cNvPr>
          <p:cNvSpPr>
            <a:spLocks noGrp="1"/>
          </p:cNvSpPr>
          <p:nvPr>
            <p:ph type="title"/>
          </p:nvPr>
        </p:nvSpPr>
        <p:spPr>
          <a:xfrm>
            <a:off x="612649" y="514649"/>
            <a:ext cx="3044952" cy="972373"/>
          </a:xfrm>
        </p:spPr>
        <p:txBody>
          <a:bodyPr>
            <a:normAutofit/>
          </a:bodyPr>
          <a:lstStyle/>
          <a:p>
            <a:r>
              <a:rPr lang="en-US" b="1" dirty="0"/>
              <a:t> [] - Square Brackets</a:t>
            </a:r>
            <a:endParaRPr lang="en-US" dirty="0"/>
          </a:p>
        </p:txBody>
      </p:sp>
      <p:sp>
        <p:nvSpPr>
          <p:cNvPr id="3" name="Content Placeholder 2">
            <a:extLst>
              <a:ext uri="{FF2B5EF4-FFF2-40B4-BE49-F238E27FC236}">
                <a16:creationId xmlns:a16="http://schemas.microsoft.com/office/drawing/2014/main" id="{5FABB5BD-39FA-AAD1-97AE-5AB43DB3D95C}"/>
              </a:ext>
            </a:extLst>
          </p:cNvPr>
          <p:cNvSpPr>
            <a:spLocks noGrp="1"/>
          </p:cNvSpPr>
          <p:nvPr>
            <p:ph idx="1"/>
          </p:nvPr>
        </p:nvSpPr>
        <p:spPr>
          <a:xfrm>
            <a:off x="3480647" y="868680"/>
            <a:ext cx="8322733" cy="5120640"/>
          </a:xfrm>
        </p:spPr>
        <p:txBody>
          <a:bodyPr>
            <a:normAutofit/>
          </a:bodyPr>
          <a:lstStyle/>
          <a:p>
            <a:pPr marL="0" indent="0">
              <a:buNone/>
            </a:pPr>
            <a:r>
              <a:rPr lang="en-US" sz="2800" dirty="0"/>
              <a:t>import re</a:t>
            </a:r>
          </a:p>
          <a:p>
            <a:pPr marL="0" indent="0">
              <a:buNone/>
            </a:pPr>
            <a:endParaRPr lang="en-US" sz="2800" dirty="0"/>
          </a:p>
          <a:p>
            <a:pPr marL="0" indent="0">
              <a:buNone/>
            </a:pPr>
            <a:r>
              <a:rPr lang="en-US" sz="2800" dirty="0"/>
              <a:t>string = "The quick brown fox jumps over the lazy dog"</a:t>
            </a:r>
          </a:p>
          <a:p>
            <a:pPr marL="0" indent="0">
              <a:buNone/>
            </a:pPr>
            <a:r>
              <a:rPr lang="en-US" sz="2800" dirty="0"/>
              <a:t>pattern = "[a-m]"</a:t>
            </a:r>
          </a:p>
          <a:p>
            <a:pPr marL="0" indent="0">
              <a:buNone/>
            </a:pPr>
            <a:r>
              <a:rPr lang="en-US" sz="2800" dirty="0"/>
              <a:t>result = </a:t>
            </a:r>
            <a:r>
              <a:rPr lang="en-US" sz="2800" dirty="0" err="1"/>
              <a:t>re.findall</a:t>
            </a:r>
            <a:r>
              <a:rPr lang="en-US" sz="2800" dirty="0"/>
              <a:t>(pattern, string)</a:t>
            </a:r>
          </a:p>
          <a:p>
            <a:pPr marL="0" indent="0">
              <a:buNone/>
            </a:pPr>
            <a:endParaRPr lang="en-US" sz="2800" dirty="0"/>
          </a:p>
          <a:p>
            <a:pPr marL="0" indent="0">
              <a:buNone/>
            </a:pPr>
            <a:r>
              <a:rPr lang="en-US" sz="2800" dirty="0"/>
              <a:t>print(result)</a:t>
            </a:r>
          </a:p>
        </p:txBody>
      </p:sp>
    </p:spTree>
    <p:extLst>
      <p:ext uri="{BB962C8B-B14F-4D97-AF65-F5344CB8AC3E}">
        <p14:creationId xmlns:p14="http://schemas.microsoft.com/office/powerpoint/2010/main" val="17719341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546C-F805-1289-DB85-9AAA8CFCBDF3}"/>
              </a:ext>
            </a:extLst>
          </p:cNvPr>
          <p:cNvSpPr>
            <a:spLocks noGrp="1"/>
          </p:cNvSpPr>
          <p:nvPr>
            <p:ph type="title"/>
          </p:nvPr>
        </p:nvSpPr>
        <p:spPr/>
        <p:txBody>
          <a:bodyPr/>
          <a:lstStyle/>
          <a:p>
            <a:r>
              <a:rPr lang="en-US" b="1" dirty="0"/>
              <a:t>^ - Caret</a:t>
            </a:r>
            <a:br>
              <a:rPr lang="en-US" b="1" dirty="0"/>
            </a:br>
            <a:endParaRPr lang="en-US" dirty="0"/>
          </a:p>
        </p:txBody>
      </p:sp>
      <p:sp>
        <p:nvSpPr>
          <p:cNvPr id="3" name="Content Placeholder 2">
            <a:extLst>
              <a:ext uri="{FF2B5EF4-FFF2-40B4-BE49-F238E27FC236}">
                <a16:creationId xmlns:a16="http://schemas.microsoft.com/office/drawing/2014/main" id="{BA140873-9740-EEC8-C986-5C770E680F6D}"/>
              </a:ext>
            </a:extLst>
          </p:cNvPr>
          <p:cNvSpPr>
            <a:spLocks noGrp="1"/>
          </p:cNvSpPr>
          <p:nvPr>
            <p:ph idx="1"/>
          </p:nvPr>
        </p:nvSpPr>
        <p:spPr>
          <a:xfrm>
            <a:off x="838200" y="1295400"/>
            <a:ext cx="10738103" cy="6286500"/>
          </a:xfrm>
        </p:spPr>
        <p:txBody>
          <a:bodyPr>
            <a:normAutofit/>
          </a:bodyPr>
          <a:lstStyle/>
          <a:p>
            <a:pPr marL="0" indent="0" fontAlgn="base">
              <a:buNone/>
            </a:pPr>
            <a:r>
              <a:rPr lang="en-US" sz="2400" dirty="0"/>
              <a:t>It matches the beginning of the string i.e. checks whether the string starts with the given character(s) or not. For example -  </a:t>
            </a:r>
          </a:p>
          <a:p>
            <a:pPr fontAlgn="base"/>
            <a:r>
              <a:rPr lang="en-US" sz="2400" dirty="0"/>
              <a:t>^g will check if the string starts with g such as geeks, globe, girl, g, etc.</a:t>
            </a:r>
          </a:p>
          <a:p>
            <a:pPr fontAlgn="base"/>
            <a:r>
              <a:rPr lang="en-US" sz="2400" dirty="0"/>
              <a:t>^</a:t>
            </a:r>
            <a:r>
              <a:rPr lang="en-US" sz="2400" dirty="0" err="1"/>
              <a:t>ge</a:t>
            </a:r>
            <a:r>
              <a:rPr lang="en-US" sz="2400" dirty="0"/>
              <a:t> will check if the string starts with </a:t>
            </a:r>
            <a:r>
              <a:rPr lang="en-US" sz="2400" dirty="0" err="1"/>
              <a:t>ge</a:t>
            </a:r>
            <a:r>
              <a:rPr lang="en-US" sz="2400" dirty="0"/>
              <a:t> such as geeks, </a:t>
            </a:r>
            <a:r>
              <a:rPr lang="en-US" sz="2400" dirty="0" err="1"/>
              <a:t>geeksforgeeks</a:t>
            </a:r>
            <a:r>
              <a:rPr lang="en-US" sz="2400" dirty="0"/>
              <a:t>, etc.</a:t>
            </a:r>
          </a:p>
          <a:p>
            <a:pPr marL="0" indent="0" fontAlgn="base">
              <a:buNone/>
            </a:pPr>
            <a:r>
              <a:rPr lang="en-US" sz="2400" b="1" dirty="0"/>
              <a:t>Example: </a:t>
            </a:r>
            <a:r>
              <a:rPr lang="en-US" sz="2400" dirty="0"/>
              <a:t>This code uses regular expressions to check if a list of strings starts with </a:t>
            </a:r>
            <a:r>
              <a:rPr lang="en-US" sz="2400" b="1" dirty="0"/>
              <a:t>"The"</a:t>
            </a:r>
            <a:r>
              <a:rPr lang="en-US" sz="2400" dirty="0"/>
              <a:t>. If a string begins with </a:t>
            </a:r>
            <a:r>
              <a:rPr lang="en-US" sz="2400" b="1" dirty="0"/>
              <a:t>"The," it's marked as "Matched"</a:t>
            </a:r>
            <a:r>
              <a:rPr lang="en-US" sz="2400" dirty="0"/>
              <a:t> otherwise, it's labeled as</a:t>
            </a:r>
            <a:r>
              <a:rPr lang="en-US" sz="2400" b="1" dirty="0"/>
              <a:t> "Not matched".</a:t>
            </a:r>
            <a:endParaRPr lang="en-US" sz="2400" dirty="0"/>
          </a:p>
        </p:txBody>
      </p:sp>
    </p:spTree>
    <p:extLst>
      <p:ext uri="{BB962C8B-B14F-4D97-AF65-F5344CB8AC3E}">
        <p14:creationId xmlns:p14="http://schemas.microsoft.com/office/powerpoint/2010/main" val="2598482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967FC-DE23-6BD2-51C4-4226727D9883}"/>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D42868C1-77BF-4607-B4D8-F2D0F6C91070}"/>
              </a:ext>
            </a:extLst>
          </p:cNvPr>
          <p:cNvSpPr>
            <a:spLocks noGrp="1"/>
          </p:cNvSpPr>
          <p:nvPr>
            <p:ph idx="1"/>
          </p:nvPr>
        </p:nvSpPr>
        <p:spPr/>
        <p:txBody>
          <a:bodyPr/>
          <a:lstStyle/>
          <a:p>
            <a:pPr marL="0" indent="0">
              <a:buNone/>
            </a:pPr>
            <a:r>
              <a:rPr lang="en-US" sz="2400" dirty="0"/>
              <a:t>import re</a:t>
            </a:r>
          </a:p>
          <a:p>
            <a:pPr marL="0" indent="0">
              <a:buNone/>
            </a:pPr>
            <a:r>
              <a:rPr lang="en-US" sz="2400" dirty="0"/>
              <a:t>regex = </a:t>
            </a:r>
            <a:r>
              <a:rPr lang="en-US" sz="2400" dirty="0" err="1"/>
              <a:t>r'^The</a:t>
            </a:r>
            <a:r>
              <a:rPr lang="en-US" sz="2400" dirty="0"/>
              <a:t>'</a:t>
            </a:r>
          </a:p>
          <a:p>
            <a:pPr marL="0" indent="0">
              <a:buNone/>
            </a:pPr>
            <a:r>
              <a:rPr lang="en-US" sz="2400" dirty="0"/>
              <a:t>strings = ['The quick brown fox', 'The lazy dog', 'A quick brown fox']</a:t>
            </a:r>
          </a:p>
          <a:p>
            <a:pPr marL="0" indent="0">
              <a:buNone/>
            </a:pPr>
            <a:r>
              <a:rPr lang="en-US" sz="2400" dirty="0"/>
              <a:t>for string in strings:</a:t>
            </a:r>
          </a:p>
          <a:p>
            <a:pPr marL="0" indent="0">
              <a:buNone/>
            </a:pPr>
            <a:r>
              <a:rPr lang="en-US" sz="2400" dirty="0"/>
              <a:t>    if </a:t>
            </a:r>
            <a:r>
              <a:rPr lang="en-US" sz="2400" dirty="0" err="1"/>
              <a:t>re.match</a:t>
            </a:r>
            <a:r>
              <a:rPr lang="en-US" sz="2400" dirty="0"/>
              <a:t>(regex, string):</a:t>
            </a:r>
          </a:p>
          <a:p>
            <a:pPr marL="0" indent="0">
              <a:buNone/>
            </a:pPr>
            <a:r>
              <a:rPr lang="en-US" sz="2400" dirty="0"/>
              <a:t>        print(</a:t>
            </a:r>
            <a:r>
              <a:rPr lang="en-US" sz="2400" dirty="0" err="1"/>
              <a:t>f'Matched</a:t>
            </a:r>
            <a:r>
              <a:rPr lang="en-US" sz="2400" dirty="0"/>
              <a:t>: {string}')</a:t>
            </a:r>
          </a:p>
          <a:p>
            <a:pPr marL="0" indent="0">
              <a:buNone/>
            </a:pPr>
            <a:r>
              <a:rPr lang="en-US" sz="2400" dirty="0"/>
              <a:t>    else:</a:t>
            </a:r>
          </a:p>
          <a:p>
            <a:pPr marL="0" indent="0">
              <a:buNone/>
            </a:pPr>
            <a:r>
              <a:rPr lang="en-US" sz="2400" dirty="0"/>
              <a:t>        print(</a:t>
            </a:r>
            <a:r>
              <a:rPr lang="en-US" sz="2400" dirty="0" err="1"/>
              <a:t>f'Not</a:t>
            </a:r>
            <a:r>
              <a:rPr lang="en-US" sz="2400" dirty="0"/>
              <a:t> matched: {string}')</a:t>
            </a:r>
          </a:p>
          <a:p>
            <a:endParaRPr lang="en-IN" dirty="0"/>
          </a:p>
        </p:txBody>
      </p:sp>
    </p:spTree>
    <p:extLst>
      <p:ext uri="{BB962C8B-B14F-4D97-AF65-F5344CB8AC3E}">
        <p14:creationId xmlns:p14="http://schemas.microsoft.com/office/powerpoint/2010/main" val="3229830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B2DB6-5BF6-76BF-62BE-FB4D30B8EA4B}"/>
              </a:ext>
            </a:extLst>
          </p:cNvPr>
          <p:cNvSpPr>
            <a:spLocks noGrp="1"/>
          </p:cNvSpPr>
          <p:nvPr>
            <p:ph type="title"/>
          </p:nvPr>
        </p:nvSpPr>
        <p:spPr/>
        <p:txBody>
          <a:bodyPr/>
          <a:lstStyle/>
          <a:p>
            <a:r>
              <a:rPr lang="en-US" b="1" dirty="0"/>
              <a:t>$ - Dollar</a:t>
            </a:r>
            <a:br>
              <a:rPr lang="en-US" b="1" dirty="0"/>
            </a:br>
            <a:endParaRPr lang="en-US" dirty="0"/>
          </a:p>
        </p:txBody>
      </p:sp>
      <p:sp>
        <p:nvSpPr>
          <p:cNvPr id="3" name="Content Placeholder 2">
            <a:extLst>
              <a:ext uri="{FF2B5EF4-FFF2-40B4-BE49-F238E27FC236}">
                <a16:creationId xmlns:a16="http://schemas.microsoft.com/office/drawing/2014/main" id="{3BF02BE2-4C18-34A0-3DDF-F8D60D2BDE43}"/>
              </a:ext>
            </a:extLst>
          </p:cNvPr>
          <p:cNvSpPr>
            <a:spLocks noGrp="1"/>
          </p:cNvSpPr>
          <p:nvPr>
            <p:ph idx="1"/>
          </p:nvPr>
        </p:nvSpPr>
        <p:spPr>
          <a:xfrm>
            <a:off x="1066800" y="1487022"/>
            <a:ext cx="10637520" cy="5256678"/>
          </a:xfrm>
        </p:spPr>
        <p:txBody>
          <a:bodyPr>
            <a:normAutofit/>
          </a:bodyPr>
          <a:lstStyle/>
          <a:p>
            <a:pPr marL="0" indent="0" fontAlgn="base">
              <a:buNone/>
            </a:pPr>
            <a:r>
              <a:rPr lang="en-US" sz="2400" dirty="0"/>
              <a:t>It matches the end of the string </a:t>
            </a:r>
            <a:r>
              <a:rPr lang="en-US" sz="2400" dirty="0" err="1"/>
              <a:t>i.e</a:t>
            </a:r>
            <a:r>
              <a:rPr lang="en-US" sz="2400" dirty="0"/>
              <a:t> checks whether the string ends with the given character(s) or not. For example-</a:t>
            </a:r>
          </a:p>
          <a:p>
            <a:pPr fontAlgn="base"/>
            <a:r>
              <a:rPr lang="en-US" sz="2400" dirty="0"/>
              <a:t>s$ will check for the string that ends with a such as geeks, ends, s, etc.</a:t>
            </a:r>
          </a:p>
          <a:p>
            <a:pPr fontAlgn="base"/>
            <a:r>
              <a:rPr lang="en-US" sz="2400" dirty="0" err="1"/>
              <a:t>ks</a:t>
            </a:r>
            <a:r>
              <a:rPr lang="en-US" sz="2400" dirty="0"/>
              <a:t>$ will check for the string that ends with </a:t>
            </a:r>
            <a:r>
              <a:rPr lang="en-US" sz="2400" dirty="0" err="1"/>
              <a:t>ks</a:t>
            </a:r>
            <a:r>
              <a:rPr lang="en-US" sz="2400" dirty="0"/>
              <a:t> such as geeks, </a:t>
            </a:r>
            <a:r>
              <a:rPr lang="en-US" sz="2400" dirty="0" err="1"/>
              <a:t>geeksforgeeks</a:t>
            </a:r>
            <a:r>
              <a:rPr lang="en-US" sz="2400" dirty="0"/>
              <a:t>, </a:t>
            </a:r>
            <a:r>
              <a:rPr lang="en-US" sz="2400" dirty="0" err="1"/>
              <a:t>ks</a:t>
            </a:r>
            <a:r>
              <a:rPr lang="en-US" sz="2400" dirty="0"/>
              <a:t>, etc.</a:t>
            </a:r>
          </a:p>
          <a:p>
            <a:pPr marL="0" indent="0" fontAlgn="base">
              <a:buNone/>
            </a:pPr>
            <a:r>
              <a:rPr lang="en-US" sz="2400" b="1" dirty="0"/>
              <a:t>Example: </a:t>
            </a:r>
            <a:r>
              <a:rPr lang="en-US" sz="2400" dirty="0"/>
              <a:t>This code uses a regular expression to check if the string ends with</a:t>
            </a:r>
            <a:r>
              <a:rPr lang="en-US" sz="2400" b="1" dirty="0"/>
              <a:t> "World!".</a:t>
            </a:r>
            <a:r>
              <a:rPr lang="en-US" sz="2400" dirty="0"/>
              <a:t> If a match is found, it prints </a:t>
            </a:r>
            <a:r>
              <a:rPr lang="en-US" sz="2400" b="1" dirty="0"/>
              <a:t>"Match found!"</a:t>
            </a:r>
            <a:r>
              <a:rPr lang="en-US" sz="2400" dirty="0"/>
              <a:t> otherwise, it prints </a:t>
            </a:r>
            <a:r>
              <a:rPr lang="en-US" sz="2400" b="1" dirty="0"/>
              <a:t>"Match not found"</a:t>
            </a:r>
            <a:r>
              <a:rPr lang="en-US" sz="2400" dirty="0"/>
              <a:t>.</a:t>
            </a:r>
          </a:p>
        </p:txBody>
      </p:sp>
    </p:spTree>
    <p:extLst>
      <p:ext uri="{BB962C8B-B14F-4D97-AF65-F5344CB8AC3E}">
        <p14:creationId xmlns:p14="http://schemas.microsoft.com/office/powerpoint/2010/main" val="1688200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CE338-8101-13EC-0885-58E60DC8908D}"/>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93113DB5-5C8C-4599-DD15-8072BF12635A}"/>
              </a:ext>
            </a:extLst>
          </p:cNvPr>
          <p:cNvSpPr>
            <a:spLocks noGrp="1"/>
          </p:cNvSpPr>
          <p:nvPr>
            <p:ph idx="1"/>
          </p:nvPr>
        </p:nvSpPr>
        <p:spPr/>
        <p:txBody>
          <a:bodyPr>
            <a:normAutofit/>
          </a:bodyPr>
          <a:lstStyle/>
          <a:p>
            <a:pPr marL="0" indent="0">
              <a:buNone/>
            </a:pPr>
            <a:r>
              <a:rPr lang="en-US" sz="2400" dirty="0"/>
              <a:t>import re</a:t>
            </a:r>
          </a:p>
          <a:p>
            <a:pPr marL="0" indent="0">
              <a:buNone/>
            </a:pPr>
            <a:r>
              <a:rPr lang="en-US" sz="2400" dirty="0"/>
              <a:t>string = "Hello World!"</a:t>
            </a:r>
          </a:p>
          <a:p>
            <a:pPr marL="0" indent="0">
              <a:buNone/>
            </a:pPr>
            <a:r>
              <a:rPr lang="en-US" sz="2400" dirty="0"/>
              <a:t>pattern = </a:t>
            </a:r>
            <a:r>
              <a:rPr lang="en-US" sz="2400" dirty="0" err="1"/>
              <a:t>r"World</a:t>
            </a:r>
            <a:r>
              <a:rPr lang="en-US" sz="2400" dirty="0"/>
              <a:t>!$"</a:t>
            </a:r>
          </a:p>
          <a:p>
            <a:pPr marL="0" indent="0">
              <a:buNone/>
            </a:pPr>
            <a:r>
              <a:rPr lang="en-US" sz="2400" dirty="0"/>
              <a:t>match = </a:t>
            </a:r>
            <a:r>
              <a:rPr lang="en-US" sz="2400" dirty="0" err="1"/>
              <a:t>re.search</a:t>
            </a:r>
            <a:r>
              <a:rPr lang="en-US" sz="2400" dirty="0"/>
              <a:t>(pattern, string)</a:t>
            </a:r>
          </a:p>
          <a:p>
            <a:pPr marL="0" indent="0">
              <a:buNone/>
            </a:pPr>
            <a:r>
              <a:rPr lang="en-US" sz="2400" dirty="0"/>
              <a:t>if match:</a:t>
            </a:r>
          </a:p>
          <a:p>
            <a:pPr marL="0" indent="0">
              <a:buNone/>
            </a:pPr>
            <a:r>
              <a:rPr lang="en-US" sz="2400" dirty="0"/>
              <a:t>    print("Match found!")</a:t>
            </a:r>
          </a:p>
          <a:p>
            <a:pPr marL="0" indent="0">
              <a:buNone/>
            </a:pPr>
            <a:r>
              <a:rPr lang="en-US" sz="2400" dirty="0"/>
              <a:t>else:</a:t>
            </a:r>
          </a:p>
          <a:p>
            <a:pPr marL="0" indent="0">
              <a:buNone/>
            </a:pPr>
            <a:r>
              <a:rPr lang="en-US" sz="2400" dirty="0"/>
              <a:t>    print("Match not found.")</a:t>
            </a:r>
          </a:p>
          <a:p>
            <a:endParaRPr lang="en-IN" sz="2400" dirty="0"/>
          </a:p>
        </p:txBody>
      </p:sp>
    </p:spTree>
    <p:extLst>
      <p:ext uri="{BB962C8B-B14F-4D97-AF65-F5344CB8AC3E}">
        <p14:creationId xmlns:p14="http://schemas.microsoft.com/office/powerpoint/2010/main" val="1413163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16FD6-0E09-773B-B79E-D1D4F89F7847}"/>
              </a:ext>
            </a:extLst>
          </p:cNvPr>
          <p:cNvSpPr>
            <a:spLocks noGrp="1"/>
          </p:cNvSpPr>
          <p:nvPr>
            <p:ph type="title"/>
          </p:nvPr>
        </p:nvSpPr>
        <p:spPr>
          <a:xfrm>
            <a:off x="111758" y="1869103"/>
            <a:ext cx="9337042" cy="4906929"/>
          </a:xfrm>
        </p:spPr>
        <p:txBody>
          <a:bodyPr anchor="b">
            <a:normAutofit/>
          </a:bodyPr>
          <a:lstStyle/>
          <a:p>
            <a:r>
              <a:rPr lang="en-US"/>
              <a:t>Hands-on Exercises</a:t>
            </a:r>
          </a:p>
        </p:txBody>
      </p:sp>
    </p:spTree>
    <p:extLst>
      <p:ext uri="{BB962C8B-B14F-4D97-AF65-F5344CB8AC3E}">
        <p14:creationId xmlns:p14="http://schemas.microsoft.com/office/powerpoint/2010/main" val="273412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5D333-0833-4E95-43D5-D21955E8E647}"/>
              </a:ext>
            </a:extLst>
          </p:cNvPr>
          <p:cNvSpPr>
            <a:spLocks noGrp="1"/>
          </p:cNvSpPr>
          <p:nvPr>
            <p:ph type="title"/>
          </p:nvPr>
        </p:nvSpPr>
        <p:spPr>
          <a:xfrm>
            <a:off x="614677" y="1050111"/>
            <a:ext cx="3496147" cy="4940661"/>
          </a:xfrm>
        </p:spPr>
        <p:txBody>
          <a:bodyPr anchor="t">
            <a:normAutofit/>
          </a:bodyPr>
          <a:lstStyle/>
          <a:p>
            <a:r>
              <a:rPr lang="en-US"/>
              <a:t>Practice Tasks with Solutions</a:t>
            </a:r>
          </a:p>
        </p:txBody>
      </p:sp>
      <p:sp>
        <p:nvSpPr>
          <p:cNvPr id="3" name="Content Placeholder 2">
            <a:extLst>
              <a:ext uri="{FF2B5EF4-FFF2-40B4-BE49-F238E27FC236}">
                <a16:creationId xmlns:a16="http://schemas.microsoft.com/office/drawing/2014/main" id="{F44C61DD-004F-A7E2-64D2-5FA580637477}"/>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86200" y="762000"/>
            <a:ext cx="7924800" cy="5410199"/>
          </a:xfrm>
        </p:spPr>
        <p:txBody>
          <a:bodyPr>
            <a:normAutofit/>
          </a:bodyPr>
          <a:lstStyle/>
          <a:p>
            <a:pPr marL="0" indent="0">
              <a:spcBef>
                <a:spcPts val="2500"/>
              </a:spcBef>
              <a:buFont typeface="Arial" panose="020B0604020202020204" pitchFamily="34" charset="0"/>
              <a:buNone/>
            </a:pPr>
            <a:r>
              <a:rPr lang="en-US" b="1" dirty="0"/>
              <a:t>Regex for Email Validation</a:t>
            </a:r>
          </a:p>
          <a:p>
            <a:pPr marL="0" lvl="1" indent="0">
              <a:buFont typeface="Arial" panose="020B0604020202020204" pitchFamily="34" charset="0"/>
              <a:buNone/>
            </a:pPr>
            <a:r>
              <a:rPr dirty="0"/>
              <a:t>Writing regular expressions to validate email addresses helps ensure correct input formats in applications.</a:t>
            </a:r>
            <a:endParaRPr lang="en-US" dirty="0"/>
          </a:p>
          <a:p>
            <a:pPr marL="0" indent="0">
              <a:spcBef>
                <a:spcPts val="2500"/>
              </a:spcBef>
              <a:buFont typeface="Arial" panose="020B0604020202020204" pitchFamily="34" charset="0"/>
              <a:buNone/>
            </a:pPr>
            <a:r>
              <a:rPr lang="en-US" b="1" dirty="0"/>
              <a:t>Extracting Hashtags</a:t>
            </a:r>
          </a:p>
          <a:p>
            <a:pPr marL="0" lvl="1" indent="0">
              <a:buFont typeface="Arial" panose="020B0604020202020204" pitchFamily="34" charset="0"/>
              <a:buNone/>
            </a:pPr>
            <a:r>
              <a:rPr dirty="0"/>
              <a:t>Using </a:t>
            </a:r>
            <a:r>
              <a:rPr dirty="0" err="1"/>
              <a:t>re.findall</a:t>
            </a:r>
            <a:r>
              <a:rPr dirty="0"/>
              <a:t> with regex extracts all hashtags from social media texts efficiently for analysis.</a:t>
            </a:r>
            <a:endParaRPr lang="en-US" dirty="0"/>
          </a:p>
          <a:p>
            <a:pPr marL="0" indent="0">
              <a:spcBef>
                <a:spcPts val="2500"/>
              </a:spcBef>
              <a:buFont typeface="Arial" panose="020B0604020202020204" pitchFamily="34" charset="0"/>
              <a:buNone/>
            </a:pPr>
            <a:r>
              <a:rPr lang="en-US" b="1" dirty="0"/>
              <a:t>Replacing Multiple Spaces</a:t>
            </a:r>
          </a:p>
          <a:p>
            <a:pPr marL="0" lvl="1" indent="0">
              <a:buFont typeface="Arial" panose="020B0604020202020204" pitchFamily="34" charset="0"/>
              <a:buNone/>
            </a:pPr>
            <a:r>
              <a:rPr dirty="0"/>
              <a:t>Regex can replace multiple spaces with a single space to clean and format text data accurately.</a:t>
            </a:r>
            <a:endParaRPr lang="en-US" dirty="0"/>
          </a:p>
          <a:p>
            <a:pPr marL="0" indent="0">
              <a:spcBef>
                <a:spcPts val="2500"/>
              </a:spcBef>
              <a:buFont typeface="Arial" panose="020B0604020202020204" pitchFamily="34" charset="0"/>
              <a:buNone/>
            </a:pPr>
            <a:r>
              <a:rPr lang="en-US" b="1" dirty="0"/>
              <a:t>Benefits of Practice</a:t>
            </a:r>
          </a:p>
          <a:p>
            <a:pPr marL="0" lvl="1" indent="0">
              <a:buFont typeface="Arial" panose="020B0604020202020204" pitchFamily="34" charset="0"/>
              <a:buNone/>
            </a:pPr>
            <a:r>
              <a:rPr dirty="0"/>
              <a:t>Hands-on regex exercises build confidence and enable learners to apply concepts to real-world tasks.</a:t>
            </a:r>
            <a:endParaRPr lang="en-US" dirty="0"/>
          </a:p>
        </p:txBody>
      </p:sp>
    </p:spTree>
    <p:extLst>
      <p:ext uri="{BB962C8B-B14F-4D97-AF65-F5344CB8AC3E}">
        <p14:creationId xmlns:p14="http://schemas.microsoft.com/office/powerpoint/2010/main" val="21678384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6230-738A-674D-7D85-BEDF010BC552}"/>
              </a:ext>
            </a:extLst>
          </p:cNvPr>
          <p:cNvSpPr>
            <a:spLocks noGrp="1"/>
          </p:cNvSpPr>
          <p:nvPr>
            <p:ph type="title"/>
          </p:nvPr>
        </p:nvSpPr>
        <p:spPr>
          <a:xfrm>
            <a:off x="111758" y="1869103"/>
            <a:ext cx="9337042" cy="4906929"/>
          </a:xfrm>
        </p:spPr>
        <p:txBody>
          <a:bodyPr anchor="b">
            <a:normAutofit/>
          </a:bodyPr>
          <a:lstStyle/>
          <a:p>
            <a:r>
              <a:rPr lang="en-US"/>
              <a:t>Resources and Summary</a:t>
            </a:r>
          </a:p>
        </p:txBody>
      </p:sp>
    </p:spTree>
    <p:extLst>
      <p:ext uri="{BB962C8B-B14F-4D97-AF65-F5344CB8AC3E}">
        <p14:creationId xmlns:p14="http://schemas.microsoft.com/office/powerpoint/2010/main" val="4114064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A073-C0FF-21C3-9025-438FD7854955}"/>
              </a:ext>
            </a:extLst>
          </p:cNvPr>
          <p:cNvSpPr>
            <a:spLocks noGrp="1"/>
          </p:cNvSpPr>
          <p:nvPr>
            <p:ph type="title"/>
          </p:nvPr>
        </p:nvSpPr>
        <p:spPr>
          <a:xfrm>
            <a:off x="614677" y="1050111"/>
            <a:ext cx="3496147" cy="4940661"/>
          </a:xfrm>
        </p:spPr>
        <p:txBody>
          <a:bodyPr anchor="t">
            <a:normAutofit/>
          </a:bodyPr>
          <a:lstStyle/>
          <a:p>
            <a:r>
              <a:rPr lang="en-US"/>
              <a:t>Further Learning and Key Takeaways</a:t>
            </a:r>
          </a:p>
        </p:txBody>
      </p:sp>
      <p:sp>
        <p:nvSpPr>
          <p:cNvPr id="3" name="Content Placeholder 2">
            <a:extLst>
              <a:ext uri="{FF2B5EF4-FFF2-40B4-BE49-F238E27FC236}">
                <a16:creationId xmlns:a16="http://schemas.microsoft.com/office/drawing/2014/main" id="{BC53839D-AB1C-E7A1-D474-776C5021EF7F}"/>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00600" y="1050111"/>
            <a:ext cx="6775703" cy="4940661"/>
          </a:xfrm>
        </p:spPr>
        <p:txBody>
          <a:bodyPr>
            <a:normAutofit/>
          </a:bodyPr>
          <a:lstStyle/>
          <a:p>
            <a:pPr marL="0" indent="0">
              <a:spcBef>
                <a:spcPts val="2500"/>
              </a:spcBef>
              <a:buFont typeface="Arial" panose="020B0604020202020204" pitchFamily="34" charset="0"/>
              <a:buNone/>
            </a:pPr>
            <a:r>
              <a:rPr lang="en-US" b="1"/>
              <a:t>Learning Resources</a:t>
            </a:r>
          </a:p>
          <a:p>
            <a:pPr marL="0" lvl="1" indent="0">
              <a:buFont typeface="Arial" panose="020B0604020202020204" pitchFamily="34" charset="0"/>
              <a:buNone/>
            </a:pPr>
            <a:r>
              <a:t>Explore official Python documentation, interactive Regex101.com, and specialized tutorials to deepen RegEx knowledge.</a:t>
            </a:r>
            <a:endParaRPr lang="en-US"/>
          </a:p>
          <a:p>
            <a:pPr marL="0" indent="0">
              <a:spcBef>
                <a:spcPts val="2500"/>
              </a:spcBef>
              <a:buFont typeface="Arial" panose="020B0604020202020204" pitchFamily="34" charset="0"/>
              <a:buNone/>
            </a:pPr>
            <a:r>
              <a:rPr lang="en-US" b="1"/>
              <a:t>Key RegEx Takeaways</a:t>
            </a:r>
          </a:p>
          <a:p>
            <a:pPr marL="0" lvl="1" indent="0">
              <a:buFont typeface="Arial" panose="020B0604020202020204" pitchFamily="34" charset="0"/>
              <a:buNone/>
            </a:pPr>
            <a:r>
              <a:t>RegEx is versatile for text processing; mastering basics and advanced features is essential for efficiency.</a:t>
            </a:r>
            <a:endParaRPr lang="en-US"/>
          </a:p>
          <a:p>
            <a:pPr marL="0" indent="0">
              <a:spcBef>
                <a:spcPts val="2500"/>
              </a:spcBef>
              <a:buFont typeface="Arial" panose="020B0604020202020204" pitchFamily="34" charset="0"/>
              <a:buNone/>
            </a:pPr>
            <a:r>
              <a:rPr lang="en-US" b="1"/>
              <a:t>Workflow Integration</a:t>
            </a:r>
          </a:p>
          <a:p>
            <a:pPr marL="0" lvl="1" indent="0">
              <a:buFont typeface="Arial" panose="020B0604020202020204" pitchFamily="34" charset="0"/>
              <a:buNone/>
            </a:pPr>
            <a:r>
              <a:t>Integrating RegEx automates complex tasks and enhances data handling in programming workflows.</a:t>
            </a:r>
            <a:endParaRPr lang="en-US"/>
          </a:p>
        </p:txBody>
      </p:sp>
    </p:spTree>
    <p:extLst>
      <p:ext uri="{BB962C8B-B14F-4D97-AF65-F5344CB8AC3E}">
        <p14:creationId xmlns:p14="http://schemas.microsoft.com/office/powerpoint/2010/main" val="2212944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B79205-1ECA-438E-AAC0-B28ABB0DD1E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169</TotalTime>
  <Words>3091</Words>
  <Application>Microsoft Office PowerPoint</Application>
  <PresentationFormat>Widescreen</PresentationFormat>
  <Paragraphs>267</Paragraphs>
  <Slides>36</Slides>
  <Notes>21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Helena</vt:lpstr>
      <vt:lpstr>Mastering Regular Expressions in Python</vt:lpstr>
      <vt:lpstr>Introduction</vt:lpstr>
      <vt:lpstr>Introduction</vt:lpstr>
      <vt:lpstr>Overview of Regular Expressions</vt:lpstr>
      <vt:lpstr>Basics of RegEx</vt:lpstr>
      <vt:lpstr>Metacharacters and Simple Patterns</vt:lpstr>
      <vt:lpstr>Python re Module</vt:lpstr>
      <vt:lpstr>Core Functions and Usage</vt:lpstr>
      <vt:lpstr>Character Classes and Quantifiers</vt:lpstr>
      <vt:lpstr>Defining Sets and Repetition</vt:lpstr>
      <vt:lpstr>Anchors and Groups</vt:lpstr>
      <vt:lpstr>Positioning and Capturing Data</vt:lpstr>
      <vt:lpstr>Advanced Features</vt:lpstr>
      <vt:lpstr>Lookarounds and Flags</vt:lpstr>
      <vt:lpstr>Common Use Cases</vt:lpstr>
      <vt:lpstr>Practical Applications</vt:lpstr>
      <vt:lpstr>Best Practices</vt:lpstr>
      <vt:lpstr>Writing Efficient and Readable Patterns</vt:lpstr>
      <vt:lpstr>How to Use RegEx in Python? </vt:lpstr>
      <vt:lpstr>1. re.findall() </vt:lpstr>
      <vt:lpstr>2. re.compile() </vt:lpstr>
      <vt:lpstr>Word and non-word characters</vt:lpstr>
      <vt:lpstr>Example </vt:lpstr>
      <vt:lpstr>3. re.split()  </vt:lpstr>
      <vt:lpstr>Example </vt:lpstr>
      <vt:lpstr>4. re.sub() </vt:lpstr>
      <vt:lpstr>Different ways to replace the pattern 'ub' with '~*', using various flags and count values.</vt:lpstr>
      <vt:lpstr> [] - Square Brackets</vt:lpstr>
      <vt:lpstr>^ - Caret </vt:lpstr>
      <vt:lpstr>Example ^</vt:lpstr>
      <vt:lpstr>$ - Dollar </vt:lpstr>
      <vt:lpstr>Example $</vt:lpstr>
      <vt:lpstr>Hands-on Exercises</vt:lpstr>
      <vt:lpstr>Practice Tasks with Solutions</vt:lpstr>
      <vt:lpstr>Resources and Summary</vt:lpstr>
      <vt:lpstr>Further Learning and 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Rakhee Chhibber</cp:lastModifiedBy>
  <cp:revision>5</cp:revision>
  <dcterms:created xsi:type="dcterms:W3CDTF">2025-08-21T23:24:42Z</dcterms:created>
  <dcterms:modified xsi:type="dcterms:W3CDTF">2026-03-04T15:09:40Z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TitusGUID">
    <vt:lpwstr>b3421f05-c93b-4f32-b015-1624b37e3138</vt:lpwstr>
  </property>
  <property fmtid="{D5CDD505-2E9C-101B-9397-08002B2CF9AE}" pid="5" name="HCLClassD6">
    <vt:lpwstr>False</vt:lpwstr>
  </property>
  <property fmtid="{D5CDD505-2E9C-101B-9397-08002B2CF9AE}" pid="6" name="HCLClassification">
    <vt:lpwstr>HCL_Cla5s_C0nf1dent1al</vt:lpwstr>
  </property>
</Properties>
</file>