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2" r:id="rId22"/>
    <p:sldId id="277" r:id="rId23"/>
    <p:sldId id="278" r:id="rId24"/>
    <p:sldId id="283" r:id="rId25"/>
    <p:sldId id="279" r:id="rId26"/>
    <p:sldId id="280" r:id="rId27"/>
    <p:sldId id="281" r:id="rId28"/>
    <p:sldId id="282" r:id="rId29"/>
    <p:sldId id="284" r:id="rId30"/>
    <p:sldId id="286" r:id="rId31"/>
    <p:sldId id="285" r:id="rId32"/>
    <p:sldId id="287" r:id="rId33"/>
    <p:sldId id="289" r:id="rId34"/>
    <p:sldId id="29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54CF4-2686-6B82-A099-C1C0C66A91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3E02EF1-683A-A7F3-F3FC-106DD351A3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1E908C-B4FA-6CA0-65A5-1793959DA246}"/>
              </a:ext>
            </a:extLst>
          </p:cNvPr>
          <p:cNvSpPr>
            <a:spLocks noGrp="1"/>
          </p:cNvSpPr>
          <p:nvPr>
            <p:ph type="dt" sz="half" idx="10"/>
          </p:nvPr>
        </p:nvSpPr>
        <p:spPr/>
        <p:txBody>
          <a:bodyPr/>
          <a:lstStyle/>
          <a:p>
            <a:fld id="{D2F55A49-A67E-41A0-9367-9416F46048C3}" type="datetimeFigureOut">
              <a:rPr lang="en-IN" smtClean="0"/>
              <a:t>04-03-2026</a:t>
            </a:fld>
            <a:endParaRPr lang="en-IN"/>
          </a:p>
        </p:txBody>
      </p:sp>
      <p:sp>
        <p:nvSpPr>
          <p:cNvPr id="5" name="Footer Placeholder 4">
            <a:extLst>
              <a:ext uri="{FF2B5EF4-FFF2-40B4-BE49-F238E27FC236}">
                <a16:creationId xmlns:a16="http://schemas.microsoft.com/office/drawing/2014/main" id="{A26F333A-2808-5E50-E7E9-71B44989EA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8B3315-9C85-00ED-E0A5-FB003E5CF05A}"/>
              </a:ext>
            </a:extLst>
          </p:cNvPr>
          <p:cNvSpPr>
            <a:spLocks noGrp="1"/>
          </p:cNvSpPr>
          <p:nvPr>
            <p:ph type="sldNum" sz="quarter" idx="12"/>
          </p:nvPr>
        </p:nvSpPr>
        <p:spPr/>
        <p:txBody>
          <a:bodyPr/>
          <a:lstStyle/>
          <a:p>
            <a:fld id="{0FF4B338-FE51-4C9C-A51C-A74C8E459BBB}" type="slidenum">
              <a:rPr lang="en-IN" smtClean="0"/>
              <a:t>‹#›</a:t>
            </a:fld>
            <a:endParaRPr lang="en-IN"/>
          </a:p>
        </p:txBody>
      </p:sp>
    </p:spTree>
    <p:extLst>
      <p:ext uri="{BB962C8B-B14F-4D97-AF65-F5344CB8AC3E}">
        <p14:creationId xmlns:p14="http://schemas.microsoft.com/office/powerpoint/2010/main" val="113336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BAE15-E7C5-15A2-D391-FDE5886D0D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F84F0A-82E4-4B53-9DC0-C8148E5EA8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CD9096-7E3F-328A-A18C-B46151D70B7D}"/>
              </a:ext>
            </a:extLst>
          </p:cNvPr>
          <p:cNvSpPr>
            <a:spLocks noGrp="1"/>
          </p:cNvSpPr>
          <p:nvPr>
            <p:ph type="dt" sz="half" idx="10"/>
          </p:nvPr>
        </p:nvSpPr>
        <p:spPr/>
        <p:txBody>
          <a:bodyPr/>
          <a:lstStyle/>
          <a:p>
            <a:fld id="{D2F55A49-A67E-41A0-9367-9416F46048C3}" type="datetimeFigureOut">
              <a:rPr lang="en-IN" smtClean="0"/>
              <a:t>04-03-2026</a:t>
            </a:fld>
            <a:endParaRPr lang="en-IN"/>
          </a:p>
        </p:txBody>
      </p:sp>
      <p:sp>
        <p:nvSpPr>
          <p:cNvPr id="5" name="Footer Placeholder 4">
            <a:extLst>
              <a:ext uri="{FF2B5EF4-FFF2-40B4-BE49-F238E27FC236}">
                <a16:creationId xmlns:a16="http://schemas.microsoft.com/office/drawing/2014/main" id="{2D32A182-03FB-5700-F661-C160D93DFC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CF0870-90C1-E39D-E4D7-62AF9AE18732}"/>
              </a:ext>
            </a:extLst>
          </p:cNvPr>
          <p:cNvSpPr>
            <a:spLocks noGrp="1"/>
          </p:cNvSpPr>
          <p:nvPr>
            <p:ph type="sldNum" sz="quarter" idx="12"/>
          </p:nvPr>
        </p:nvSpPr>
        <p:spPr/>
        <p:txBody>
          <a:bodyPr/>
          <a:lstStyle/>
          <a:p>
            <a:fld id="{0FF4B338-FE51-4C9C-A51C-A74C8E459BBB}" type="slidenum">
              <a:rPr lang="en-IN" smtClean="0"/>
              <a:t>‹#›</a:t>
            </a:fld>
            <a:endParaRPr lang="en-IN"/>
          </a:p>
        </p:txBody>
      </p:sp>
    </p:spTree>
    <p:extLst>
      <p:ext uri="{BB962C8B-B14F-4D97-AF65-F5344CB8AC3E}">
        <p14:creationId xmlns:p14="http://schemas.microsoft.com/office/powerpoint/2010/main" val="3012688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4449D-CC5C-1822-76E3-3624DD5A6B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1374DB6-5A96-DB29-978A-6E24454D99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DB1303-D7D0-1F7B-0E0F-9BAEC0A15FD7}"/>
              </a:ext>
            </a:extLst>
          </p:cNvPr>
          <p:cNvSpPr>
            <a:spLocks noGrp="1"/>
          </p:cNvSpPr>
          <p:nvPr>
            <p:ph type="dt" sz="half" idx="10"/>
          </p:nvPr>
        </p:nvSpPr>
        <p:spPr/>
        <p:txBody>
          <a:bodyPr/>
          <a:lstStyle/>
          <a:p>
            <a:fld id="{D2F55A49-A67E-41A0-9367-9416F46048C3}" type="datetimeFigureOut">
              <a:rPr lang="en-IN" smtClean="0"/>
              <a:t>04-03-2026</a:t>
            </a:fld>
            <a:endParaRPr lang="en-IN"/>
          </a:p>
        </p:txBody>
      </p:sp>
      <p:sp>
        <p:nvSpPr>
          <p:cNvPr id="5" name="Footer Placeholder 4">
            <a:extLst>
              <a:ext uri="{FF2B5EF4-FFF2-40B4-BE49-F238E27FC236}">
                <a16:creationId xmlns:a16="http://schemas.microsoft.com/office/drawing/2014/main" id="{BA094597-E477-9BAC-1E55-0BB7003200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D41347-B549-4400-2240-BF611AD26223}"/>
              </a:ext>
            </a:extLst>
          </p:cNvPr>
          <p:cNvSpPr>
            <a:spLocks noGrp="1"/>
          </p:cNvSpPr>
          <p:nvPr>
            <p:ph type="sldNum" sz="quarter" idx="12"/>
          </p:nvPr>
        </p:nvSpPr>
        <p:spPr/>
        <p:txBody>
          <a:bodyPr/>
          <a:lstStyle/>
          <a:p>
            <a:fld id="{0FF4B338-FE51-4C9C-A51C-A74C8E459BBB}" type="slidenum">
              <a:rPr lang="en-IN" smtClean="0"/>
              <a:t>‹#›</a:t>
            </a:fld>
            <a:endParaRPr lang="en-IN"/>
          </a:p>
        </p:txBody>
      </p:sp>
    </p:spTree>
    <p:extLst>
      <p:ext uri="{BB962C8B-B14F-4D97-AF65-F5344CB8AC3E}">
        <p14:creationId xmlns:p14="http://schemas.microsoft.com/office/powerpoint/2010/main" val="54923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E3111-45C0-91BC-2121-FED5631DEC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DCB8D6-2213-5D01-06E0-65FE0E2300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07ABFB-FEE1-2E29-DA78-8BEDAB51D0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2B91878-094C-3BCC-88C7-499DAD20F85B}"/>
              </a:ext>
            </a:extLst>
          </p:cNvPr>
          <p:cNvSpPr>
            <a:spLocks noGrp="1"/>
          </p:cNvSpPr>
          <p:nvPr>
            <p:ph type="dt" sz="half" idx="10"/>
          </p:nvPr>
        </p:nvSpPr>
        <p:spPr/>
        <p:txBody>
          <a:bodyPr/>
          <a:lstStyle/>
          <a:p>
            <a:fld id="{D2F55A49-A67E-41A0-9367-9416F46048C3}" type="datetimeFigureOut">
              <a:rPr lang="en-IN" smtClean="0"/>
              <a:t>04-03-2026</a:t>
            </a:fld>
            <a:endParaRPr lang="en-IN"/>
          </a:p>
        </p:txBody>
      </p:sp>
      <p:sp>
        <p:nvSpPr>
          <p:cNvPr id="6" name="Footer Placeholder 5">
            <a:extLst>
              <a:ext uri="{FF2B5EF4-FFF2-40B4-BE49-F238E27FC236}">
                <a16:creationId xmlns:a16="http://schemas.microsoft.com/office/drawing/2014/main" id="{9F2394F9-FF94-7208-877D-2E139ADE32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4F26AA-CED8-818D-54A3-8E4C7B17BFC7}"/>
              </a:ext>
            </a:extLst>
          </p:cNvPr>
          <p:cNvSpPr>
            <a:spLocks noGrp="1"/>
          </p:cNvSpPr>
          <p:nvPr>
            <p:ph type="sldNum" sz="quarter" idx="12"/>
          </p:nvPr>
        </p:nvSpPr>
        <p:spPr/>
        <p:txBody>
          <a:bodyPr/>
          <a:lstStyle/>
          <a:p>
            <a:fld id="{0FF4B338-FE51-4C9C-A51C-A74C8E459BBB}" type="slidenum">
              <a:rPr lang="en-IN" smtClean="0"/>
              <a:t>‹#›</a:t>
            </a:fld>
            <a:endParaRPr lang="en-IN"/>
          </a:p>
        </p:txBody>
      </p:sp>
    </p:spTree>
    <p:extLst>
      <p:ext uri="{BB962C8B-B14F-4D97-AF65-F5344CB8AC3E}">
        <p14:creationId xmlns:p14="http://schemas.microsoft.com/office/powerpoint/2010/main" val="2333931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D8FF7-31A5-70B9-9FB5-E631BDCAFF9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F8FE89-D234-4DE0-256C-E7A71F8A97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FB5655-E4B9-41FE-8070-59B70F3812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A38858-1704-0B35-59BA-08B1E4FD7B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54013F-895A-C607-39C5-CEBB5FF11A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97F528E-A82D-3EF9-8784-1E89224CDB76}"/>
              </a:ext>
            </a:extLst>
          </p:cNvPr>
          <p:cNvSpPr>
            <a:spLocks noGrp="1"/>
          </p:cNvSpPr>
          <p:nvPr>
            <p:ph type="dt" sz="half" idx="10"/>
          </p:nvPr>
        </p:nvSpPr>
        <p:spPr/>
        <p:txBody>
          <a:bodyPr/>
          <a:lstStyle/>
          <a:p>
            <a:fld id="{D2F55A49-A67E-41A0-9367-9416F46048C3}" type="datetimeFigureOut">
              <a:rPr lang="en-IN" smtClean="0"/>
              <a:t>04-03-2026</a:t>
            </a:fld>
            <a:endParaRPr lang="en-IN"/>
          </a:p>
        </p:txBody>
      </p:sp>
      <p:sp>
        <p:nvSpPr>
          <p:cNvPr id="8" name="Footer Placeholder 7">
            <a:extLst>
              <a:ext uri="{FF2B5EF4-FFF2-40B4-BE49-F238E27FC236}">
                <a16:creationId xmlns:a16="http://schemas.microsoft.com/office/drawing/2014/main" id="{63650093-8A24-7778-2600-94DF946869A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C143F4-0B50-3C83-478A-ABBF8B2D7E53}"/>
              </a:ext>
            </a:extLst>
          </p:cNvPr>
          <p:cNvSpPr>
            <a:spLocks noGrp="1"/>
          </p:cNvSpPr>
          <p:nvPr>
            <p:ph type="sldNum" sz="quarter" idx="12"/>
          </p:nvPr>
        </p:nvSpPr>
        <p:spPr/>
        <p:txBody>
          <a:bodyPr/>
          <a:lstStyle/>
          <a:p>
            <a:fld id="{0FF4B338-FE51-4C9C-A51C-A74C8E459BBB}" type="slidenum">
              <a:rPr lang="en-IN" smtClean="0"/>
              <a:t>‹#›</a:t>
            </a:fld>
            <a:endParaRPr lang="en-IN"/>
          </a:p>
        </p:txBody>
      </p:sp>
    </p:spTree>
    <p:extLst>
      <p:ext uri="{BB962C8B-B14F-4D97-AF65-F5344CB8AC3E}">
        <p14:creationId xmlns:p14="http://schemas.microsoft.com/office/powerpoint/2010/main" val="1242568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7D56B-012F-1D02-19A1-482368FA45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E380FC1-E5D5-791C-D453-2E740B9DB16F}"/>
              </a:ext>
            </a:extLst>
          </p:cNvPr>
          <p:cNvSpPr>
            <a:spLocks noGrp="1"/>
          </p:cNvSpPr>
          <p:nvPr>
            <p:ph type="dt" sz="half" idx="10"/>
          </p:nvPr>
        </p:nvSpPr>
        <p:spPr/>
        <p:txBody>
          <a:bodyPr/>
          <a:lstStyle/>
          <a:p>
            <a:fld id="{D2F55A49-A67E-41A0-9367-9416F46048C3}" type="datetimeFigureOut">
              <a:rPr lang="en-IN" smtClean="0"/>
              <a:t>04-03-2026</a:t>
            </a:fld>
            <a:endParaRPr lang="en-IN"/>
          </a:p>
        </p:txBody>
      </p:sp>
      <p:sp>
        <p:nvSpPr>
          <p:cNvPr id="4" name="Footer Placeholder 3">
            <a:extLst>
              <a:ext uri="{FF2B5EF4-FFF2-40B4-BE49-F238E27FC236}">
                <a16:creationId xmlns:a16="http://schemas.microsoft.com/office/drawing/2014/main" id="{5C936AF8-79CD-720A-AC1F-6CAA520E72E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570F0A7-8607-5E92-7993-AED56187D327}"/>
              </a:ext>
            </a:extLst>
          </p:cNvPr>
          <p:cNvSpPr>
            <a:spLocks noGrp="1"/>
          </p:cNvSpPr>
          <p:nvPr>
            <p:ph type="sldNum" sz="quarter" idx="12"/>
          </p:nvPr>
        </p:nvSpPr>
        <p:spPr/>
        <p:txBody>
          <a:bodyPr/>
          <a:lstStyle/>
          <a:p>
            <a:fld id="{0FF4B338-FE51-4C9C-A51C-A74C8E459BBB}" type="slidenum">
              <a:rPr lang="en-IN" smtClean="0"/>
              <a:t>‹#›</a:t>
            </a:fld>
            <a:endParaRPr lang="en-IN"/>
          </a:p>
        </p:txBody>
      </p:sp>
    </p:spTree>
    <p:extLst>
      <p:ext uri="{BB962C8B-B14F-4D97-AF65-F5344CB8AC3E}">
        <p14:creationId xmlns:p14="http://schemas.microsoft.com/office/powerpoint/2010/main" val="1427369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616DCE-FF4D-2C8A-3BC4-40C59E9FFC8C}"/>
              </a:ext>
            </a:extLst>
          </p:cNvPr>
          <p:cNvSpPr>
            <a:spLocks noGrp="1"/>
          </p:cNvSpPr>
          <p:nvPr>
            <p:ph type="dt" sz="half" idx="10"/>
          </p:nvPr>
        </p:nvSpPr>
        <p:spPr/>
        <p:txBody>
          <a:bodyPr/>
          <a:lstStyle/>
          <a:p>
            <a:fld id="{D2F55A49-A67E-41A0-9367-9416F46048C3}" type="datetimeFigureOut">
              <a:rPr lang="en-IN" smtClean="0"/>
              <a:t>04-03-2026</a:t>
            </a:fld>
            <a:endParaRPr lang="en-IN"/>
          </a:p>
        </p:txBody>
      </p:sp>
      <p:sp>
        <p:nvSpPr>
          <p:cNvPr id="3" name="Footer Placeholder 2">
            <a:extLst>
              <a:ext uri="{FF2B5EF4-FFF2-40B4-BE49-F238E27FC236}">
                <a16:creationId xmlns:a16="http://schemas.microsoft.com/office/drawing/2014/main" id="{E31261D4-2C7E-1317-2C13-95B73096A54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36E0B5F-D235-7000-1BE2-9E48A8B79FA5}"/>
              </a:ext>
            </a:extLst>
          </p:cNvPr>
          <p:cNvSpPr>
            <a:spLocks noGrp="1"/>
          </p:cNvSpPr>
          <p:nvPr>
            <p:ph type="sldNum" sz="quarter" idx="12"/>
          </p:nvPr>
        </p:nvSpPr>
        <p:spPr/>
        <p:txBody>
          <a:bodyPr/>
          <a:lstStyle/>
          <a:p>
            <a:fld id="{0FF4B338-FE51-4C9C-A51C-A74C8E459BBB}" type="slidenum">
              <a:rPr lang="en-IN" smtClean="0"/>
              <a:t>‹#›</a:t>
            </a:fld>
            <a:endParaRPr lang="en-IN"/>
          </a:p>
        </p:txBody>
      </p:sp>
    </p:spTree>
    <p:extLst>
      <p:ext uri="{BB962C8B-B14F-4D97-AF65-F5344CB8AC3E}">
        <p14:creationId xmlns:p14="http://schemas.microsoft.com/office/powerpoint/2010/main" val="2283674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E7117-DEFF-7129-18FE-7A5C416677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051DFBB-FF43-210A-3ECF-E026180986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0A9AF5E-8FB0-247F-9458-AA5EF7B247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33BBA5-0C76-C440-EE47-F0E1477E2EC6}"/>
              </a:ext>
            </a:extLst>
          </p:cNvPr>
          <p:cNvSpPr>
            <a:spLocks noGrp="1"/>
          </p:cNvSpPr>
          <p:nvPr>
            <p:ph type="dt" sz="half" idx="10"/>
          </p:nvPr>
        </p:nvSpPr>
        <p:spPr/>
        <p:txBody>
          <a:bodyPr/>
          <a:lstStyle/>
          <a:p>
            <a:fld id="{D2F55A49-A67E-41A0-9367-9416F46048C3}" type="datetimeFigureOut">
              <a:rPr lang="en-IN" smtClean="0"/>
              <a:t>04-03-2026</a:t>
            </a:fld>
            <a:endParaRPr lang="en-IN"/>
          </a:p>
        </p:txBody>
      </p:sp>
      <p:sp>
        <p:nvSpPr>
          <p:cNvPr id="6" name="Footer Placeholder 5">
            <a:extLst>
              <a:ext uri="{FF2B5EF4-FFF2-40B4-BE49-F238E27FC236}">
                <a16:creationId xmlns:a16="http://schemas.microsoft.com/office/drawing/2014/main" id="{2DF5AACD-367C-A16A-E704-A80143CD4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6C8A11-CB77-E824-1113-FC49021A32AB}"/>
              </a:ext>
            </a:extLst>
          </p:cNvPr>
          <p:cNvSpPr>
            <a:spLocks noGrp="1"/>
          </p:cNvSpPr>
          <p:nvPr>
            <p:ph type="sldNum" sz="quarter" idx="12"/>
          </p:nvPr>
        </p:nvSpPr>
        <p:spPr/>
        <p:txBody>
          <a:bodyPr/>
          <a:lstStyle/>
          <a:p>
            <a:fld id="{0FF4B338-FE51-4C9C-A51C-A74C8E459BBB}" type="slidenum">
              <a:rPr lang="en-IN" smtClean="0"/>
              <a:t>‹#›</a:t>
            </a:fld>
            <a:endParaRPr lang="en-IN"/>
          </a:p>
        </p:txBody>
      </p:sp>
    </p:spTree>
    <p:extLst>
      <p:ext uri="{BB962C8B-B14F-4D97-AF65-F5344CB8AC3E}">
        <p14:creationId xmlns:p14="http://schemas.microsoft.com/office/powerpoint/2010/main" val="2201346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0506-8A76-16FE-D011-8CEFFFB042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BB45D73-2925-268C-546C-84F8DBEDA8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A79415D-0DF5-E248-1718-C42C7A24C0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D1B8CA-01E1-1CBE-A6B0-88044049A651}"/>
              </a:ext>
            </a:extLst>
          </p:cNvPr>
          <p:cNvSpPr>
            <a:spLocks noGrp="1"/>
          </p:cNvSpPr>
          <p:nvPr>
            <p:ph type="dt" sz="half" idx="10"/>
          </p:nvPr>
        </p:nvSpPr>
        <p:spPr/>
        <p:txBody>
          <a:bodyPr/>
          <a:lstStyle/>
          <a:p>
            <a:fld id="{D2F55A49-A67E-41A0-9367-9416F46048C3}" type="datetimeFigureOut">
              <a:rPr lang="en-IN" smtClean="0"/>
              <a:t>04-03-2026</a:t>
            </a:fld>
            <a:endParaRPr lang="en-IN"/>
          </a:p>
        </p:txBody>
      </p:sp>
      <p:sp>
        <p:nvSpPr>
          <p:cNvPr id="6" name="Footer Placeholder 5">
            <a:extLst>
              <a:ext uri="{FF2B5EF4-FFF2-40B4-BE49-F238E27FC236}">
                <a16:creationId xmlns:a16="http://schemas.microsoft.com/office/drawing/2014/main" id="{285FA3DA-D3BA-D18B-A5C2-4CA3563700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C65D45-AD47-84D0-1FAA-8E44552B1CDC}"/>
              </a:ext>
            </a:extLst>
          </p:cNvPr>
          <p:cNvSpPr>
            <a:spLocks noGrp="1"/>
          </p:cNvSpPr>
          <p:nvPr>
            <p:ph type="sldNum" sz="quarter" idx="12"/>
          </p:nvPr>
        </p:nvSpPr>
        <p:spPr/>
        <p:txBody>
          <a:bodyPr/>
          <a:lstStyle/>
          <a:p>
            <a:fld id="{0FF4B338-FE51-4C9C-A51C-A74C8E459BBB}" type="slidenum">
              <a:rPr lang="en-IN" smtClean="0"/>
              <a:t>‹#›</a:t>
            </a:fld>
            <a:endParaRPr lang="en-IN"/>
          </a:p>
        </p:txBody>
      </p:sp>
    </p:spTree>
    <p:extLst>
      <p:ext uri="{BB962C8B-B14F-4D97-AF65-F5344CB8AC3E}">
        <p14:creationId xmlns:p14="http://schemas.microsoft.com/office/powerpoint/2010/main" val="380656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4A98F-E82F-EDAC-D8B8-9E22AFCC2C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7CD9BD-6D80-053D-C1CE-8FB77F790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8394DB-A8A4-37C4-FDD3-DC7B2BC6793E}"/>
              </a:ext>
            </a:extLst>
          </p:cNvPr>
          <p:cNvSpPr>
            <a:spLocks noGrp="1"/>
          </p:cNvSpPr>
          <p:nvPr>
            <p:ph type="dt" sz="half" idx="10"/>
          </p:nvPr>
        </p:nvSpPr>
        <p:spPr/>
        <p:txBody>
          <a:bodyPr/>
          <a:lstStyle/>
          <a:p>
            <a:fld id="{D2F55A49-A67E-41A0-9367-9416F46048C3}" type="datetimeFigureOut">
              <a:rPr lang="en-IN" smtClean="0"/>
              <a:t>04-03-2026</a:t>
            </a:fld>
            <a:endParaRPr lang="en-IN"/>
          </a:p>
        </p:txBody>
      </p:sp>
      <p:sp>
        <p:nvSpPr>
          <p:cNvPr id="5" name="Footer Placeholder 4">
            <a:extLst>
              <a:ext uri="{FF2B5EF4-FFF2-40B4-BE49-F238E27FC236}">
                <a16:creationId xmlns:a16="http://schemas.microsoft.com/office/drawing/2014/main" id="{E4008F4F-4C59-7AC7-198A-3AC017BFE8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CFB9A1-1B19-83BD-E0CC-39AA30C4677A}"/>
              </a:ext>
            </a:extLst>
          </p:cNvPr>
          <p:cNvSpPr>
            <a:spLocks noGrp="1"/>
          </p:cNvSpPr>
          <p:nvPr>
            <p:ph type="sldNum" sz="quarter" idx="12"/>
          </p:nvPr>
        </p:nvSpPr>
        <p:spPr/>
        <p:txBody>
          <a:bodyPr/>
          <a:lstStyle/>
          <a:p>
            <a:fld id="{0FF4B338-FE51-4C9C-A51C-A74C8E459BBB}" type="slidenum">
              <a:rPr lang="en-IN" smtClean="0"/>
              <a:t>‹#›</a:t>
            </a:fld>
            <a:endParaRPr lang="en-IN"/>
          </a:p>
        </p:txBody>
      </p:sp>
    </p:spTree>
    <p:extLst>
      <p:ext uri="{BB962C8B-B14F-4D97-AF65-F5344CB8AC3E}">
        <p14:creationId xmlns:p14="http://schemas.microsoft.com/office/powerpoint/2010/main" val="1110179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C253B7-16F3-E665-3AD9-ED2487016F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6C2402-5CA6-A668-FFAA-7E4CF15C21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3C4648-5A9B-4B3F-BD38-6ED3B0CC94B3}"/>
              </a:ext>
            </a:extLst>
          </p:cNvPr>
          <p:cNvSpPr>
            <a:spLocks noGrp="1"/>
          </p:cNvSpPr>
          <p:nvPr>
            <p:ph type="dt" sz="half" idx="10"/>
          </p:nvPr>
        </p:nvSpPr>
        <p:spPr/>
        <p:txBody>
          <a:bodyPr/>
          <a:lstStyle/>
          <a:p>
            <a:fld id="{D2F55A49-A67E-41A0-9367-9416F46048C3}" type="datetimeFigureOut">
              <a:rPr lang="en-IN" smtClean="0"/>
              <a:t>04-03-2026</a:t>
            </a:fld>
            <a:endParaRPr lang="en-IN"/>
          </a:p>
        </p:txBody>
      </p:sp>
      <p:sp>
        <p:nvSpPr>
          <p:cNvPr id="5" name="Footer Placeholder 4">
            <a:extLst>
              <a:ext uri="{FF2B5EF4-FFF2-40B4-BE49-F238E27FC236}">
                <a16:creationId xmlns:a16="http://schemas.microsoft.com/office/drawing/2014/main" id="{93F4C12A-8557-E357-FBD0-C233E91D87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DBBC98-BB98-C58A-D1ED-2418031F372A}"/>
              </a:ext>
            </a:extLst>
          </p:cNvPr>
          <p:cNvSpPr>
            <a:spLocks noGrp="1"/>
          </p:cNvSpPr>
          <p:nvPr>
            <p:ph type="sldNum" sz="quarter" idx="12"/>
          </p:nvPr>
        </p:nvSpPr>
        <p:spPr/>
        <p:txBody>
          <a:bodyPr/>
          <a:lstStyle/>
          <a:p>
            <a:fld id="{0FF4B338-FE51-4C9C-A51C-A74C8E459BBB}" type="slidenum">
              <a:rPr lang="en-IN" smtClean="0"/>
              <a:t>‹#›</a:t>
            </a:fld>
            <a:endParaRPr lang="en-IN"/>
          </a:p>
        </p:txBody>
      </p:sp>
    </p:spTree>
    <p:extLst>
      <p:ext uri="{BB962C8B-B14F-4D97-AF65-F5344CB8AC3E}">
        <p14:creationId xmlns:p14="http://schemas.microsoft.com/office/powerpoint/2010/main" val="1879857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5263EE-5C0F-606C-A8DE-A8D7835F38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C73052-FCD5-F7F2-581C-5A713F1FB7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C340C9-4CDB-62AA-10E3-C833DF2EEF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F55A49-A67E-41A0-9367-9416F46048C3}" type="datetimeFigureOut">
              <a:rPr lang="en-IN" smtClean="0"/>
              <a:t>04-03-2026</a:t>
            </a:fld>
            <a:endParaRPr lang="en-IN"/>
          </a:p>
        </p:txBody>
      </p:sp>
      <p:sp>
        <p:nvSpPr>
          <p:cNvPr id="5" name="Footer Placeholder 4">
            <a:extLst>
              <a:ext uri="{FF2B5EF4-FFF2-40B4-BE49-F238E27FC236}">
                <a16:creationId xmlns:a16="http://schemas.microsoft.com/office/drawing/2014/main" id="{CE0B84C0-F57A-6F6C-AD85-BA27B1DB0E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0B0147E-5C6F-39B6-25FD-41B8137634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F4B338-FE51-4C9C-A51C-A74C8E459BBB}" type="slidenum">
              <a:rPr lang="en-IN" smtClean="0"/>
              <a:t>‹#›</a:t>
            </a:fld>
            <a:endParaRPr lang="en-IN"/>
          </a:p>
        </p:txBody>
      </p:sp>
    </p:spTree>
    <p:extLst>
      <p:ext uri="{BB962C8B-B14F-4D97-AF65-F5344CB8AC3E}">
        <p14:creationId xmlns:p14="http://schemas.microsoft.com/office/powerpoint/2010/main" val="158613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python/python-classes-and-object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python/self-in-python-clas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D6998A9-DF9F-EF7B-6D20-3C37947DF8AD}"/>
              </a:ext>
            </a:extLst>
          </p:cNvPr>
          <p:cNvSpPr>
            <a:spLocks noGrp="1"/>
          </p:cNvSpPr>
          <p:nvPr>
            <p:ph type="ctrTitle"/>
          </p:nvPr>
        </p:nvSpPr>
        <p:spPr>
          <a:xfrm>
            <a:off x="2026693" y="1030406"/>
            <a:ext cx="8147713" cy="3081242"/>
          </a:xfrm>
        </p:spPr>
        <p:txBody>
          <a:bodyPr anchor="ctr">
            <a:normAutofit/>
          </a:bodyPr>
          <a:lstStyle/>
          <a:p>
            <a:r>
              <a:rPr lang="en-IN" sz="4800" dirty="0">
                <a:solidFill>
                  <a:srgbClr val="FFFFFF"/>
                </a:solidFill>
              </a:rPr>
              <a:t>Python Intermediate</a:t>
            </a:r>
            <a:br>
              <a:rPr lang="en-IN" sz="4800" dirty="0">
                <a:solidFill>
                  <a:srgbClr val="FFFFFF"/>
                </a:solidFill>
              </a:rPr>
            </a:br>
            <a:r>
              <a:rPr lang="en-IN" sz="4800">
                <a:solidFill>
                  <a:srgbClr val="FFFFFF"/>
                </a:solidFill>
              </a:rPr>
              <a:t>OOPS concepts</a:t>
            </a:r>
          </a:p>
        </p:txBody>
      </p:sp>
      <p:sp>
        <p:nvSpPr>
          <p:cNvPr id="3" name="Subtitle 2">
            <a:extLst>
              <a:ext uri="{FF2B5EF4-FFF2-40B4-BE49-F238E27FC236}">
                <a16:creationId xmlns:a16="http://schemas.microsoft.com/office/drawing/2014/main" id="{240F2D50-E5F9-27A1-E0F3-5D6A44102DAB}"/>
              </a:ext>
            </a:extLst>
          </p:cNvPr>
          <p:cNvSpPr>
            <a:spLocks noGrp="1"/>
          </p:cNvSpPr>
          <p:nvPr>
            <p:ph type="subTitle" idx="1"/>
          </p:nvPr>
        </p:nvSpPr>
        <p:spPr>
          <a:xfrm>
            <a:off x="1559943" y="5171093"/>
            <a:ext cx="9078628" cy="860620"/>
          </a:xfrm>
        </p:spPr>
        <p:txBody>
          <a:bodyPr anchor="ctr">
            <a:normAutofit/>
          </a:bodyPr>
          <a:lstStyle/>
          <a:p>
            <a:r>
              <a:rPr lang="en-IN">
                <a:solidFill>
                  <a:srgbClr val="FFFFFF"/>
                </a:solidFill>
              </a:rPr>
              <a:t>Dr. Rakhee Chhibber</a:t>
            </a:r>
          </a:p>
        </p:txBody>
      </p:sp>
    </p:spTree>
    <p:extLst>
      <p:ext uri="{BB962C8B-B14F-4D97-AF65-F5344CB8AC3E}">
        <p14:creationId xmlns:p14="http://schemas.microsoft.com/office/powerpoint/2010/main" val="3178623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677E7-DCA9-C6AE-5574-134F9860C3B9}"/>
              </a:ext>
            </a:extLst>
          </p:cNvPr>
          <p:cNvSpPr>
            <a:spLocks noGrp="1"/>
          </p:cNvSpPr>
          <p:nvPr>
            <p:ph type="ctrTitle"/>
          </p:nvPr>
        </p:nvSpPr>
        <p:spPr>
          <a:xfrm>
            <a:off x="1443990" y="364172"/>
            <a:ext cx="9144000" cy="1291590"/>
          </a:xfrm>
        </p:spPr>
        <p:txBody>
          <a:bodyPr>
            <a:normAutofit/>
          </a:bodyPr>
          <a:lstStyle/>
          <a:p>
            <a:r>
              <a:rPr lang="en-IN" b="1" dirty="0"/>
              <a:t>Python OOP Concepts</a:t>
            </a:r>
            <a:endParaRPr lang="en-IN" dirty="0"/>
          </a:p>
        </p:txBody>
      </p:sp>
      <p:sp>
        <p:nvSpPr>
          <p:cNvPr id="3" name="Subtitle 2">
            <a:extLst>
              <a:ext uri="{FF2B5EF4-FFF2-40B4-BE49-F238E27FC236}">
                <a16:creationId xmlns:a16="http://schemas.microsoft.com/office/drawing/2014/main" id="{4D1B2AD2-AFA8-FBC7-5CB0-D9AB71981134}"/>
              </a:ext>
            </a:extLst>
          </p:cNvPr>
          <p:cNvSpPr>
            <a:spLocks noGrp="1"/>
          </p:cNvSpPr>
          <p:nvPr>
            <p:ph type="subTitle" idx="1"/>
          </p:nvPr>
        </p:nvSpPr>
        <p:spPr>
          <a:xfrm>
            <a:off x="1524000" y="2011680"/>
            <a:ext cx="9144000" cy="3246120"/>
          </a:xfrm>
        </p:spPr>
        <p:txBody>
          <a:bodyPr>
            <a:noAutofit/>
          </a:bodyPr>
          <a:lstStyle/>
          <a:p>
            <a:pPr algn="l" fontAlgn="base"/>
            <a:r>
              <a:rPr lang="en-IN" dirty="0"/>
              <a:t>Class in Python</a:t>
            </a:r>
          </a:p>
          <a:p>
            <a:pPr algn="l" fontAlgn="base"/>
            <a:r>
              <a:rPr lang="en-IN" dirty="0"/>
              <a:t>Objects in Python</a:t>
            </a:r>
          </a:p>
          <a:p>
            <a:pPr algn="l" fontAlgn="base"/>
            <a:r>
              <a:rPr lang="en-IN" dirty="0"/>
              <a:t>Polymorphism in Python</a:t>
            </a:r>
          </a:p>
          <a:p>
            <a:pPr algn="l" fontAlgn="base"/>
            <a:r>
              <a:rPr lang="en-IN" dirty="0"/>
              <a:t>Encapsulation in Python</a:t>
            </a:r>
          </a:p>
          <a:p>
            <a:pPr algn="l" fontAlgn="base"/>
            <a:r>
              <a:rPr lang="en-IN" dirty="0"/>
              <a:t>Inheritance in Python</a:t>
            </a:r>
          </a:p>
          <a:p>
            <a:pPr algn="l" fontAlgn="base"/>
            <a:r>
              <a:rPr lang="en-IN" dirty="0"/>
              <a:t>Data Abstraction in Python</a:t>
            </a:r>
          </a:p>
          <a:p>
            <a:pPr algn="l"/>
            <a:endParaRPr lang="en-IN" dirty="0"/>
          </a:p>
        </p:txBody>
      </p:sp>
    </p:spTree>
    <p:extLst>
      <p:ext uri="{BB962C8B-B14F-4D97-AF65-F5344CB8AC3E}">
        <p14:creationId xmlns:p14="http://schemas.microsoft.com/office/powerpoint/2010/main" val="1598864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83996-876A-A6E7-D839-3E906DC46715}"/>
              </a:ext>
            </a:extLst>
          </p:cNvPr>
          <p:cNvSpPr>
            <a:spLocks noGrp="1"/>
          </p:cNvSpPr>
          <p:nvPr>
            <p:ph type="title"/>
          </p:nvPr>
        </p:nvSpPr>
        <p:spPr/>
        <p:txBody>
          <a:bodyPr/>
          <a:lstStyle/>
          <a:p>
            <a:r>
              <a:rPr lang="en-IN" dirty="0"/>
              <a:t>Introduction	</a:t>
            </a:r>
          </a:p>
        </p:txBody>
      </p:sp>
      <p:sp>
        <p:nvSpPr>
          <p:cNvPr id="3" name="Content Placeholder 2">
            <a:extLst>
              <a:ext uri="{FF2B5EF4-FFF2-40B4-BE49-F238E27FC236}">
                <a16:creationId xmlns:a16="http://schemas.microsoft.com/office/drawing/2014/main" id="{5136FE88-5C00-60A5-4A93-60CB145B3A69}"/>
              </a:ext>
            </a:extLst>
          </p:cNvPr>
          <p:cNvSpPr>
            <a:spLocks noGrp="1"/>
          </p:cNvSpPr>
          <p:nvPr>
            <p:ph idx="1"/>
          </p:nvPr>
        </p:nvSpPr>
        <p:spPr/>
        <p:txBody>
          <a:bodyPr/>
          <a:lstStyle/>
          <a:p>
            <a:pPr fontAlgn="base"/>
            <a:r>
              <a:rPr lang="en-US" dirty="0"/>
              <a:t>Object Oriented Programming is a fundamental concept in Python, empowering developers to build modular, maintainable, and scalable applications.</a:t>
            </a:r>
          </a:p>
          <a:p>
            <a:pPr fontAlgn="base"/>
            <a:r>
              <a:rPr lang="en-US" dirty="0"/>
              <a:t>OOPs is a way of organizing code that uses objects and classes to represent real-world entities and their behavior. In OOPs, object has attributes thing that has specific data and can perform certain actions using methods.</a:t>
            </a:r>
          </a:p>
          <a:p>
            <a:endParaRPr lang="en-IN" dirty="0"/>
          </a:p>
        </p:txBody>
      </p:sp>
    </p:spTree>
    <p:extLst>
      <p:ext uri="{BB962C8B-B14F-4D97-AF65-F5344CB8AC3E}">
        <p14:creationId xmlns:p14="http://schemas.microsoft.com/office/powerpoint/2010/main" val="410004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iagram of a company's process&#10;&#10;AI-generated content may be incorrect.">
            <a:extLst>
              <a:ext uri="{FF2B5EF4-FFF2-40B4-BE49-F238E27FC236}">
                <a16:creationId xmlns:a16="http://schemas.microsoft.com/office/drawing/2014/main" id="{37E3D3C5-56A1-0C74-6EF4-E5C3A4DEBA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5795" y="457200"/>
            <a:ext cx="6080409" cy="5943600"/>
          </a:xfrm>
          <a:prstGeom prst="rect">
            <a:avLst/>
          </a:prstGeom>
        </p:spPr>
      </p:pic>
    </p:spTree>
    <p:extLst>
      <p:ext uri="{BB962C8B-B14F-4D97-AF65-F5344CB8AC3E}">
        <p14:creationId xmlns:p14="http://schemas.microsoft.com/office/powerpoint/2010/main" val="1379565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C17E8-784C-F1BD-7B76-03C81E7D3A7A}"/>
              </a:ext>
            </a:extLst>
          </p:cNvPr>
          <p:cNvSpPr>
            <a:spLocks noGrp="1"/>
          </p:cNvSpPr>
          <p:nvPr>
            <p:ph type="title"/>
          </p:nvPr>
        </p:nvSpPr>
        <p:spPr/>
        <p:txBody>
          <a:bodyPr/>
          <a:lstStyle/>
          <a:p>
            <a:r>
              <a:rPr lang="en-IN" b="1" dirty="0"/>
              <a:t>Python Class</a:t>
            </a:r>
            <a:br>
              <a:rPr lang="en-IN" b="1" dirty="0"/>
            </a:br>
            <a:endParaRPr lang="en-IN" dirty="0"/>
          </a:p>
        </p:txBody>
      </p:sp>
      <p:sp>
        <p:nvSpPr>
          <p:cNvPr id="3" name="Content Placeholder 2">
            <a:extLst>
              <a:ext uri="{FF2B5EF4-FFF2-40B4-BE49-F238E27FC236}">
                <a16:creationId xmlns:a16="http://schemas.microsoft.com/office/drawing/2014/main" id="{2521012E-1EEA-380D-A88D-6523F752D143}"/>
              </a:ext>
            </a:extLst>
          </p:cNvPr>
          <p:cNvSpPr>
            <a:spLocks noGrp="1"/>
          </p:cNvSpPr>
          <p:nvPr>
            <p:ph idx="1"/>
          </p:nvPr>
        </p:nvSpPr>
        <p:spPr/>
        <p:txBody>
          <a:bodyPr/>
          <a:lstStyle/>
          <a:p>
            <a:pPr marL="0" indent="0" fontAlgn="base">
              <a:buNone/>
            </a:pPr>
            <a:r>
              <a:rPr lang="en-US" dirty="0"/>
              <a:t>A class is a collection of objects. </a:t>
            </a:r>
            <a:r>
              <a:rPr lang="en-US" u="sng" dirty="0">
                <a:hlinkClick r:id="rId2"/>
              </a:rPr>
              <a:t>Classes </a:t>
            </a:r>
            <a:r>
              <a:rPr lang="en-US" dirty="0"/>
              <a:t>are blueprints for creating objects. A class defines a set of attributes and methods that the created objects (instances) can have.</a:t>
            </a:r>
          </a:p>
          <a:p>
            <a:pPr marL="0" indent="0" fontAlgn="base">
              <a:buNone/>
            </a:pPr>
            <a:r>
              <a:rPr lang="en-US" b="1" dirty="0"/>
              <a:t>Some points on Python class:</a:t>
            </a:r>
            <a:r>
              <a:rPr lang="en-US" dirty="0"/>
              <a:t>  </a:t>
            </a:r>
          </a:p>
          <a:p>
            <a:pPr fontAlgn="base"/>
            <a:r>
              <a:rPr lang="en-US" dirty="0"/>
              <a:t>Classes are created by keyword class.</a:t>
            </a:r>
          </a:p>
          <a:p>
            <a:pPr fontAlgn="base"/>
            <a:r>
              <a:rPr lang="en-US" dirty="0"/>
              <a:t>Attributes are the variables that belong to a class.</a:t>
            </a:r>
          </a:p>
          <a:p>
            <a:pPr fontAlgn="base"/>
            <a:r>
              <a:rPr lang="en-US" dirty="0"/>
              <a:t>Attributes are always public and can be accessed using the dot (.) operator. Example: </a:t>
            </a:r>
            <a:r>
              <a:rPr lang="en-US" dirty="0" err="1"/>
              <a:t>Myclass.Myattribute</a:t>
            </a:r>
            <a:endParaRPr lang="en-US" dirty="0"/>
          </a:p>
          <a:p>
            <a:endParaRPr lang="en-IN" dirty="0"/>
          </a:p>
        </p:txBody>
      </p:sp>
    </p:spTree>
    <p:extLst>
      <p:ext uri="{BB962C8B-B14F-4D97-AF65-F5344CB8AC3E}">
        <p14:creationId xmlns:p14="http://schemas.microsoft.com/office/powerpoint/2010/main" val="843850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3D0ED-3299-9AC2-4787-C4A29086403D}"/>
              </a:ext>
            </a:extLst>
          </p:cNvPr>
          <p:cNvSpPr>
            <a:spLocks noGrp="1"/>
          </p:cNvSpPr>
          <p:nvPr>
            <p:ph type="title"/>
          </p:nvPr>
        </p:nvSpPr>
        <p:spPr/>
        <p:txBody>
          <a:bodyPr/>
          <a:lstStyle/>
          <a:p>
            <a:r>
              <a:rPr lang="en-IN" b="1" dirty="0"/>
              <a:t>Creating a Class</a:t>
            </a:r>
            <a:endParaRPr lang="en-IN" dirty="0"/>
          </a:p>
        </p:txBody>
      </p:sp>
      <p:sp>
        <p:nvSpPr>
          <p:cNvPr id="3" name="Content Placeholder 2">
            <a:extLst>
              <a:ext uri="{FF2B5EF4-FFF2-40B4-BE49-F238E27FC236}">
                <a16:creationId xmlns:a16="http://schemas.microsoft.com/office/drawing/2014/main" id="{549F2A6D-DB31-0120-A2D8-01DF7D8B4F1B}"/>
              </a:ext>
            </a:extLst>
          </p:cNvPr>
          <p:cNvSpPr>
            <a:spLocks noGrp="1"/>
          </p:cNvSpPr>
          <p:nvPr>
            <p:ph idx="1"/>
          </p:nvPr>
        </p:nvSpPr>
        <p:spPr/>
        <p:txBody>
          <a:bodyPr/>
          <a:lstStyle/>
          <a:p>
            <a:pPr marL="0" indent="0">
              <a:buNone/>
            </a:pPr>
            <a:r>
              <a:rPr lang="en-US" dirty="0"/>
              <a:t>class Dog:</a:t>
            </a:r>
          </a:p>
          <a:p>
            <a:pPr marL="0" indent="0">
              <a:buNone/>
            </a:pPr>
            <a:r>
              <a:rPr lang="en-US" dirty="0"/>
              <a:t>    species = "Canine"  # Class attribute</a:t>
            </a:r>
          </a:p>
          <a:p>
            <a:pPr marL="0" indent="0">
              <a:buNone/>
            </a:pPr>
            <a:endParaRPr lang="en-US" dirty="0"/>
          </a:p>
          <a:p>
            <a:pPr marL="0" indent="0">
              <a:buNone/>
            </a:pPr>
            <a:r>
              <a:rPr lang="en-US" dirty="0"/>
              <a:t>    def __</a:t>
            </a:r>
            <a:r>
              <a:rPr lang="en-US" dirty="0" err="1"/>
              <a:t>init</a:t>
            </a:r>
            <a:r>
              <a:rPr lang="en-US" dirty="0"/>
              <a:t>__(self, name, age):</a:t>
            </a:r>
          </a:p>
          <a:p>
            <a:pPr marL="0" indent="0">
              <a:buNone/>
            </a:pPr>
            <a:r>
              <a:rPr lang="en-US" dirty="0"/>
              <a:t>        self.name = name  # Instance attribute</a:t>
            </a:r>
          </a:p>
          <a:p>
            <a:pPr marL="0" indent="0">
              <a:buNone/>
            </a:pPr>
            <a:r>
              <a:rPr lang="en-US" dirty="0"/>
              <a:t>        </a:t>
            </a:r>
            <a:r>
              <a:rPr lang="en-US" dirty="0" err="1"/>
              <a:t>self.age</a:t>
            </a:r>
            <a:r>
              <a:rPr lang="en-US" dirty="0"/>
              <a:t> = age  # Instance attribute</a:t>
            </a:r>
            <a:endParaRPr lang="en-IN" dirty="0"/>
          </a:p>
        </p:txBody>
      </p:sp>
    </p:spTree>
    <p:extLst>
      <p:ext uri="{BB962C8B-B14F-4D97-AF65-F5344CB8AC3E}">
        <p14:creationId xmlns:p14="http://schemas.microsoft.com/office/powerpoint/2010/main" val="3681034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75ED1-7FBC-ED36-BD8B-78A7B2BC704F}"/>
              </a:ext>
            </a:extLst>
          </p:cNvPr>
          <p:cNvSpPr>
            <a:spLocks noGrp="1"/>
          </p:cNvSpPr>
          <p:nvPr>
            <p:ph type="title"/>
          </p:nvPr>
        </p:nvSpPr>
        <p:spPr/>
        <p:txBody>
          <a:bodyPr/>
          <a:lstStyle/>
          <a:p>
            <a:r>
              <a:rPr lang="en-IN" b="1" dirty="0"/>
              <a:t>Python Objects</a:t>
            </a:r>
            <a:endParaRPr lang="en-IN" dirty="0"/>
          </a:p>
        </p:txBody>
      </p:sp>
      <p:sp>
        <p:nvSpPr>
          <p:cNvPr id="3" name="Content Placeholder 2">
            <a:extLst>
              <a:ext uri="{FF2B5EF4-FFF2-40B4-BE49-F238E27FC236}">
                <a16:creationId xmlns:a16="http://schemas.microsoft.com/office/drawing/2014/main" id="{9B8CE0F4-6EE5-EA34-350D-F6DC4D96ECA2}"/>
              </a:ext>
            </a:extLst>
          </p:cNvPr>
          <p:cNvSpPr>
            <a:spLocks noGrp="1"/>
          </p:cNvSpPr>
          <p:nvPr>
            <p:ph idx="1"/>
          </p:nvPr>
        </p:nvSpPr>
        <p:spPr/>
        <p:txBody>
          <a:bodyPr/>
          <a:lstStyle/>
          <a:p>
            <a:pPr marL="0" indent="0" fontAlgn="base">
              <a:buNone/>
            </a:pPr>
            <a:r>
              <a:rPr lang="en-US" dirty="0"/>
              <a:t>An Object is an instance of a Class. It represents a specific implementation of the class and holds its own data.</a:t>
            </a:r>
          </a:p>
          <a:p>
            <a:pPr marL="0" indent="0" fontAlgn="base">
              <a:buNone/>
            </a:pPr>
            <a:r>
              <a:rPr lang="en-US" dirty="0"/>
              <a:t>An object consists of:</a:t>
            </a:r>
          </a:p>
          <a:p>
            <a:pPr fontAlgn="base"/>
            <a:r>
              <a:rPr lang="en-US" b="1" dirty="0"/>
              <a:t>State:</a:t>
            </a:r>
            <a:r>
              <a:rPr lang="en-US" dirty="0"/>
              <a:t> It is represented by the attributes and reflects the properties of an object.</a:t>
            </a:r>
          </a:p>
          <a:p>
            <a:pPr fontAlgn="base"/>
            <a:r>
              <a:rPr lang="en-US" b="1" dirty="0"/>
              <a:t>Behavior:</a:t>
            </a:r>
            <a:r>
              <a:rPr lang="en-US" dirty="0"/>
              <a:t> It is represented by the methods of an object and reflects the response of an object to other objects.</a:t>
            </a:r>
          </a:p>
          <a:p>
            <a:pPr fontAlgn="base"/>
            <a:r>
              <a:rPr lang="en-US" b="1" dirty="0"/>
              <a:t>Identity:</a:t>
            </a:r>
            <a:r>
              <a:rPr lang="en-US" dirty="0"/>
              <a:t> It gives a unique name to an object and enables one object to interact with other objects</a:t>
            </a:r>
          </a:p>
          <a:p>
            <a:endParaRPr lang="en-IN" dirty="0"/>
          </a:p>
        </p:txBody>
      </p:sp>
    </p:spTree>
    <p:extLst>
      <p:ext uri="{BB962C8B-B14F-4D97-AF65-F5344CB8AC3E}">
        <p14:creationId xmlns:p14="http://schemas.microsoft.com/office/powerpoint/2010/main" val="2102927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367B1-BC11-6632-20C9-6CD04EB5D0E6}"/>
              </a:ext>
            </a:extLst>
          </p:cNvPr>
          <p:cNvSpPr>
            <a:spLocks noGrp="1"/>
          </p:cNvSpPr>
          <p:nvPr>
            <p:ph type="title"/>
          </p:nvPr>
        </p:nvSpPr>
        <p:spPr>
          <a:xfrm>
            <a:off x="746760" y="18255"/>
            <a:ext cx="10515600" cy="1325563"/>
          </a:xfrm>
        </p:spPr>
        <p:txBody>
          <a:bodyPr/>
          <a:lstStyle/>
          <a:p>
            <a:r>
              <a:rPr lang="en-IN" b="1" dirty="0"/>
              <a:t>Creating Object</a:t>
            </a:r>
            <a:endParaRPr lang="en-IN" dirty="0"/>
          </a:p>
        </p:txBody>
      </p:sp>
      <p:sp>
        <p:nvSpPr>
          <p:cNvPr id="3" name="Content Placeholder 2">
            <a:extLst>
              <a:ext uri="{FF2B5EF4-FFF2-40B4-BE49-F238E27FC236}">
                <a16:creationId xmlns:a16="http://schemas.microsoft.com/office/drawing/2014/main" id="{D66C5A25-340C-6D39-74E3-C7F34FE2FAD0}"/>
              </a:ext>
            </a:extLst>
          </p:cNvPr>
          <p:cNvSpPr>
            <a:spLocks noGrp="1"/>
          </p:cNvSpPr>
          <p:nvPr>
            <p:ph idx="1"/>
          </p:nvPr>
        </p:nvSpPr>
        <p:spPr>
          <a:xfrm>
            <a:off x="838200" y="1485900"/>
            <a:ext cx="10515600" cy="4691063"/>
          </a:xfrm>
        </p:spPr>
        <p:txBody>
          <a:bodyPr>
            <a:normAutofit fontScale="85000" lnSpcReduction="20000"/>
          </a:bodyPr>
          <a:lstStyle/>
          <a:p>
            <a:pPr marL="0" indent="0">
              <a:buNone/>
            </a:pPr>
            <a:r>
              <a:rPr lang="en-US" dirty="0"/>
              <a:t>class Dog:</a:t>
            </a:r>
          </a:p>
          <a:p>
            <a:pPr marL="0" indent="0">
              <a:buNone/>
            </a:pPr>
            <a:r>
              <a:rPr lang="en-US" dirty="0"/>
              <a:t>    species = "Canine"  # Class attribute</a:t>
            </a:r>
          </a:p>
          <a:p>
            <a:pPr marL="0" indent="0">
              <a:buNone/>
            </a:pPr>
            <a:endParaRPr lang="en-US" dirty="0"/>
          </a:p>
          <a:p>
            <a:pPr marL="0" indent="0">
              <a:buNone/>
            </a:pPr>
            <a:r>
              <a:rPr lang="en-US" dirty="0"/>
              <a:t>    def __</a:t>
            </a:r>
            <a:r>
              <a:rPr lang="en-US" dirty="0" err="1"/>
              <a:t>init</a:t>
            </a:r>
            <a:r>
              <a:rPr lang="en-US" dirty="0"/>
              <a:t>__(self, name, age):</a:t>
            </a:r>
          </a:p>
          <a:p>
            <a:pPr marL="0" indent="0">
              <a:buNone/>
            </a:pPr>
            <a:r>
              <a:rPr lang="en-US" dirty="0"/>
              <a:t>        self.name = name  # Instance attribute</a:t>
            </a:r>
          </a:p>
          <a:p>
            <a:pPr marL="0" indent="0">
              <a:buNone/>
            </a:pPr>
            <a:r>
              <a:rPr lang="en-US" dirty="0"/>
              <a:t>        </a:t>
            </a:r>
            <a:r>
              <a:rPr lang="en-US" dirty="0" err="1"/>
              <a:t>self.age</a:t>
            </a:r>
            <a:r>
              <a:rPr lang="en-US" dirty="0"/>
              <a:t> = age  # Instance attribute</a:t>
            </a:r>
          </a:p>
          <a:p>
            <a:pPr marL="0" indent="0">
              <a:buNone/>
            </a:pPr>
            <a:endParaRPr lang="en-US" dirty="0"/>
          </a:p>
          <a:p>
            <a:pPr marL="0" indent="0">
              <a:buNone/>
            </a:pPr>
            <a:r>
              <a:rPr lang="en-US" dirty="0"/>
              <a:t># Creating an object of the Dog class</a:t>
            </a:r>
          </a:p>
          <a:p>
            <a:pPr marL="0" indent="0">
              <a:buNone/>
            </a:pPr>
            <a:r>
              <a:rPr lang="en-US" dirty="0"/>
              <a:t>dog1 = Dog("Buddy", 3)</a:t>
            </a:r>
          </a:p>
          <a:p>
            <a:pPr marL="0" indent="0">
              <a:buNone/>
            </a:pPr>
            <a:endParaRPr lang="en-US" dirty="0"/>
          </a:p>
          <a:p>
            <a:pPr marL="0" indent="0">
              <a:buNone/>
            </a:pPr>
            <a:r>
              <a:rPr lang="en-US" dirty="0"/>
              <a:t>print(dog1.name) </a:t>
            </a:r>
          </a:p>
          <a:p>
            <a:pPr marL="0" indent="0">
              <a:buNone/>
            </a:pPr>
            <a:r>
              <a:rPr lang="en-US" dirty="0"/>
              <a:t>print(dog1.species)</a:t>
            </a:r>
            <a:endParaRPr lang="en-IN" dirty="0"/>
          </a:p>
        </p:txBody>
      </p:sp>
    </p:spTree>
    <p:extLst>
      <p:ext uri="{BB962C8B-B14F-4D97-AF65-F5344CB8AC3E}">
        <p14:creationId xmlns:p14="http://schemas.microsoft.com/office/powerpoint/2010/main" val="4054985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34C46-DE47-8B09-626C-B148864F6D45}"/>
              </a:ext>
            </a:extLst>
          </p:cNvPr>
          <p:cNvSpPr>
            <a:spLocks noGrp="1"/>
          </p:cNvSpPr>
          <p:nvPr>
            <p:ph type="title"/>
          </p:nvPr>
        </p:nvSpPr>
        <p:spPr>
          <a:xfrm>
            <a:off x="838200" y="0"/>
            <a:ext cx="10515600" cy="1325563"/>
          </a:xfrm>
        </p:spPr>
        <p:txBody>
          <a:bodyPr>
            <a:normAutofit/>
          </a:bodyPr>
          <a:lstStyle/>
          <a:p>
            <a:r>
              <a:rPr lang="en-IN" sz="2800" b="1" dirty="0"/>
              <a:t>Self Parameter - </a:t>
            </a:r>
            <a:r>
              <a:rPr lang="en-US" sz="2800" u="sng" dirty="0">
                <a:hlinkClick r:id="rId2"/>
              </a:rPr>
              <a:t>self </a:t>
            </a:r>
            <a:r>
              <a:rPr lang="en-US" sz="2800" dirty="0"/>
              <a:t>parameter is a reference to the current instance of the class. It allows us to access the attributes and methods of the object</a:t>
            </a:r>
            <a:endParaRPr lang="en-IN" sz="2800" dirty="0"/>
          </a:p>
        </p:txBody>
      </p:sp>
      <p:sp>
        <p:nvSpPr>
          <p:cNvPr id="3" name="Content Placeholder 2">
            <a:extLst>
              <a:ext uri="{FF2B5EF4-FFF2-40B4-BE49-F238E27FC236}">
                <a16:creationId xmlns:a16="http://schemas.microsoft.com/office/drawing/2014/main" id="{71D866ED-7141-93DE-7E8E-49D64F819F9E}"/>
              </a:ext>
            </a:extLst>
          </p:cNvPr>
          <p:cNvSpPr>
            <a:spLocks noGrp="1"/>
          </p:cNvSpPr>
          <p:nvPr>
            <p:ph idx="1"/>
          </p:nvPr>
        </p:nvSpPr>
        <p:spPr>
          <a:xfrm>
            <a:off x="838200" y="1325563"/>
            <a:ext cx="10515600" cy="5361305"/>
          </a:xfrm>
        </p:spPr>
        <p:txBody>
          <a:bodyPr>
            <a:normAutofit fontScale="77500" lnSpcReduction="20000"/>
          </a:bodyPr>
          <a:lstStyle/>
          <a:p>
            <a:pPr marL="0" indent="0">
              <a:buNone/>
            </a:pPr>
            <a:r>
              <a:rPr lang="en-US" dirty="0"/>
              <a:t>class Dog:</a:t>
            </a:r>
          </a:p>
          <a:p>
            <a:pPr marL="0" indent="0">
              <a:buNone/>
            </a:pPr>
            <a:r>
              <a:rPr lang="en-US" dirty="0"/>
              <a:t>    species = "Canine"  # Class attribute</a:t>
            </a:r>
          </a:p>
          <a:p>
            <a:pPr marL="0" indent="0">
              <a:buNone/>
            </a:pPr>
            <a:endParaRPr lang="en-US" dirty="0"/>
          </a:p>
          <a:p>
            <a:pPr marL="0" indent="0">
              <a:buNone/>
            </a:pPr>
            <a:r>
              <a:rPr lang="en-US" dirty="0"/>
              <a:t>    def __</a:t>
            </a:r>
            <a:r>
              <a:rPr lang="en-US" dirty="0" err="1"/>
              <a:t>init</a:t>
            </a:r>
            <a:r>
              <a:rPr lang="en-US" dirty="0"/>
              <a:t>__(self, name, age):</a:t>
            </a:r>
          </a:p>
          <a:p>
            <a:pPr marL="0" indent="0">
              <a:buNone/>
            </a:pPr>
            <a:r>
              <a:rPr lang="en-US" dirty="0"/>
              <a:t>        self.name = name  # Instance attribute</a:t>
            </a:r>
          </a:p>
          <a:p>
            <a:pPr marL="0" indent="0">
              <a:buNone/>
            </a:pPr>
            <a:r>
              <a:rPr lang="en-US" dirty="0"/>
              <a:t>        </a:t>
            </a:r>
            <a:r>
              <a:rPr lang="en-US" dirty="0" err="1"/>
              <a:t>self.age</a:t>
            </a:r>
            <a:r>
              <a:rPr lang="en-US" dirty="0"/>
              <a:t> = age  # Instance attribute</a:t>
            </a:r>
          </a:p>
          <a:p>
            <a:pPr marL="0" indent="0">
              <a:buNone/>
            </a:pPr>
            <a:endParaRPr lang="en-US" dirty="0"/>
          </a:p>
          <a:p>
            <a:pPr marL="0" indent="0">
              <a:buNone/>
            </a:pPr>
            <a:r>
              <a:rPr lang="en-US" dirty="0"/>
              <a:t>dog1 = Dog("Buddy", 3)  # Create an instance of Dog</a:t>
            </a:r>
          </a:p>
          <a:p>
            <a:pPr marL="0" indent="0">
              <a:buNone/>
            </a:pPr>
            <a:r>
              <a:rPr lang="en-US" dirty="0"/>
              <a:t>dog2 = Dog("Charlie", 5)  # Create another instance of Dog</a:t>
            </a:r>
          </a:p>
          <a:p>
            <a:pPr marL="0" indent="0">
              <a:buNone/>
            </a:pPr>
            <a:endParaRPr lang="en-US" dirty="0"/>
          </a:p>
          <a:p>
            <a:pPr marL="0" indent="0">
              <a:buNone/>
            </a:pPr>
            <a:r>
              <a:rPr lang="en-US" dirty="0"/>
              <a:t>print(dog1.name, dog1.age, dog1.species)  # Access instance and class attributes</a:t>
            </a:r>
          </a:p>
          <a:p>
            <a:pPr marL="0" indent="0">
              <a:buNone/>
            </a:pPr>
            <a:r>
              <a:rPr lang="en-US" dirty="0"/>
              <a:t>print(dog2.name, dog2.age, dog2.species)  # Access instance and class attributes</a:t>
            </a:r>
          </a:p>
          <a:p>
            <a:pPr marL="0" indent="0">
              <a:buNone/>
            </a:pPr>
            <a:r>
              <a:rPr lang="en-US" dirty="0"/>
              <a:t>print(</a:t>
            </a:r>
            <a:r>
              <a:rPr lang="en-US" dirty="0" err="1"/>
              <a:t>Dog.species</a:t>
            </a:r>
            <a:r>
              <a:rPr lang="en-US" dirty="0"/>
              <a:t>)  # Access class attribute directly</a:t>
            </a:r>
            <a:endParaRPr lang="en-IN" dirty="0"/>
          </a:p>
        </p:txBody>
      </p:sp>
    </p:spTree>
    <p:extLst>
      <p:ext uri="{BB962C8B-B14F-4D97-AF65-F5344CB8AC3E}">
        <p14:creationId xmlns:p14="http://schemas.microsoft.com/office/powerpoint/2010/main" val="492664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C0CC6-21D0-2509-7F4C-D30B628A1024}"/>
              </a:ext>
            </a:extLst>
          </p:cNvPr>
          <p:cNvSpPr>
            <a:spLocks noGrp="1"/>
          </p:cNvSpPr>
          <p:nvPr>
            <p:ph type="title"/>
          </p:nvPr>
        </p:nvSpPr>
        <p:spPr/>
        <p:txBody>
          <a:bodyPr/>
          <a:lstStyle/>
          <a:p>
            <a:r>
              <a:rPr lang="en-IN" b="1" dirty="0"/>
              <a:t>__</a:t>
            </a:r>
            <a:r>
              <a:rPr lang="en-IN" b="1" dirty="0" err="1"/>
              <a:t>init</a:t>
            </a:r>
            <a:r>
              <a:rPr lang="en-IN" b="1" dirty="0"/>
              <a:t>__ Method</a:t>
            </a:r>
            <a:endParaRPr lang="en-IN" dirty="0"/>
          </a:p>
        </p:txBody>
      </p:sp>
      <p:sp>
        <p:nvSpPr>
          <p:cNvPr id="3" name="Content Placeholder 2">
            <a:extLst>
              <a:ext uri="{FF2B5EF4-FFF2-40B4-BE49-F238E27FC236}">
                <a16:creationId xmlns:a16="http://schemas.microsoft.com/office/drawing/2014/main" id="{AB6399DC-367D-2166-9398-5A36B8393D93}"/>
              </a:ext>
            </a:extLst>
          </p:cNvPr>
          <p:cNvSpPr>
            <a:spLocks noGrp="1"/>
          </p:cNvSpPr>
          <p:nvPr>
            <p:ph idx="1"/>
          </p:nvPr>
        </p:nvSpPr>
        <p:spPr>
          <a:xfrm>
            <a:off x="838200" y="1825625"/>
            <a:ext cx="5257800" cy="4351338"/>
          </a:xfrm>
        </p:spPr>
        <p:txBody>
          <a:bodyPr/>
          <a:lstStyle/>
          <a:p>
            <a:pPr marL="0" indent="0">
              <a:buNone/>
            </a:pPr>
            <a:r>
              <a:rPr lang="en-US" dirty="0"/>
              <a:t>class Dog:</a:t>
            </a:r>
          </a:p>
          <a:p>
            <a:pPr marL="0" indent="0">
              <a:buNone/>
            </a:pPr>
            <a:r>
              <a:rPr lang="en-US" dirty="0"/>
              <a:t>    def __</a:t>
            </a:r>
            <a:r>
              <a:rPr lang="en-US" dirty="0" err="1"/>
              <a:t>init</a:t>
            </a:r>
            <a:r>
              <a:rPr lang="en-US" dirty="0"/>
              <a:t>__(self, name, age):</a:t>
            </a:r>
          </a:p>
          <a:p>
            <a:pPr marL="0" indent="0">
              <a:buNone/>
            </a:pPr>
            <a:r>
              <a:rPr lang="en-US" dirty="0"/>
              <a:t>        self.name = name</a:t>
            </a:r>
          </a:p>
          <a:p>
            <a:pPr marL="0" indent="0">
              <a:buNone/>
            </a:pPr>
            <a:r>
              <a:rPr lang="en-US" dirty="0"/>
              <a:t>        </a:t>
            </a:r>
            <a:r>
              <a:rPr lang="en-US" dirty="0" err="1"/>
              <a:t>self.age</a:t>
            </a:r>
            <a:r>
              <a:rPr lang="en-US" dirty="0"/>
              <a:t> = age</a:t>
            </a:r>
          </a:p>
          <a:p>
            <a:pPr marL="0" indent="0">
              <a:buNone/>
            </a:pPr>
            <a:endParaRPr lang="en-US" dirty="0"/>
          </a:p>
          <a:p>
            <a:pPr marL="0" indent="0">
              <a:buNone/>
            </a:pPr>
            <a:r>
              <a:rPr lang="en-US" dirty="0"/>
              <a:t>dog1 = Dog("Buddy", 3)</a:t>
            </a:r>
          </a:p>
          <a:p>
            <a:pPr marL="0" indent="0">
              <a:buNone/>
            </a:pPr>
            <a:r>
              <a:rPr lang="en-US" dirty="0"/>
              <a:t>print(dog1.name)</a:t>
            </a:r>
            <a:endParaRPr lang="en-IN" dirty="0"/>
          </a:p>
        </p:txBody>
      </p:sp>
      <p:sp>
        <p:nvSpPr>
          <p:cNvPr id="5" name="TextBox 4">
            <a:extLst>
              <a:ext uri="{FF2B5EF4-FFF2-40B4-BE49-F238E27FC236}">
                <a16:creationId xmlns:a16="http://schemas.microsoft.com/office/drawing/2014/main" id="{91AB305D-E39A-C260-7C8F-825730281E61}"/>
              </a:ext>
            </a:extLst>
          </p:cNvPr>
          <p:cNvSpPr txBox="1"/>
          <p:nvPr/>
        </p:nvSpPr>
        <p:spPr>
          <a:xfrm>
            <a:off x="5843585" y="4039483"/>
            <a:ext cx="6100765" cy="2272417"/>
          </a:xfrm>
          <a:prstGeom prst="rect">
            <a:avLst/>
          </a:prstGeom>
          <a:noFill/>
        </p:spPr>
        <p:txBody>
          <a:bodyPr wrap="square">
            <a:spAutoFit/>
          </a:bodyPr>
          <a:lstStyle/>
          <a:p>
            <a:pPr algn="l" rtl="0" fontAlgn="base">
              <a:spcAft>
                <a:spcPts val="750"/>
              </a:spcAft>
              <a:buNone/>
            </a:pPr>
            <a:r>
              <a:rPr lang="en-US" sz="2400" b="1" i="0" dirty="0">
                <a:solidFill>
                  <a:srgbClr val="273239"/>
                </a:solidFill>
                <a:effectLst/>
                <a:latin typeface="Nunito" pitchFamily="2" charset="0"/>
              </a:rPr>
              <a:t>Explanation:</a:t>
            </a:r>
            <a:endParaRPr lang="en-US" sz="2400"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sz="2400" b="1" i="0" dirty="0">
                <a:solidFill>
                  <a:srgbClr val="273239"/>
                </a:solidFill>
                <a:effectLst/>
                <a:latin typeface="Nunito" pitchFamily="2" charset="0"/>
              </a:rPr>
              <a:t>__</a:t>
            </a:r>
            <a:r>
              <a:rPr lang="en-US" sz="2400" b="1" i="0" dirty="0" err="1">
                <a:solidFill>
                  <a:srgbClr val="273239"/>
                </a:solidFill>
                <a:effectLst/>
                <a:latin typeface="Nunito" pitchFamily="2" charset="0"/>
              </a:rPr>
              <a:t>init</a:t>
            </a:r>
            <a:r>
              <a:rPr lang="en-US" sz="2400" b="1" i="0" dirty="0">
                <a:solidFill>
                  <a:srgbClr val="273239"/>
                </a:solidFill>
                <a:effectLst/>
                <a:latin typeface="Nunito" pitchFamily="2" charset="0"/>
              </a:rPr>
              <a:t>__: </a:t>
            </a:r>
            <a:r>
              <a:rPr lang="en-US" sz="2400" b="0" i="0" dirty="0">
                <a:solidFill>
                  <a:srgbClr val="273239"/>
                </a:solidFill>
                <a:effectLst/>
                <a:latin typeface="Nunito" pitchFamily="2" charset="0"/>
              </a:rPr>
              <a:t>Special method used for initialization.</a:t>
            </a:r>
          </a:p>
          <a:p>
            <a:pPr algn="l" fontAlgn="base">
              <a:spcAft>
                <a:spcPts val="1800"/>
              </a:spcAft>
              <a:buFont typeface="Arial" panose="020B0604020202020204" pitchFamily="34" charset="0"/>
              <a:buChar char="•"/>
            </a:pPr>
            <a:r>
              <a:rPr lang="en-US" sz="2400" b="1" i="0" dirty="0">
                <a:solidFill>
                  <a:srgbClr val="273239"/>
                </a:solidFill>
                <a:effectLst/>
                <a:latin typeface="Nunito" pitchFamily="2" charset="0"/>
              </a:rPr>
              <a:t>self.name and </a:t>
            </a:r>
            <a:r>
              <a:rPr lang="en-US" sz="2400" b="1" i="0" dirty="0" err="1">
                <a:solidFill>
                  <a:srgbClr val="273239"/>
                </a:solidFill>
                <a:effectLst/>
                <a:latin typeface="Nunito" pitchFamily="2" charset="0"/>
              </a:rPr>
              <a:t>self.age</a:t>
            </a:r>
            <a:r>
              <a:rPr lang="en-US" sz="2400" b="1" i="0" dirty="0">
                <a:solidFill>
                  <a:srgbClr val="273239"/>
                </a:solidFill>
                <a:effectLst/>
                <a:latin typeface="Nunito" pitchFamily="2" charset="0"/>
              </a:rPr>
              <a:t>:</a:t>
            </a:r>
            <a:r>
              <a:rPr lang="en-US" sz="2400" b="0" i="0" dirty="0">
                <a:solidFill>
                  <a:srgbClr val="273239"/>
                </a:solidFill>
                <a:effectLst/>
                <a:latin typeface="Nunito" pitchFamily="2" charset="0"/>
              </a:rPr>
              <a:t> Instance attributes initialized in the constructor.</a:t>
            </a:r>
          </a:p>
        </p:txBody>
      </p:sp>
    </p:spTree>
    <p:extLst>
      <p:ext uri="{BB962C8B-B14F-4D97-AF65-F5344CB8AC3E}">
        <p14:creationId xmlns:p14="http://schemas.microsoft.com/office/powerpoint/2010/main" val="2431643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B8C84-8029-D514-8EB8-FC93F3ED987D}"/>
              </a:ext>
            </a:extLst>
          </p:cNvPr>
          <p:cNvSpPr>
            <a:spLocks noGrp="1"/>
          </p:cNvSpPr>
          <p:nvPr>
            <p:ph type="title"/>
          </p:nvPr>
        </p:nvSpPr>
        <p:spPr/>
        <p:txBody>
          <a:bodyPr/>
          <a:lstStyle/>
          <a:p>
            <a:r>
              <a:rPr lang="en-IN" b="1" dirty="0"/>
              <a:t>Class and Instance Variables</a:t>
            </a:r>
            <a:endParaRPr lang="en-IN" dirty="0"/>
          </a:p>
        </p:txBody>
      </p:sp>
      <p:sp>
        <p:nvSpPr>
          <p:cNvPr id="3" name="Content Placeholder 2">
            <a:extLst>
              <a:ext uri="{FF2B5EF4-FFF2-40B4-BE49-F238E27FC236}">
                <a16:creationId xmlns:a16="http://schemas.microsoft.com/office/drawing/2014/main" id="{05C4527B-FD68-7B23-4A98-58F193FF5045}"/>
              </a:ext>
            </a:extLst>
          </p:cNvPr>
          <p:cNvSpPr>
            <a:spLocks noGrp="1"/>
          </p:cNvSpPr>
          <p:nvPr>
            <p:ph idx="1"/>
          </p:nvPr>
        </p:nvSpPr>
        <p:spPr/>
        <p:txBody>
          <a:bodyPr/>
          <a:lstStyle/>
          <a:p>
            <a:pPr fontAlgn="base"/>
            <a:r>
              <a:rPr lang="en-US" b="1" dirty="0"/>
              <a:t>Class Variables</a:t>
            </a:r>
            <a:endParaRPr lang="en-US" dirty="0"/>
          </a:p>
          <a:p>
            <a:pPr marL="0" indent="0" fontAlgn="base">
              <a:buNone/>
            </a:pPr>
            <a:r>
              <a:rPr lang="en-US" dirty="0"/>
              <a:t>These are the variables that are shared across all instances of a class. It is defined at the class level, outside any methods. All objects of the class share the same value for a class variable unless explicitly overridden in an object.</a:t>
            </a:r>
          </a:p>
          <a:p>
            <a:pPr fontAlgn="base"/>
            <a:r>
              <a:rPr lang="en-US" b="1" dirty="0"/>
              <a:t>Instance Variables</a:t>
            </a:r>
            <a:endParaRPr lang="en-US" dirty="0"/>
          </a:p>
          <a:p>
            <a:pPr marL="0" indent="0" fontAlgn="base">
              <a:buNone/>
            </a:pPr>
            <a:r>
              <a:rPr lang="en-US" dirty="0"/>
              <a:t>Variables that are unique to each instance (object) of a class. These are defined within the __</a:t>
            </a:r>
            <a:r>
              <a:rPr lang="en-US" dirty="0" err="1"/>
              <a:t>init</a:t>
            </a:r>
            <a:r>
              <a:rPr lang="en-US" dirty="0"/>
              <a:t>__ method or other instance methods. Each object maintains its own copy of instance variables, independent of other objects.</a:t>
            </a:r>
          </a:p>
          <a:p>
            <a:endParaRPr lang="en-IN" dirty="0"/>
          </a:p>
        </p:txBody>
      </p:sp>
    </p:spTree>
    <p:extLst>
      <p:ext uri="{BB962C8B-B14F-4D97-AF65-F5344CB8AC3E}">
        <p14:creationId xmlns:p14="http://schemas.microsoft.com/office/powerpoint/2010/main" val="1081545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B36453-8FBC-F721-C449-25636FBBE7EC}"/>
              </a:ext>
            </a:extLst>
          </p:cNvPr>
          <p:cNvSpPr txBox="1"/>
          <p:nvPr/>
        </p:nvSpPr>
        <p:spPr>
          <a:xfrm>
            <a:off x="1108710" y="197346"/>
            <a:ext cx="5897880" cy="6463308"/>
          </a:xfrm>
          <a:prstGeom prst="rect">
            <a:avLst/>
          </a:prstGeom>
          <a:noFill/>
        </p:spPr>
        <p:txBody>
          <a:bodyPr wrap="square">
            <a:spAutoFit/>
          </a:bodyPr>
          <a:lstStyle/>
          <a:p>
            <a:r>
              <a:rPr lang="en-IN" dirty="0"/>
              <a:t>class Dog:</a:t>
            </a:r>
          </a:p>
          <a:p>
            <a:r>
              <a:rPr lang="en-IN" dirty="0"/>
              <a:t>    # Class variable</a:t>
            </a:r>
          </a:p>
          <a:p>
            <a:r>
              <a:rPr lang="en-IN" dirty="0"/>
              <a:t>    species = "Canine"</a:t>
            </a:r>
          </a:p>
          <a:p>
            <a:endParaRPr lang="en-IN" dirty="0"/>
          </a:p>
          <a:p>
            <a:r>
              <a:rPr lang="en-IN" dirty="0"/>
              <a:t>    def __</a:t>
            </a:r>
            <a:r>
              <a:rPr lang="en-IN" dirty="0" err="1"/>
              <a:t>init</a:t>
            </a:r>
            <a:r>
              <a:rPr lang="en-IN" dirty="0"/>
              <a:t>__(self, name, age):</a:t>
            </a:r>
          </a:p>
          <a:p>
            <a:r>
              <a:rPr lang="en-IN" dirty="0"/>
              <a:t>        # Instance variables</a:t>
            </a:r>
          </a:p>
          <a:p>
            <a:r>
              <a:rPr lang="en-IN" dirty="0"/>
              <a:t>        self.name = name</a:t>
            </a:r>
          </a:p>
          <a:p>
            <a:r>
              <a:rPr lang="en-IN" dirty="0"/>
              <a:t>        </a:t>
            </a:r>
            <a:r>
              <a:rPr lang="en-IN" dirty="0" err="1"/>
              <a:t>self.age</a:t>
            </a:r>
            <a:r>
              <a:rPr lang="en-IN" dirty="0"/>
              <a:t> = age</a:t>
            </a:r>
          </a:p>
          <a:p>
            <a:endParaRPr lang="en-IN" dirty="0"/>
          </a:p>
          <a:p>
            <a:r>
              <a:rPr lang="en-IN" b="1" dirty="0"/>
              <a:t># Create objects</a:t>
            </a:r>
          </a:p>
          <a:p>
            <a:r>
              <a:rPr lang="en-IN" dirty="0"/>
              <a:t>dog1 = Dog("Buddy", 3)</a:t>
            </a:r>
          </a:p>
          <a:p>
            <a:r>
              <a:rPr lang="en-IN" dirty="0"/>
              <a:t>dog2 = Dog("Charlie", 5)</a:t>
            </a:r>
          </a:p>
          <a:p>
            <a:r>
              <a:rPr lang="en-IN" b="1" dirty="0"/>
              <a:t># Access class and instance variables</a:t>
            </a:r>
          </a:p>
          <a:p>
            <a:r>
              <a:rPr lang="en-IN" dirty="0"/>
              <a:t>print(dog1.species)  # (Class variable)</a:t>
            </a:r>
          </a:p>
          <a:p>
            <a:r>
              <a:rPr lang="en-IN" dirty="0"/>
              <a:t>print(dog1.name)     # (Instance variable)</a:t>
            </a:r>
          </a:p>
          <a:p>
            <a:r>
              <a:rPr lang="en-IN" dirty="0"/>
              <a:t>print(dog2.name)     # (Instance variable)</a:t>
            </a:r>
          </a:p>
          <a:p>
            <a:r>
              <a:rPr lang="en-IN" b="1" dirty="0"/>
              <a:t># Modify instance variables</a:t>
            </a:r>
          </a:p>
          <a:p>
            <a:r>
              <a:rPr lang="en-IN" dirty="0"/>
              <a:t>dog1.name = "Max"</a:t>
            </a:r>
          </a:p>
          <a:p>
            <a:r>
              <a:rPr lang="en-IN" dirty="0"/>
              <a:t>print(dog1.name)     # (Updated instance variable)</a:t>
            </a:r>
          </a:p>
          <a:p>
            <a:r>
              <a:rPr lang="en-IN" b="1" dirty="0"/>
              <a:t># Modify class variable</a:t>
            </a:r>
          </a:p>
          <a:p>
            <a:r>
              <a:rPr lang="en-IN" dirty="0" err="1"/>
              <a:t>Dog.species</a:t>
            </a:r>
            <a:r>
              <a:rPr lang="en-IN" dirty="0"/>
              <a:t> = "Feline"</a:t>
            </a:r>
          </a:p>
          <a:p>
            <a:r>
              <a:rPr lang="en-IN" dirty="0"/>
              <a:t>print(dog1.species)  # (Updated class variable)</a:t>
            </a:r>
          </a:p>
          <a:p>
            <a:r>
              <a:rPr lang="en-IN" dirty="0"/>
              <a:t>print(dog2.species)</a:t>
            </a:r>
          </a:p>
        </p:txBody>
      </p:sp>
    </p:spTree>
    <p:extLst>
      <p:ext uri="{BB962C8B-B14F-4D97-AF65-F5344CB8AC3E}">
        <p14:creationId xmlns:p14="http://schemas.microsoft.com/office/powerpoint/2010/main" val="422652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F5F87-33B9-F92A-BB42-1B63EAE3A4FC}"/>
              </a:ext>
            </a:extLst>
          </p:cNvPr>
          <p:cNvSpPr>
            <a:spLocks noGrp="1"/>
          </p:cNvSpPr>
          <p:nvPr>
            <p:ph type="title"/>
          </p:nvPr>
        </p:nvSpPr>
        <p:spPr/>
        <p:txBody>
          <a:bodyPr/>
          <a:lstStyle/>
          <a:p>
            <a:r>
              <a:rPr lang="en-IN" dirty="0"/>
              <a:t>Explanation	</a:t>
            </a:r>
          </a:p>
        </p:txBody>
      </p:sp>
      <p:sp>
        <p:nvSpPr>
          <p:cNvPr id="3" name="Content Placeholder 2">
            <a:extLst>
              <a:ext uri="{FF2B5EF4-FFF2-40B4-BE49-F238E27FC236}">
                <a16:creationId xmlns:a16="http://schemas.microsoft.com/office/drawing/2014/main" id="{47A005C8-E7C9-A54E-D0CE-CA8AE52332D8}"/>
              </a:ext>
            </a:extLst>
          </p:cNvPr>
          <p:cNvSpPr>
            <a:spLocks noGrp="1"/>
          </p:cNvSpPr>
          <p:nvPr>
            <p:ph idx="1"/>
          </p:nvPr>
        </p:nvSpPr>
        <p:spPr/>
        <p:txBody>
          <a:bodyPr>
            <a:normAutofit lnSpcReduction="10000"/>
          </a:bodyPr>
          <a:lstStyle/>
          <a:p>
            <a:pPr fontAlgn="base"/>
            <a:r>
              <a:rPr lang="en-US" b="1" dirty="0"/>
              <a:t>Class Variable (species): </a:t>
            </a:r>
            <a:r>
              <a:rPr lang="en-US" dirty="0"/>
              <a:t>Shared by all instances of the class. Changing </a:t>
            </a:r>
            <a:r>
              <a:rPr lang="en-US" dirty="0" err="1"/>
              <a:t>Dog.species</a:t>
            </a:r>
            <a:r>
              <a:rPr lang="en-US" dirty="0"/>
              <a:t> affects all objects, as it's a property of the class itself.</a:t>
            </a:r>
          </a:p>
          <a:p>
            <a:pPr fontAlgn="base"/>
            <a:r>
              <a:rPr lang="en-US" b="1" dirty="0"/>
              <a:t>Instance Variables (name, age):</a:t>
            </a:r>
            <a:r>
              <a:rPr lang="en-US" dirty="0"/>
              <a:t> Defined in the __</a:t>
            </a:r>
            <a:r>
              <a:rPr lang="en-US" dirty="0" err="1"/>
              <a:t>init</a:t>
            </a:r>
            <a:r>
              <a:rPr lang="en-US" dirty="0"/>
              <a:t>__ method. Unique to each instance (e.g., dog1.name and dog2.name are different).</a:t>
            </a:r>
          </a:p>
          <a:p>
            <a:pPr fontAlgn="base"/>
            <a:r>
              <a:rPr lang="en-US" b="1" dirty="0"/>
              <a:t>Accessing Variables:</a:t>
            </a:r>
            <a:r>
              <a:rPr lang="en-US" dirty="0"/>
              <a:t> Class variables can be accessed via the class name (</a:t>
            </a:r>
            <a:r>
              <a:rPr lang="en-US" dirty="0" err="1"/>
              <a:t>Dog.species</a:t>
            </a:r>
            <a:r>
              <a:rPr lang="en-US" dirty="0"/>
              <a:t>) or an object (dog1.species). Instance variables are accessed via the object (dog1.name).</a:t>
            </a:r>
          </a:p>
          <a:p>
            <a:pPr fontAlgn="base"/>
            <a:r>
              <a:rPr lang="en-US" b="1" dirty="0"/>
              <a:t>Updating Variables: </a:t>
            </a:r>
            <a:r>
              <a:rPr lang="en-US" dirty="0"/>
              <a:t>Changing </a:t>
            </a:r>
            <a:r>
              <a:rPr lang="en-US" dirty="0" err="1"/>
              <a:t>Dog.species</a:t>
            </a:r>
            <a:r>
              <a:rPr lang="en-US" dirty="0"/>
              <a:t> affects all instances. Changing dog1.name only affects dog1 and does not impact dog2.</a:t>
            </a:r>
          </a:p>
          <a:p>
            <a:endParaRPr lang="en-IN" dirty="0"/>
          </a:p>
        </p:txBody>
      </p:sp>
    </p:spTree>
    <p:extLst>
      <p:ext uri="{BB962C8B-B14F-4D97-AF65-F5344CB8AC3E}">
        <p14:creationId xmlns:p14="http://schemas.microsoft.com/office/powerpoint/2010/main" val="2170202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56919-4489-F316-17C8-AD596570BD12}"/>
              </a:ext>
            </a:extLst>
          </p:cNvPr>
          <p:cNvSpPr>
            <a:spLocks noGrp="1"/>
          </p:cNvSpPr>
          <p:nvPr>
            <p:ph type="title"/>
          </p:nvPr>
        </p:nvSpPr>
        <p:spPr/>
        <p:txBody>
          <a:bodyPr/>
          <a:lstStyle/>
          <a:p>
            <a:r>
              <a:rPr lang="en-IN" b="1" dirty="0"/>
              <a:t>Python Inheritance</a:t>
            </a:r>
            <a:endParaRPr lang="en-IN" dirty="0"/>
          </a:p>
        </p:txBody>
      </p:sp>
      <p:sp>
        <p:nvSpPr>
          <p:cNvPr id="3" name="Content Placeholder 2">
            <a:extLst>
              <a:ext uri="{FF2B5EF4-FFF2-40B4-BE49-F238E27FC236}">
                <a16:creationId xmlns:a16="http://schemas.microsoft.com/office/drawing/2014/main" id="{CD263815-FCEE-13FE-171C-9C3311A1F4C0}"/>
              </a:ext>
            </a:extLst>
          </p:cNvPr>
          <p:cNvSpPr>
            <a:spLocks noGrp="1"/>
          </p:cNvSpPr>
          <p:nvPr>
            <p:ph idx="1"/>
          </p:nvPr>
        </p:nvSpPr>
        <p:spPr/>
        <p:txBody>
          <a:bodyPr/>
          <a:lstStyle/>
          <a:p>
            <a:r>
              <a:rPr lang="en-US" dirty="0"/>
              <a:t>Inheritance allows a class (child class) to acquire properties and methods of another class (parent class). It supports hierarchical classification and promotes code reuse.</a:t>
            </a:r>
            <a:endParaRPr lang="en-IN" dirty="0"/>
          </a:p>
        </p:txBody>
      </p:sp>
    </p:spTree>
    <p:extLst>
      <p:ext uri="{BB962C8B-B14F-4D97-AF65-F5344CB8AC3E}">
        <p14:creationId xmlns:p14="http://schemas.microsoft.com/office/powerpoint/2010/main" val="468285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23C4A-21F0-71CA-7EE7-ECB4B919D296}"/>
              </a:ext>
            </a:extLst>
          </p:cNvPr>
          <p:cNvSpPr>
            <a:spLocks noGrp="1"/>
          </p:cNvSpPr>
          <p:nvPr>
            <p:ph type="title"/>
          </p:nvPr>
        </p:nvSpPr>
        <p:spPr/>
        <p:txBody>
          <a:bodyPr/>
          <a:lstStyle/>
          <a:p>
            <a:r>
              <a:rPr lang="en-IN" b="1" dirty="0"/>
              <a:t>Types of Inheritance:</a:t>
            </a:r>
            <a:endParaRPr lang="en-IN" dirty="0"/>
          </a:p>
        </p:txBody>
      </p:sp>
      <p:sp>
        <p:nvSpPr>
          <p:cNvPr id="3" name="Content Placeholder 2">
            <a:extLst>
              <a:ext uri="{FF2B5EF4-FFF2-40B4-BE49-F238E27FC236}">
                <a16:creationId xmlns:a16="http://schemas.microsoft.com/office/drawing/2014/main" id="{043A3831-E420-C756-03EA-6582989D5E72}"/>
              </a:ext>
            </a:extLst>
          </p:cNvPr>
          <p:cNvSpPr>
            <a:spLocks noGrp="1"/>
          </p:cNvSpPr>
          <p:nvPr>
            <p:ph idx="1"/>
          </p:nvPr>
        </p:nvSpPr>
        <p:spPr/>
        <p:txBody>
          <a:bodyPr>
            <a:normAutofit lnSpcReduction="10000"/>
          </a:bodyPr>
          <a:lstStyle/>
          <a:p>
            <a:pPr fontAlgn="base"/>
            <a:r>
              <a:rPr lang="en-US" b="1" dirty="0"/>
              <a:t>Single Inheritance:</a:t>
            </a:r>
            <a:r>
              <a:rPr lang="en-US" dirty="0"/>
              <a:t> A child class inherits from a single parent class.</a:t>
            </a:r>
          </a:p>
          <a:p>
            <a:pPr fontAlgn="base"/>
            <a:r>
              <a:rPr lang="en-US" b="1" dirty="0"/>
              <a:t>Multiple Inheritance: </a:t>
            </a:r>
            <a:r>
              <a:rPr lang="en-US" dirty="0"/>
              <a:t>A child class inherits from more than one parent class.</a:t>
            </a:r>
          </a:p>
          <a:p>
            <a:pPr fontAlgn="base"/>
            <a:r>
              <a:rPr lang="en-US" b="1" dirty="0"/>
              <a:t>Multilevel Inheritance:</a:t>
            </a:r>
            <a:r>
              <a:rPr lang="en-US" dirty="0"/>
              <a:t> A child class inherits from a parent class, which in turn inherits from another class.</a:t>
            </a:r>
          </a:p>
          <a:p>
            <a:pPr fontAlgn="base"/>
            <a:r>
              <a:rPr lang="en-US" b="1" dirty="0"/>
              <a:t>Hierarchical Inheritance:</a:t>
            </a:r>
            <a:r>
              <a:rPr lang="en-US" dirty="0"/>
              <a:t> Multiple child classes inherit from a single parent class.</a:t>
            </a:r>
          </a:p>
          <a:p>
            <a:pPr fontAlgn="base"/>
            <a:r>
              <a:rPr lang="en-US" b="1" dirty="0"/>
              <a:t>Hybrid Inheritance:</a:t>
            </a:r>
            <a:r>
              <a:rPr lang="en-US" dirty="0"/>
              <a:t> A combination of two or more types of inheritance.</a:t>
            </a:r>
          </a:p>
          <a:p>
            <a:endParaRPr lang="en-IN" dirty="0"/>
          </a:p>
        </p:txBody>
      </p:sp>
    </p:spTree>
    <p:extLst>
      <p:ext uri="{BB962C8B-B14F-4D97-AF65-F5344CB8AC3E}">
        <p14:creationId xmlns:p14="http://schemas.microsoft.com/office/powerpoint/2010/main" val="2738560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ypes of Inheritance in Python">
            <a:extLst>
              <a:ext uri="{FF2B5EF4-FFF2-40B4-BE49-F238E27FC236}">
                <a16:creationId xmlns:a16="http://schemas.microsoft.com/office/drawing/2014/main" id="{1FE76672-7496-4398-2582-3035F4BF5E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4175"/>
            <a:ext cx="12192000" cy="6088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6957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3B67EE-CE9B-CA66-FC1F-5B48ABF947A2}"/>
              </a:ext>
            </a:extLst>
          </p:cNvPr>
          <p:cNvSpPr>
            <a:spLocks noGrp="1"/>
          </p:cNvSpPr>
          <p:nvPr>
            <p:ph type="title"/>
          </p:nvPr>
        </p:nvSpPr>
        <p:spPr>
          <a:xfrm>
            <a:off x="826396" y="586855"/>
            <a:ext cx="4230100" cy="3387497"/>
          </a:xfrm>
        </p:spPr>
        <p:txBody>
          <a:bodyPr anchor="b">
            <a:normAutofit/>
          </a:bodyPr>
          <a:lstStyle/>
          <a:p>
            <a:pPr algn="r"/>
            <a:r>
              <a:rPr lang="en-IN" sz="4000" dirty="0">
                <a:solidFill>
                  <a:srgbClr val="FFFFFF"/>
                </a:solidFill>
              </a:rPr>
              <a:t>Single Inheritance</a:t>
            </a:r>
          </a:p>
        </p:txBody>
      </p:sp>
      <p:sp>
        <p:nvSpPr>
          <p:cNvPr id="6" name="Content Placeholder 5">
            <a:extLst>
              <a:ext uri="{FF2B5EF4-FFF2-40B4-BE49-F238E27FC236}">
                <a16:creationId xmlns:a16="http://schemas.microsoft.com/office/drawing/2014/main" id="{13BE26D0-3D03-E019-5D03-EF5B0E8583C3}"/>
              </a:ext>
            </a:extLst>
          </p:cNvPr>
          <p:cNvSpPr>
            <a:spLocks noGrp="1" noChangeArrowheads="1"/>
          </p:cNvSpPr>
          <p:nvPr>
            <p:ph idx="1"/>
          </p:nvPr>
        </p:nvSpPr>
        <p:spPr bwMode="auto">
          <a:xfrm>
            <a:off x="6503158" y="649480"/>
            <a:ext cx="4862447" cy="5546047"/>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b="0" i="0" u="none" strike="noStrike" cap="none" normalizeH="0" baseline="0" dirty="0">
                <a:ln>
                  <a:noFill/>
                </a:ln>
                <a:effectLst/>
                <a:latin typeface="SFMono-Regular"/>
              </a:rPr>
              <a:t>class Vehicle: </a:t>
            </a:r>
          </a:p>
          <a:p>
            <a:pPr marL="0" marR="0" lvl="0" indent="0" defTabSz="914400" rtl="0" eaLnBrk="0" fontAlgn="base" latinLnBrk="0" hangingPunct="0">
              <a:spcBef>
                <a:spcPct val="0"/>
              </a:spcBef>
              <a:spcAft>
                <a:spcPts val="600"/>
              </a:spcAft>
              <a:buClrTx/>
              <a:buSzTx/>
              <a:buFontTx/>
              <a:buNone/>
              <a:tabLst/>
            </a:pPr>
            <a:r>
              <a:rPr lang="en-US" altLang="en-US" dirty="0">
                <a:latin typeface="SFMono-Regular"/>
              </a:rPr>
              <a:t> </a:t>
            </a:r>
            <a:r>
              <a:rPr kumimoji="0" lang="en-US" altLang="en-US" b="0" i="0" u="none" strike="noStrike" cap="none" normalizeH="0" baseline="0" dirty="0">
                <a:ln>
                  <a:noFill/>
                </a:ln>
                <a:effectLst/>
                <a:latin typeface="SFMono-Regular"/>
              </a:rPr>
              <a:t>def start(self): </a:t>
            </a:r>
          </a:p>
          <a:p>
            <a:pPr marL="0" marR="0" lvl="0" indent="0" defTabSz="914400" rtl="0" eaLnBrk="0" fontAlgn="base" latinLnBrk="0" hangingPunct="0">
              <a:spcBef>
                <a:spcPct val="0"/>
              </a:spcBef>
              <a:spcAft>
                <a:spcPts val="600"/>
              </a:spcAft>
              <a:buClrTx/>
              <a:buSzTx/>
              <a:buFontTx/>
              <a:buNone/>
              <a:tabLst/>
            </a:pPr>
            <a:r>
              <a:rPr lang="en-US" altLang="en-US" dirty="0">
                <a:latin typeface="SFMono-Regular"/>
              </a:rPr>
              <a:t>    </a:t>
            </a:r>
            <a:r>
              <a:rPr kumimoji="0" lang="en-US" altLang="en-US" b="0" i="0" u="none" strike="noStrike" cap="none" normalizeH="0" baseline="0" dirty="0">
                <a:ln>
                  <a:noFill/>
                </a:ln>
                <a:effectLst/>
                <a:latin typeface="SFMono-Regular"/>
              </a:rPr>
              <a:t>print("Vehicle started") </a:t>
            </a:r>
          </a:p>
          <a:p>
            <a:pPr marL="0" marR="0" lvl="0" indent="0" defTabSz="914400" rtl="0" eaLnBrk="0" fontAlgn="base" latinLnBrk="0" hangingPunct="0">
              <a:spcBef>
                <a:spcPct val="0"/>
              </a:spcBef>
              <a:spcAft>
                <a:spcPts val="600"/>
              </a:spcAft>
              <a:buClrTx/>
              <a:buSzTx/>
              <a:buFontTx/>
              <a:buNone/>
              <a:tabLst/>
            </a:pPr>
            <a:endParaRPr lang="en-US" altLang="en-US" dirty="0">
              <a:latin typeface="SFMono-Regular"/>
            </a:endParaRPr>
          </a:p>
          <a:p>
            <a:pPr marL="0" marR="0" lvl="0" indent="0" defTabSz="914400" rtl="0" eaLnBrk="0" fontAlgn="base" latinLnBrk="0" hangingPunct="0">
              <a:spcBef>
                <a:spcPct val="0"/>
              </a:spcBef>
              <a:spcAft>
                <a:spcPts val="600"/>
              </a:spcAft>
              <a:buClrTx/>
              <a:buSzTx/>
              <a:buFontTx/>
              <a:buNone/>
              <a:tabLst/>
            </a:pPr>
            <a:r>
              <a:rPr kumimoji="0" lang="en-US" altLang="en-US" b="0" i="0" u="none" strike="noStrike" cap="none" normalizeH="0" baseline="0" dirty="0">
                <a:ln>
                  <a:noFill/>
                </a:ln>
                <a:effectLst/>
                <a:latin typeface="SFMono-Regular"/>
              </a:rPr>
              <a:t>class Car(Vehicle): </a:t>
            </a:r>
          </a:p>
          <a:p>
            <a:pPr marL="0" marR="0" lvl="0" indent="0" defTabSz="914400" rtl="0" eaLnBrk="0" fontAlgn="base" latinLnBrk="0" hangingPunct="0">
              <a:spcBef>
                <a:spcPct val="0"/>
              </a:spcBef>
              <a:spcAft>
                <a:spcPts val="600"/>
              </a:spcAft>
              <a:buClrTx/>
              <a:buSzTx/>
              <a:buFontTx/>
              <a:buNone/>
              <a:tabLst/>
            </a:pPr>
            <a:r>
              <a:rPr kumimoji="0" lang="en-US" altLang="en-US" b="0" i="0" u="none" strike="noStrike" cap="none" normalizeH="0" baseline="0" dirty="0">
                <a:ln>
                  <a:noFill/>
                </a:ln>
                <a:effectLst/>
                <a:latin typeface="SFMono-Regular"/>
              </a:rPr>
              <a:t>def drive(self): </a:t>
            </a:r>
          </a:p>
          <a:p>
            <a:pPr marL="0" marR="0" lvl="0" indent="0" defTabSz="914400" rtl="0" eaLnBrk="0" fontAlgn="base" latinLnBrk="0" hangingPunct="0">
              <a:spcBef>
                <a:spcPct val="0"/>
              </a:spcBef>
              <a:spcAft>
                <a:spcPts val="600"/>
              </a:spcAft>
              <a:buClrTx/>
              <a:buSzTx/>
              <a:buFontTx/>
              <a:buNone/>
              <a:tabLst/>
            </a:pPr>
            <a:r>
              <a:rPr kumimoji="0" lang="en-US" altLang="en-US" b="0" i="0" u="none" strike="noStrike" cap="none" normalizeH="0" baseline="0" dirty="0">
                <a:ln>
                  <a:noFill/>
                </a:ln>
                <a:effectLst/>
                <a:latin typeface="SFMono-Regular"/>
              </a:rPr>
              <a:t>print("Car is driving")</a:t>
            </a:r>
            <a:r>
              <a:rPr kumimoji="0" lang="en-US" altLang="en-US" b="0" i="0" u="none" strike="noStrike" cap="none" normalizeH="0" baseline="0" dirty="0">
                <a:ln>
                  <a:noFill/>
                </a:ln>
                <a:effectLst/>
              </a:rPr>
              <a:t> </a:t>
            </a:r>
            <a:endParaRPr kumimoji="0" lang="en-US" altLang="en-US"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738600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5DB1E23E-B2B1-420B-59B7-7ECCC8CECB2B}"/>
              </a:ext>
            </a:extLst>
          </p:cNvPr>
          <p:cNvSpPr>
            <a:spLocks noGrp="1"/>
          </p:cNvSpPr>
          <p:nvPr>
            <p:ph type="title"/>
          </p:nvPr>
        </p:nvSpPr>
        <p:spPr>
          <a:xfrm>
            <a:off x="826396" y="586855"/>
            <a:ext cx="4230100" cy="3387497"/>
          </a:xfrm>
        </p:spPr>
        <p:txBody>
          <a:bodyPr anchor="b">
            <a:normAutofit/>
          </a:bodyPr>
          <a:lstStyle/>
          <a:p>
            <a:pPr algn="r"/>
            <a:r>
              <a:rPr lang="en-IN" sz="4000">
                <a:solidFill>
                  <a:srgbClr val="FFFFFF"/>
                </a:solidFill>
              </a:rPr>
              <a:t>Multiple Inheritance</a:t>
            </a:r>
          </a:p>
        </p:txBody>
      </p:sp>
      <p:sp>
        <p:nvSpPr>
          <p:cNvPr id="6" name="Rectangle 2">
            <a:extLst>
              <a:ext uri="{FF2B5EF4-FFF2-40B4-BE49-F238E27FC236}">
                <a16:creationId xmlns:a16="http://schemas.microsoft.com/office/drawing/2014/main" id="{6B8B4597-F12C-4A9C-2B0E-9F9DD237DD0B}"/>
              </a:ext>
            </a:extLst>
          </p:cNvPr>
          <p:cNvSpPr>
            <a:spLocks noChangeArrowheads="1"/>
          </p:cNvSpPr>
          <p:nvPr/>
        </p:nvSpPr>
        <p:spPr bwMode="auto">
          <a:xfrm>
            <a:off x="0" y="67017"/>
            <a:ext cx="184731"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3" name="Picture 22" descr="A computer code with blue text&#10;&#10;AI-generated content may be incorrect.">
            <a:extLst>
              <a:ext uri="{FF2B5EF4-FFF2-40B4-BE49-F238E27FC236}">
                <a16:creationId xmlns:a16="http://schemas.microsoft.com/office/drawing/2014/main" id="{4864D487-7B3E-B07C-EBBE-4D83CBE511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3266" y="737537"/>
            <a:ext cx="6212524" cy="5834713"/>
          </a:xfrm>
          <a:prstGeom prst="rect">
            <a:avLst/>
          </a:prstGeom>
        </p:spPr>
      </p:pic>
    </p:spTree>
    <p:extLst>
      <p:ext uri="{BB962C8B-B14F-4D97-AF65-F5344CB8AC3E}">
        <p14:creationId xmlns:p14="http://schemas.microsoft.com/office/powerpoint/2010/main" val="254125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890E81-1D89-8F0E-7984-42E6D8AD79C2}"/>
              </a:ext>
            </a:extLst>
          </p:cNvPr>
          <p:cNvSpPr>
            <a:spLocks noGrp="1"/>
          </p:cNvSpPr>
          <p:nvPr>
            <p:ph type="title"/>
          </p:nvPr>
        </p:nvSpPr>
        <p:spPr>
          <a:xfrm>
            <a:off x="826396" y="586855"/>
            <a:ext cx="4230100" cy="3387497"/>
          </a:xfrm>
        </p:spPr>
        <p:txBody>
          <a:bodyPr anchor="b">
            <a:normAutofit/>
          </a:bodyPr>
          <a:lstStyle/>
          <a:p>
            <a:pPr algn="r"/>
            <a:r>
              <a:rPr lang="en-IN" sz="4000">
                <a:solidFill>
                  <a:srgbClr val="FFFFFF"/>
                </a:solidFill>
              </a:rPr>
              <a:t>Multilevel </a:t>
            </a:r>
          </a:p>
        </p:txBody>
      </p:sp>
      <p:pic>
        <p:nvPicPr>
          <p:cNvPr id="7" name="Content Placeholder 6" descr="A screenshot of a computer code&#10;&#10;AI-generated content may be incorrect.">
            <a:extLst>
              <a:ext uri="{FF2B5EF4-FFF2-40B4-BE49-F238E27FC236}">
                <a16:creationId xmlns:a16="http://schemas.microsoft.com/office/drawing/2014/main" id="{A62BC0EE-87A7-80C8-091C-8531E75BCF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66542" y="957077"/>
            <a:ext cx="5017688" cy="4416047"/>
          </a:xfrm>
        </p:spPr>
      </p:pic>
    </p:spTree>
    <p:extLst>
      <p:ext uri="{BB962C8B-B14F-4D97-AF65-F5344CB8AC3E}">
        <p14:creationId xmlns:p14="http://schemas.microsoft.com/office/powerpoint/2010/main" val="2587819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941DD1D-69CA-5B32-8F86-9611BF435184}"/>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Hierarchical Inheritance</a:t>
            </a:r>
          </a:p>
        </p:txBody>
      </p:sp>
      <p:pic>
        <p:nvPicPr>
          <p:cNvPr id="5" name="Picture 4" descr="A screenshot of a computer code&#10;&#10;AI-generated content may be incorrect.">
            <a:extLst>
              <a:ext uri="{FF2B5EF4-FFF2-40B4-BE49-F238E27FC236}">
                <a16:creationId xmlns:a16="http://schemas.microsoft.com/office/drawing/2014/main" id="{CA7E2D55-E7A7-9FEF-0154-B1EE076830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6293" y="467208"/>
            <a:ext cx="4578018" cy="5923584"/>
          </a:xfrm>
          <a:prstGeom prst="rect">
            <a:avLst/>
          </a:prstGeom>
        </p:spPr>
      </p:pic>
    </p:spTree>
    <p:extLst>
      <p:ext uri="{BB962C8B-B14F-4D97-AF65-F5344CB8AC3E}">
        <p14:creationId xmlns:p14="http://schemas.microsoft.com/office/powerpoint/2010/main" val="1552540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4710A5-69A4-B474-58BD-0A7724EC44FC}"/>
              </a:ext>
            </a:extLst>
          </p:cNvPr>
          <p:cNvSpPr txBox="1"/>
          <p:nvPr/>
        </p:nvSpPr>
        <p:spPr>
          <a:xfrm>
            <a:off x="1405890" y="1353205"/>
            <a:ext cx="8583929" cy="4832092"/>
          </a:xfrm>
          <a:prstGeom prst="rect">
            <a:avLst/>
          </a:prstGeom>
          <a:noFill/>
        </p:spPr>
        <p:txBody>
          <a:bodyPr wrap="square">
            <a:spAutoFit/>
          </a:bodyPr>
          <a:lstStyle/>
          <a:p>
            <a:r>
              <a:rPr lang="en-IN" sz="2800" dirty="0"/>
              <a:t># Single Inheritance</a:t>
            </a:r>
          </a:p>
          <a:p>
            <a:r>
              <a:rPr lang="en-IN" sz="2800" dirty="0"/>
              <a:t>class Dog:</a:t>
            </a:r>
          </a:p>
          <a:p>
            <a:r>
              <a:rPr lang="en-IN" sz="2800" dirty="0"/>
              <a:t>    def __</a:t>
            </a:r>
            <a:r>
              <a:rPr lang="en-IN" sz="2800" dirty="0" err="1"/>
              <a:t>init</a:t>
            </a:r>
            <a:r>
              <a:rPr lang="en-IN" sz="2800" dirty="0"/>
              <a:t>__(self, name):</a:t>
            </a:r>
          </a:p>
          <a:p>
            <a:r>
              <a:rPr lang="en-IN" sz="2800" dirty="0"/>
              <a:t>        self.name = name</a:t>
            </a:r>
          </a:p>
          <a:p>
            <a:endParaRPr lang="en-IN" sz="2800" dirty="0"/>
          </a:p>
          <a:p>
            <a:r>
              <a:rPr lang="en-IN" sz="2800" dirty="0"/>
              <a:t>    def </a:t>
            </a:r>
            <a:r>
              <a:rPr lang="en-IN" sz="2800" dirty="0" err="1"/>
              <a:t>display_name</a:t>
            </a:r>
            <a:r>
              <a:rPr lang="en-IN" sz="2800" dirty="0"/>
              <a:t>(self):</a:t>
            </a:r>
          </a:p>
          <a:p>
            <a:r>
              <a:rPr lang="en-IN" sz="2800" dirty="0"/>
              <a:t>        print(</a:t>
            </a:r>
            <a:r>
              <a:rPr lang="en-IN" sz="2800" dirty="0" err="1"/>
              <a:t>f"Dog's</a:t>
            </a:r>
            <a:r>
              <a:rPr lang="en-IN" sz="2800" dirty="0"/>
              <a:t> Name: {self.name}")</a:t>
            </a:r>
          </a:p>
          <a:p>
            <a:endParaRPr lang="en-IN" sz="2800" dirty="0"/>
          </a:p>
          <a:p>
            <a:r>
              <a:rPr lang="en-IN" sz="2800" dirty="0"/>
              <a:t>class Labrador(Dog):  # Single Inheritance</a:t>
            </a:r>
          </a:p>
          <a:p>
            <a:r>
              <a:rPr lang="en-IN" sz="2800" dirty="0"/>
              <a:t>    def sound(self):</a:t>
            </a:r>
          </a:p>
          <a:p>
            <a:r>
              <a:rPr lang="en-IN" sz="2800" dirty="0"/>
              <a:t>        print("Labrador woofs")</a:t>
            </a:r>
          </a:p>
        </p:txBody>
      </p:sp>
    </p:spTree>
    <p:extLst>
      <p:ext uri="{BB962C8B-B14F-4D97-AF65-F5344CB8AC3E}">
        <p14:creationId xmlns:p14="http://schemas.microsoft.com/office/powerpoint/2010/main" val="3143137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BFDDA7-D3C0-81E4-F0B8-C0D59DE6C963}"/>
              </a:ext>
            </a:extLst>
          </p:cNvPr>
          <p:cNvSpPr txBox="1"/>
          <p:nvPr/>
        </p:nvSpPr>
        <p:spPr>
          <a:xfrm>
            <a:off x="2168842" y="0"/>
            <a:ext cx="8323897" cy="6986528"/>
          </a:xfrm>
          <a:prstGeom prst="rect">
            <a:avLst/>
          </a:prstGeom>
          <a:noFill/>
        </p:spPr>
        <p:txBody>
          <a:bodyPr wrap="square">
            <a:spAutoFit/>
          </a:bodyPr>
          <a:lstStyle/>
          <a:p>
            <a:endParaRPr lang="en-IN" sz="2800" dirty="0"/>
          </a:p>
          <a:p>
            <a:r>
              <a:rPr lang="en-IN" sz="2800" dirty="0"/>
              <a:t># Multilevel Inheritance</a:t>
            </a:r>
          </a:p>
          <a:p>
            <a:r>
              <a:rPr lang="en-IN" sz="2800" dirty="0"/>
              <a:t>class </a:t>
            </a:r>
            <a:r>
              <a:rPr lang="en-IN" sz="2800" dirty="0" err="1"/>
              <a:t>GuideDog</a:t>
            </a:r>
            <a:r>
              <a:rPr lang="en-IN" sz="2800" dirty="0"/>
              <a:t>(Labrador):  # Multilevel Inheritance</a:t>
            </a:r>
          </a:p>
          <a:p>
            <a:r>
              <a:rPr lang="en-IN" sz="2800" dirty="0"/>
              <a:t>    def guide(self):</a:t>
            </a:r>
          </a:p>
          <a:p>
            <a:r>
              <a:rPr lang="en-IN" sz="2800" dirty="0"/>
              <a:t>        print(f"{self.name}Guides the way!")</a:t>
            </a:r>
          </a:p>
          <a:p>
            <a:endParaRPr lang="en-IN" sz="2800" dirty="0"/>
          </a:p>
          <a:p>
            <a:r>
              <a:rPr lang="en-IN" sz="2800" dirty="0"/>
              <a:t># Multiple Inheritance</a:t>
            </a:r>
          </a:p>
          <a:p>
            <a:r>
              <a:rPr lang="en-IN" sz="2800" dirty="0"/>
              <a:t>class Friendly:</a:t>
            </a:r>
          </a:p>
          <a:p>
            <a:r>
              <a:rPr lang="en-IN" sz="2800" dirty="0"/>
              <a:t>    def greet(self):</a:t>
            </a:r>
          </a:p>
          <a:p>
            <a:r>
              <a:rPr lang="en-IN" sz="2800" dirty="0"/>
              <a:t>        print("Friendly!")</a:t>
            </a:r>
          </a:p>
          <a:p>
            <a:endParaRPr lang="en-IN" sz="2800" dirty="0"/>
          </a:p>
          <a:p>
            <a:r>
              <a:rPr lang="en-IN" sz="2800" dirty="0"/>
              <a:t>class </a:t>
            </a:r>
            <a:r>
              <a:rPr lang="en-IN" sz="2800" dirty="0" err="1"/>
              <a:t>GoldenRetriever</a:t>
            </a:r>
            <a:r>
              <a:rPr lang="en-IN" sz="2800" dirty="0"/>
              <a:t>(Dog, Friendly):  # Multiple Inheritance</a:t>
            </a:r>
          </a:p>
          <a:p>
            <a:r>
              <a:rPr lang="en-IN" sz="2800" dirty="0"/>
              <a:t>    def sound(self):</a:t>
            </a:r>
          </a:p>
          <a:p>
            <a:r>
              <a:rPr lang="en-IN" sz="2800" dirty="0"/>
              <a:t>        print("Golden Retriever Barks")</a:t>
            </a:r>
          </a:p>
          <a:p>
            <a:endParaRPr lang="en-IN" sz="2800" dirty="0"/>
          </a:p>
        </p:txBody>
      </p:sp>
    </p:spTree>
    <p:extLst>
      <p:ext uri="{BB962C8B-B14F-4D97-AF65-F5344CB8AC3E}">
        <p14:creationId xmlns:p14="http://schemas.microsoft.com/office/powerpoint/2010/main" val="1903484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1C02A0-090D-B580-7700-E110DD96695D}"/>
              </a:ext>
            </a:extLst>
          </p:cNvPr>
          <p:cNvSpPr txBox="1"/>
          <p:nvPr/>
        </p:nvSpPr>
        <p:spPr>
          <a:xfrm>
            <a:off x="2157413" y="290751"/>
            <a:ext cx="6097904" cy="5693866"/>
          </a:xfrm>
          <a:prstGeom prst="rect">
            <a:avLst/>
          </a:prstGeom>
          <a:noFill/>
        </p:spPr>
        <p:txBody>
          <a:bodyPr wrap="square">
            <a:spAutoFit/>
          </a:bodyPr>
          <a:lstStyle/>
          <a:p>
            <a:r>
              <a:rPr lang="en-IN" sz="2800" dirty="0"/>
              <a:t># Example Usage</a:t>
            </a:r>
          </a:p>
          <a:p>
            <a:r>
              <a:rPr lang="en-IN" sz="2800" dirty="0"/>
              <a:t>lab = Labrador("Buddy")</a:t>
            </a:r>
          </a:p>
          <a:p>
            <a:r>
              <a:rPr lang="en-IN" sz="2800" dirty="0" err="1"/>
              <a:t>lab.display_name</a:t>
            </a:r>
            <a:r>
              <a:rPr lang="en-IN" sz="2800" dirty="0"/>
              <a:t>()</a:t>
            </a:r>
          </a:p>
          <a:p>
            <a:r>
              <a:rPr lang="en-IN" sz="2800" dirty="0" err="1"/>
              <a:t>lab.sound</a:t>
            </a:r>
            <a:r>
              <a:rPr lang="en-IN" sz="2800" dirty="0"/>
              <a:t>()</a:t>
            </a:r>
          </a:p>
          <a:p>
            <a:endParaRPr lang="en-IN" sz="2800" dirty="0"/>
          </a:p>
          <a:p>
            <a:r>
              <a:rPr lang="en-IN" sz="2800" dirty="0" err="1"/>
              <a:t>guide_dog</a:t>
            </a:r>
            <a:r>
              <a:rPr lang="en-IN" sz="2800" dirty="0"/>
              <a:t> = </a:t>
            </a:r>
            <a:r>
              <a:rPr lang="en-IN" sz="2800" dirty="0" err="1"/>
              <a:t>GuideDog</a:t>
            </a:r>
            <a:r>
              <a:rPr lang="en-IN" sz="2800" dirty="0"/>
              <a:t>("Max")</a:t>
            </a:r>
          </a:p>
          <a:p>
            <a:r>
              <a:rPr lang="en-IN" sz="2800" dirty="0" err="1"/>
              <a:t>guide_dog.display_name</a:t>
            </a:r>
            <a:r>
              <a:rPr lang="en-IN" sz="2800" dirty="0"/>
              <a:t>()</a:t>
            </a:r>
          </a:p>
          <a:p>
            <a:r>
              <a:rPr lang="en-IN" sz="2800" dirty="0" err="1"/>
              <a:t>guide_dog.guide</a:t>
            </a:r>
            <a:r>
              <a:rPr lang="en-IN" sz="2800" dirty="0"/>
              <a:t>()</a:t>
            </a:r>
          </a:p>
          <a:p>
            <a:endParaRPr lang="en-IN" sz="2800" dirty="0"/>
          </a:p>
          <a:p>
            <a:r>
              <a:rPr lang="en-IN" sz="2800" dirty="0"/>
              <a:t>retriever = </a:t>
            </a:r>
            <a:r>
              <a:rPr lang="en-IN" sz="2800" dirty="0" err="1"/>
              <a:t>GoldenRetriever</a:t>
            </a:r>
            <a:r>
              <a:rPr lang="en-IN" sz="2800" dirty="0"/>
              <a:t>("Charlie")</a:t>
            </a:r>
          </a:p>
          <a:p>
            <a:r>
              <a:rPr lang="en-IN" sz="2800" dirty="0" err="1"/>
              <a:t>retriever.display_name</a:t>
            </a:r>
            <a:r>
              <a:rPr lang="en-IN" sz="2800" dirty="0"/>
              <a:t>()</a:t>
            </a:r>
          </a:p>
          <a:p>
            <a:r>
              <a:rPr lang="en-IN" sz="2800" dirty="0" err="1"/>
              <a:t>retriever.greet</a:t>
            </a:r>
            <a:r>
              <a:rPr lang="en-IN" sz="2800" dirty="0"/>
              <a:t>()</a:t>
            </a:r>
          </a:p>
          <a:p>
            <a:r>
              <a:rPr lang="en-IN" sz="2800" dirty="0" err="1"/>
              <a:t>retriever.sound</a:t>
            </a:r>
            <a:r>
              <a:rPr lang="en-IN" sz="2800" dirty="0"/>
              <a:t>()</a:t>
            </a:r>
          </a:p>
        </p:txBody>
      </p:sp>
    </p:spTree>
    <p:extLst>
      <p:ext uri="{BB962C8B-B14F-4D97-AF65-F5344CB8AC3E}">
        <p14:creationId xmlns:p14="http://schemas.microsoft.com/office/powerpoint/2010/main" val="3799202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4C3F1-13D7-40B8-A4F5-C3728B807B1C}"/>
              </a:ext>
            </a:extLst>
          </p:cNvPr>
          <p:cNvSpPr>
            <a:spLocks noGrp="1"/>
          </p:cNvSpPr>
          <p:nvPr>
            <p:ph type="title"/>
          </p:nvPr>
        </p:nvSpPr>
        <p:spPr/>
        <p:txBody>
          <a:bodyPr/>
          <a:lstStyle/>
          <a:p>
            <a:pPr algn="ctr"/>
            <a:r>
              <a:rPr lang="en-IN" dirty="0"/>
              <a:t>Polymorphism in Python</a:t>
            </a:r>
          </a:p>
        </p:txBody>
      </p:sp>
      <p:sp>
        <p:nvSpPr>
          <p:cNvPr id="3" name="Text Placeholder 2">
            <a:extLst>
              <a:ext uri="{FF2B5EF4-FFF2-40B4-BE49-F238E27FC236}">
                <a16:creationId xmlns:a16="http://schemas.microsoft.com/office/drawing/2014/main" id="{23A2E676-6C5F-4E1B-4827-662B468A7B5D}"/>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527078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81EE-621C-ED11-EC7D-E71AAE5E72B0}"/>
              </a:ext>
            </a:extLst>
          </p:cNvPr>
          <p:cNvSpPr>
            <a:spLocks noGrp="1"/>
          </p:cNvSpPr>
          <p:nvPr>
            <p:ph type="title"/>
          </p:nvPr>
        </p:nvSpPr>
        <p:spPr/>
        <p:txBody>
          <a:bodyPr/>
          <a:lstStyle/>
          <a:p>
            <a:r>
              <a:rPr lang="en-IN" b="1" dirty="0"/>
              <a:t>Python Polymorphism</a:t>
            </a:r>
            <a:endParaRPr lang="en-IN" dirty="0"/>
          </a:p>
        </p:txBody>
      </p:sp>
      <p:sp>
        <p:nvSpPr>
          <p:cNvPr id="3" name="Content Placeholder 2">
            <a:extLst>
              <a:ext uri="{FF2B5EF4-FFF2-40B4-BE49-F238E27FC236}">
                <a16:creationId xmlns:a16="http://schemas.microsoft.com/office/drawing/2014/main" id="{683AD4C2-5B13-DA23-35DA-87E9CA10CEAD}"/>
              </a:ext>
            </a:extLst>
          </p:cNvPr>
          <p:cNvSpPr>
            <a:spLocks noGrp="1"/>
          </p:cNvSpPr>
          <p:nvPr>
            <p:ph idx="1"/>
          </p:nvPr>
        </p:nvSpPr>
        <p:spPr/>
        <p:txBody>
          <a:bodyPr/>
          <a:lstStyle/>
          <a:p>
            <a:r>
              <a:rPr lang="en-US" dirty="0"/>
              <a:t>Polymorphism allows methods to have the same name but behave differently based on the object's context. It can be achieved through method overriding or overloading.</a:t>
            </a:r>
            <a:endParaRPr lang="en-IN" dirty="0"/>
          </a:p>
        </p:txBody>
      </p:sp>
    </p:spTree>
    <p:extLst>
      <p:ext uri="{BB962C8B-B14F-4D97-AF65-F5344CB8AC3E}">
        <p14:creationId xmlns:p14="http://schemas.microsoft.com/office/powerpoint/2010/main" val="3016635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1BA9D-5AAE-6DF5-9C5D-461540EA1396}"/>
              </a:ext>
            </a:extLst>
          </p:cNvPr>
          <p:cNvSpPr>
            <a:spLocks noGrp="1"/>
          </p:cNvSpPr>
          <p:nvPr>
            <p:ph type="title"/>
          </p:nvPr>
        </p:nvSpPr>
        <p:spPr/>
        <p:txBody>
          <a:bodyPr/>
          <a:lstStyle/>
          <a:p>
            <a:r>
              <a:rPr lang="en-IN" b="1" dirty="0"/>
              <a:t>Types of Polymorphism</a:t>
            </a:r>
            <a:endParaRPr lang="en-IN" dirty="0"/>
          </a:p>
        </p:txBody>
      </p:sp>
      <p:sp>
        <p:nvSpPr>
          <p:cNvPr id="3" name="Content Placeholder 2">
            <a:extLst>
              <a:ext uri="{FF2B5EF4-FFF2-40B4-BE49-F238E27FC236}">
                <a16:creationId xmlns:a16="http://schemas.microsoft.com/office/drawing/2014/main" id="{01CCFBC3-CF51-6C21-C4B9-BAC85A2B1398}"/>
              </a:ext>
            </a:extLst>
          </p:cNvPr>
          <p:cNvSpPr>
            <a:spLocks noGrp="1"/>
          </p:cNvSpPr>
          <p:nvPr>
            <p:ph idx="1"/>
          </p:nvPr>
        </p:nvSpPr>
        <p:spPr/>
        <p:txBody>
          <a:bodyPr/>
          <a:lstStyle/>
          <a:p>
            <a:pPr fontAlgn="base"/>
            <a:r>
              <a:rPr lang="en-US" b="1" dirty="0"/>
              <a:t>Compile-Time Polymorphism</a:t>
            </a:r>
            <a:r>
              <a:rPr lang="en-US" dirty="0"/>
              <a:t>: This type of polymorphism is determined during the compilation of the program. It allows methods or operators with the same name to behave differently based on their input parameters or usage. It is commonly referred to as method or operator overloading.</a:t>
            </a:r>
          </a:p>
          <a:p>
            <a:pPr fontAlgn="base"/>
            <a:r>
              <a:rPr lang="en-US" b="1" dirty="0"/>
              <a:t>Run-Time Polymorphism</a:t>
            </a:r>
            <a:r>
              <a:rPr lang="en-US" dirty="0"/>
              <a:t>: This type of polymorphism is determined during the execution of the program. It occurs when a subclass provides a specific implementation for a method already defined in its parent class, commonly known as method overriding.</a:t>
            </a:r>
          </a:p>
          <a:p>
            <a:endParaRPr lang="en-IN" dirty="0"/>
          </a:p>
        </p:txBody>
      </p:sp>
    </p:spTree>
    <p:extLst>
      <p:ext uri="{BB962C8B-B14F-4D97-AF65-F5344CB8AC3E}">
        <p14:creationId xmlns:p14="http://schemas.microsoft.com/office/powerpoint/2010/main" val="1945816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6F3A3A-5730-5891-C932-DCAC97C6EB7B}"/>
              </a:ext>
            </a:extLst>
          </p:cNvPr>
          <p:cNvSpPr txBox="1"/>
          <p:nvPr/>
        </p:nvSpPr>
        <p:spPr>
          <a:xfrm>
            <a:off x="1062990" y="91440"/>
            <a:ext cx="10549890" cy="6740307"/>
          </a:xfrm>
          <a:prstGeom prst="rect">
            <a:avLst/>
          </a:prstGeom>
          <a:noFill/>
        </p:spPr>
        <p:txBody>
          <a:bodyPr wrap="square">
            <a:spAutoFit/>
          </a:bodyPr>
          <a:lstStyle/>
          <a:p>
            <a:r>
              <a:rPr lang="en-IN" sz="2400" dirty="0"/>
              <a:t># Parent Class</a:t>
            </a:r>
          </a:p>
          <a:p>
            <a:r>
              <a:rPr lang="en-IN" sz="2400" dirty="0"/>
              <a:t>class Dog:</a:t>
            </a:r>
          </a:p>
          <a:p>
            <a:r>
              <a:rPr lang="en-IN" sz="2400" dirty="0"/>
              <a:t>    def sound(self):</a:t>
            </a:r>
          </a:p>
          <a:p>
            <a:r>
              <a:rPr lang="en-IN" sz="2400" dirty="0"/>
              <a:t>        print("dog sound")  # Default implementation</a:t>
            </a:r>
          </a:p>
          <a:p>
            <a:endParaRPr lang="en-IN" sz="2400" dirty="0"/>
          </a:p>
          <a:p>
            <a:r>
              <a:rPr lang="en-IN" sz="2400" dirty="0"/>
              <a:t># Run-Time Polymorphism: Method Overriding</a:t>
            </a:r>
          </a:p>
          <a:p>
            <a:r>
              <a:rPr lang="en-IN" sz="2400" dirty="0"/>
              <a:t>class Labrador(Dog):</a:t>
            </a:r>
          </a:p>
          <a:p>
            <a:r>
              <a:rPr lang="en-IN" sz="2400" dirty="0"/>
              <a:t>    def sound(self):</a:t>
            </a:r>
          </a:p>
          <a:p>
            <a:r>
              <a:rPr lang="en-IN" sz="2400" dirty="0"/>
              <a:t>        print("Labrador woofs")  # Overriding parent method</a:t>
            </a:r>
          </a:p>
          <a:p>
            <a:endParaRPr lang="en-IN" sz="2400" dirty="0"/>
          </a:p>
          <a:p>
            <a:r>
              <a:rPr lang="en-IN" sz="2400" dirty="0"/>
              <a:t>class Beagle(Dog):</a:t>
            </a:r>
          </a:p>
          <a:p>
            <a:r>
              <a:rPr lang="en-IN" sz="2400" dirty="0"/>
              <a:t>    def sound(self):</a:t>
            </a:r>
          </a:p>
          <a:p>
            <a:r>
              <a:rPr lang="en-IN" sz="2400" dirty="0"/>
              <a:t>        print("Beagle Barks")  # Overriding parent method</a:t>
            </a:r>
          </a:p>
          <a:p>
            <a:endParaRPr lang="en-IN" sz="2400" dirty="0"/>
          </a:p>
          <a:p>
            <a:r>
              <a:rPr lang="en-IN" sz="2400" dirty="0"/>
              <a:t># Run-Time Polymorphism</a:t>
            </a:r>
          </a:p>
          <a:p>
            <a:r>
              <a:rPr lang="en-IN" sz="2400" dirty="0"/>
              <a:t>dogs = [Dog(), Labrador(), Beagle()]</a:t>
            </a:r>
          </a:p>
          <a:p>
            <a:r>
              <a:rPr lang="en-IN" sz="2400" dirty="0"/>
              <a:t>for dog in dogs:</a:t>
            </a:r>
          </a:p>
          <a:p>
            <a:r>
              <a:rPr lang="en-IN" sz="2400" dirty="0"/>
              <a:t>    </a:t>
            </a:r>
            <a:r>
              <a:rPr lang="en-IN" sz="2400" dirty="0" err="1"/>
              <a:t>dog.sound</a:t>
            </a:r>
            <a:r>
              <a:rPr lang="en-IN" sz="2400" dirty="0"/>
              <a:t>()  # Calls the appropriate method based on the object type</a:t>
            </a:r>
          </a:p>
        </p:txBody>
      </p:sp>
    </p:spTree>
    <p:extLst>
      <p:ext uri="{BB962C8B-B14F-4D97-AF65-F5344CB8AC3E}">
        <p14:creationId xmlns:p14="http://schemas.microsoft.com/office/powerpoint/2010/main" val="39542604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E70E9F-A345-BEEE-C08E-C6CFD3CE37E2}"/>
              </a:ext>
            </a:extLst>
          </p:cNvPr>
          <p:cNvSpPr txBox="1"/>
          <p:nvPr/>
        </p:nvSpPr>
        <p:spPr>
          <a:xfrm>
            <a:off x="1280160" y="445770"/>
            <a:ext cx="10549890" cy="5693866"/>
          </a:xfrm>
          <a:prstGeom prst="rect">
            <a:avLst/>
          </a:prstGeom>
          <a:noFill/>
        </p:spPr>
        <p:txBody>
          <a:bodyPr wrap="square">
            <a:spAutoFit/>
          </a:bodyPr>
          <a:lstStyle/>
          <a:p>
            <a:endParaRPr lang="en-IN" sz="2800" dirty="0"/>
          </a:p>
          <a:p>
            <a:r>
              <a:rPr lang="en-IN" sz="2800" dirty="0"/>
              <a:t># Compile-Time Polymorphism: Method Overloading Mimic</a:t>
            </a:r>
          </a:p>
          <a:p>
            <a:endParaRPr lang="en-IN" sz="2800" dirty="0"/>
          </a:p>
          <a:p>
            <a:r>
              <a:rPr lang="en-IN" sz="2800" dirty="0"/>
              <a:t>class Calculator:</a:t>
            </a:r>
          </a:p>
          <a:p>
            <a:r>
              <a:rPr lang="en-IN" sz="2800" dirty="0"/>
              <a:t>    def add(self, a, b=0, c=0):</a:t>
            </a:r>
          </a:p>
          <a:p>
            <a:r>
              <a:rPr lang="en-IN" sz="2800" dirty="0"/>
              <a:t>        return a + b + c  # Supports multiple ways to call add()</a:t>
            </a:r>
          </a:p>
          <a:p>
            <a:endParaRPr lang="en-IN" sz="2800" dirty="0"/>
          </a:p>
          <a:p>
            <a:endParaRPr lang="en-IN" sz="2800" dirty="0"/>
          </a:p>
          <a:p>
            <a:r>
              <a:rPr lang="en-IN" sz="2800" dirty="0"/>
              <a:t># Compile-Time Polymorphism (Mimicked using default arguments)</a:t>
            </a:r>
          </a:p>
          <a:p>
            <a:endParaRPr lang="en-IN" sz="2800" dirty="0"/>
          </a:p>
          <a:p>
            <a:r>
              <a:rPr lang="en-IN" sz="2800" dirty="0"/>
              <a:t>calc = Calculator()</a:t>
            </a:r>
          </a:p>
          <a:p>
            <a:r>
              <a:rPr lang="en-IN" sz="2800" dirty="0"/>
              <a:t>print(</a:t>
            </a:r>
            <a:r>
              <a:rPr lang="en-IN" sz="2800" dirty="0" err="1"/>
              <a:t>calc.add</a:t>
            </a:r>
            <a:r>
              <a:rPr lang="en-IN" sz="2800" dirty="0"/>
              <a:t>(5, 10))  # Two arguments</a:t>
            </a:r>
          </a:p>
          <a:p>
            <a:r>
              <a:rPr lang="en-IN" sz="2800" dirty="0"/>
              <a:t>print(</a:t>
            </a:r>
            <a:r>
              <a:rPr lang="en-IN" sz="2800" dirty="0" err="1"/>
              <a:t>calc.add</a:t>
            </a:r>
            <a:r>
              <a:rPr lang="en-IN" sz="2800" dirty="0"/>
              <a:t>(5, 10, 15))  # Three arguments</a:t>
            </a:r>
          </a:p>
        </p:txBody>
      </p:sp>
    </p:spTree>
    <p:extLst>
      <p:ext uri="{BB962C8B-B14F-4D97-AF65-F5344CB8AC3E}">
        <p14:creationId xmlns:p14="http://schemas.microsoft.com/office/powerpoint/2010/main" val="278077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351DCC-0A48-9583-2D60-0CCF2CC74DB2}"/>
              </a:ext>
            </a:extLst>
          </p:cNvPr>
          <p:cNvSpPr txBox="1"/>
          <p:nvPr/>
        </p:nvSpPr>
        <p:spPr>
          <a:xfrm>
            <a:off x="708660" y="289679"/>
            <a:ext cx="7398067" cy="5078313"/>
          </a:xfrm>
          <a:prstGeom prst="rect">
            <a:avLst/>
          </a:prstGeom>
          <a:noFill/>
        </p:spPr>
        <p:txBody>
          <a:bodyPr wrap="square">
            <a:spAutoFit/>
          </a:bodyPr>
          <a:lstStyle/>
          <a:p>
            <a:r>
              <a:rPr lang="en-IN" dirty="0"/>
              <a:t>class Bird:</a:t>
            </a:r>
          </a:p>
          <a:p>
            <a:r>
              <a:rPr lang="en-IN" dirty="0"/>
              <a:t>  def sound(self):</a:t>
            </a:r>
          </a:p>
          <a:p>
            <a:r>
              <a:rPr lang="en-IN" dirty="0"/>
              <a:t>    return "Tweet"</a:t>
            </a:r>
          </a:p>
          <a:p>
            <a:endParaRPr lang="en-IN" dirty="0"/>
          </a:p>
          <a:p>
            <a:r>
              <a:rPr lang="en-IN" dirty="0"/>
              <a:t>class Dog:</a:t>
            </a:r>
          </a:p>
          <a:p>
            <a:r>
              <a:rPr lang="en-IN" dirty="0"/>
              <a:t>  def sound(self):</a:t>
            </a:r>
          </a:p>
          <a:p>
            <a:r>
              <a:rPr lang="en-IN" dirty="0"/>
              <a:t>    return "Bark"</a:t>
            </a:r>
          </a:p>
          <a:p>
            <a:endParaRPr lang="en-IN" dirty="0"/>
          </a:p>
          <a:p>
            <a:r>
              <a:rPr lang="en-IN" dirty="0"/>
              <a:t>def </a:t>
            </a:r>
            <a:r>
              <a:rPr lang="en-IN" dirty="0" err="1"/>
              <a:t>make_sound</a:t>
            </a:r>
            <a:r>
              <a:rPr lang="en-IN" dirty="0"/>
              <a:t>(animal):</a:t>
            </a:r>
          </a:p>
          <a:p>
            <a:r>
              <a:rPr lang="en-IN" dirty="0"/>
              <a:t>  print(</a:t>
            </a:r>
            <a:r>
              <a:rPr lang="en-IN" dirty="0" err="1"/>
              <a:t>animal.sound</a:t>
            </a:r>
            <a:r>
              <a:rPr lang="en-IN" dirty="0"/>
              <a:t>())</a:t>
            </a:r>
          </a:p>
          <a:p>
            <a:endParaRPr lang="en-IN" dirty="0"/>
          </a:p>
          <a:p>
            <a:r>
              <a:rPr lang="en-IN" dirty="0"/>
              <a:t># Create objects</a:t>
            </a:r>
          </a:p>
          <a:p>
            <a:r>
              <a:rPr lang="en-IN" dirty="0"/>
              <a:t>bird = Bird()</a:t>
            </a:r>
          </a:p>
          <a:p>
            <a:r>
              <a:rPr lang="en-IN" dirty="0"/>
              <a:t>dog = Dog()</a:t>
            </a:r>
          </a:p>
          <a:p>
            <a:endParaRPr lang="en-IN" dirty="0"/>
          </a:p>
          <a:p>
            <a:r>
              <a:rPr lang="en-IN" dirty="0"/>
              <a:t># Same function call, different </a:t>
            </a:r>
            <a:r>
              <a:rPr lang="en-IN" dirty="0" err="1"/>
              <a:t>behaviors</a:t>
            </a:r>
            <a:endParaRPr lang="en-IN" dirty="0"/>
          </a:p>
          <a:p>
            <a:r>
              <a:rPr lang="en-IN" dirty="0" err="1"/>
              <a:t>make_sound</a:t>
            </a:r>
            <a:r>
              <a:rPr lang="en-IN" dirty="0"/>
              <a:t>(bird)  # Output: Tweet</a:t>
            </a:r>
          </a:p>
          <a:p>
            <a:r>
              <a:rPr lang="en-IN" dirty="0" err="1"/>
              <a:t>make_sound</a:t>
            </a:r>
            <a:r>
              <a:rPr lang="en-IN" dirty="0"/>
              <a:t>(dog)   # Output: Bark</a:t>
            </a:r>
          </a:p>
        </p:txBody>
      </p:sp>
      <p:sp>
        <p:nvSpPr>
          <p:cNvPr id="6" name="TextBox 5">
            <a:extLst>
              <a:ext uri="{FF2B5EF4-FFF2-40B4-BE49-F238E27FC236}">
                <a16:creationId xmlns:a16="http://schemas.microsoft.com/office/drawing/2014/main" id="{79B1D4B5-64E5-43FB-78F7-14C65A425458}"/>
              </a:ext>
            </a:extLst>
          </p:cNvPr>
          <p:cNvSpPr txBox="1"/>
          <p:nvPr/>
        </p:nvSpPr>
        <p:spPr>
          <a:xfrm>
            <a:off x="766260" y="5525817"/>
            <a:ext cx="11072813"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0162F"/>
                </a:solidFill>
                <a:effectLst/>
                <a:latin typeface="Apercu"/>
              </a:rPr>
              <a:t>In this example, both </a:t>
            </a:r>
            <a:r>
              <a:rPr kumimoji="0" lang="en-US" altLang="en-US" sz="2400" b="0" i="0" u="none" strike="noStrike" cap="none" normalizeH="0" baseline="0" dirty="0">
                <a:ln>
                  <a:noFill/>
                </a:ln>
                <a:solidFill>
                  <a:srgbClr val="10162F"/>
                </a:solidFill>
                <a:effectLst/>
                <a:latin typeface="Monaco"/>
              </a:rPr>
              <a:t>Bird</a:t>
            </a:r>
            <a:r>
              <a:rPr kumimoji="0" lang="en-US" altLang="en-US" sz="2400" b="0" i="0" u="none" strike="noStrike" cap="none" normalizeH="0" baseline="0" dirty="0">
                <a:ln>
                  <a:noFill/>
                </a:ln>
                <a:solidFill>
                  <a:srgbClr val="10162F"/>
                </a:solidFill>
                <a:effectLst/>
                <a:latin typeface="Apercu"/>
              </a:rPr>
              <a:t> and </a:t>
            </a:r>
            <a:r>
              <a:rPr kumimoji="0" lang="en-US" altLang="en-US" sz="2400" b="0" i="0" u="none" strike="noStrike" cap="none" normalizeH="0" baseline="0" dirty="0">
                <a:ln>
                  <a:noFill/>
                </a:ln>
                <a:solidFill>
                  <a:srgbClr val="10162F"/>
                </a:solidFill>
                <a:effectLst/>
                <a:latin typeface="Monaco"/>
              </a:rPr>
              <a:t>Dog</a:t>
            </a:r>
            <a:r>
              <a:rPr kumimoji="0" lang="en-US" altLang="en-US" sz="2400" b="0" i="0" u="none" strike="noStrike" cap="none" normalizeH="0" baseline="0" dirty="0">
                <a:ln>
                  <a:noFill/>
                </a:ln>
                <a:solidFill>
                  <a:srgbClr val="10162F"/>
                </a:solidFill>
                <a:effectLst/>
                <a:latin typeface="Apercu"/>
              </a:rPr>
              <a:t> classes have a method called </a:t>
            </a:r>
            <a:r>
              <a:rPr kumimoji="0" lang="en-US" altLang="en-US" sz="2400" b="0" i="0" u="none" strike="noStrike" cap="none" normalizeH="0" baseline="0" dirty="0">
                <a:ln>
                  <a:noFill/>
                </a:ln>
                <a:solidFill>
                  <a:srgbClr val="10162F"/>
                </a:solidFill>
                <a:effectLst/>
                <a:latin typeface="Monaco"/>
              </a:rPr>
              <a:t>sound()</a:t>
            </a:r>
            <a:r>
              <a:rPr kumimoji="0" lang="en-US" altLang="en-US" sz="2400" b="0" i="0" u="none" strike="noStrike" cap="none" normalizeH="0" baseline="0" dirty="0">
                <a:ln>
                  <a:noFill/>
                </a:ln>
                <a:solidFill>
                  <a:srgbClr val="10162F"/>
                </a:solidFill>
                <a:effectLst/>
                <a:latin typeface="Apercu"/>
              </a:rPr>
              <a:t>, but each implementation returns a different result. The </a:t>
            </a:r>
            <a:r>
              <a:rPr kumimoji="0" lang="en-US" altLang="en-US" sz="2400" b="0" i="0" u="none" strike="noStrike" cap="none" normalizeH="0" baseline="0" dirty="0" err="1">
                <a:ln>
                  <a:noFill/>
                </a:ln>
                <a:solidFill>
                  <a:srgbClr val="10162F"/>
                </a:solidFill>
                <a:effectLst/>
                <a:latin typeface="Monaco"/>
              </a:rPr>
              <a:t>make_sound</a:t>
            </a:r>
            <a:r>
              <a:rPr kumimoji="0" lang="en-US" altLang="en-US" sz="2400" b="0" i="0" u="none" strike="noStrike" cap="none" normalizeH="0" baseline="0" dirty="0">
                <a:ln>
                  <a:noFill/>
                </a:ln>
                <a:solidFill>
                  <a:srgbClr val="10162F"/>
                </a:solidFill>
                <a:effectLst/>
                <a:latin typeface="Monaco"/>
              </a:rPr>
              <a:t>()</a:t>
            </a:r>
            <a:r>
              <a:rPr kumimoji="0" lang="en-US" altLang="en-US" sz="2400" b="0" i="0" u="none" strike="noStrike" cap="none" normalizeH="0" baseline="0" dirty="0">
                <a:ln>
                  <a:noFill/>
                </a:ln>
                <a:solidFill>
                  <a:srgbClr val="10162F"/>
                </a:solidFill>
                <a:effectLst/>
                <a:latin typeface="Apercu"/>
              </a:rPr>
              <a:t> function accepts any object that has a </a:t>
            </a:r>
            <a:r>
              <a:rPr kumimoji="0" lang="en-US" altLang="en-US" sz="2400" b="0" i="0" u="none" strike="noStrike" cap="none" normalizeH="0" baseline="0" dirty="0">
                <a:ln>
                  <a:noFill/>
                </a:ln>
                <a:solidFill>
                  <a:srgbClr val="10162F"/>
                </a:solidFill>
                <a:effectLst/>
                <a:latin typeface="Monaco"/>
              </a:rPr>
              <a:t>sound()</a:t>
            </a:r>
            <a:r>
              <a:rPr kumimoji="0" lang="en-US" altLang="en-US" sz="2400" b="0" i="0" u="none" strike="noStrike" cap="none" normalizeH="0" baseline="0" dirty="0">
                <a:ln>
                  <a:noFill/>
                </a:ln>
                <a:solidFill>
                  <a:srgbClr val="10162F"/>
                </a:solidFill>
                <a:effectLst/>
                <a:latin typeface="Apercu"/>
              </a:rPr>
              <a:t> method, demonstrating polymorphism in action.</a:t>
            </a:r>
            <a:r>
              <a:rPr kumimoji="0" lang="en-US" altLang="en-US" sz="2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8710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6FA30-3A4A-E90B-9BB5-59EF8E8D88DC}"/>
              </a:ext>
            </a:extLst>
          </p:cNvPr>
          <p:cNvSpPr>
            <a:spLocks noGrp="1"/>
          </p:cNvSpPr>
          <p:nvPr>
            <p:ph type="title"/>
          </p:nvPr>
        </p:nvSpPr>
        <p:spPr/>
        <p:txBody>
          <a:bodyPr/>
          <a:lstStyle/>
          <a:p>
            <a:r>
              <a:rPr lang="en-US" b="1" dirty="0"/>
              <a:t>Types of polymorphism in Python</a:t>
            </a:r>
            <a:endParaRPr lang="en-IN" dirty="0"/>
          </a:p>
        </p:txBody>
      </p:sp>
      <p:sp>
        <p:nvSpPr>
          <p:cNvPr id="3" name="Content Placeholder 2">
            <a:extLst>
              <a:ext uri="{FF2B5EF4-FFF2-40B4-BE49-F238E27FC236}">
                <a16:creationId xmlns:a16="http://schemas.microsoft.com/office/drawing/2014/main" id="{2894F95F-A290-6876-40F1-C41F96BBB0F9}"/>
              </a:ext>
            </a:extLst>
          </p:cNvPr>
          <p:cNvSpPr>
            <a:spLocks noGrp="1"/>
          </p:cNvSpPr>
          <p:nvPr>
            <p:ph idx="1"/>
          </p:nvPr>
        </p:nvSpPr>
        <p:spPr/>
        <p:txBody>
          <a:bodyPr/>
          <a:lstStyle/>
          <a:p>
            <a:r>
              <a:rPr lang="en-US" b="1" dirty="0"/>
              <a:t>1. Duck typing</a:t>
            </a:r>
          </a:p>
          <a:p>
            <a:r>
              <a:rPr lang="en-US" dirty="0"/>
              <a:t>Duck typing is a concept related to dynamic typing where the type or class of an object is less important than the methods it defines. The name comes from the saying: “If it walks like a duck and quacks like a duck, then it probably is a duck.”</a:t>
            </a:r>
          </a:p>
          <a:p>
            <a:endParaRPr lang="en-IN" dirty="0"/>
          </a:p>
        </p:txBody>
      </p:sp>
    </p:spTree>
    <p:extLst>
      <p:ext uri="{BB962C8B-B14F-4D97-AF65-F5344CB8AC3E}">
        <p14:creationId xmlns:p14="http://schemas.microsoft.com/office/powerpoint/2010/main" val="2168028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4FD469-E18E-8A11-0A53-C7A79466D6E6}"/>
              </a:ext>
            </a:extLst>
          </p:cNvPr>
          <p:cNvSpPr txBox="1"/>
          <p:nvPr/>
        </p:nvSpPr>
        <p:spPr>
          <a:xfrm>
            <a:off x="705803" y="302895"/>
            <a:ext cx="6097904" cy="5909310"/>
          </a:xfrm>
          <a:prstGeom prst="rect">
            <a:avLst/>
          </a:prstGeom>
          <a:noFill/>
        </p:spPr>
        <p:txBody>
          <a:bodyPr wrap="square">
            <a:spAutoFit/>
          </a:bodyPr>
          <a:lstStyle/>
          <a:p>
            <a:r>
              <a:rPr lang="en-IN" dirty="0"/>
              <a:t>class Duck:</a:t>
            </a:r>
          </a:p>
          <a:p>
            <a:r>
              <a:rPr lang="en-IN" dirty="0"/>
              <a:t>  def swim(self):</a:t>
            </a:r>
          </a:p>
          <a:p>
            <a:r>
              <a:rPr lang="en-IN" dirty="0"/>
              <a:t>    return "Duck swimming"</a:t>
            </a:r>
          </a:p>
          <a:p>
            <a:endParaRPr lang="en-IN" dirty="0"/>
          </a:p>
          <a:p>
            <a:r>
              <a:rPr lang="en-IN" dirty="0"/>
              <a:t>  def fly(self):</a:t>
            </a:r>
          </a:p>
          <a:p>
            <a:r>
              <a:rPr lang="en-IN" dirty="0"/>
              <a:t>    return "Duck flying"</a:t>
            </a:r>
          </a:p>
          <a:p>
            <a:endParaRPr lang="en-IN" dirty="0"/>
          </a:p>
          <a:p>
            <a:r>
              <a:rPr lang="en-IN" dirty="0"/>
              <a:t>class Airplane:</a:t>
            </a:r>
          </a:p>
          <a:p>
            <a:r>
              <a:rPr lang="en-IN" dirty="0"/>
              <a:t>  def fly(self):</a:t>
            </a:r>
          </a:p>
          <a:p>
            <a:r>
              <a:rPr lang="en-IN" dirty="0"/>
              <a:t>    return "Airplane flying"</a:t>
            </a:r>
          </a:p>
          <a:p>
            <a:endParaRPr lang="en-IN" dirty="0"/>
          </a:p>
          <a:p>
            <a:r>
              <a:rPr lang="en-IN" dirty="0"/>
              <a:t>def </a:t>
            </a:r>
            <a:r>
              <a:rPr lang="en-IN" dirty="0" err="1"/>
              <a:t>fly_test</a:t>
            </a:r>
            <a:r>
              <a:rPr lang="en-IN" dirty="0"/>
              <a:t>(entity):</a:t>
            </a:r>
          </a:p>
          <a:p>
            <a:r>
              <a:rPr lang="en-IN" dirty="0"/>
              <a:t>  print(</a:t>
            </a:r>
            <a:r>
              <a:rPr lang="en-IN" dirty="0" err="1"/>
              <a:t>entity.fly</a:t>
            </a:r>
            <a:r>
              <a:rPr lang="en-IN" dirty="0"/>
              <a:t>())</a:t>
            </a:r>
          </a:p>
          <a:p>
            <a:endParaRPr lang="en-IN" dirty="0"/>
          </a:p>
          <a:p>
            <a:r>
              <a:rPr lang="en-IN" dirty="0"/>
              <a:t># Create objects</a:t>
            </a:r>
          </a:p>
          <a:p>
            <a:r>
              <a:rPr lang="en-IN" dirty="0"/>
              <a:t>duck = Duck()</a:t>
            </a:r>
          </a:p>
          <a:p>
            <a:r>
              <a:rPr lang="en-IN" dirty="0"/>
              <a:t>airplane = Airplane()</a:t>
            </a:r>
          </a:p>
          <a:p>
            <a:endParaRPr lang="en-IN" dirty="0"/>
          </a:p>
          <a:p>
            <a:r>
              <a:rPr lang="en-IN" dirty="0"/>
              <a:t># Same function works with different objects</a:t>
            </a:r>
          </a:p>
          <a:p>
            <a:r>
              <a:rPr lang="en-IN" dirty="0" err="1"/>
              <a:t>fly_test</a:t>
            </a:r>
            <a:r>
              <a:rPr lang="en-IN" dirty="0"/>
              <a:t>(duck)      # Output: Duck flying</a:t>
            </a:r>
          </a:p>
          <a:p>
            <a:r>
              <a:rPr lang="en-IN" dirty="0" err="1"/>
              <a:t>fly_test</a:t>
            </a:r>
            <a:r>
              <a:rPr lang="en-IN" dirty="0"/>
              <a:t>(airplane)  # Output: Airplane flying</a:t>
            </a:r>
          </a:p>
        </p:txBody>
      </p:sp>
      <p:sp>
        <p:nvSpPr>
          <p:cNvPr id="6" name="TextBox 5">
            <a:extLst>
              <a:ext uri="{FF2B5EF4-FFF2-40B4-BE49-F238E27FC236}">
                <a16:creationId xmlns:a16="http://schemas.microsoft.com/office/drawing/2014/main" id="{A8D8DB49-5EF8-6FE2-F30E-9D6786D29C59}"/>
              </a:ext>
            </a:extLst>
          </p:cNvPr>
          <p:cNvSpPr txBox="1"/>
          <p:nvPr/>
        </p:nvSpPr>
        <p:spPr>
          <a:xfrm>
            <a:off x="6096000" y="5076140"/>
            <a:ext cx="5054917" cy="132343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0162F"/>
                </a:solidFill>
                <a:effectLst/>
                <a:latin typeface="Apercu"/>
              </a:rPr>
              <a:t>In this example, the </a:t>
            </a:r>
            <a:r>
              <a:rPr kumimoji="0" lang="en-US" altLang="en-US" sz="2000" b="0" i="0" u="none" strike="noStrike" cap="none" normalizeH="0" baseline="0" dirty="0" err="1">
                <a:ln>
                  <a:noFill/>
                </a:ln>
                <a:solidFill>
                  <a:srgbClr val="10162F"/>
                </a:solidFill>
                <a:effectLst/>
                <a:latin typeface="Monaco"/>
              </a:rPr>
              <a:t>fly_test</a:t>
            </a:r>
            <a:r>
              <a:rPr kumimoji="0" lang="en-US" altLang="en-US" sz="2000" b="0" i="0" u="none" strike="noStrike" cap="none" normalizeH="0" baseline="0" dirty="0">
                <a:ln>
                  <a:noFill/>
                </a:ln>
                <a:solidFill>
                  <a:srgbClr val="10162F"/>
                </a:solidFill>
                <a:effectLst/>
                <a:latin typeface="Monaco"/>
              </a:rPr>
              <a:t>()</a:t>
            </a:r>
            <a:r>
              <a:rPr kumimoji="0" lang="en-US" altLang="en-US" sz="2000" b="0" i="0" u="none" strike="noStrike" cap="none" normalizeH="0" baseline="0" dirty="0">
                <a:ln>
                  <a:noFill/>
                </a:ln>
                <a:solidFill>
                  <a:srgbClr val="10162F"/>
                </a:solidFill>
                <a:effectLst/>
                <a:latin typeface="Apercu"/>
              </a:rPr>
              <a:t> function works with any object that has a </a:t>
            </a:r>
            <a:r>
              <a:rPr kumimoji="0" lang="en-US" altLang="en-US" sz="2000" b="0" i="0" u="none" strike="noStrike" cap="none" normalizeH="0" baseline="0" dirty="0">
                <a:ln>
                  <a:noFill/>
                </a:ln>
                <a:solidFill>
                  <a:srgbClr val="10162F"/>
                </a:solidFill>
                <a:effectLst/>
                <a:latin typeface="Monaco"/>
              </a:rPr>
              <a:t>fly()</a:t>
            </a:r>
            <a:r>
              <a:rPr kumimoji="0" lang="en-US" altLang="en-US" sz="2000" b="0" i="0" u="none" strike="noStrike" cap="none" normalizeH="0" baseline="0" dirty="0">
                <a:ln>
                  <a:noFill/>
                </a:ln>
                <a:solidFill>
                  <a:srgbClr val="10162F"/>
                </a:solidFill>
                <a:effectLst/>
                <a:latin typeface="Apercu"/>
              </a:rPr>
              <a:t> method, regardless of its type. This is a typical example of duck typing.</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5874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DC8B-0B56-E20E-B960-503CB9A89776}"/>
              </a:ext>
            </a:extLst>
          </p:cNvPr>
          <p:cNvSpPr>
            <a:spLocks noGrp="1"/>
          </p:cNvSpPr>
          <p:nvPr>
            <p:ph type="title"/>
          </p:nvPr>
        </p:nvSpPr>
        <p:spPr/>
        <p:txBody>
          <a:bodyPr/>
          <a:lstStyle/>
          <a:p>
            <a:r>
              <a:rPr lang="en-IN" b="1" dirty="0"/>
              <a:t>2. Method overriding</a:t>
            </a:r>
            <a:br>
              <a:rPr lang="en-IN" b="1" dirty="0"/>
            </a:br>
            <a:endParaRPr lang="en-IN" dirty="0"/>
          </a:p>
        </p:txBody>
      </p:sp>
      <p:sp>
        <p:nvSpPr>
          <p:cNvPr id="3" name="Content Placeholder 2">
            <a:extLst>
              <a:ext uri="{FF2B5EF4-FFF2-40B4-BE49-F238E27FC236}">
                <a16:creationId xmlns:a16="http://schemas.microsoft.com/office/drawing/2014/main" id="{EDDB3A1B-8B64-3EAB-FAF6-6AA1E9D715F0}"/>
              </a:ext>
            </a:extLst>
          </p:cNvPr>
          <p:cNvSpPr>
            <a:spLocks noGrp="1"/>
          </p:cNvSpPr>
          <p:nvPr>
            <p:ph idx="1"/>
          </p:nvPr>
        </p:nvSpPr>
        <p:spPr>
          <a:xfrm>
            <a:off x="838200" y="1334135"/>
            <a:ext cx="10515600" cy="4351338"/>
          </a:xfrm>
        </p:spPr>
        <p:txBody>
          <a:bodyPr>
            <a:normAutofit fontScale="25000" lnSpcReduction="20000"/>
          </a:bodyPr>
          <a:lstStyle/>
          <a:p>
            <a:pPr marL="0" indent="0">
              <a:buNone/>
            </a:pPr>
            <a:r>
              <a:rPr lang="en-US" sz="7200" dirty="0"/>
              <a:t>class Animal:</a:t>
            </a:r>
          </a:p>
          <a:p>
            <a:pPr marL="0" indent="0">
              <a:buNone/>
            </a:pPr>
            <a:r>
              <a:rPr lang="en-US" sz="7200" dirty="0"/>
              <a:t>  def speak(self):</a:t>
            </a:r>
          </a:p>
          <a:p>
            <a:pPr marL="0" indent="0">
              <a:buNone/>
            </a:pPr>
            <a:r>
              <a:rPr lang="en-US" sz="7200" dirty="0"/>
              <a:t>    return "Animal makes a sound"</a:t>
            </a:r>
          </a:p>
          <a:p>
            <a:pPr marL="0" indent="0">
              <a:buNone/>
            </a:pPr>
            <a:r>
              <a:rPr lang="en-US" sz="7200" dirty="0"/>
              <a:t>class Cat(Animal):</a:t>
            </a:r>
          </a:p>
          <a:p>
            <a:pPr marL="0" indent="0">
              <a:buNone/>
            </a:pPr>
            <a:r>
              <a:rPr lang="en-US" sz="7200" dirty="0"/>
              <a:t>  def speak(self):</a:t>
            </a:r>
          </a:p>
          <a:p>
            <a:pPr marL="0" indent="0">
              <a:buNone/>
            </a:pPr>
            <a:r>
              <a:rPr lang="en-US" sz="7200" dirty="0"/>
              <a:t>    return "Meow"</a:t>
            </a:r>
          </a:p>
          <a:p>
            <a:pPr marL="0" indent="0">
              <a:buNone/>
            </a:pPr>
            <a:r>
              <a:rPr lang="en-US" sz="7200" dirty="0"/>
              <a:t>class Cow(Animal):</a:t>
            </a:r>
          </a:p>
          <a:p>
            <a:pPr marL="0" indent="0">
              <a:buNone/>
            </a:pPr>
            <a:r>
              <a:rPr lang="en-US" sz="7200" dirty="0"/>
              <a:t>  def speak(self):</a:t>
            </a:r>
          </a:p>
          <a:p>
            <a:pPr marL="0" indent="0">
              <a:buNone/>
            </a:pPr>
            <a:r>
              <a:rPr lang="en-US" sz="7200" dirty="0"/>
              <a:t>    return "Moo"</a:t>
            </a:r>
          </a:p>
          <a:p>
            <a:pPr marL="0" indent="0">
              <a:buNone/>
            </a:pPr>
            <a:r>
              <a:rPr lang="en-US" sz="7200" dirty="0"/>
              <a:t># Create objects</a:t>
            </a:r>
          </a:p>
          <a:p>
            <a:pPr marL="0" indent="0">
              <a:buNone/>
            </a:pPr>
            <a:r>
              <a:rPr lang="en-US" sz="7200" dirty="0"/>
              <a:t>animal = Animal()</a:t>
            </a:r>
          </a:p>
          <a:p>
            <a:pPr marL="0" indent="0">
              <a:buNone/>
            </a:pPr>
            <a:r>
              <a:rPr lang="en-US" sz="7200" dirty="0"/>
              <a:t>cat = Cat()</a:t>
            </a:r>
          </a:p>
          <a:p>
            <a:pPr marL="0" indent="0">
              <a:buNone/>
            </a:pPr>
            <a:r>
              <a:rPr lang="en-US" sz="7200" dirty="0"/>
              <a:t>cow = Cow()</a:t>
            </a:r>
          </a:p>
          <a:p>
            <a:pPr marL="0" indent="0">
              <a:buNone/>
            </a:pPr>
            <a:r>
              <a:rPr lang="en-US" sz="7200" dirty="0"/>
              <a:t># Same method name, different behaviors</a:t>
            </a:r>
          </a:p>
          <a:p>
            <a:pPr marL="0" indent="0">
              <a:buNone/>
            </a:pPr>
            <a:r>
              <a:rPr lang="en-US" sz="7200" dirty="0"/>
              <a:t>print(</a:t>
            </a:r>
            <a:r>
              <a:rPr lang="en-US" sz="7200" dirty="0" err="1"/>
              <a:t>animal.speak</a:t>
            </a:r>
            <a:r>
              <a:rPr lang="en-US" sz="7200" dirty="0"/>
              <a:t>())  # Output: Animal makes a sound</a:t>
            </a:r>
          </a:p>
          <a:p>
            <a:pPr marL="0" indent="0">
              <a:buNone/>
            </a:pPr>
            <a:r>
              <a:rPr lang="en-US" sz="7200" dirty="0"/>
              <a:t>print(</a:t>
            </a:r>
            <a:r>
              <a:rPr lang="en-US" sz="7200" dirty="0" err="1"/>
              <a:t>cat.speak</a:t>
            </a:r>
            <a:r>
              <a:rPr lang="en-US" sz="7200" dirty="0"/>
              <a:t>())     # Output: Meow</a:t>
            </a:r>
          </a:p>
          <a:p>
            <a:pPr marL="0" indent="0">
              <a:buNone/>
            </a:pPr>
            <a:r>
              <a:rPr lang="en-US" sz="7200" dirty="0"/>
              <a:t>print(</a:t>
            </a:r>
            <a:r>
              <a:rPr lang="en-US" sz="7200" dirty="0" err="1"/>
              <a:t>cow.speak</a:t>
            </a:r>
            <a:r>
              <a:rPr lang="en-US" sz="7200" dirty="0"/>
              <a:t>())     # Output: Moo</a:t>
            </a:r>
          </a:p>
          <a:p>
            <a:pPr marL="0" indent="0">
              <a:buNone/>
            </a:pPr>
            <a:endParaRPr lang="en-IN" dirty="0"/>
          </a:p>
        </p:txBody>
      </p:sp>
    </p:spTree>
    <p:extLst>
      <p:ext uri="{BB962C8B-B14F-4D97-AF65-F5344CB8AC3E}">
        <p14:creationId xmlns:p14="http://schemas.microsoft.com/office/powerpoint/2010/main" val="1149663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F3170-260C-380B-B88A-5E170849CB16}"/>
              </a:ext>
            </a:extLst>
          </p:cNvPr>
          <p:cNvSpPr>
            <a:spLocks noGrp="1"/>
          </p:cNvSpPr>
          <p:nvPr>
            <p:ph type="title"/>
          </p:nvPr>
        </p:nvSpPr>
        <p:spPr/>
        <p:txBody>
          <a:bodyPr/>
          <a:lstStyle/>
          <a:p>
            <a:r>
              <a:rPr lang="en-IN" b="1" dirty="0"/>
              <a:t>3. Operator overloading</a:t>
            </a:r>
            <a:br>
              <a:rPr lang="en-IN" b="1" dirty="0"/>
            </a:br>
            <a:endParaRPr lang="en-IN" dirty="0"/>
          </a:p>
        </p:txBody>
      </p:sp>
      <p:sp>
        <p:nvSpPr>
          <p:cNvPr id="3" name="Content Placeholder 2">
            <a:extLst>
              <a:ext uri="{FF2B5EF4-FFF2-40B4-BE49-F238E27FC236}">
                <a16:creationId xmlns:a16="http://schemas.microsoft.com/office/drawing/2014/main" id="{789B54C7-06E8-7CC3-238C-429839C543DF}"/>
              </a:ext>
            </a:extLst>
          </p:cNvPr>
          <p:cNvSpPr>
            <a:spLocks noGrp="1"/>
          </p:cNvSpPr>
          <p:nvPr>
            <p:ph idx="1"/>
          </p:nvPr>
        </p:nvSpPr>
        <p:spPr>
          <a:xfrm>
            <a:off x="838200" y="1253331"/>
            <a:ext cx="10515600" cy="4351338"/>
          </a:xfrm>
        </p:spPr>
        <p:txBody>
          <a:bodyPr>
            <a:noAutofit/>
          </a:bodyPr>
          <a:lstStyle/>
          <a:p>
            <a:pPr marL="0" indent="0">
              <a:buNone/>
            </a:pPr>
            <a:r>
              <a:rPr lang="en-IN" sz="1800" dirty="0"/>
              <a:t>class Point:</a:t>
            </a:r>
          </a:p>
          <a:p>
            <a:pPr marL="0" indent="0">
              <a:buNone/>
            </a:pPr>
            <a:r>
              <a:rPr lang="en-IN" sz="1800" dirty="0"/>
              <a:t>  def __</a:t>
            </a:r>
            <a:r>
              <a:rPr lang="en-IN" sz="1800" dirty="0" err="1"/>
              <a:t>init</a:t>
            </a:r>
            <a:r>
              <a:rPr lang="en-IN" sz="1800" dirty="0"/>
              <a:t>__(self, x, y):</a:t>
            </a:r>
          </a:p>
          <a:p>
            <a:pPr marL="0" indent="0">
              <a:buNone/>
            </a:pPr>
            <a:r>
              <a:rPr lang="en-IN" sz="1800" dirty="0"/>
              <a:t>    </a:t>
            </a:r>
            <a:r>
              <a:rPr lang="en-IN" sz="1800" dirty="0" err="1"/>
              <a:t>self.x</a:t>
            </a:r>
            <a:r>
              <a:rPr lang="en-IN" sz="1800" dirty="0"/>
              <a:t> = x</a:t>
            </a:r>
          </a:p>
          <a:p>
            <a:pPr marL="0" indent="0">
              <a:buNone/>
            </a:pPr>
            <a:r>
              <a:rPr lang="en-IN" sz="1800" dirty="0"/>
              <a:t>    </a:t>
            </a:r>
            <a:r>
              <a:rPr lang="en-IN" sz="1800" dirty="0" err="1"/>
              <a:t>self.y</a:t>
            </a:r>
            <a:r>
              <a:rPr lang="en-IN" sz="1800" dirty="0"/>
              <a:t> = y</a:t>
            </a:r>
          </a:p>
          <a:p>
            <a:pPr marL="0" indent="0">
              <a:buNone/>
            </a:pPr>
            <a:r>
              <a:rPr lang="en-IN" sz="1800" dirty="0"/>
              <a:t>  def __add__(self, other):</a:t>
            </a:r>
          </a:p>
          <a:p>
            <a:pPr marL="0" indent="0">
              <a:buNone/>
            </a:pPr>
            <a:r>
              <a:rPr lang="en-IN" sz="1800" dirty="0"/>
              <a:t>    return Point(</a:t>
            </a:r>
            <a:r>
              <a:rPr lang="en-IN" sz="1800" dirty="0" err="1"/>
              <a:t>self.x</a:t>
            </a:r>
            <a:r>
              <a:rPr lang="en-IN" sz="1800" dirty="0"/>
              <a:t> + </a:t>
            </a:r>
            <a:r>
              <a:rPr lang="en-IN" sz="1800" dirty="0" err="1"/>
              <a:t>other.x</a:t>
            </a:r>
            <a:r>
              <a:rPr lang="en-IN" sz="1800" dirty="0"/>
              <a:t>, </a:t>
            </a:r>
            <a:r>
              <a:rPr lang="en-IN" sz="1800" dirty="0" err="1"/>
              <a:t>self.y</a:t>
            </a:r>
            <a:r>
              <a:rPr lang="en-IN" sz="1800" dirty="0"/>
              <a:t> + </a:t>
            </a:r>
            <a:r>
              <a:rPr lang="en-IN" sz="1800" dirty="0" err="1"/>
              <a:t>other.y</a:t>
            </a:r>
            <a:r>
              <a:rPr lang="en-IN" sz="1800" dirty="0"/>
              <a:t>)</a:t>
            </a:r>
          </a:p>
          <a:p>
            <a:pPr marL="0" indent="0">
              <a:buNone/>
            </a:pPr>
            <a:r>
              <a:rPr lang="en-IN" sz="1800" dirty="0"/>
              <a:t>  def __str__(self):</a:t>
            </a:r>
          </a:p>
          <a:p>
            <a:pPr marL="0" indent="0">
              <a:buNone/>
            </a:pPr>
            <a:r>
              <a:rPr lang="en-IN" sz="1800" dirty="0"/>
              <a:t>    return </a:t>
            </a:r>
            <a:r>
              <a:rPr lang="en-IN" sz="1800" dirty="0" err="1"/>
              <a:t>f"Point</a:t>
            </a:r>
            <a:r>
              <a:rPr lang="en-IN" sz="1800" dirty="0"/>
              <a:t>({</a:t>
            </a:r>
            <a:r>
              <a:rPr lang="en-IN" sz="1800" dirty="0" err="1"/>
              <a:t>self.x</a:t>
            </a:r>
            <a:r>
              <a:rPr lang="en-IN" sz="1800" dirty="0"/>
              <a:t>}, {</a:t>
            </a:r>
            <a:r>
              <a:rPr lang="en-IN" sz="1800" dirty="0" err="1"/>
              <a:t>self.y</a:t>
            </a:r>
            <a:r>
              <a:rPr lang="en-IN" sz="1800" dirty="0"/>
              <a:t>})"</a:t>
            </a:r>
          </a:p>
          <a:p>
            <a:pPr marL="0" indent="0">
              <a:buNone/>
            </a:pPr>
            <a:r>
              <a:rPr lang="en-IN" sz="1800" dirty="0"/>
              <a:t># Create Point objects</a:t>
            </a:r>
          </a:p>
          <a:p>
            <a:pPr marL="0" indent="0">
              <a:buNone/>
            </a:pPr>
            <a:r>
              <a:rPr lang="en-IN" sz="1800" dirty="0"/>
              <a:t>p1 = Point(1, 2)</a:t>
            </a:r>
          </a:p>
          <a:p>
            <a:pPr marL="0" indent="0">
              <a:buNone/>
            </a:pPr>
            <a:r>
              <a:rPr lang="en-IN" sz="1800" dirty="0"/>
              <a:t>p2 = Point(3, 4)</a:t>
            </a:r>
          </a:p>
          <a:p>
            <a:pPr marL="0" indent="0">
              <a:buNone/>
            </a:pPr>
            <a:r>
              <a:rPr lang="en-IN" sz="1800" dirty="0"/>
              <a:t># Using the + operator on Point objects</a:t>
            </a:r>
          </a:p>
          <a:p>
            <a:pPr marL="0" indent="0">
              <a:buNone/>
            </a:pPr>
            <a:r>
              <a:rPr lang="en-IN" sz="1800" dirty="0"/>
              <a:t>p3 = p1 + p2</a:t>
            </a:r>
          </a:p>
          <a:p>
            <a:pPr marL="0" indent="0">
              <a:buNone/>
            </a:pPr>
            <a:r>
              <a:rPr lang="en-IN" sz="1800" dirty="0"/>
              <a:t>print(p3)  # Output: Point(4, 6)</a:t>
            </a:r>
          </a:p>
          <a:p>
            <a:pPr marL="0" indent="0">
              <a:buNone/>
            </a:pPr>
            <a:endParaRPr lang="en-IN" sz="1800" dirty="0"/>
          </a:p>
        </p:txBody>
      </p:sp>
    </p:spTree>
    <p:extLst>
      <p:ext uri="{BB962C8B-B14F-4D97-AF65-F5344CB8AC3E}">
        <p14:creationId xmlns:p14="http://schemas.microsoft.com/office/powerpoint/2010/main" val="2067369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DBA77-9922-D50B-F0DD-942FF5304F62}"/>
              </a:ext>
            </a:extLst>
          </p:cNvPr>
          <p:cNvSpPr>
            <a:spLocks noGrp="1"/>
          </p:cNvSpPr>
          <p:nvPr>
            <p:ph type="title"/>
          </p:nvPr>
        </p:nvSpPr>
        <p:spPr/>
        <p:txBody>
          <a:bodyPr/>
          <a:lstStyle/>
          <a:p>
            <a:r>
              <a:rPr lang="en-US" b="1" dirty="0"/>
              <a:t>4. Function and method overloading</a:t>
            </a:r>
            <a:endParaRPr lang="en-IN" dirty="0"/>
          </a:p>
        </p:txBody>
      </p:sp>
      <p:sp>
        <p:nvSpPr>
          <p:cNvPr id="3" name="Content Placeholder 2">
            <a:extLst>
              <a:ext uri="{FF2B5EF4-FFF2-40B4-BE49-F238E27FC236}">
                <a16:creationId xmlns:a16="http://schemas.microsoft.com/office/drawing/2014/main" id="{6FDB6E0C-CA5E-756C-5B9F-0B8940261837}"/>
              </a:ext>
            </a:extLst>
          </p:cNvPr>
          <p:cNvSpPr>
            <a:spLocks noGrp="1"/>
          </p:cNvSpPr>
          <p:nvPr>
            <p:ph idx="1"/>
          </p:nvPr>
        </p:nvSpPr>
        <p:spPr/>
        <p:txBody>
          <a:bodyPr/>
          <a:lstStyle/>
          <a:p>
            <a:pPr marL="0" indent="0">
              <a:buNone/>
            </a:pPr>
            <a:r>
              <a:rPr lang="en-US" dirty="0"/>
              <a:t>def </a:t>
            </a:r>
            <a:r>
              <a:rPr lang="en-US" dirty="0" err="1"/>
              <a:t>calculate_area</a:t>
            </a:r>
            <a:r>
              <a:rPr lang="en-US" dirty="0"/>
              <a:t>(length, width=None):</a:t>
            </a:r>
          </a:p>
          <a:p>
            <a:pPr marL="0" indent="0">
              <a:buNone/>
            </a:pPr>
            <a:r>
              <a:rPr lang="en-US" dirty="0"/>
              <a:t>  if width is None:</a:t>
            </a:r>
          </a:p>
          <a:p>
            <a:pPr marL="0" indent="0">
              <a:buNone/>
            </a:pPr>
            <a:r>
              <a:rPr lang="en-US" dirty="0"/>
              <a:t>    return length * length</a:t>
            </a:r>
          </a:p>
          <a:p>
            <a:pPr marL="0" indent="0">
              <a:buNone/>
            </a:pPr>
            <a:r>
              <a:rPr lang="en-US" dirty="0"/>
              <a:t>  return length * width</a:t>
            </a:r>
          </a:p>
          <a:p>
            <a:pPr marL="0" indent="0">
              <a:buNone/>
            </a:pPr>
            <a:endParaRPr lang="en-US" dirty="0"/>
          </a:p>
          <a:p>
            <a:pPr marL="0" indent="0">
              <a:buNone/>
            </a:pPr>
            <a:r>
              <a:rPr lang="en-US" dirty="0"/>
              <a:t># Using the function with different arguments</a:t>
            </a:r>
          </a:p>
          <a:p>
            <a:pPr marL="0" indent="0">
              <a:buNone/>
            </a:pPr>
            <a:r>
              <a:rPr lang="en-US" dirty="0"/>
              <a:t>print(</a:t>
            </a:r>
            <a:r>
              <a:rPr lang="en-US" dirty="0" err="1"/>
              <a:t>calculate_area</a:t>
            </a:r>
            <a:r>
              <a:rPr lang="en-US" dirty="0"/>
              <a:t>(5))      # Output: 25 (square)</a:t>
            </a:r>
          </a:p>
          <a:p>
            <a:pPr marL="0" indent="0">
              <a:buNone/>
            </a:pPr>
            <a:r>
              <a:rPr lang="en-US" dirty="0"/>
              <a:t>print(</a:t>
            </a:r>
            <a:r>
              <a:rPr lang="en-US" dirty="0" err="1"/>
              <a:t>calculate_area</a:t>
            </a:r>
            <a:r>
              <a:rPr lang="en-US" dirty="0"/>
              <a:t>(4, 6))   # Output: 24 (rectangle) </a:t>
            </a:r>
          </a:p>
          <a:p>
            <a:endParaRPr lang="en-IN" dirty="0"/>
          </a:p>
        </p:txBody>
      </p:sp>
    </p:spTree>
    <p:extLst>
      <p:ext uri="{BB962C8B-B14F-4D97-AF65-F5344CB8AC3E}">
        <p14:creationId xmlns:p14="http://schemas.microsoft.com/office/powerpoint/2010/main" val="899594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617</TotalTime>
  <Words>2238</Words>
  <Application>Microsoft Office PowerPoint</Application>
  <PresentationFormat>Widescreen</PresentationFormat>
  <Paragraphs>282</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Python Intermediate OOPS concepts</vt:lpstr>
      <vt:lpstr>Python OOP Concepts</vt:lpstr>
      <vt:lpstr>Introduction </vt:lpstr>
      <vt:lpstr>PowerPoint Presentation</vt:lpstr>
      <vt:lpstr>Python Class </vt:lpstr>
      <vt:lpstr>Creating a Class</vt:lpstr>
      <vt:lpstr>Python Objects</vt:lpstr>
      <vt:lpstr>Creating Object</vt:lpstr>
      <vt:lpstr>Self Parameter - self parameter is a reference to the current instance of the class. It allows us to access the attributes and methods of the object</vt:lpstr>
      <vt:lpstr>__init__ Method</vt:lpstr>
      <vt:lpstr>Class and Instance Variables</vt:lpstr>
      <vt:lpstr>PowerPoint Presentation</vt:lpstr>
      <vt:lpstr>Explanation </vt:lpstr>
      <vt:lpstr>Python Inheritance</vt:lpstr>
      <vt:lpstr>Types of Inheritance:</vt:lpstr>
      <vt:lpstr>PowerPoint Presentation</vt:lpstr>
      <vt:lpstr>Single Inheritance</vt:lpstr>
      <vt:lpstr>Multiple Inheritance</vt:lpstr>
      <vt:lpstr>Multilevel </vt:lpstr>
      <vt:lpstr>Hierarchical Inheritance</vt:lpstr>
      <vt:lpstr>PowerPoint Presentation</vt:lpstr>
      <vt:lpstr>PowerPoint Presentation</vt:lpstr>
      <vt:lpstr>PowerPoint Presentation</vt:lpstr>
      <vt:lpstr>Polymorphism in Python</vt:lpstr>
      <vt:lpstr>Python Polymorphism</vt:lpstr>
      <vt:lpstr>Types of Polymorphism</vt:lpstr>
      <vt:lpstr>PowerPoint Presentation</vt:lpstr>
      <vt:lpstr>PowerPoint Presentation</vt:lpstr>
      <vt:lpstr>PowerPoint Presentation</vt:lpstr>
      <vt:lpstr>Types of polymorphism in Python</vt:lpstr>
      <vt:lpstr>PowerPoint Presentation</vt:lpstr>
      <vt:lpstr>2. Method overriding </vt:lpstr>
      <vt:lpstr>3. Operator overloading </vt:lpstr>
      <vt:lpstr>4. Function and method overloading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2</cp:revision>
  <dcterms:created xsi:type="dcterms:W3CDTF">2025-09-01T04:02:44Z</dcterms:created>
  <dcterms:modified xsi:type="dcterms:W3CDTF">2026-03-04T15:08:06Z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e218ede2-f1c7-486c-9563-f19a38e01087</vt:lpwstr>
  </property>
  <property fmtid="{D5CDD505-2E9C-101B-9397-08002B2CF9AE}" pid="3" name="HCLClassification">
    <vt:lpwstr>HCL_Cla5s_1nt3rnal</vt:lpwstr>
  </property>
  <property fmtid="{D5CDD505-2E9C-101B-9397-08002B2CF9AE}" pid="4" name="HCLClassD6">
    <vt:lpwstr>False</vt:lpwstr>
  </property>
</Properties>
</file>