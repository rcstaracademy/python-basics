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64" r:id="rId4"/>
  </p:sldMasterIdLst>
  <p:notesMasterIdLst>
    <p:notesMasterId r:id="rId52"/>
  </p:notesMasterIdLst>
  <p:handoutMasterIdLst>
    <p:handoutMasterId r:id="rId53"/>
  </p:handoutMasterIdLst>
  <p:sldIdLst>
    <p:sldId id="256" r:id="rId5"/>
    <p:sldId id="263" r:id="rId6"/>
    <p:sldId id="264" r:id="rId7"/>
    <p:sldId id="265" r:id="rId8"/>
    <p:sldId id="266" r:id="rId9"/>
    <p:sldId id="267" r:id="rId10"/>
    <p:sldId id="268" r:id="rId11"/>
    <p:sldId id="269" r:id="rId12"/>
    <p:sldId id="274" r:id="rId13"/>
    <p:sldId id="275" r:id="rId14"/>
    <p:sldId id="276" r:id="rId15"/>
    <p:sldId id="270" r:id="rId16"/>
    <p:sldId id="271" r:id="rId17"/>
    <p:sldId id="272" r:id="rId18"/>
    <p:sldId id="273" r:id="rId19"/>
    <p:sldId id="277" r:id="rId20"/>
    <p:sldId id="278" r:id="rId21"/>
    <p:sldId id="280" r:id="rId22"/>
    <p:sldId id="281" r:id="rId23"/>
    <p:sldId id="282"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261"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2" autoAdjust="0"/>
  </p:normalViewPr>
  <p:slideViewPr>
    <p:cSldViewPr snapToGrid="0">
      <p:cViewPr varScale="1">
        <p:scale>
          <a:sx n="56" d="100"/>
          <a:sy n="56" d="100"/>
        </p:scale>
        <p:origin x="1000" y="56"/>
      </p:cViewPr>
      <p:guideLst/>
    </p:cSldViewPr>
  </p:slideViewPr>
  <p:notesTextViewPr>
    <p:cViewPr>
      <p:scale>
        <a:sx n="1" d="1"/>
        <a:sy n="1" d="1"/>
      </p:scale>
      <p:origin x="0" y="0"/>
    </p:cViewPr>
  </p:notesTextViewPr>
  <p:notesViewPr>
    <p:cSldViewPr snapToGrid="0">
      <p:cViewPr varScale="1">
        <p:scale>
          <a:sx n="68" d="100"/>
          <a:sy n="68" d="100"/>
        </p:scale>
        <p:origin x="3288" y="3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09A7646-64A1-4BED-BA0B-77C27DE51A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ABEFC0-5AA8-4302-B8B2-9ACD77A2E1D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82F98B-3DC8-431B-BBBF-B7C2B94E730B}" type="datetimeFigureOut">
              <a:rPr lang="en-US" smtClean="0"/>
              <a:t>9/7/2025</a:t>
            </a:fld>
            <a:endParaRPr lang="en-US" dirty="0"/>
          </a:p>
        </p:txBody>
      </p:sp>
      <p:sp>
        <p:nvSpPr>
          <p:cNvPr id="4" name="Footer Placeholder 3">
            <a:extLst>
              <a:ext uri="{FF2B5EF4-FFF2-40B4-BE49-F238E27FC236}">
                <a16:creationId xmlns:a16="http://schemas.microsoft.com/office/drawing/2014/main" id="{016656EA-4150-44D1-821F-53CA0DBA1A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6184F06-C917-4D16-B46F-633E54CA49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1F4691-38BC-4357-BA2E-AC7731A10A45}" type="slidenum">
              <a:rPr lang="en-US" smtClean="0"/>
              <a:t>‹#›</a:t>
            </a:fld>
            <a:endParaRPr lang="en-US" dirty="0"/>
          </a:p>
        </p:txBody>
      </p:sp>
    </p:spTree>
    <p:extLst>
      <p:ext uri="{BB962C8B-B14F-4D97-AF65-F5344CB8AC3E}">
        <p14:creationId xmlns:p14="http://schemas.microsoft.com/office/powerpoint/2010/main" val="32900607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7300D2-6E0D-49B5-9AB1-C6683F5C846D}" type="datetimeFigureOut">
              <a:rPr lang="en-US" smtClean="0"/>
              <a:t>9/7/2025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025FD9-6782-4777-BD37-B8EEBEF1E497}" type="slidenum">
              <a:rPr lang="en-US" smtClean="0"/>
              <a:t>‹#›</a:t>
            </a:fld>
            <a:endParaRPr lang="en-US" dirty="0"/>
          </a:p>
        </p:txBody>
      </p:sp>
    </p:spTree>
    <p:extLst>
      <p:ext uri="{BB962C8B-B14F-4D97-AF65-F5344CB8AC3E}">
        <p14:creationId xmlns:p14="http://schemas.microsoft.com/office/powerpoint/2010/main" val="3720810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25FD9-6782-4777-BD37-B8EEBEF1E497}" type="slidenum">
              <a:rPr lang="en-US" smtClean="0"/>
              <a:t>1</a:t>
            </a:fld>
            <a:endParaRPr lang="en-US" dirty="0"/>
          </a:p>
        </p:txBody>
      </p:sp>
    </p:spTree>
    <p:extLst>
      <p:ext uri="{BB962C8B-B14F-4D97-AF65-F5344CB8AC3E}">
        <p14:creationId xmlns:p14="http://schemas.microsoft.com/office/powerpoint/2010/main" val="2793835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25FD9-6782-4777-BD37-B8EEBEF1E497}" type="slidenum">
              <a:rPr lang="en-US" smtClean="0"/>
              <a:t>47</a:t>
            </a:fld>
            <a:endParaRPr lang="en-US" dirty="0"/>
          </a:p>
        </p:txBody>
      </p:sp>
    </p:spTree>
    <p:extLst>
      <p:ext uri="{BB962C8B-B14F-4D97-AF65-F5344CB8AC3E}">
        <p14:creationId xmlns:p14="http://schemas.microsoft.com/office/powerpoint/2010/main" val="2822790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54660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81794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0662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9/7/2025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13777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9/7/2025</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94660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9/7/2025</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3204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64920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906981" y="1852122"/>
            <a:ext cx="2458230" cy="2008678"/>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9/7/2025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
        <p:nvSpPr>
          <p:cNvPr id="11" name="Content Placeholder 2">
            <a:extLst>
              <a:ext uri="{FF2B5EF4-FFF2-40B4-BE49-F238E27FC236}">
                <a16:creationId xmlns:a16="http://schemas.microsoft.com/office/drawing/2014/main" id="{87B0DF2F-DAFD-4616-9E25-0C28D75BF306}"/>
              </a:ext>
            </a:extLst>
          </p:cNvPr>
          <p:cNvSpPr>
            <a:spLocks noGrp="1"/>
          </p:cNvSpPr>
          <p:nvPr>
            <p:ph idx="13"/>
          </p:nvPr>
        </p:nvSpPr>
        <p:spPr>
          <a:xfrm>
            <a:off x="6491805" y="1852122"/>
            <a:ext cx="2458230" cy="2008678"/>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336DA0F9-D851-437C-A45B-EC125A3D3DB3}"/>
              </a:ext>
            </a:extLst>
          </p:cNvPr>
          <p:cNvSpPr>
            <a:spLocks noGrp="1"/>
          </p:cNvSpPr>
          <p:nvPr>
            <p:ph idx="14"/>
          </p:nvPr>
        </p:nvSpPr>
        <p:spPr>
          <a:xfrm>
            <a:off x="9076629" y="1852122"/>
            <a:ext cx="2458230" cy="2008678"/>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a:extLst>
              <a:ext uri="{FF2B5EF4-FFF2-40B4-BE49-F238E27FC236}">
                <a16:creationId xmlns:a16="http://schemas.microsoft.com/office/drawing/2014/main" id="{0FF0BA98-3AB4-4D88-B1C2-6279BCACFAD9}"/>
              </a:ext>
            </a:extLst>
          </p:cNvPr>
          <p:cNvSpPr>
            <a:spLocks noGrp="1"/>
          </p:cNvSpPr>
          <p:nvPr>
            <p:ph type="body" sz="quarter" idx="15"/>
          </p:nvPr>
        </p:nvSpPr>
        <p:spPr>
          <a:xfrm>
            <a:off x="3887792" y="3971924"/>
            <a:ext cx="2477419" cy="803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5">
            <a:extLst>
              <a:ext uri="{FF2B5EF4-FFF2-40B4-BE49-F238E27FC236}">
                <a16:creationId xmlns:a16="http://schemas.microsoft.com/office/drawing/2014/main" id="{D9DEF72B-B924-4A0D-8C83-3B370632C0D3}"/>
              </a:ext>
            </a:extLst>
          </p:cNvPr>
          <p:cNvSpPr>
            <a:spLocks noGrp="1"/>
          </p:cNvSpPr>
          <p:nvPr>
            <p:ph type="body" sz="quarter" idx="16"/>
          </p:nvPr>
        </p:nvSpPr>
        <p:spPr>
          <a:xfrm>
            <a:off x="6472616" y="3971925"/>
            <a:ext cx="2477419" cy="803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a:extLst>
              <a:ext uri="{FF2B5EF4-FFF2-40B4-BE49-F238E27FC236}">
                <a16:creationId xmlns:a16="http://schemas.microsoft.com/office/drawing/2014/main" id="{E9D30C54-E9E8-4300-8DA4-352DB3A71A4F}"/>
              </a:ext>
            </a:extLst>
          </p:cNvPr>
          <p:cNvSpPr>
            <a:spLocks noGrp="1"/>
          </p:cNvSpPr>
          <p:nvPr>
            <p:ph type="body" sz="quarter" idx="17"/>
          </p:nvPr>
        </p:nvSpPr>
        <p:spPr>
          <a:xfrm>
            <a:off x="9070240" y="3971924"/>
            <a:ext cx="2458230" cy="803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5080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9/7/2025</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59410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43974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9719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9/7/2025</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35939692"/>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geeksforgeeks.org/python/read-a-file-line-by-line-in-pytho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C512124-0D13-4ED9-80B7-52AE15B6B4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lans">
            <a:extLst>
              <a:ext uri="{FF2B5EF4-FFF2-40B4-BE49-F238E27FC236}">
                <a16:creationId xmlns:a16="http://schemas.microsoft.com/office/drawing/2014/main" id="{A3A2E0DA-DA21-447D-AD1F-3DB915DD051B}"/>
              </a:ext>
            </a:extLst>
          </p:cNvPr>
          <p:cNvPicPr>
            <a:picLocks noChangeAspect="1"/>
          </p:cNvPicPr>
          <p:nvPr/>
        </p:nvPicPr>
        <p:blipFill rotWithShape="1">
          <a:blip r:embed="rId3" cstate="screen">
            <a:alphaModFix amt="35000"/>
            <a:extLst>
              <a:ext uri="{28A0092B-C50C-407E-A947-70E740481C1C}">
                <a14:useLocalDpi xmlns:a14="http://schemas.microsoft.com/office/drawing/2010/main"/>
              </a:ext>
            </a:extLst>
          </a:blip>
          <a:srcRect b="443"/>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7D6CA50C-1A88-4B3F-A34F-FE199F4205A2}"/>
              </a:ext>
            </a:extLst>
          </p:cNvPr>
          <p:cNvSpPr>
            <a:spLocks noGrp="1"/>
          </p:cNvSpPr>
          <p:nvPr>
            <p:ph type="ctrTitle"/>
          </p:nvPr>
        </p:nvSpPr>
        <p:spPr>
          <a:xfrm>
            <a:off x="1069848" y="1298448"/>
            <a:ext cx="7315200" cy="3255264"/>
          </a:xfrm>
        </p:spPr>
        <p:txBody>
          <a:bodyPr>
            <a:normAutofit/>
          </a:bodyPr>
          <a:lstStyle/>
          <a:p>
            <a:r>
              <a:rPr lang="en-US">
                <a:solidFill>
                  <a:schemeClr val="tx1"/>
                </a:solidFill>
              </a:rPr>
              <a:t>File Handling in Python</a:t>
            </a:r>
          </a:p>
        </p:txBody>
      </p:sp>
      <p:sp>
        <p:nvSpPr>
          <p:cNvPr id="3" name="Subtitle 2">
            <a:extLst>
              <a:ext uri="{FF2B5EF4-FFF2-40B4-BE49-F238E27FC236}">
                <a16:creationId xmlns:a16="http://schemas.microsoft.com/office/drawing/2014/main" id="{C9CC2D51-705E-403A-AC0E-9157DC5513A8}"/>
              </a:ext>
            </a:extLst>
          </p:cNvPr>
          <p:cNvSpPr>
            <a:spLocks noGrp="1"/>
          </p:cNvSpPr>
          <p:nvPr>
            <p:ph type="subTitle" idx="1"/>
          </p:nvPr>
        </p:nvSpPr>
        <p:spPr>
          <a:xfrm>
            <a:off x="1100015" y="4670246"/>
            <a:ext cx="7315200" cy="914400"/>
          </a:xfrm>
        </p:spPr>
        <p:txBody>
          <a:bodyPr>
            <a:normAutofit/>
          </a:bodyPr>
          <a:lstStyle/>
          <a:p>
            <a:r>
              <a:rPr lang="en-US" dirty="0">
                <a:solidFill>
                  <a:schemeClr val="tx1"/>
                </a:solidFill>
              </a:rPr>
              <a:t>Dr. Rakhee Chhibber</a:t>
            </a:r>
          </a:p>
        </p:txBody>
      </p:sp>
    </p:spTree>
    <p:extLst>
      <p:ext uri="{BB962C8B-B14F-4D97-AF65-F5344CB8AC3E}">
        <p14:creationId xmlns:p14="http://schemas.microsoft.com/office/powerpoint/2010/main" val="274582891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03C46-6C83-A4A4-E8E1-59B2CF69D5B8}"/>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81D4E8A6-71E1-1184-7DC2-8AEEF5CD77FE}"/>
              </a:ext>
            </a:extLst>
          </p:cNvPr>
          <p:cNvSpPr>
            <a:spLocks noGrp="1"/>
          </p:cNvSpPr>
          <p:nvPr>
            <p:ph idx="1"/>
          </p:nvPr>
        </p:nvSpPr>
        <p:spPr/>
        <p:txBody>
          <a:bodyPr>
            <a:normAutofit/>
          </a:bodyPr>
          <a:lstStyle/>
          <a:p>
            <a:pPr marL="0" indent="0" algn="just">
              <a:buNone/>
            </a:pPr>
            <a:r>
              <a:rPr lang="en-US" sz="3200" dirty="0"/>
              <a:t>File handling refers to the process of performing operations on a file, such as creating, opening, reading, writing and closing it through a programming interface. It involves managing the data flow between the program and the file system on the storage device, ensuring that data is handled safely and efficiently.</a:t>
            </a:r>
          </a:p>
        </p:txBody>
      </p:sp>
    </p:spTree>
    <p:extLst>
      <p:ext uri="{BB962C8B-B14F-4D97-AF65-F5344CB8AC3E}">
        <p14:creationId xmlns:p14="http://schemas.microsoft.com/office/powerpoint/2010/main" val="3597697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C00C7-0A39-1AEA-C85F-E3F136C65CDC}"/>
              </a:ext>
            </a:extLst>
          </p:cNvPr>
          <p:cNvSpPr>
            <a:spLocks noGrp="1"/>
          </p:cNvSpPr>
          <p:nvPr>
            <p:ph type="title"/>
          </p:nvPr>
        </p:nvSpPr>
        <p:spPr/>
        <p:txBody>
          <a:bodyPr/>
          <a:lstStyle/>
          <a:p>
            <a:r>
              <a:rPr lang="en-US" b="1" dirty="0"/>
              <a:t>Why do we need File Handling</a:t>
            </a:r>
            <a:br>
              <a:rPr lang="en-US" b="1" dirty="0"/>
            </a:br>
            <a:endParaRPr lang="en-US" dirty="0"/>
          </a:p>
        </p:txBody>
      </p:sp>
      <p:sp>
        <p:nvSpPr>
          <p:cNvPr id="3" name="Content Placeholder 2">
            <a:extLst>
              <a:ext uri="{FF2B5EF4-FFF2-40B4-BE49-F238E27FC236}">
                <a16:creationId xmlns:a16="http://schemas.microsoft.com/office/drawing/2014/main" id="{1229C063-B67F-0189-FB68-AC9D80EE7FBB}"/>
              </a:ext>
            </a:extLst>
          </p:cNvPr>
          <p:cNvSpPr>
            <a:spLocks noGrp="1"/>
          </p:cNvSpPr>
          <p:nvPr>
            <p:ph idx="1"/>
          </p:nvPr>
        </p:nvSpPr>
        <p:spPr/>
        <p:txBody>
          <a:bodyPr>
            <a:normAutofit/>
          </a:bodyPr>
          <a:lstStyle/>
          <a:p>
            <a:pPr fontAlgn="base"/>
            <a:r>
              <a:rPr lang="en-US" sz="2800" dirty="0"/>
              <a:t>To store data permanently, even after the program ends.</a:t>
            </a:r>
          </a:p>
          <a:p>
            <a:pPr fontAlgn="base"/>
            <a:r>
              <a:rPr lang="en-US" sz="2800" dirty="0"/>
              <a:t>To access external files like .txt, .csv, .</a:t>
            </a:r>
            <a:r>
              <a:rPr lang="en-US" sz="2800" dirty="0" err="1"/>
              <a:t>json</a:t>
            </a:r>
            <a:r>
              <a:rPr lang="en-US" sz="2800" dirty="0"/>
              <a:t>, etc.</a:t>
            </a:r>
          </a:p>
          <a:p>
            <a:pPr fontAlgn="base"/>
            <a:r>
              <a:rPr lang="en-US" sz="2800" dirty="0"/>
              <a:t>To process large files efficiently without using much memory.</a:t>
            </a:r>
          </a:p>
          <a:p>
            <a:pPr fontAlgn="base"/>
            <a:r>
              <a:rPr lang="en-US" sz="2800" dirty="0"/>
              <a:t>To automate tasks like reading configs or saving outputs.</a:t>
            </a:r>
          </a:p>
          <a:p>
            <a:pPr fontAlgn="base"/>
            <a:r>
              <a:rPr lang="en-US" sz="2800" dirty="0"/>
              <a:t>To handle input/output in real-world applications and tools.</a:t>
            </a:r>
          </a:p>
          <a:p>
            <a:endParaRPr lang="en-US" sz="2800" dirty="0"/>
          </a:p>
        </p:txBody>
      </p:sp>
    </p:spTree>
    <p:extLst>
      <p:ext uri="{BB962C8B-B14F-4D97-AF65-F5344CB8AC3E}">
        <p14:creationId xmlns:p14="http://schemas.microsoft.com/office/powerpoint/2010/main" val="4042914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A87ED-E455-76E9-4399-7C760139894C}"/>
              </a:ext>
            </a:extLst>
          </p:cNvPr>
          <p:cNvSpPr>
            <a:spLocks noGrp="1"/>
          </p:cNvSpPr>
          <p:nvPr>
            <p:ph type="title"/>
          </p:nvPr>
        </p:nvSpPr>
        <p:spPr/>
        <p:txBody>
          <a:bodyPr/>
          <a:lstStyle/>
          <a:p>
            <a:r>
              <a:rPr lang="en-US" dirty="0"/>
              <a:t>TYPES OF FILES</a:t>
            </a:r>
            <a:br>
              <a:rPr lang="en-US" dirty="0"/>
            </a:br>
            <a:endParaRPr lang="en-US" dirty="0"/>
          </a:p>
        </p:txBody>
      </p:sp>
      <p:sp>
        <p:nvSpPr>
          <p:cNvPr id="3" name="Content Placeholder 2">
            <a:extLst>
              <a:ext uri="{FF2B5EF4-FFF2-40B4-BE49-F238E27FC236}">
                <a16:creationId xmlns:a16="http://schemas.microsoft.com/office/drawing/2014/main" id="{A880BCCA-A9DA-C8F2-0C41-8414AA2C9DD2}"/>
              </a:ext>
            </a:extLst>
          </p:cNvPr>
          <p:cNvSpPr>
            <a:spLocks noGrp="1"/>
          </p:cNvSpPr>
          <p:nvPr>
            <p:ph idx="1"/>
          </p:nvPr>
        </p:nvSpPr>
        <p:spPr/>
        <p:txBody>
          <a:bodyPr/>
          <a:lstStyle/>
          <a:p>
            <a:pPr marL="457200" indent="-457200">
              <a:buFont typeface="+mj-lt"/>
              <a:buAutoNum type="arabicPeriod"/>
            </a:pPr>
            <a:r>
              <a:rPr lang="en-US" sz="2800" b="1" dirty="0"/>
              <a:t>Text file - </a:t>
            </a:r>
            <a:r>
              <a:rPr lang="en-US" sz="2800" dirty="0"/>
              <a:t>Files with extensions like .txt, .</a:t>
            </a:r>
            <a:r>
              <a:rPr lang="en-US" sz="2800" dirty="0" err="1"/>
              <a:t>py</a:t>
            </a:r>
            <a:r>
              <a:rPr lang="en-US" sz="2800" dirty="0"/>
              <a:t>, .csv, etc. are some examples of text files</a:t>
            </a:r>
          </a:p>
          <a:p>
            <a:pPr marL="457200" indent="-457200">
              <a:buFont typeface="+mj-lt"/>
              <a:buAutoNum type="arabicPeriod"/>
            </a:pPr>
            <a:r>
              <a:rPr lang="en-US" sz="2800" b="1" dirty="0"/>
              <a:t>Binary Files - </a:t>
            </a:r>
            <a:r>
              <a:rPr lang="en-US" sz="2800" dirty="0"/>
              <a:t>Binary files are also stored in terms of bytes (0s and 1s), but unlike text files, these bytes do not represent the ASCII values of characters</a:t>
            </a:r>
          </a:p>
          <a:p>
            <a:endParaRPr lang="en-US" dirty="0"/>
          </a:p>
          <a:p>
            <a:endParaRPr lang="en-US" dirty="0"/>
          </a:p>
        </p:txBody>
      </p:sp>
    </p:spTree>
    <p:extLst>
      <p:ext uri="{BB962C8B-B14F-4D97-AF65-F5344CB8AC3E}">
        <p14:creationId xmlns:p14="http://schemas.microsoft.com/office/powerpoint/2010/main" val="986269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EDC02-68BF-2B76-1085-48E6182BCB07}"/>
              </a:ext>
            </a:extLst>
          </p:cNvPr>
          <p:cNvSpPr>
            <a:spLocks noGrp="1"/>
          </p:cNvSpPr>
          <p:nvPr>
            <p:ph type="title"/>
          </p:nvPr>
        </p:nvSpPr>
        <p:spPr/>
        <p:txBody>
          <a:bodyPr/>
          <a:lstStyle/>
          <a:p>
            <a:r>
              <a:rPr lang="en-US" dirty="0"/>
              <a:t>OPENING AND CLOSING A TEXT FILE</a:t>
            </a:r>
            <a:br>
              <a:rPr lang="en-US" dirty="0"/>
            </a:br>
            <a:endParaRPr lang="en-US" dirty="0"/>
          </a:p>
        </p:txBody>
      </p:sp>
      <p:sp>
        <p:nvSpPr>
          <p:cNvPr id="3" name="Content Placeholder 2">
            <a:extLst>
              <a:ext uri="{FF2B5EF4-FFF2-40B4-BE49-F238E27FC236}">
                <a16:creationId xmlns:a16="http://schemas.microsoft.com/office/drawing/2014/main" id="{F787742A-D2F1-A8C4-AC6E-5003A0D3F77F}"/>
              </a:ext>
            </a:extLst>
          </p:cNvPr>
          <p:cNvSpPr>
            <a:spLocks noGrp="1"/>
          </p:cNvSpPr>
          <p:nvPr>
            <p:ph idx="1"/>
          </p:nvPr>
        </p:nvSpPr>
        <p:spPr>
          <a:xfrm>
            <a:off x="3914988" y="326898"/>
            <a:ext cx="7315200" cy="1056132"/>
          </a:xfrm>
        </p:spPr>
        <p:txBody>
          <a:bodyPr>
            <a:normAutofit/>
          </a:bodyPr>
          <a:lstStyle/>
          <a:p>
            <a:pPr marL="0" indent="0">
              <a:buNone/>
            </a:pPr>
            <a:r>
              <a:rPr lang="en-US" sz="2400" b="1" dirty="0"/>
              <a:t>Opening a file</a:t>
            </a:r>
          </a:p>
          <a:p>
            <a:pPr marL="0" indent="0">
              <a:buNone/>
            </a:pPr>
            <a:r>
              <a:rPr lang="en-US" sz="2400" b="1" i="1" dirty="0" err="1"/>
              <a:t>file_object</a:t>
            </a:r>
            <a:r>
              <a:rPr lang="en-US" sz="2400" b="1" i="1" dirty="0"/>
              <a:t>= open(</a:t>
            </a:r>
            <a:r>
              <a:rPr lang="en-US" sz="2400" b="1" i="1" dirty="0" err="1"/>
              <a:t>file_name</a:t>
            </a:r>
            <a:r>
              <a:rPr lang="en-US" sz="2400" b="1" i="1" dirty="0"/>
              <a:t>, </a:t>
            </a:r>
            <a:r>
              <a:rPr lang="en-US" sz="2400" b="1" i="1" dirty="0" err="1"/>
              <a:t>access_mode</a:t>
            </a:r>
            <a:r>
              <a:rPr lang="en-US" sz="2400" b="1" i="1" dirty="0"/>
              <a:t>)</a:t>
            </a:r>
            <a:endParaRPr lang="en-US" sz="2400" b="1" dirty="0"/>
          </a:p>
        </p:txBody>
      </p:sp>
      <p:pic>
        <p:nvPicPr>
          <p:cNvPr id="11" name="Picture 10">
            <a:extLst>
              <a:ext uri="{FF2B5EF4-FFF2-40B4-BE49-F238E27FC236}">
                <a16:creationId xmlns:a16="http://schemas.microsoft.com/office/drawing/2014/main" id="{03A70E17-9DC0-1E5F-F528-27360546BCCE}"/>
              </a:ext>
            </a:extLst>
          </p:cNvPr>
          <p:cNvPicPr>
            <a:picLocks noChangeAspect="1"/>
          </p:cNvPicPr>
          <p:nvPr/>
        </p:nvPicPr>
        <p:blipFill>
          <a:blip r:embed="rId2"/>
          <a:stretch>
            <a:fillRect/>
          </a:stretch>
        </p:blipFill>
        <p:spPr>
          <a:xfrm>
            <a:off x="3565400" y="1463040"/>
            <a:ext cx="8373681" cy="4601183"/>
          </a:xfrm>
          <a:prstGeom prst="rect">
            <a:avLst/>
          </a:prstGeom>
        </p:spPr>
      </p:pic>
      <p:sp>
        <p:nvSpPr>
          <p:cNvPr id="13" name="TextBox 12">
            <a:extLst>
              <a:ext uri="{FF2B5EF4-FFF2-40B4-BE49-F238E27FC236}">
                <a16:creationId xmlns:a16="http://schemas.microsoft.com/office/drawing/2014/main" id="{801DA476-15FD-8B53-BECE-99C3CADFF7B0}"/>
              </a:ext>
            </a:extLst>
          </p:cNvPr>
          <p:cNvSpPr txBox="1"/>
          <p:nvPr/>
        </p:nvSpPr>
        <p:spPr>
          <a:xfrm>
            <a:off x="3582758" y="6346436"/>
            <a:ext cx="6097904" cy="461665"/>
          </a:xfrm>
          <a:prstGeom prst="rect">
            <a:avLst/>
          </a:prstGeom>
          <a:noFill/>
        </p:spPr>
        <p:txBody>
          <a:bodyPr wrap="square">
            <a:spAutoFit/>
          </a:bodyPr>
          <a:lstStyle/>
          <a:p>
            <a:pPr algn="l">
              <a:buNone/>
            </a:pPr>
            <a:r>
              <a:rPr lang="en-US" sz="2400" b="0" i="1" u="none" strike="noStrike" dirty="0">
                <a:solidFill>
                  <a:srgbClr val="212529"/>
                </a:solidFill>
                <a:effectLst/>
                <a:latin typeface="Muli"/>
              </a:rPr>
              <a:t>Example - </a:t>
            </a:r>
            <a:r>
              <a:rPr lang="en-US" sz="2400" b="0" i="1" u="none" strike="noStrike" dirty="0" err="1">
                <a:solidFill>
                  <a:srgbClr val="212529"/>
                </a:solidFill>
                <a:effectLst/>
                <a:latin typeface="Muli"/>
              </a:rPr>
              <a:t>myObject</a:t>
            </a:r>
            <a:r>
              <a:rPr lang="en-US" sz="2400" b="0" i="1" u="none" strike="noStrike" dirty="0">
                <a:solidFill>
                  <a:srgbClr val="212529"/>
                </a:solidFill>
                <a:effectLst/>
                <a:latin typeface="Muli"/>
              </a:rPr>
              <a:t>=open(“myfile.txt”, “a+”)</a:t>
            </a:r>
            <a:endParaRPr lang="en-US" sz="2400" b="0" i="0" u="none" strike="noStrike" dirty="0">
              <a:solidFill>
                <a:srgbClr val="212529"/>
              </a:solidFill>
              <a:effectLst/>
              <a:latin typeface="Muli"/>
            </a:endParaRPr>
          </a:p>
        </p:txBody>
      </p:sp>
    </p:spTree>
    <p:extLst>
      <p:ext uri="{BB962C8B-B14F-4D97-AF65-F5344CB8AC3E}">
        <p14:creationId xmlns:p14="http://schemas.microsoft.com/office/powerpoint/2010/main" val="756462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17E23-B906-EFD9-BC2E-740F51943FF2}"/>
              </a:ext>
            </a:extLst>
          </p:cNvPr>
          <p:cNvSpPr>
            <a:spLocks noGrp="1"/>
          </p:cNvSpPr>
          <p:nvPr>
            <p:ph type="title"/>
          </p:nvPr>
        </p:nvSpPr>
        <p:spPr/>
        <p:txBody>
          <a:bodyPr/>
          <a:lstStyle/>
          <a:p>
            <a:r>
              <a:rPr lang="en-US" dirty="0"/>
              <a:t>Closing a file</a:t>
            </a:r>
            <a:br>
              <a:rPr lang="en-US" dirty="0"/>
            </a:br>
            <a:endParaRPr lang="en-US" dirty="0"/>
          </a:p>
        </p:txBody>
      </p:sp>
      <p:sp>
        <p:nvSpPr>
          <p:cNvPr id="3" name="Content Placeholder 2">
            <a:extLst>
              <a:ext uri="{FF2B5EF4-FFF2-40B4-BE49-F238E27FC236}">
                <a16:creationId xmlns:a16="http://schemas.microsoft.com/office/drawing/2014/main" id="{062F4F08-0442-0E2A-9706-EEC3F7AB53E0}"/>
              </a:ext>
            </a:extLst>
          </p:cNvPr>
          <p:cNvSpPr>
            <a:spLocks noGrp="1"/>
          </p:cNvSpPr>
          <p:nvPr>
            <p:ph idx="1"/>
          </p:nvPr>
        </p:nvSpPr>
        <p:spPr/>
        <p:txBody>
          <a:bodyPr/>
          <a:lstStyle/>
          <a:p>
            <a:pPr marL="0" indent="0">
              <a:buNone/>
            </a:pPr>
            <a:r>
              <a:rPr lang="en-US" sz="2800" i="1" dirty="0" err="1"/>
              <a:t>file_object.close</a:t>
            </a:r>
            <a:r>
              <a:rPr lang="en-US" sz="2800" i="1" dirty="0"/>
              <a:t> ()</a:t>
            </a:r>
            <a:endParaRPr lang="en-US" sz="2800" dirty="0"/>
          </a:p>
          <a:p>
            <a:endParaRPr lang="en-US" dirty="0"/>
          </a:p>
        </p:txBody>
      </p:sp>
    </p:spTree>
    <p:extLst>
      <p:ext uri="{BB962C8B-B14F-4D97-AF65-F5344CB8AC3E}">
        <p14:creationId xmlns:p14="http://schemas.microsoft.com/office/powerpoint/2010/main" val="2416690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5D951-9017-2314-DB4C-786E0F5643D4}"/>
              </a:ext>
            </a:extLst>
          </p:cNvPr>
          <p:cNvSpPr>
            <a:spLocks noGrp="1"/>
          </p:cNvSpPr>
          <p:nvPr>
            <p:ph type="title"/>
          </p:nvPr>
        </p:nvSpPr>
        <p:spPr/>
        <p:txBody>
          <a:bodyPr/>
          <a:lstStyle/>
          <a:p>
            <a:r>
              <a:rPr lang="en-US" dirty="0"/>
              <a:t>Opening a file using with clause</a:t>
            </a:r>
            <a:br>
              <a:rPr lang="en-US" dirty="0"/>
            </a:br>
            <a:endParaRPr lang="en-US" dirty="0"/>
          </a:p>
        </p:txBody>
      </p:sp>
      <p:sp>
        <p:nvSpPr>
          <p:cNvPr id="3" name="Content Placeholder 2">
            <a:extLst>
              <a:ext uri="{FF2B5EF4-FFF2-40B4-BE49-F238E27FC236}">
                <a16:creationId xmlns:a16="http://schemas.microsoft.com/office/drawing/2014/main" id="{6EAF6766-004D-CE6C-0D9F-9204EE3C829E}"/>
              </a:ext>
            </a:extLst>
          </p:cNvPr>
          <p:cNvSpPr>
            <a:spLocks noGrp="1"/>
          </p:cNvSpPr>
          <p:nvPr>
            <p:ph idx="1"/>
          </p:nvPr>
        </p:nvSpPr>
        <p:spPr>
          <a:xfrm>
            <a:off x="3691890" y="864108"/>
            <a:ext cx="8092440" cy="5120640"/>
          </a:xfrm>
        </p:spPr>
        <p:txBody>
          <a:bodyPr>
            <a:normAutofit/>
          </a:bodyPr>
          <a:lstStyle/>
          <a:p>
            <a:pPr marL="0" indent="0">
              <a:buNone/>
            </a:pPr>
            <a:r>
              <a:rPr lang="en-US" sz="2400" i="1" dirty="0"/>
              <a:t>with open (</a:t>
            </a:r>
            <a:r>
              <a:rPr lang="en-US" sz="2400" i="1" dirty="0" err="1"/>
              <a:t>file_name</a:t>
            </a:r>
            <a:r>
              <a:rPr lang="en-US" sz="2400" i="1" dirty="0"/>
              <a:t>, </a:t>
            </a:r>
            <a:r>
              <a:rPr lang="en-US" sz="2400" i="1" dirty="0" err="1"/>
              <a:t>access_mode</a:t>
            </a:r>
            <a:r>
              <a:rPr lang="en-US" sz="2400" i="1" dirty="0"/>
              <a:t>) as file</a:t>
            </a:r>
            <a:br>
              <a:rPr lang="en-US" sz="2400" dirty="0"/>
            </a:br>
            <a:r>
              <a:rPr lang="en-US" sz="2400" dirty="0"/>
              <a:t>object_:</a:t>
            </a:r>
          </a:p>
          <a:p>
            <a:pPr marL="0" indent="0">
              <a:buNone/>
            </a:pPr>
            <a:r>
              <a:rPr lang="en-US" sz="2400" b="1" dirty="0"/>
              <a:t>The advantage of using with clause is that any file that is opened using this clause is closed automatically, once the control comes outside the with clause. In case the user forgets to close the file explicitly or if an exception occurs, the file is closed automatically. </a:t>
            </a:r>
            <a:r>
              <a:rPr lang="en-US" sz="2400" dirty="0"/>
              <a:t>Also, it provides a simpler syntax.</a:t>
            </a:r>
          </a:p>
          <a:p>
            <a:pPr marL="0" indent="0">
              <a:buNone/>
            </a:pPr>
            <a:r>
              <a:rPr lang="en-US" sz="2800" i="1" dirty="0"/>
              <a:t>with open(“</a:t>
            </a:r>
            <a:r>
              <a:rPr lang="en-US" sz="2800" i="1" dirty="0" err="1"/>
              <a:t>myfi</a:t>
            </a:r>
            <a:r>
              <a:rPr lang="en-US" sz="2800" i="1" dirty="0"/>
              <a:t> </a:t>
            </a:r>
            <a:r>
              <a:rPr lang="en-US" sz="2800" i="1" dirty="0" err="1"/>
              <a:t>le.txt”,”r</a:t>
            </a:r>
            <a:r>
              <a:rPr lang="en-US" sz="2800" i="1" dirty="0"/>
              <a:t>+”) as </a:t>
            </a:r>
            <a:r>
              <a:rPr lang="en-US" sz="2800" i="1" dirty="0" err="1"/>
              <a:t>myObject</a:t>
            </a:r>
            <a:r>
              <a:rPr lang="en-US" sz="2800" i="1" dirty="0"/>
              <a:t>:</a:t>
            </a:r>
            <a:br>
              <a:rPr lang="en-US" sz="2800" i="1" dirty="0"/>
            </a:br>
            <a:r>
              <a:rPr lang="en-US" sz="2800" i="1" dirty="0"/>
              <a:t> content = </a:t>
            </a:r>
            <a:r>
              <a:rPr lang="en-US" sz="2800" i="1" dirty="0" err="1"/>
              <a:t>myObject.read</a:t>
            </a:r>
            <a:r>
              <a:rPr lang="en-US" sz="2800" i="1" dirty="0"/>
              <a:t>()</a:t>
            </a:r>
            <a:endParaRPr lang="en-US" sz="2800" dirty="0"/>
          </a:p>
          <a:p>
            <a:pPr marL="0" indent="0">
              <a:buNone/>
            </a:pPr>
            <a:endParaRPr lang="en-US" sz="2400" dirty="0"/>
          </a:p>
        </p:txBody>
      </p:sp>
    </p:spTree>
    <p:extLst>
      <p:ext uri="{BB962C8B-B14F-4D97-AF65-F5344CB8AC3E}">
        <p14:creationId xmlns:p14="http://schemas.microsoft.com/office/powerpoint/2010/main" val="2162662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47BC3-BBE2-0259-FAE8-3180B4F0398E}"/>
              </a:ext>
            </a:extLst>
          </p:cNvPr>
          <p:cNvSpPr>
            <a:spLocks noGrp="1"/>
          </p:cNvSpPr>
          <p:nvPr>
            <p:ph type="title"/>
          </p:nvPr>
        </p:nvSpPr>
        <p:spPr/>
        <p:txBody>
          <a:bodyPr/>
          <a:lstStyle/>
          <a:p>
            <a:r>
              <a:rPr lang="en-US" b="1" dirty="0"/>
              <a:t>Checking File Properties</a:t>
            </a:r>
            <a:br>
              <a:rPr lang="en-US" b="1" dirty="0"/>
            </a:br>
            <a:endParaRPr lang="en-US" dirty="0"/>
          </a:p>
        </p:txBody>
      </p:sp>
      <p:sp>
        <p:nvSpPr>
          <p:cNvPr id="3" name="Content Placeholder 2">
            <a:extLst>
              <a:ext uri="{FF2B5EF4-FFF2-40B4-BE49-F238E27FC236}">
                <a16:creationId xmlns:a16="http://schemas.microsoft.com/office/drawing/2014/main" id="{2FDA7455-1551-0BC4-B569-206AC4FEC5EC}"/>
              </a:ext>
            </a:extLst>
          </p:cNvPr>
          <p:cNvSpPr>
            <a:spLocks noGrp="1"/>
          </p:cNvSpPr>
          <p:nvPr>
            <p:ph idx="1"/>
          </p:nvPr>
        </p:nvSpPr>
        <p:spPr/>
        <p:txBody>
          <a:bodyPr>
            <a:normAutofit/>
          </a:bodyPr>
          <a:lstStyle/>
          <a:p>
            <a:pPr marL="0" indent="0">
              <a:buNone/>
            </a:pPr>
            <a:r>
              <a:rPr lang="en-US" sz="3200" dirty="0"/>
              <a:t>f = open("geek.txt", "r")</a:t>
            </a:r>
          </a:p>
          <a:p>
            <a:pPr marL="0" indent="0">
              <a:buNone/>
            </a:pPr>
            <a:r>
              <a:rPr lang="en-US" sz="3200" dirty="0"/>
              <a:t>print("Filename:", f.name)</a:t>
            </a:r>
          </a:p>
          <a:p>
            <a:pPr marL="0" indent="0">
              <a:buNone/>
            </a:pPr>
            <a:r>
              <a:rPr lang="en-US" sz="3200" dirty="0"/>
              <a:t>print("Mode:", </a:t>
            </a:r>
            <a:r>
              <a:rPr lang="en-US" sz="3200" dirty="0" err="1"/>
              <a:t>f.mode</a:t>
            </a:r>
            <a:r>
              <a:rPr lang="en-US" sz="3200" dirty="0"/>
              <a:t>)</a:t>
            </a:r>
          </a:p>
          <a:p>
            <a:pPr marL="0" indent="0">
              <a:buNone/>
            </a:pPr>
            <a:r>
              <a:rPr lang="en-US" sz="3200" dirty="0"/>
              <a:t>print("Is Closed?", </a:t>
            </a:r>
            <a:r>
              <a:rPr lang="en-US" sz="3200" dirty="0" err="1"/>
              <a:t>f.closed</a:t>
            </a:r>
            <a:r>
              <a:rPr lang="en-US" sz="3200" dirty="0"/>
              <a:t>)</a:t>
            </a:r>
          </a:p>
          <a:p>
            <a:pPr marL="0" indent="0">
              <a:buNone/>
            </a:pPr>
            <a:r>
              <a:rPr lang="en-US" sz="3200" dirty="0" err="1"/>
              <a:t>f.close</a:t>
            </a:r>
            <a:r>
              <a:rPr lang="en-US" sz="3200" dirty="0"/>
              <a:t>()</a:t>
            </a:r>
          </a:p>
          <a:p>
            <a:pPr marL="0" indent="0">
              <a:buNone/>
            </a:pPr>
            <a:r>
              <a:rPr lang="en-US" sz="3200" dirty="0"/>
              <a:t>print("Is Closed?", </a:t>
            </a:r>
            <a:r>
              <a:rPr lang="en-US" sz="3200" dirty="0" err="1"/>
              <a:t>f.closed</a:t>
            </a:r>
            <a:r>
              <a:rPr lang="en-US" sz="3200" dirty="0"/>
              <a:t>)</a:t>
            </a:r>
          </a:p>
        </p:txBody>
      </p:sp>
    </p:spTree>
    <p:extLst>
      <p:ext uri="{BB962C8B-B14F-4D97-AF65-F5344CB8AC3E}">
        <p14:creationId xmlns:p14="http://schemas.microsoft.com/office/powerpoint/2010/main" val="1007907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DE8A2-AA9B-C790-7CF9-AAE79B65635F}"/>
              </a:ext>
            </a:extLst>
          </p:cNvPr>
          <p:cNvSpPr>
            <a:spLocks noGrp="1"/>
          </p:cNvSpPr>
          <p:nvPr>
            <p:ph type="title"/>
          </p:nvPr>
        </p:nvSpPr>
        <p:spPr/>
        <p:txBody>
          <a:bodyPr/>
          <a:lstStyle/>
          <a:p>
            <a:r>
              <a:rPr lang="en-US" b="1" dirty="0"/>
              <a:t>Write to Text File in Python</a:t>
            </a:r>
            <a:br>
              <a:rPr lang="en-US" b="1" dirty="0"/>
            </a:br>
            <a:endParaRPr lang="en-US" dirty="0"/>
          </a:p>
        </p:txBody>
      </p:sp>
      <p:sp>
        <p:nvSpPr>
          <p:cNvPr id="3" name="Content Placeholder 2">
            <a:extLst>
              <a:ext uri="{FF2B5EF4-FFF2-40B4-BE49-F238E27FC236}">
                <a16:creationId xmlns:a16="http://schemas.microsoft.com/office/drawing/2014/main" id="{BA679995-FDAF-B147-0F12-0F7C32EEA819}"/>
              </a:ext>
            </a:extLst>
          </p:cNvPr>
          <p:cNvSpPr>
            <a:spLocks noGrp="1"/>
          </p:cNvSpPr>
          <p:nvPr>
            <p:ph idx="1"/>
          </p:nvPr>
        </p:nvSpPr>
        <p:spPr/>
        <p:txBody>
          <a:bodyPr>
            <a:normAutofit/>
          </a:bodyPr>
          <a:lstStyle/>
          <a:p>
            <a:pPr fontAlgn="base"/>
            <a:r>
              <a:rPr lang="en-US" sz="2800" dirty="0"/>
              <a:t>Using write()</a:t>
            </a:r>
          </a:p>
          <a:p>
            <a:pPr fontAlgn="base"/>
            <a:r>
              <a:rPr lang="en-US" sz="2800" dirty="0"/>
              <a:t>Using </a:t>
            </a:r>
            <a:r>
              <a:rPr lang="en-US" sz="2800" dirty="0" err="1"/>
              <a:t>writelines</a:t>
            </a:r>
            <a:r>
              <a:rPr lang="en-US" sz="2800" dirty="0"/>
              <a:t>()</a:t>
            </a:r>
          </a:p>
          <a:p>
            <a:endParaRPr lang="en-US" sz="2800" dirty="0"/>
          </a:p>
        </p:txBody>
      </p:sp>
    </p:spTree>
    <p:extLst>
      <p:ext uri="{BB962C8B-B14F-4D97-AF65-F5344CB8AC3E}">
        <p14:creationId xmlns:p14="http://schemas.microsoft.com/office/powerpoint/2010/main" val="2309948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3174D-3BDE-4AC5-86CC-74E6437ECE05}"/>
              </a:ext>
            </a:extLst>
          </p:cNvPr>
          <p:cNvSpPr>
            <a:spLocks noGrp="1"/>
          </p:cNvSpPr>
          <p:nvPr>
            <p:ph type="title"/>
          </p:nvPr>
        </p:nvSpPr>
        <p:spPr/>
        <p:txBody>
          <a:bodyPr/>
          <a:lstStyle/>
          <a:p>
            <a:r>
              <a:rPr lang="en-US" b="1" dirty="0"/>
              <a:t>Writing to a Python Text File Using write()</a:t>
            </a:r>
            <a:br>
              <a:rPr lang="en-US" b="1" dirty="0"/>
            </a:br>
            <a:endParaRPr lang="en-US" dirty="0"/>
          </a:p>
        </p:txBody>
      </p:sp>
      <p:sp>
        <p:nvSpPr>
          <p:cNvPr id="3" name="Content Placeholder 2">
            <a:extLst>
              <a:ext uri="{FF2B5EF4-FFF2-40B4-BE49-F238E27FC236}">
                <a16:creationId xmlns:a16="http://schemas.microsoft.com/office/drawing/2014/main" id="{86D3924D-EB70-78EA-C401-F5CD40AEF214}"/>
              </a:ext>
            </a:extLst>
          </p:cNvPr>
          <p:cNvSpPr>
            <a:spLocks noGrp="1"/>
          </p:cNvSpPr>
          <p:nvPr>
            <p:ph idx="1"/>
          </p:nvPr>
        </p:nvSpPr>
        <p:spPr>
          <a:xfrm>
            <a:off x="3869268" y="864108"/>
            <a:ext cx="7846482" cy="5593842"/>
          </a:xfrm>
        </p:spPr>
        <p:txBody>
          <a:bodyPr>
            <a:noAutofit/>
          </a:bodyPr>
          <a:lstStyle/>
          <a:p>
            <a:pPr marL="0" indent="0">
              <a:buNone/>
            </a:pPr>
            <a:r>
              <a:rPr lang="en-US" sz="2400" b="1" dirty="0"/>
              <a:t>write():</a:t>
            </a:r>
            <a:r>
              <a:rPr lang="en-US" sz="2400" dirty="0"/>
              <a:t> Inserts the string str1 in a single line in the text file.</a:t>
            </a:r>
          </a:p>
          <a:p>
            <a:pPr marL="0" indent="0">
              <a:buNone/>
            </a:pPr>
            <a:r>
              <a:rPr lang="en-US" altLang="en-US" sz="2400" dirty="0" err="1">
                <a:solidFill>
                  <a:schemeClr val="tx1"/>
                </a:solidFill>
                <a:latin typeface="Consolas" panose="020B0609020204030204" pitchFamily="49" charset="0"/>
              </a:rPr>
              <a:t>File_object.write</a:t>
            </a:r>
            <a:r>
              <a:rPr lang="en-US" altLang="en-US" sz="2400" dirty="0">
                <a:solidFill>
                  <a:schemeClr val="tx1"/>
                </a:solidFill>
                <a:latin typeface="Consolas" panose="020B0609020204030204" pitchFamily="49" charset="0"/>
              </a:rPr>
              <a:t>(str1)</a:t>
            </a:r>
            <a:r>
              <a:rPr lang="en-US" altLang="en-US" sz="2400" dirty="0">
                <a:solidFill>
                  <a:schemeClr val="tx1"/>
                </a:solidFill>
              </a:rPr>
              <a:t> </a:t>
            </a:r>
            <a:endParaRPr lang="en-US" altLang="en-US" sz="2400" dirty="0">
              <a:solidFill>
                <a:schemeClr val="tx1"/>
              </a:solidFill>
              <a:latin typeface="Arial" panose="020B0604020202020204" pitchFamily="34" charset="0"/>
            </a:endParaRPr>
          </a:p>
          <a:p>
            <a:pPr marL="0" indent="0">
              <a:buNone/>
            </a:pPr>
            <a:r>
              <a:rPr lang="en-US" sz="2400" dirty="0"/>
              <a:t>Example </a:t>
            </a:r>
          </a:p>
          <a:p>
            <a:pPr marL="0" indent="0">
              <a:buNone/>
            </a:pPr>
            <a:r>
              <a:rPr lang="en-US" sz="2400" dirty="0"/>
              <a:t>file = open("Employees.txt", "w") </a:t>
            </a:r>
          </a:p>
          <a:p>
            <a:pPr marL="0" indent="0">
              <a:buNone/>
            </a:pPr>
            <a:r>
              <a:rPr lang="en-US" sz="2400" dirty="0"/>
              <a:t>for </a:t>
            </a:r>
            <a:r>
              <a:rPr lang="en-US" sz="2400" dirty="0" err="1"/>
              <a:t>i</a:t>
            </a:r>
            <a:r>
              <a:rPr lang="en-US" sz="2400" dirty="0"/>
              <a:t> in range(3): </a:t>
            </a:r>
          </a:p>
          <a:p>
            <a:pPr marL="502920" lvl="1" indent="0">
              <a:buNone/>
            </a:pPr>
            <a:r>
              <a:rPr lang="en-US" sz="2200" dirty="0"/>
              <a:t>name = input("Enter the name of the employee: ") </a:t>
            </a:r>
          </a:p>
          <a:p>
            <a:pPr marL="502920" lvl="1" indent="0">
              <a:buNone/>
            </a:pPr>
            <a:r>
              <a:rPr lang="en-US" sz="2200" dirty="0" err="1"/>
              <a:t>file.write</a:t>
            </a:r>
            <a:r>
              <a:rPr lang="en-US" sz="2200" dirty="0"/>
              <a:t>(name) </a:t>
            </a:r>
          </a:p>
          <a:p>
            <a:pPr marL="502920" lvl="1" indent="0">
              <a:buNone/>
            </a:pPr>
            <a:r>
              <a:rPr lang="en-US" sz="2200" dirty="0" err="1"/>
              <a:t>file.write</a:t>
            </a:r>
            <a:r>
              <a:rPr lang="en-US" sz="2200" dirty="0"/>
              <a:t>("\n") </a:t>
            </a:r>
          </a:p>
          <a:p>
            <a:pPr marL="502920" lvl="1" indent="0">
              <a:buNone/>
            </a:pPr>
            <a:r>
              <a:rPr lang="en-US" sz="2200" dirty="0" err="1"/>
              <a:t>file.close</a:t>
            </a:r>
            <a:r>
              <a:rPr lang="en-US" sz="2200" dirty="0"/>
              <a:t>() </a:t>
            </a:r>
          </a:p>
          <a:p>
            <a:pPr marL="0" indent="0">
              <a:buNone/>
            </a:pPr>
            <a:r>
              <a:rPr lang="en-US" sz="2400" dirty="0"/>
              <a:t>print("Data is written into the file.")</a:t>
            </a:r>
          </a:p>
          <a:p>
            <a:pPr marL="0" indent="0">
              <a:buNone/>
            </a:pPr>
            <a:endParaRPr lang="en-US" sz="2400" dirty="0"/>
          </a:p>
        </p:txBody>
      </p:sp>
      <p:sp>
        <p:nvSpPr>
          <p:cNvPr id="4" name="Rectangle 1">
            <a:extLst>
              <a:ext uri="{FF2B5EF4-FFF2-40B4-BE49-F238E27FC236}">
                <a16:creationId xmlns:a16="http://schemas.microsoft.com/office/drawing/2014/main" id="{C5ED4B83-2B19-9713-591D-A0FD19C434D2}"/>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5411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A5AB3-AF77-442A-3F1A-8A2DC2F77FDC}"/>
              </a:ext>
            </a:extLst>
          </p:cNvPr>
          <p:cNvSpPr>
            <a:spLocks noGrp="1"/>
          </p:cNvSpPr>
          <p:nvPr>
            <p:ph type="title"/>
          </p:nvPr>
        </p:nvSpPr>
        <p:spPr/>
        <p:txBody>
          <a:bodyPr/>
          <a:lstStyle/>
          <a:p>
            <a:r>
              <a:rPr lang="en-US" b="1" dirty="0"/>
              <a:t>Writing to a Text File Using </a:t>
            </a:r>
            <a:r>
              <a:rPr lang="en-US" b="1" dirty="0" err="1"/>
              <a:t>writelines</a:t>
            </a:r>
            <a:r>
              <a:rPr lang="en-US" b="1" dirty="0"/>
              <a:t>()</a:t>
            </a:r>
            <a:br>
              <a:rPr lang="en-US" b="1" dirty="0"/>
            </a:br>
            <a:endParaRPr lang="en-US" dirty="0"/>
          </a:p>
        </p:txBody>
      </p:sp>
      <p:sp>
        <p:nvSpPr>
          <p:cNvPr id="3" name="Content Placeholder 2">
            <a:extLst>
              <a:ext uri="{FF2B5EF4-FFF2-40B4-BE49-F238E27FC236}">
                <a16:creationId xmlns:a16="http://schemas.microsoft.com/office/drawing/2014/main" id="{DDA06423-8F17-DB56-DF02-D9FBFAA83533}"/>
              </a:ext>
            </a:extLst>
          </p:cNvPr>
          <p:cNvSpPr>
            <a:spLocks noGrp="1"/>
          </p:cNvSpPr>
          <p:nvPr>
            <p:ph idx="1"/>
          </p:nvPr>
        </p:nvSpPr>
        <p:spPr>
          <a:xfrm>
            <a:off x="3416371" y="217170"/>
            <a:ext cx="8775630" cy="6423660"/>
          </a:xfrm>
        </p:spPr>
        <p:txBody>
          <a:bodyPr>
            <a:normAutofit/>
          </a:bodyPr>
          <a:lstStyle/>
          <a:p>
            <a:pPr marL="0" indent="0">
              <a:buNone/>
            </a:pPr>
            <a:r>
              <a:rPr lang="en-US" sz="2400" b="1" dirty="0" err="1"/>
              <a:t>writelines</a:t>
            </a:r>
            <a:r>
              <a:rPr lang="en-US" sz="2400" b="1" dirty="0"/>
              <a:t>(): </a:t>
            </a:r>
            <a:r>
              <a:rPr lang="en-US" sz="2400" dirty="0"/>
              <a:t>For a list of string elements, each string is inserted in the text file. Used to insert multiple strings at a single time.</a:t>
            </a:r>
          </a:p>
          <a:p>
            <a:pPr marL="0" indent="0">
              <a:buNone/>
            </a:pPr>
            <a:r>
              <a:rPr lang="en-US" sz="2400" dirty="0"/>
              <a:t>Syntax</a:t>
            </a:r>
          </a:p>
          <a:p>
            <a:pPr marL="0" indent="0">
              <a:buNone/>
            </a:pPr>
            <a:r>
              <a:rPr lang="en-US" altLang="en-US" sz="2400" dirty="0" err="1">
                <a:solidFill>
                  <a:schemeClr val="tx1"/>
                </a:solidFill>
                <a:latin typeface="Consolas" panose="020B0609020204030204" pitchFamily="49" charset="0"/>
              </a:rPr>
              <a:t>File_object.writelines</a:t>
            </a:r>
            <a:r>
              <a:rPr lang="en-US" altLang="en-US" sz="2400" dirty="0">
                <a:solidFill>
                  <a:schemeClr val="tx1"/>
                </a:solidFill>
                <a:latin typeface="Consolas" panose="020B0609020204030204" pitchFamily="49" charset="0"/>
              </a:rPr>
              <a:t>(L) for L = [str1,str2,str3]</a:t>
            </a:r>
            <a:r>
              <a:rPr lang="en-US" altLang="en-US" sz="2400" dirty="0">
                <a:solidFill>
                  <a:schemeClr val="tx1"/>
                </a:solidFill>
              </a:rPr>
              <a:t> </a:t>
            </a:r>
            <a:endParaRPr lang="en-US" altLang="en-US" sz="2400" dirty="0">
              <a:solidFill>
                <a:schemeClr val="tx1"/>
              </a:solidFill>
              <a:latin typeface="Arial" panose="020B0604020202020204" pitchFamily="34" charset="0"/>
            </a:endParaRPr>
          </a:p>
          <a:p>
            <a:pPr marL="0" indent="0">
              <a:buNone/>
            </a:pPr>
            <a:r>
              <a:rPr lang="en-US" sz="2400" dirty="0"/>
              <a:t>file1 = open("Employees.txt", "w") </a:t>
            </a:r>
          </a:p>
          <a:p>
            <a:pPr marL="0" indent="0">
              <a:buNone/>
            </a:pPr>
            <a:r>
              <a:rPr lang="en-US" sz="2400" dirty="0" err="1"/>
              <a:t>lst</a:t>
            </a:r>
            <a:r>
              <a:rPr lang="en-US" sz="2400" dirty="0"/>
              <a:t> = [] </a:t>
            </a:r>
          </a:p>
          <a:p>
            <a:pPr marL="0" indent="0">
              <a:buNone/>
            </a:pPr>
            <a:r>
              <a:rPr lang="en-US" sz="2400" dirty="0"/>
              <a:t>for </a:t>
            </a:r>
            <a:r>
              <a:rPr lang="en-US" sz="2400" dirty="0" err="1"/>
              <a:t>i</a:t>
            </a:r>
            <a:r>
              <a:rPr lang="en-US" sz="2400" dirty="0"/>
              <a:t> in range(3): </a:t>
            </a:r>
          </a:p>
          <a:p>
            <a:pPr marL="0" indent="0">
              <a:buNone/>
            </a:pPr>
            <a:r>
              <a:rPr lang="en-US" sz="2400" dirty="0"/>
              <a:t>	name = input("Enter the name of the employee: ") </a:t>
            </a:r>
          </a:p>
          <a:p>
            <a:pPr marL="0" indent="0">
              <a:buNone/>
            </a:pPr>
            <a:r>
              <a:rPr lang="en-US" sz="2400" dirty="0"/>
              <a:t>	</a:t>
            </a:r>
            <a:r>
              <a:rPr lang="en-US" sz="2400" dirty="0" err="1"/>
              <a:t>lst.append</a:t>
            </a:r>
            <a:r>
              <a:rPr lang="en-US" sz="2400" dirty="0"/>
              <a:t>(name + '\n') </a:t>
            </a:r>
          </a:p>
          <a:p>
            <a:pPr marL="0" indent="0">
              <a:buNone/>
            </a:pPr>
            <a:r>
              <a:rPr lang="en-US" sz="2400" dirty="0"/>
              <a:t>file1.writelines(</a:t>
            </a:r>
            <a:r>
              <a:rPr lang="en-US" sz="2400" dirty="0" err="1"/>
              <a:t>lst</a:t>
            </a:r>
            <a:r>
              <a:rPr lang="en-US" sz="2400" dirty="0"/>
              <a:t>) </a:t>
            </a:r>
          </a:p>
          <a:p>
            <a:pPr marL="0" indent="0">
              <a:buNone/>
            </a:pPr>
            <a:r>
              <a:rPr lang="en-US" sz="2400" dirty="0"/>
              <a:t>file1.close() </a:t>
            </a:r>
          </a:p>
          <a:p>
            <a:pPr marL="0" indent="0">
              <a:buNone/>
            </a:pPr>
            <a:r>
              <a:rPr lang="en-US" sz="2400" dirty="0"/>
              <a:t>print("Data is written into the file.")</a:t>
            </a:r>
          </a:p>
        </p:txBody>
      </p:sp>
      <p:sp>
        <p:nvSpPr>
          <p:cNvPr id="4" name="Rectangle 1">
            <a:extLst>
              <a:ext uri="{FF2B5EF4-FFF2-40B4-BE49-F238E27FC236}">
                <a16:creationId xmlns:a16="http://schemas.microsoft.com/office/drawing/2014/main" id="{F3E4F0A8-84E2-8416-434A-ADD876D32754}"/>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4841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8F3E8-FB3C-BF01-E055-808A114AD154}"/>
              </a:ext>
            </a:extLst>
          </p:cNvPr>
          <p:cNvSpPr>
            <a:spLocks noGrp="1"/>
          </p:cNvSpPr>
          <p:nvPr>
            <p:ph type="title"/>
          </p:nvPr>
        </p:nvSpPr>
        <p:spPr/>
        <p:txBody>
          <a:bodyPr/>
          <a:lstStyle/>
          <a:p>
            <a:r>
              <a:rPr lang="en-US" b="1" dirty="0"/>
              <a:t>Python Read Text File</a:t>
            </a:r>
            <a:br>
              <a:rPr lang="en-US" b="1" dirty="0"/>
            </a:br>
            <a:endParaRPr lang="en-US" dirty="0"/>
          </a:p>
        </p:txBody>
      </p:sp>
      <p:sp>
        <p:nvSpPr>
          <p:cNvPr id="3" name="Content Placeholder 2">
            <a:extLst>
              <a:ext uri="{FF2B5EF4-FFF2-40B4-BE49-F238E27FC236}">
                <a16:creationId xmlns:a16="http://schemas.microsoft.com/office/drawing/2014/main" id="{90C82F8D-1663-972D-5627-B5C40683385E}"/>
              </a:ext>
            </a:extLst>
          </p:cNvPr>
          <p:cNvSpPr>
            <a:spLocks noGrp="1"/>
          </p:cNvSpPr>
          <p:nvPr>
            <p:ph idx="1"/>
          </p:nvPr>
        </p:nvSpPr>
        <p:spPr/>
        <p:txBody>
          <a:bodyPr/>
          <a:lstStyle/>
          <a:p>
            <a:pPr marL="0" indent="0" fontAlgn="base">
              <a:buNone/>
            </a:pPr>
            <a:r>
              <a:rPr lang="en-US" sz="2800" dirty="0"/>
              <a:t>There are three ways to read txt file in Python:</a:t>
            </a:r>
          </a:p>
          <a:p>
            <a:pPr fontAlgn="base"/>
            <a:r>
              <a:rPr lang="en-US" sz="2800" dirty="0"/>
              <a:t>Using read()</a:t>
            </a:r>
          </a:p>
          <a:p>
            <a:pPr fontAlgn="base"/>
            <a:r>
              <a:rPr lang="en-US" sz="2800" dirty="0"/>
              <a:t>Using </a:t>
            </a:r>
            <a:r>
              <a:rPr lang="en-US" sz="2800" dirty="0" err="1"/>
              <a:t>readline</a:t>
            </a:r>
            <a:r>
              <a:rPr lang="en-US" sz="2800" dirty="0"/>
              <a:t>()</a:t>
            </a:r>
          </a:p>
          <a:p>
            <a:pPr fontAlgn="base"/>
            <a:r>
              <a:rPr lang="en-US" sz="2800" dirty="0"/>
              <a:t>Using </a:t>
            </a:r>
            <a:r>
              <a:rPr lang="en-US" sz="2800" u="sng" dirty="0" err="1">
                <a:hlinkClick r:id="rId2"/>
              </a:rPr>
              <a:t>readlines</a:t>
            </a:r>
            <a:r>
              <a:rPr lang="en-US" sz="2800" u="sng" dirty="0">
                <a:hlinkClick r:id="rId2"/>
              </a:rPr>
              <a:t>()</a:t>
            </a:r>
            <a:endParaRPr lang="en-US" sz="2800" dirty="0"/>
          </a:p>
          <a:p>
            <a:endParaRPr lang="en-US" dirty="0"/>
          </a:p>
        </p:txBody>
      </p:sp>
    </p:spTree>
    <p:extLst>
      <p:ext uri="{BB962C8B-B14F-4D97-AF65-F5344CB8AC3E}">
        <p14:creationId xmlns:p14="http://schemas.microsoft.com/office/powerpoint/2010/main" val="3562743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7D3A8-B99D-AF17-BB86-0D8C6000E0B6}"/>
              </a:ext>
            </a:extLst>
          </p:cNvPr>
          <p:cNvSpPr>
            <a:spLocks noGrp="1"/>
          </p:cNvSpPr>
          <p:nvPr>
            <p:ph type="title"/>
          </p:nvPr>
        </p:nvSpPr>
        <p:spPr/>
        <p:txBody>
          <a:bodyPr/>
          <a:lstStyle/>
          <a:p>
            <a:r>
              <a:rPr lang="en-US" b="1" dirty="0"/>
              <a:t>Reading From a File Using read()</a:t>
            </a:r>
            <a:endParaRPr lang="en-US" dirty="0"/>
          </a:p>
        </p:txBody>
      </p:sp>
      <p:sp>
        <p:nvSpPr>
          <p:cNvPr id="3" name="Content Placeholder 2">
            <a:extLst>
              <a:ext uri="{FF2B5EF4-FFF2-40B4-BE49-F238E27FC236}">
                <a16:creationId xmlns:a16="http://schemas.microsoft.com/office/drawing/2014/main" id="{EFD7B0B5-62C0-E760-4E5A-316C3FCCF043}"/>
              </a:ext>
            </a:extLst>
          </p:cNvPr>
          <p:cNvSpPr>
            <a:spLocks noGrp="1"/>
          </p:cNvSpPr>
          <p:nvPr>
            <p:ph idx="1"/>
          </p:nvPr>
        </p:nvSpPr>
        <p:spPr/>
        <p:txBody>
          <a:bodyPr>
            <a:normAutofit/>
          </a:bodyPr>
          <a:lstStyle/>
          <a:p>
            <a:pPr marL="0" indent="0">
              <a:buNone/>
            </a:pPr>
            <a:r>
              <a:rPr lang="en-US" sz="2800" b="1" dirty="0"/>
              <a:t>read():</a:t>
            </a:r>
            <a:r>
              <a:rPr lang="en-US" sz="2800" dirty="0"/>
              <a:t> Returns the read bytes in form of a string. Reads n bytes, if no n specified, reads the entire file.</a:t>
            </a:r>
          </a:p>
          <a:p>
            <a:pPr marL="0" indent="0">
              <a:buNone/>
            </a:pPr>
            <a:endParaRPr lang="en-US" sz="2800" dirty="0"/>
          </a:p>
          <a:p>
            <a:pPr marL="0" indent="0">
              <a:buNone/>
            </a:pPr>
            <a:r>
              <a:rPr lang="en-US" altLang="en-US" sz="2800" dirty="0" err="1">
                <a:solidFill>
                  <a:schemeClr val="tx1"/>
                </a:solidFill>
                <a:latin typeface="Consolas" panose="020B0609020204030204" pitchFamily="49" charset="0"/>
              </a:rPr>
              <a:t>File_object.read</a:t>
            </a:r>
            <a:r>
              <a:rPr lang="en-US" altLang="en-US" sz="2800" dirty="0">
                <a:solidFill>
                  <a:schemeClr val="tx1"/>
                </a:solidFill>
                <a:latin typeface="Consolas" panose="020B0609020204030204" pitchFamily="49" charset="0"/>
              </a:rPr>
              <a:t>([n])</a:t>
            </a:r>
            <a:r>
              <a:rPr lang="en-US" altLang="en-US" sz="2800" dirty="0">
                <a:solidFill>
                  <a:schemeClr val="tx1"/>
                </a:solidFill>
              </a:rPr>
              <a:t> </a:t>
            </a:r>
            <a:endParaRPr lang="en-US" altLang="en-US" sz="2800" dirty="0">
              <a:solidFill>
                <a:schemeClr val="tx1"/>
              </a:solidFill>
              <a:latin typeface="Arial" panose="020B0604020202020204" pitchFamily="34" charset="0"/>
            </a:endParaRPr>
          </a:p>
          <a:p>
            <a:pPr marL="0" indent="0">
              <a:buNone/>
            </a:pPr>
            <a:endParaRPr lang="en-US" sz="2800" dirty="0"/>
          </a:p>
        </p:txBody>
      </p:sp>
      <p:sp>
        <p:nvSpPr>
          <p:cNvPr id="4" name="Rectangle 1">
            <a:extLst>
              <a:ext uri="{FF2B5EF4-FFF2-40B4-BE49-F238E27FC236}">
                <a16:creationId xmlns:a16="http://schemas.microsoft.com/office/drawing/2014/main" id="{C0BABA85-6E31-121F-9203-5B7040744B6F}"/>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72431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26D11-078A-DD1B-DC26-C16226DED11E}"/>
              </a:ext>
            </a:extLst>
          </p:cNvPr>
          <p:cNvSpPr>
            <a:spLocks noGrp="1"/>
          </p:cNvSpPr>
          <p:nvPr>
            <p:ph type="title"/>
          </p:nvPr>
        </p:nvSpPr>
        <p:spPr/>
        <p:txBody>
          <a:bodyPr/>
          <a:lstStyle/>
          <a:p>
            <a:r>
              <a:rPr lang="en-US" b="1" dirty="0"/>
              <a:t>Reading a Text File Using </a:t>
            </a:r>
            <a:r>
              <a:rPr lang="en-US" b="1" dirty="0" err="1"/>
              <a:t>readline</a:t>
            </a:r>
            <a:r>
              <a:rPr lang="en-US" b="1" dirty="0"/>
              <a:t>()</a:t>
            </a:r>
            <a:endParaRPr lang="en-US" dirty="0"/>
          </a:p>
        </p:txBody>
      </p:sp>
      <p:sp>
        <p:nvSpPr>
          <p:cNvPr id="3" name="Content Placeholder 2">
            <a:extLst>
              <a:ext uri="{FF2B5EF4-FFF2-40B4-BE49-F238E27FC236}">
                <a16:creationId xmlns:a16="http://schemas.microsoft.com/office/drawing/2014/main" id="{3F2A91DF-CBCA-B643-5F8E-DDFA8FB3F6AE}"/>
              </a:ext>
            </a:extLst>
          </p:cNvPr>
          <p:cNvSpPr>
            <a:spLocks noGrp="1"/>
          </p:cNvSpPr>
          <p:nvPr>
            <p:ph idx="1"/>
          </p:nvPr>
        </p:nvSpPr>
        <p:spPr/>
        <p:txBody>
          <a:bodyPr/>
          <a:lstStyle/>
          <a:p>
            <a:pPr marL="0" indent="0">
              <a:buNone/>
            </a:pPr>
            <a:r>
              <a:rPr lang="en-US" sz="2800" b="1" dirty="0" err="1"/>
              <a:t>readline</a:t>
            </a:r>
            <a:r>
              <a:rPr lang="en-US" sz="2800" b="1" dirty="0"/>
              <a:t>():</a:t>
            </a:r>
            <a:r>
              <a:rPr lang="en-US" sz="2800" dirty="0"/>
              <a:t> Reads a line of the file and returns in form of a </a:t>
            </a:r>
            <a:r>
              <a:rPr lang="en-US" sz="2800" dirty="0" err="1"/>
              <a:t>string.For</a:t>
            </a:r>
            <a:r>
              <a:rPr lang="en-US" sz="2800" dirty="0"/>
              <a:t> specified n, reads at most n bytes. However, does not reads more than one line, even if n exceeds the length of the line.</a:t>
            </a:r>
          </a:p>
          <a:p>
            <a:pPr marL="0" indent="0">
              <a:buNone/>
            </a:pPr>
            <a:endParaRPr lang="en-US" sz="2800" dirty="0"/>
          </a:p>
          <a:p>
            <a:pPr marL="0" indent="0">
              <a:buNone/>
            </a:pPr>
            <a:endParaRPr lang="en-US" sz="2800" dirty="0"/>
          </a:p>
          <a:p>
            <a:pPr marL="0" indent="0">
              <a:buNone/>
            </a:pPr>
            <a:r>
              <a:rPr lang="en-US" altLang="en-US" sz="2800" dirty="0" err="1">
                <a:solidFill>
                  <a:schemeClr val="tx1"/>
                </a:solidFill>
                <a:latin typeface="Consolas" panose="020B0609020204030204" pitchFamily="49" charset="0"/>
              </a:rPr>
              <a:t>File_object.readline</a:t>
            </a:r>
            <a:r>
              <a:rPr lang="en-US" altLang="en-US" sz="2800" dirty="0">
                <a:solidFill>
                  <a:schemeClr val="tx1"/>
                </a:solidFill>
                <a:latin typeface="Consolas" panose="020B0609020204030204" pitchFamily="49" charset="0"/>
              </a:rPr>
              <a:t>([n])</a:t>
            </a:r>
            <a:r>
              <a:rPr lang="en-US" altLang="en-US" sz="2800" dirty="0">
                <a:solidFill>
                  <a:schemeClr val="tx1"/>
                </a:solidFill>
              </a:rPr>
              <a:t> </a:t>
            </a:r>
            <a:endParaRPr lang="en-US" altLang="en-US" sz="2800" dirty="0">
              <a:solidFill>
                <a:schemeClr val="tx1"/>
              </a:solidFill>
              <a:latin typeface="Arial" panose="020B0604020202020204" pitchFamily="34" charset="0"/>
            </a:endParaRPr>
          </a:p>
          <a:p>
            <a:endParaRPr lang="en-US" dirty="0"/>
          </a:p>
          <a:p>
            <a:endParaRPr lang="en-US" dirty="0"/>
          </a:p>
        </p:txBody>
      </p:sp>
      <p:sp>
        <p:nvSpPr>
          <p:cNvPr id="4" name="Rectangle 1">
            <a:extLst>
              <a:ext uri="{FF2B5EF4-FFF2-40B4-BE49-F238E27FC236}">
                <a16:creationId xmlns:a16="http://schemas.microsoft.com/office/drawing/2014/main" id="{8945C2B7-9423-585A-4481-501D23775BAC}"/>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15495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966E-A9A0-18DA-003D-AA519106B575}"/>
              </a:ext>
            </a:extLst>
          </p:cNvPr>
          <p:cNvSpPr>
            <a:spLocks noGrp="1"/>
          </p:cNvSpPr>
          <p:nvPr>
            <p:ph type="title"/>
          </p:nvPr>
        </p:nvSpPr>
        <p:spPr/>
        <p:txBody>
          <a:bodyPr/>
          <a:lstStyle/>
          <a:p>
            <a:r>
              <a:rPr lang="en-US" b="1" dirty="0"/>
              <a:t>Reading a File Using </a:t>
            </a:r>
            <a:r>
              <a:rPr lang="en-US" b="1" dirty="0" err="1"/>
              <a:t>readlines</a:t>
            </a:r>
            <a:r>
              <a:rPr lang="en-US" b="1" dirty="0"/>
              <a:t>()</a:t>
            </a:r>
            <a:endParaRPr lang="en-US" dirty="0"/>
          </a:p>
        </p:txBody>
      </p:sp>
      <p:sp>
        <p:nvSpPr>
          <p:cNvPr id="3" name="Content Placeholder 2">
            <a:extLst>
              <a:ext uri="{FF2B5EF4-FFF2-40B4-BE49-F238E27FC236}">
                <a16:creationId xmlns:a16="http://schemas.microsoft.com/office/drawing/2014/main" id="{10A8BA3A-7ADB-6B4B-AA79-3670CEA341EB}"/>
              </a:ext>
            </a:extLst>
          </p:cNvPr>
          <p:cNvSpPr>
            <a:spLocks noGrp="1"/>
          </p:cNvSpPr>
          <p:nvPr>
            <p:ph idx="1"/>
          </p:nvPr>
        </p:nvSpPr>
        <p:spPr/>
        <p:txBody>
          <a:bodyPr>
            <a:normAutofit/>
          </a:bodyPr>
          <a:lstStyle/>
          <a:p>
            <a:pPr marL="0" indent="0">
              <a:buNone/>
            </a:pPr>
            <a:r>
              <a:rPr lang="en-US" sz="2800" b="1" dirty="0" err="1"/>
              <a:t>readlines</a:t>
            </a:r>
            <a:r>
              <a:rPr lang="en-US" sz="2800" b="1" dirty="0"/>
              <a:t>():</a:t>
            </a:r>
            <a:r>
              <a:rPr lang="en-US" sz="2800" dirty="0"/>
              <a:t> Reads all the lines and return them as each line a string element in a list.</a:t>
            </a:r>
          </a:p>
          <a:p>
            <a:pPr marL="0" indent="0">
              <a:buNone/>
            </a:pPr>
            <a:endParaRPr lang="en-US" sz="2800" dirty="0"/>
          </a:p>
          <a:p>
            <a:pPr marL="0" indent="0">
              <a:buNone/>
            </a:pPr>
            <a:r>
              <a:rPr lang="en-US" altLang="en-US" sz="2800" dirty="0" err="1">
                <a:solidFill>
                  <a:schemeClr val="tx1"/>
                </a:solidFill>
                <a:latin typeface="Consolas" panose="020B0609020204030204" pitchFamily="49" charset="0"/>
              </a:rPr>
              <a:t>File_object.readlines</a:t>
            </a:r>
            <a:r>
              <a:rPr lang="en-US" altLang="en-US" sz="2800" dirty="0">
                <a:solidFill>
                  <a:schemeClr val="tx1"/>
                </a:solidFill>
                <a:latin typeface="Consolas" panose="020B0609020204030204" pitchFamily="49" charset="0"/>
              </a:rPr>
              <a:t>()</a:t>
            </a:r>
            <a:r>
              <a:rPr lang="en-US" altLang="en-US" sz="2800" dirty="0">
                <a:solidFill>
                  <a:schemeClr val="tx1"/>
                </a:solidFill>
              </a:rPr>
              <a:t> </a:t>
            </a:r>
          </a:p>
          <a:p>
            <a:pPr marL="0" indent="0">
              <a:buNone/>
            </a:pPr>
            <a:endParaRPr lang="en-US" altLang="en-US" sz="2800" dirty="0">
              <a:solidFill>
                <a:schemeClr val="tx1"/>
              </a:solidFill>
              <a:latin typeface="Arial" panose="020B0604020202020204" pitchFamily="34" charset="0"/>
            </a:endParaRPr>
          </a:p>
          <a:p>
            <a:pPr marL="0" indent="0">
              <a:buNone/>
            </a:pPr>
            <a:r>
              <a:rPr lang="en-US" sz="2800" b="1" dirty="0"/>
              <a:t>Note: </a:t>
            </a:r>
            <a:r>
              <a:rPr lang="en-US" sz="2800" dirty="0"/>
              <a:t>'\n' is treated as a special character of two bytes.</a:t>
            </a:r>
          </a:p>
        </p:txBody>
      </p:sp>
      <p:sp>
        <p:nvSpPr>
          <p:cNvPr id="4" name="Rectangle 1">
            <a:extLst>
              <a:ext uri="{FF2B5EF4-FFF2-40B4-BE49-F238E27FC236}">
                <a16:creationId xmlns:a16="http://schemas.microsoft.com/office/drawing/2014/main" id="{6E552232-514D-1C3E-168A-312F3DCB99F2}"/>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24634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FD59F3-18D0-2EE3-2C32-A94DD65085C7}"/>
              </a:ext>
            </a:extLst>
          </p:cNvPr>
          <p:cNvSpPr txBox="1"/>
          <p:nvPr/>
        </p:nvSpPr>
        <p:spPr>
          <a:xfrm>
            <a:off x="548640" y="243512"/>
            <a:ext cx="10184130" cy="6001643"/>
          </a:xfrm>
          <a:prstGeom prst="rect">
            <a:avLst/>
          </a:prstGeom>
          <a:noFill/>
        </p:spPr>
        <p:txBody>
          <a:bodyPr wrap="square">
            <a:spAutoFit/>
          </a:bodyPr>
          <a:lstStyle/>
          <a:p>
            <a:r>
              <a:rPr lang="en-US" sz="2400" dirty="0"/>
              <a:t>file1 = open("myfile.txt", "w")</a:t>
            </a:r>
          </a:p>
          <a:p>
            <a:r>
              <a:rPr lang="en-US" sz="2400" dirty="0"/>
              <a:t>L = ["This is Delhi \n", "This is Paris \n", "This is London \n"]</a:t>
            </a:r>
          </a:p>
          <a:p>
            <a:r>
              <a:rPr lang="en-US" sz="2400" dirty="0"/>
              <a:t># \n is placed to indicate EOL (End of Line)</a:t>
            </a:r>
          </a:p>
          <a:p>
            <a:r>
              <a:rPr lang="en-US" sz="2400" dirty="0"/>
              <a:t>file1.write("Hello \n")</a:t>
            </a:r>
          </a:p>
          <a:p>
            <a:r>
              <a:rPr lang="en-US" sz="2400" dirty="0"/>
              <a:t>file1.writelines(L)</a:t>
            </a:r>
          </a:p>
          <a:p>
            <a:r>
              <a:rPr lang="en-US" sz="2400" dirty="0"/>
              <a:t>file1.close()  # to change file access modes</a:t>
            </a:r>
          </a:p>
          <a:p>
            <a:r>
              <a:rPr lang="en-US" sz="2400" dirty="0"/>
              <a:t>file1 = open("myfile.txt", "r+")</a:t>
            </a:r>
          </a:p>
          <a:p>
            <a:r>
              <a:rPr lang="en-US" sz="2400" dirty="0"/>
              <a:t>print("Output of Read function is ")</a:t>
            </a:r>
          </a:p>
          <a:p>
            <a:r>
              <a:rPr lang="en-US" sz="2400" dirty="0"/>
              <a:t>print(file1.read())</a:t>
            </a:r>
          </a:p>
          <a:p>
            <a:r>
              <a:rPr lang="en-US" sz="2400" dirty="0"/>
              <a:t>print()</a:t>
            </a:r>
          </a:p>
          <a:p>
            <a:r>
              <a:rPr lang="en-US" sz="2400" dirty="0"/>
              <a:t># seek(n) takes the file handle to the nth byte from the beginning.</a:t>
            </a:r>
          </a:p>
          <a:p>
            <a:r>
              <a:rPr lang="en-US" sz="2400" dirty="0"/>
              <a:t>file1.seek(0)</a:t>
            </a:r>
          </a:p>
          <a:p>
            <a:r>
              <a:rPr lang="en-US" sz="2400" dirty="0"/>
              <a:t>print("Output of </a:t>
            </a:r>
            <a:r>
              <a:rPr lang="en-US" sz="2400" dirty="0" err="1"/>
              <a:t>Readline</a:t>
            </a:r>
            <a:r>
              <a:rPr lang="en-US" sz="2400" dirty="0"/>
              <a:t> function is ")</a:t>
            </a:r>
          </a:p>
          <a:p>
            <a:r>
              <a:rPr lang="en-US" sz="2400" dirty="0"/>
              <a:t>print(file1.readline())</a:t>
            </a:r>
          </a:p>
          <a:p>
            <a:r>
              <a:rPr lang="en-US" sz="2400" dirty="0"/>
              <a:t>print()</a:t>
            </a:r>
          </a:p>
          <a:p>
            <a:endParaRPr lang="en-US" sz="2400" dirty="0"/>
          </a:p>
        </p:txBody>
      </p:sp>
    </p:spTree>
    <p:extLst>
      <p:ext uri="{BB962C8B-B14F-4D97-AF65-F5344CB8AC3E}">
        <p14:creationId xmlns:p14="http://schemas.microsoft.com/office/powerpoint/2010/main" val="1190812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488420-C6E0-2BE3-9165-2D713A567719}"/>
              </a:ext>
            </a:extLst>
          </p:cNvPr>
          <p:cNvSpPr txBox="1"/>
          <p:nvPr/>
        </p:nvSpPr>
        <p:spPr>
          <a:xfrm>
            <a:off x="1254443" y="612844"/>
            <a:ext cx="6097904" cy="5632311"/>
          </a:xfrm>
          <a:prstGeom prst="rect">
            <a:avLst/>
          </a:prstGeom>
          <a:noFill/>
        </p:spPr>
        <p:txBody>
          <a:bodyPr wrap="square">
            <a:spAutoFit/>
          </a:bodyPr>
          <a:lstStyle/>
          <a:p>
            <a:r>
              <a:rPr lang="en-US" sz="2400" dirty="0"/>
              <a:t>file1.seek(0)</a:t>
            </a:r>
          </a:p>
          <a:p>
            <a:r>
              <a:rPr lang="en-US" sz="2400" dirty="0"/>
              <a:t># To show difference between read and </a:t>
            </a:r>
            <a:r>
              <a:rPr lang="en-US" sz="2400" dirty="0" err="1"/>
              <a:t>readline</a:t>
            </a:r>
            <a:endParaRPr lang="en-US" sz="2400" dirty="0"/>
          </a:p>
          <a:p>
            <a:r>
              <a:rPr lang="en-US" sz="2400" dirty="0"/>
              <a:t>print("Output of Read(9) function is ")</a:t>
            </a:r>
          </a:p>
          <a:p>
            <a:r>
              <a:rPr lang="en-US" sz="2400" dirty="0"/>
              <a:t>print(file1.read(9))</a:t>
            </a:r>
          </a:p>
          <a:p>
            <a:r>
              <a:rPr lang="en-US" sz="2400" dirty="0"/>
              <a:t>print()</a:t>
            </a:r>
          </a:p>
          <a:p>
            <a:r>
              <a:rPr lang="en-US" sz="2400" dirty="0"/>
              <a:t>file1.seek(0)</a:t>
            </a:r>
          </a:p>
          <a:p>
            <a:r>
              <a:rPr lang="en-US" sz="2400" dirty="0"/>
              <a:t>print("Output of </a:t>
            </a:r>
            <a:r>
              <a:rPr lang="en-US" sz="2400" dirty="0" err="1"/>
              <a:t>Readline</a:t>
            </a:r>
            <a:r>
              <a:rPr lang="en-US" sz="2400" dirty="0"/>
              <a:t>(9) function is ")</a:t>
            </a:r>
          </a:p>
          <a:p>
            <a:r>
              <a:rPr lang="en-US" sz="2400" dirty="0"/>
              <a:t>print(file1.readline(9))</a:t>
            </a:r>
          </a:p>
          <a:p>
            <a:r>
              <a:rPr lang="en-US" sz="2400" dirty="0"/>
              <a:t>file1.seek(0)</a:t>
            </a:r>
          </a:p>
          <a:p>
            <a:r>
              <a:rPr lang="en-US" sz="2400" dirty="0"/>
              <a:t># </a:t>
            </a:r>
            <a:r>
              <a:rPr lang="en-US" sz="2400" dirty="0" err="1"/>
              <a:t>readlines</a:t>
            </a:r>
            <a:r>
              <a:rPr lang="en-US" sz="2400" dirty="0"/>
              <a:t> function</a:t>
            </a:r>
          </a:p>
          <a:p>
            <a:r>
              <a:rPr lang="en-US" sz="2400" dirty="0"/>
              <a:t>print("Output of </a:t>
            </a:r>
            <a:r>
              <a:rPr lang="en-US" sz="2400" dirty="0" err="1"/>
              <a:t>Readlines</a:t>
            </a:r>
            <a:r>
              <a:rPr lang="en-US" sz="2400" dirty="0"/>
              <a:t> function is ")</a:t>
            </a:r>
          </a:p>
          <a:p>
            <a:r>
              <a:rPr lang="en-US" sz="2400" dirty="0"/>
              <a:t>print(file1.readlines())</a:t>
            </a:r>
          </a:p>
          <a:p>
            <a:r>
              <a:rPr lang="en-US" sz="2400" dirty="0"/>
              <a:t>print()</a:t>
            </a:r>
          </a:p>
          <a:p>
            <a:r>
              <a:rPr lang="en-US" sz="2400" dirty="0"/>
              <a:t>file1.close()</a:t>
            </a:r>
          </a:p>
        </p:txBody>
      </p:sp>
    </p:spTree>
    <p:extLst>
      <p:ext uri="{BB962C8B-B14F-4D97-AF65-F5344CB8AC3E}">
        <p14:creationId xmlns:p14="http://schemas.microsoft.com/office/powerpoint/2010/main" val="554391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5E81E-0C8B-611C-12FA-151342761FA8}"/>
              </a:ext>
            </a:extLst>
          </p:cNvPr>
          <p:cNvSpPr>
            <a:spLocks noGrp="1"/>
          </p:cNvSpPr>
          <p:nvPr>
            <p:ph type="title"/>
          </p:nvPr>
        </p:nvSpPr>
        <p:spPr/>
        <p:txBody>
          <a:bodyPr/>
          <a:lstStyle/>
          <a:p>
            <a:r>
              <a:rPr lang="en-US" dirty="0"/>
              <a:t>SETTING OFFSETS IN A FILE</a:t>
            </a:r>
            <a:br>
              <a:rPr lang="en-US" dirty="0"/>
            </a:br>
            <a:endParaRPr lang="en-US" dirty="0"/>
          </a:p>
        </p:txBody>
      </p:sp>
      <p:sp>
        <p:nvSpPr>
          <p:cNvPr id="3" name="Content Placeholder 2">
            <a:extLst>
              <a:ext uri="{FF2B5EF4-FFF2-40B4-BE49-F238E27FC236}">
                <a16:creationId xmlns:a16="http://schemas.microsoft.com/office/drawing/2014/main" id="{A38E72AF-3DEC-0178-FD86-E69953316747}"/>
              </a:ext>
            </a:extLst>
          </p:cNvPr>
          <p:cNvSpPr>
            <a:spLocks noGrp="1"/>
          </p:cNvSpPr>
          <p:nvPr>
            <p:ph idx="1"/>
          </p:nvPr>
        </p:nvSpPr>
        <p:spPr>
          <a:xfrm>
            <a:off x="3531870" y="480060"/>
            <a:ext cx="8503920" cy="5966459"/>
          </a:xfrm>
        </p:spPr>
        <p:txBody>
          <a:bodyPr>
            <a:noAutofit/>
          </a:bodyPr>
          <a:lstStyle/>
          <a:p>
            <a:pPr marL="0" indent="0">
              <a:buNone/>
            </a:pPr>
            <a:r>
              <a:rPr lang="en-US" sz="2800" dirty="0"/>
              <a:t>1.  The tell() method</a:t>
            </a:r>
          </a:p>
          <a:p>
            <a:pPr marL="0" indent="0">
              <a:buNone/>
            </a:pPr>
            <a:r>
              <a:rPr lang="en-US" sz="2800" dirty="0"/>
              <a:t>This function returns an integer that specifies the current position of the file object in the file. The position so specified is the byte position from the beginning of the file till the current position of the file object. The syntax of using tell() is:</a:t>
            </a:r>
          </a:p>
          <a:p>
            <a:pPr marL="0" indent="0">
              <a:buNone/>
            </a:pPr>
            <a:r>
              <a:rPr lang="en-US" sz="2800" i="1" dirty="0" err="1"/>
              <a:t>file_object.tell</a:t>
            </a:r>
            <a:r>
              <a:rPr lang="en-US" sz="2800" i="1" dirty="0"/>
              <a:t> ()</a:t>
            </a:r>
            <a:endParaRPr lang="en-US" sz="2800" dirty="0"/>
          </a:p>
        </p:txBody>
      </p:sp>
    </p:spTree>
    <p:extLst>
      <p:ext uri="{BB962C8B-B14F-4D97-AF65-F5344CB8AC3E}">
        <p14:creationId xmlns:p14="http://schemas.microsoft.com/office/powerpoint/2010/main" val="2826130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6E404-41AA-9966-E1CE-1068FCCDBF5F}"/>
              </a:ext>
            </a:extLst>
          </p:cNvPr>
          <p:cNvSpPr>
            <a:spLocks noGrp="1"/>
          </p:cNvSpPr>
          <p:nvPr>
            <p:ph type="title"/>
          </p:nvPr>
        </p:nvSpPr>
        <p:spPr/>
        <p:txBody>
          <a:bodyPr/>
          <a:lstStyle/>
          <a:p>
            <a:r>
              <a:rPr lang="en-US" dirty="0"/>
              <a:t>SETTING OFFSETS IN A FILE</a:t>
            </a:r>
            <a:br>
              <a:rPr lang="en-US" dirty="0"/>
            </a:br>
            <a:endParaRPr lang="en-US" dirty="0"/>
          </a:p>
        </p:txBody>
      </p:sp>
      <p:sp>
        <p:nvSpPr>
          <p:cNvPr id="3" name="Content Placeholder 2">
            <a:extLst>
              <a:ext uri="{FF2B5EF4-FFF2-40B4-BE49-F238E27FC236}">
                <a16:creationId xmlns:a16="http://schemas.microsoft.com/office/drawing/2014/main" id="{3DE2285C-4378-9DCD-BA39-E29354AA42B9}"/>
              </a:ext>
            </a:extLst>
          </p:cNvPr>
          <p:cNvSpPr>
            <a:spLocks noGrp="1"/>
          </p:cNvSpPr>
          <p:nvPr>
            <p:ph idx="1"/>
          </p:nvPr>
        </p:nvSpPr>
        <p:spPr/>
        <p:txBody>
          <a:bodyPr/>
          <a:lstStyle/>
          <a:p>
            <a:pPr marL="0" indent="0">
              <a:buNone/>
            </a:pPr>
            <a:r>
              <a:rPr lang="en-US" sz="2400" dirty="0"/>
              <a:t>2. The seek() method</a:t>
            </a:r>
          </a:p>
          <a:p>
            <a:pPr marL="0" indent="0">
              <a:buNone/>
            </a:pPr>
            <a:r>
              <a:rPr lang="en-US" sz="2400" dirty="0"/>
              <a:t>This method is used to position the file object at a particular position in a file. The syntax of seek() is:</a:t>
            </a:r>
          </a:p>
          <a:p>
            <a:pPr marL="0" indent="0">
              <a:buNone/>
            </a:pPr>
            <a:r>
              <a:rPr lang="en-US" sz="2400" i="1" dirty="0" err="1"/>
              <a:t>file_object.seek</a:t>
            </a:r>
            <a:r>
              <a:rPr lang="en-US" sz="2400" i="1" dirty="0"/>
              <a:t>(offset [, </a:t>
            </a:r>
            <a:r>
              <a:rPr lang="en-US" sz="2400" i="1" dirty="0" err="1"/>
              <a:t>reference_point</a:t>
            </a:r>
            <a:r>
              <a:rPr lang="en-US" sz="2400" i="1" dirty="0"/>
              <a:t>])</a:t>
            </a:r>
            <a:endParaRPr lang="en-US" sz="2400" dirty="0"/>
          </a:p>
          <a:p>
            <a:pPr marL="0" indent="0">
              <a:buNone/>
            </a:pPr>
            <a:r>
              <a:rPr lang="en-US" sz="2400" dirty="0"/>
              <a:t>In the above syntax, offset is the number of bytes by which the file object is to be moved. reference point indicates the starting position of the file object. That is, with reference to which position, the offset has to be counted. It can have any of the following values:</a:t>
            </a:r>
          </a:p>
          <a:p>
            <a:pPr marL="0" indent="0">
              <a:buNone/>
            </a:pPr>
            <a:r>
              <a:rPr lang="en-US" sz="2400" dirty="0"/>
              <a:t>0 - beginning of the file</a:t>
            </a:r>
            <a:br>
              <a:rPr lang="en-US" sz="2400" dirty="0"/>
            </a:br>
            <a:r>
              <a:rPr lang="en-US" sz="2400" dirty="0"/>
              <a:t>1 - current position of the file</a:t>
            </a:r>
            <a:br>
              <a:rPr lang="en-US" sz="2400" dirty="0"/>
            </a:br>
            <a:r>
              <a:rPr lang="en-US" sz="2400" dirty="0"/>
              <a:t>2 - end of file</a:t>
            </a:r>
          </a:p>
          <a:p>
            <a:pPr marL="0" indent="0">
              <a:buNone/>
            </a:pPr>
            <a:endParaRPr lang="en-US" dirty="0"/>
          </a:p>
        </p:txBody>
      </p:sp>
    </p:spTree>
    <p:extLst>
      <p:ext uri="{BB962C8B-B14F-4D97-AF65-F5344CB8AC3E}">
        <p14:creationId xmlns:p14="http://schemas.microsoft.com/office/powerpoint/2010/main" val="1622788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B2148C-C4FC-5B25-C7C8-7E1B31711BB4}"/>
              </a:ext>
            </a:extLst>
          </p:cNvPr>
          <p:cNvSpPr txBox="1"/>
          <p:nvPr/>
        </p:nvSpPr>
        <p:spPr>
          <a:xfrm>
            <a:off x="426720" y="711249"/>
            <a:ext cx="11109960" cy="5262979"/>
          </a:xfrm>
          <a:prstGeom prst="rect">
            <a:avLst/>
          </a:prstGeom>
          <a:noFill/>
        </p:spPr>
        <p:txBody>
          <a:bodyPr wrap="square">
            <a:spAutoFit/>
          </a:bodyPr>
          <a:lstStyle/>
          <a:p>
            <a:pPr algn="l">
              <a:buNone/>
            </a:pPr>
            <a:r>
              <a:rPr lang="en-US" sz="2800" b="0" i="1" u="none" strike="noStrike" dirty="0">
                <a:solidFill>
                  <a:srgbClr val="212529"/>
                </a:solidFill>
                <a:effectLst/>
                <a:latin typeface="Muli"/>
              </a:rPr>
              <a:t>print(“Learning to move the fi le object”)</a:t>
            </a:r>
            <a:br>
              <a:rPr lang="en-US" sz="2800" b="0" i="1" u="none" strike="noStrike" dirty="0">
                <a:solidFill>
                  <a:srgbClr val="212529"/>
                </a:solidFill>
                <a:effectLst/>
                <a:latin typeface="Muli"/>
              </a:rPr>
            </a:br>
            <a:r>
              <a:rPr lang="en-US" sz="2800" b="0" i="1" u="none" strike="noStrike" dirty="0" err="1">
                <a:solidFill>
                  <a:srgbClr val="212529"/>
                </a:solidFill>
                <a:effectLst/>
                <a:latin typeface="Muli"/>
              </a:rPr>
              <a:t>fileobject</a:t>
            </a:r>
            <a:r>
              <a:rPr lang="en-US" sz="2800" b="0" i="1" u="none" strike="noStrike" dirty="0">
                <a:solidFill>
                  <a:srgbClr val="212529"/>
                </a:solidFill>
                <a:effectLst/>
                <a:latin typeface="Muli"/>
              </a:rPr>
              <a:t>=open(“</a:t>
            </a:r>
            <a:r>
              <a:rPr lang="en-US" sz="2800" b="0" i="1" u="none" strike="noStrike" dirty="0" err="1">
                <a:solidFill>
                  <a:srgbClr val="212529"/>
                </a:solidFill>
                <a:effectLst/>
                <a:latin typeface="Muli"/>
              </a:rPr>
              <a:t>testfile.txt”,“r</a:t>
            </a:r>
            <a:r>
              <a:rPr lang="en-US" sz="2800" b="0" i="1" u="none" strike="noStrike" dirty="0">
                <a:solidFill>
                  <a:srgbClr val="212529"/>
                </a:solidFill>
                <a:effectLst/>
                <a:latin typeface="Muli"/>
              </a:rPr>
              <a:t>+”)</a:t>
            </a:r>
            <a:br>
              <a:rPr lang="en-US" sz="2800" b="0" i="1" u="none" strike="noStrike" dirty="0">
                <a:solidFill>
                  <a:srgbClr val="212529"/>
                </a:solidFill>
                <a:effectLst/>
                <a:latin typeface="Muli"/>
              </a:rPr>
            </a:br>
            <a:r>
              <a:rPr lang="en-US" sz="2800" b="0" i="1" u="none" strike="noStrike" dirty="0">
                <a:solidFill>
                  <a:srgbClr val="212529"/>
                </a:solidFill>
                <a:effectLst/>
                <a:latin typeface="Muli"/>
              </a:rPr>
              <a:t>str=fi </a:t>
            </a:r>
            <a:r>
              <a:rPr lang="en-US" sz="2800" b="0" i="1" u="none" strike="noStrike" dirty="0" err="1">
                <a:solidFill>
                  <a:srgbClr val="212529"/>
                </a:solidFill>
                <a:effectLst/>
                <a:latin typeface="Muli"/>
              </a:rPr>
              <a:t>leobject.read</a:t>
            </a:r>
            <a:r>
              <a:rPr lang="en-US" sz="2800" b="0" i="1" u="none" strike="noStrike" dirty="0">
                <a:solidFill>
                  <a:srgbClr val="212529"/>
                </a:solidFill>
                <a:effectLst/>
                <a:latin typeface="Muli"/>
              </a:rPr>
              <a:t>()</a:t>
            </a:r>
            <a:br>
              <a:rPr lang="en-US" sz="2800" b="0" i="1" u="none" strike="noStrike" dirty="0">
                <a:solidFill>
                  <a:srgbClr val="212529"/>
                </a:solidFill>
                <a:effectLst/>
                <a:latin typeface="Muli"/>
              </a:rPr>
            </a:br>
            <a:r>
              <a:rPr lang="en-US" sz="2800" b="0" i="1" u="none" strike="noStrike" dirty="0">
                <a:solidFill>
                  <a:srgbClr val="212529"/>
                </a:solidFill>
                <a:effectLst/>
                <a:latin typeface="Muli"/>
              </a:rPr>
              <a:t>print(str)</a:t>
            </a:r>
            <a:br>
              <a:rPr lang="en-US" sz="2800" b="0" i="1" u="none" strike="noStrike" dirty="0">
                <a:solidFill>
                  <a:srgbClr val="212529"/>
                </a:solidFill>
                <a:effectLst/>
                <a:latin typeface="Muli"/>
              </a:rPr>
            </a:br>
            <a:r>
              <a:rPr lang="en-US" sz="2800" b="0" i="1" u="none" strike="noStrike" dirty="0">
                <a:solidFill>
                  <a:srgbClr val="212529"/>
                </a:solidFill>
                <a:effectLst/>
                <a:latin typeface="Muli"/>
              </a:rPr>
              <a:t>print(“Initially, the position of the fi le object is: “,</a:t>
            </a:r>
            <a:r>
              <a:rPr lang="en-US" sz="2800" b="0" i="1" u="none" strike="noStrike" dirty="0" err="1">
                <a:solidFill>
                  <a:srgbClr val="212529"/>
                </a:solidFill>
                <a:effectLst/>
                <a:latin typeface="Muli"/>
              </a:rPr>
              <a:t>fileobject.tell</a:t>
            </a:r>
            <a:r>
              <a:rPr lang="en-US" sz="2800" b="0" i="1" u="none" strike="noStrike" dirty="0">
                <a:solidFill>
                  <a:srgbClr val="212529"/>
                </a:solidFill>
                <a:effectLst/>
                <a:latin typeface="Muli"/>
              </a:rPr>
              <a:t>())</a:t>
            </a:r>
            <a:br>
              <a:rPr lang="en-US" sz="2800" b="0" i="1" u="none" strike="noStrike" dirty="0">
                <a:solidFill>
                  <a:srgbClr val="212529"/>
                </a:solidFill>
                <a:effectLst/>
                <a:latin typeface="Muli"/>
              </a:rPr>
            </a:br>
            <a:r>
              <a:rPr lang="en-US" sz="2800" b="0" i="1" u="none" strike="noStrike" dirty="0" err="1">
                <a:solidFill>
                  <a:srgbClr val="212529"/>
                </a:solidFill>
                <a:effectLst/>
                <a:latin typeface="Muli"/>
              </a:rPr>
              <a:t>fileobject.seek</a:t>
            </a:r>
            <a:r>
              <a:rPr lang="en-US" sz="2800" b="0" i="1" u="none" strike="noStrike" dirty="0">
                <a:solidFill>
                  <a:srgbClr val="212529"/>
                </a:solidFill>
                <a:effectLst/>
                <a:latin typeface="Muli"/>
              </a:rPr>
              <a:t>(0)</a:t>
            </a:r>
            <a:br>
              <a:rPr lang="en-US" sz="2800" b="0" i="1" u="none" strike="noStrike" dirty="0">
                <a:solidFill>
                  <a:srgbClr val="212529"/>
                </a:solidFill>
                <a:effectLst/>
                <a:latin typeface="Muli"/>
              </a:rPr>
            </a:br>
            <a:r>
              <a:rPr lang="en-US" sz="2800" b="0" i="1" u="none" strike="noStrike" dirty="0">
                <a:solidFill>
                  <a:srgbClr val="212529"/>
                </a:solidFill>
                <a:effectLst/>
                <a:latin typeface="Muli"/>
              </a:rPr>
              <a:t>print(“Now the fi le object is at the beginning of the file: “,</a:t>
            </a:r>
            <a:r>
              <a:rPr lang="en-US" sz="2800" b="0" i="1" u="none" strike="noStrike" dirty="0" err="1">
                <a:solidFill>
                  <a:srgbClr val="212529"/>
                </a:solidFill>
                <a:effectLst/>
                <a:latin typeface="Muli"/>
              </a:rPr>
              <a:t>fileobject.tell</a:t>
            </a:r>
            <a:r>
              <a:rPr lang="en-US" sz="2800" b="0" i="1" u="none" strike="noStrike" dirty="0">
                <a:solidFill>
                  <a:srgbClr val="212529"/>
                </a:solidFill>
                <a:effectLst/>
                <a:latin typeface="Muli"/>
              </a:rPr>
              <a:t>())</a:t>
            </a:r>
            <a:br>
              <a:rPr lang="en-US" sz="2800" b="0" i="1" u="none" strike="noStrike" dirty="0">
                <a:solidFill>
                  <a:srgbClr val="212529"/>
                </a:solidFill>
                <a:effectLst/>
                <a:latin typeface="Muli"/>
              </a:rPr>
            </a:br>
            <a:r>
              <a:rPr lang="en-US" sz="2800" b="0" i="1" u="none" strike="noStrike" dirty="0" err="1">
                <a:solidFill>
                  <a:srgbClr val="212529"/>
                </a:solidFill>
                <a:effectLst/>
                <a:latin typeface="Muli"/>
              </a:rPr>
              <a:t>fileobject.seek</a:t>
            </a:r>
            <a:r>
              <a:rPr lang="en-US" sz="2800" b="0" i="1" u="none" strike="noStrike" dirty="0">
                <a:solidFill>
                  <a:srgbClr val="212529"/>
                </a:solidFill>
                <a:effectLst/>
                <a:latin typeface="Muli"/>
              </a:rPr>
              <a:t>(10)</a:t>
            </a:r>
            <a:br>
              <a:rPr lang="en-US" sz="2800" b="0" i="1" u="none" strike="noStrike" dirty="0">
                <a:solidFill>
                  <a:srgbClr val="212529"/>
                </a:solidFill>
                <a:effectLst/>
                <a:latin typeface="Muli"/>
              </a:rPr>
            </a:br>
            <a:r>
              <a:rPr lang="en-US" sz="2800" b="0" i="1" u="none" strike="noStrike" dirty="0">
                <a:solidFill>
                  <a:srgbClr val="212529"/>
                </a:solidFill>
                <a:effectLst/>
                <a:latin typeface="Muli"/>
              </a:rPr>
              <a:t>print(“We are moving to 10th byte position from the beginning of fi le”)</a:t>
            </a:r>
            <a:br>
              <a:rPr lang="en-US" sz="2800" b="0" i="1" u="none" strike="noStrike" dirty="0">
                <a:solidFill>
                  <a:srgbClr val="212529"/>
                </a:solidFill>
                <a:effectLst/>
                <a:latin typeface="Muli"/>
              </a:rPr>
            </a:br>
            <a:r>
              <a:rPr lang="en-US" sz="2800" b="0" i="1" u="none" strike="noStrike" dirty="0">
                <a:solidFill>
                  <a:srgbClr val="212529"/>
                </a:solidFill>
                <a:effectLst/>
                <a:latin typeface="Muli"/>
              </a:rPr>
              <a:t>print(“The position of the fi le object is at”, </a:t>
            </a:r>
            <a:r>
              <a:rPr lang="en-US" sz="2800" b="0" i="1" u="none" strike="noStrike" dirty="0" err="1">
                <a:solidFill>
                  <a:srgbClr val="212529"/>
                </a:solidFill>
                <a:effectLst/>
                <a:latin typeface="Muli"/>
              </a:rPr>
              <a:t>fileobject.tell</a:t>
            </a:r>
            <a:r>
              <a:rPr lang="en-US" sz="2800" b="0" i="1" u="none" strike="noStrike" dirty="0">
                <a:solidFill>
                  <a:srgbClr val="212529"/>
                </a:solidFill>
                <a:effectLst/>
                <a:latin typeface="Muli"/>
              </a:rPr>
              <a:t>()) </a:t>
            </a:r>
          </a:p>
          <a:p>
            <a:pPr algn="l">
              <a:buNone/>
            </a:pPr>
            <a:r>
              <a:rPr lang="en-US" sz="2800" b="0" i="1" u="none" strike="noStrike" dirty="0">
                <a:solidFill>
                  <a:srgbClr val="212529"/>
                </a:solidFill>
                <a:effectLst/>
                <a:latin typeface="Muli"/>
              </a:rPr>
              <a:t>str=</a:t>
            </a:r>
            <a:r>
              <a:rPr lang="en-US" sz="2800" b="0" i="1" u="none" strike="noStrike" dirty="0" err="1">
                <a:solidFill>
                  <a:srgbClr val="212529"/>
                </a:solidFill>
                <a:effectLst/>
                <a:latin typeface="Muli"/>
              </a:rPr>
              <a:t>fileobject.read</a:t>
            </a:r>
            <a:r>
              <a:rPr lang="en-US" sz="2800" b="0" i="1" u="none" strike="noStrike" dirty="0">
                <a:solidFill>
                  <a:srgbClr val="212529"/>
                </a:solidFill>
                <a:effectLst/>
                <a:latin typeface="Muli"/>
              </a:rPr>
              <a:t>()</a:t>
            </a:r>
            <a:br>
              <a:rPr lang="en-US" sz="2800" b="0" i="1" u="none" strike="noStrike" dirty="0">
                <a:solidFill>
                  <a:srgbClr val="212529"/>
                </a:solidFill>
                <a:effectLst/>
                <a:latin typeface="Muli"/>
              </a:rPr>
            </a:br>
            <a:r>
              <a:rPr lang="en-US" sz="2800" b="0" i="1" u="none" strike="noStrike" dirty="0">
                <a:solidFill>
                  <a:srgbClr val="212529"/>
                </a:solidFill>
                <a:effectLst/>
                <a:latin typeface="Muli"/>
              </a:rPr>
              <a:t>print(str)</a:t>
            </a:r>
            <a:endParaRPr lang="en-US" sz="2800" b="0" i="0" u="none" strike="noStrike" dirty="0">
              <a:solidFill>
                <a:srgbClr val="212529"/>
              </a:solidFill>
              <a:effectLst/>
              <a:latin typeface="Muli"/>
            </a:endParaRPr>
          </a:p>
        </p:txBody>
      </p:sp>
    </p:spTree>
    <p:extLst>
      <p:ext uri="{BB962C8B-B14F-4D97-AF65-F5344CB8AC3E}">
        <p14:creationId xmlns:p14="http://schemas.microsoft.com/office/powerpoint/2010/main" val="2732360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E7F53-83E2-9CDD-B090-F25DB714F5D1}"/>
              </a:ext>
            </a:extLst>
          </p:cNvPr>
          <p:cNvSpPr>
            <a:spLocks noGrp="1"/>
          </p:cNvSpPr>
          <p:nvPr>
            <p:ph type="title"/>
          </p:nvPr>
        </p:nvSpPr>
        <p:spPr/>
        <p:txBody>
          <a:bodyPr/>
          <a:lstStyle/>
          <a:p>
            <a:r>
              <a:rPr lang="en-US" dirty="0"/>
              <a:t>Traversing a file and displaying data</a:t>
            </a:r>
            <a:br>
              <a:rPr lang="en-US" dirty="0"/>
            </a:br>
            <a:endParaRPr lang="en-US" dirty="0"/>
          </a:p>
        </p:txBody>
      </p:sp>
      <p:sp>
        <p:nvSpPr>
          <p:cNvPr id="3" name="Content Placeholder 2">
            <a:extLst>
              <a:ext uri="{FF2B5EF4-FFF2-40B4-BE49-F238E27FC236}">
                <a16:creationId xmlns:a16="http://schemas.microsoft.com/office/drawing/2014/main" id="{8CA68FF1-1DFE-4C09-6C9D-E3A0EDAF73F0}"/>
              </a:ext>
            </a:extLst>
          </p:cNvPr>
          <p:cNvSpPr>
            <a:spLocks noGrp="1"/>
          </p:cNvSpPr>
          <p:nvPr>
            <p:ph idx="1"/>
          </p:nvPr>
        </p:nvSpPr>
        <p:spPr/>
        <p:txBody>
          <a:bodyPr>
            <a:normAutofit/>
          </a:bodyPr>
          <a:lstStyle/>
          <a:p>
            <a:pPr marL="0" indent="0">
              <a:buNone/>
            </a:pPr>
            <a:r>
              <a:rPr lang="en-US" sz="2400" dirty="0" err="1"/>
              <a:t>fileobject</a:t>
            </a:r>
            <a:r>
              <a:rPr lang="en-US" sz="2400" dirty="0"/>
              <a:t>=open(“</a:t>
            </a:r>
            <a:r>
              <a:rPr lang="en-US" sz="2400" dirty="0" err="1"/>
              <a:t>practice.txt”,“r</a:t>
            </a:r>
            <a:r>
              <a:rPr lang="en-US" sz="2400" dirty="0"/>
              <a:t>”)</a:t>
            </a:r>
          </a:p>
          <a:p>
            <a:pPr marL="0" indent="0">
              <a:buNone/>
            </a:pPr>
            <a:br>
              <a:rPr lang="en-US" sz="2400" dirty="0"/>
            </a:br>
            <a:r>
              <a:rPr lang="en-US" sz="2400" dirty="0"/>
              <a:t>str = </a:t>
            </a:r>
            <a:r>
              <a:rPr lang="en-US" sz="2400" dirty="0" err="1"/>
              <a:t>fileobject.readline</a:t>
            </a:r>
            <a:r>
              <a:rPr lang="en-US" sz="2400" dirty="0"/>
              <a:t>()</a:t>
            </a:r>
          </a:p>
          <a:p>
            <a:pPr marL="0" indent="0">
              <a:buNone/>
            </a:pPr>
            <a:br>
              <a:rPr lang="en-US" sz="2400" dirty="0"/>
            </a:br>
            <a:r>
              <a:rPr lang="en-US" sz="2400" dirty="0"/>
              <a:t>while str:</a:t>
            </a:r>
          </a:p>
          <a:p>
            <a:pPr marL="502920" lvl="1" indent="0">
              <a:buNone/>
            </a:pPr>
            <a:r>
              <a:rPr lang="en-US" sz="2200" dirty="0"/>
              <a:t> print(str)</a:t>
            </a:r>
            <a:br>
              <a:rPr lang="en-US" sz="2200" dirty="0"/>
            </a:br>
            <a:r>
              <a:rPr lang="en-US" sz="2200" dirty="0"/>
              <a:t> str=</a:t>
            </a:r>
            <a:r>
              <a:rPr lang="en-US" sz="2200" dirty="0" err="1"/>
              <a:t>fileobject.readline</a:t>
            </a:r>
            <a:r>
              <a:rPr lang="en-US" sz="2200" dirty="0"/>
              <a:t>()</a:t>
            </a:r>
          </a:p>
          <a:p>
            <a:pPr marL="0" indent="0">
              <a:buNone/>
            </a:pPr>
            <a:r>
              <a:rPr lang="en-US" sz="2400" dirty="0" err="1"/>
              <a:t>fileobject.close</a:t>
            </a:r>
            <a:r>
              <a:rPr lang="en-US" sz="2400" dirty="0"/>
              <a:t>()</a:t>
            </a:r>
          </a:p>
          <a:p>
            <a:pPr marL="0" indent="0">
              <a:buNone/>
            </a:pPr>
            <a:endParaRPr lang="en-US" sz="2400" dirty="0"/>
          </a:p>
        </p:txBody>
      </p:sp>
    </p:spTree>
    <p:extLst>
      <p:ext uri="{BB962C8B-B14F-4D97-AF65-F5344CB8AC3E}">
        <p14:creationId xmlns:p14="http://schemas.microsoft.com/office/powerpoint/2010/main" val="1749048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94C04-4345-03DD-0D66-B5541C35AAA1}"/>
              </a:ext>
            </a:extLst>
          </p:cNvPr>
          <p:cNvSpPr>
            <a:spLocks noGrp="1"/>
          </p:cNvSpPr>
          <p:nvPr>
            <p:ph type="ctrTitle"/>
          </p:nvPr>
        </p:nvSpPr>
        <p:spPr/>
        <p:txBody>
          <a:bodyPr/>
          <a:lstStyle/>
          <a:p>
            <a:r>
              <a:rPr lang="en-US" dirty="0"/>
              <a:t>Examples</a:t>
            </a:r>
          </a:p>
        </p:txBody>
      </p:sp>
      <p:sp>
        <p:nvSpPr>
          <p:cNvPr id="3" name="Subtitle 2">
            <a:extLst>
              <a:ext uri="{FF2B5EF4-FFF2-40B4-BE49-F238E27FC236}">
                <a16:creationId xmlns:a16="http://schemas.microsoft.com/office/drawing/2014/main" id="{3EA6B240-2361-0FA8-7022-C9E46B36C25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75609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9203ABB4-7E2A-4248-9FE7-4A419AFF2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26970D-C1E5-4FB1-84E8-86CB9CED1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67B9B62-96E5-E260-8735-04B875B83C07}"/>
              </a:ext>
            </a:extLst>
          </p:cNvPr>
          <p:cNvSpPr>
            <a:spLocks noGrp="1"/>
          </p:cNvSpPr>
          <p:nvPr>
            <p:ph type="title"/>
          </p:nvPr>
        </p:nvSpPr>
        <p:spPr>
          <a:xfrm>
            <a:off x="1069848" y="4590661"/>
            <a:ext cx="10210862" cy="1065690"/>
          </a:xfrm>
        </p:spPr>
        <p:txBody>
          <a:bodyPr vert="horz" lIns="91440" tIns="45720" rIns="91440" bIns="45720" rtlCol="0" anchor="b">
            <a:normAutofit/>
          </a:bodyPr>
          <a:lstStyle/>
          <a:p>
            <a:r>
              <a:rPr lang="en-US" sz="5500" spc="-100"/>
              <a:t>Log File Reader (Error Monitoring)</a:t>
            </a:r>
          </a:p>
        </p:txBody>
      </p:sp>
      <p:pic>
        <p:nvPicPr>
          <p:cNvPr id="5" name="Picture 4">
            <a:extLst>
              <a:ext uri="{FF2B5EF4-FFF2-40B4-BE49-F238E27FC236}">
                <a16:creationId xmlns:a16="http://schemas.microsoft.com/office/drawing/2014/main" id="{9AEE7261-5BDA-7D0E-9B20-616AEBA82A71}"/>
              </a:ext>
            </a:extLst>
          </p:cNvPr>
          <p:cNvPicPr>
            <a:picLocks noChangeAspect="1"/>
          </p:cNvPicPr>
          <p:nvPr/>
        </p:nvPicPr>
        <p:blipFill>
          <a:blip r:embed="rId2"/>
          <a:stretch>
            <a:fillRect/>
          </a:stretch>
        </p:blipFill>
        <p:spPr>
          <a:xfrm>
            <a:off x="1158085" y="484632"/>
            <a:ext cx="10461043" cy="3556755"/>
          </a:xfrm>
          <a:prstGeom prst="rect">
            <a:avLst/>
          </a:prstGeom>
        </p:spPr>
      </p:pic>
    </p:spTree>
    <p:extLst>
      <p:ext uri="{BB962C8B-B14F-4D97-AF65-F5344CB8AC3E}">
        <p14:creationId xmlns:p14="http://schemas.microsoft.com/office/powerpoint/2010/main" val="40742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9203ABB4-7E2A-4248-9FE7-4A419AFF2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26970D-C1E5-4FB1-84E8-86CB9CED1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37FB0DB-2645-131B-BDF4-947CC278E047}"/>
              </a:ext>
            </a:extLst>
          </p:cNvPr>
          <p:cNvSpPr>
            <a:spLocks noGrp="1"/>
          </p:cNvSpPr>
          <p:nvPr>
            <p:ph type="title"/>
          </p:nvPr>
        </p:nvSpPr>
        <p:spPr>
          <a:xfrm>
            <a:off x="1069848" y="4590661"/>
            <a:ext cx="10210862" cy="1065690"/>
          </a:xfrm>
        </p:spPr>
        <p:txBody>
          <a:bodyPr vert="horz" lIns="91440" tIns="45720" rIns="91440" bIns="45720" rtlCol="0" anchor="b">
            <a:normAutofit/>
          </a:bodyPr>
          <a:lstStyle/>
          <a:p>
            <a:r>
              <a:rPr lang="en-US" sz="5000" spc="-100"/>
              <a:t>Save User Data (Registration System)</a:t>
            </a:r>
          </a:p>
        </p:txBody>
      </p:sp>
      <p:pic>
        <p:nvPicPr>
          <p:cNvPr id="5" name="Picture 4">
            <a:extLst>
              <a:ext uri="{FF2B5EF4-FFF2-40B4-BE49-F238E27FC236}">
                <a16:creationId xmlns:a16="http://schemas.microsoft.com/office/drawing/2014/main" id="{A1D8A782-A580-BB22-724B-C574380E15D7}"/>
              </a:ext>
            </a:extLst>
          </p:cNvPr>
          <p:cNvPicPr>
            <a:picLocks noChangeAspect="1"/>
          </p:cNvPicPr>
          <p:nvPr/>
        </p:nvPicPr>
        <p:blipFill>
          <a:blip r:embed="rId2"/>
          <a:stretch>
            <a:fillRect/>
          </a:stretch>
        </p:blipFill>
        <p:spPr>
          <a:xfrm>
            <a:off x="1270974" y="484632"/>
            <a:ext cx="10235265" cy="3556755"/>
          </a:xfrm>
          <a:prstGeom prst="rect">
            <a:avLst/>
          </a:prstGeom>
        </p:spPr>
      </p:pic>
    </p:spTree>
    <p:extLst>
      <p:ext uri="{BB962C8B-B14F-4D97-AF65-F5344CB8AC3E}">
        <p14:creationId xmlns:p14="http://schemas.microsoft.com/office/powerpoint/2010/main" val="2654246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875682-0790-427D-9A23-4B7265F0F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6EDE4AAE-4785-4EA7-95DB-45200F5B80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EB8AA617-0537-4ED7-91B6-66511A6475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2E8BF1F-CE61-45C5-92AC-552D23176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D8624E5-AD85-FDEA-E165-3501148EBAD9}"/>
              </a:ext>
            </a:extLst>
          </p:cNvPr>
          <p:cNvSpPr>
            <a:spLocks noGrp="1"/>
          </p:cNvSpPr>
          <p:nvPr>
            <p:ph type="title"/>
          </p:nvPr>
        </p:nvSpPr>
        <p:spPr>
          <a:xfrm>
            <a:off x="1069848" y="4590661"/>
            <a:ext cx="10210862" cy="1065690"/>
          </a:xfrm>
        </p:spPr>
        <p:txBody>
          <a:bodyPr vert="horz" lIns="91440" tIns="45720" rIns="91440" bIns="45720" rtlCol="0" anchor="b">
            <a:normAutofit/>
          </a:bodyPr>
          <a:lstStyle/>
          <a:p>
            <a:r>
              <a:rPr lang="en-US" sz="5000" spc="-100"/>
              <a:t>CSV File Handling (E-commerce Orders)</a:t>
            </a:r>
          </a:p>
        </p:txBody>
      </p:sp>
      <p:pic>
        <p:nvPicPr>
          <p:cNvPr id="5" name="Picture 4">
            <a:extLst>
              <a:ext uri="{FF2B5EF4-FFF2-40B4-BE49-F238E27FC236}">
                <a16:creationId xmlns:a16="http://schemas.microsoft.com/office/drawing/2014/main" id="{D606AC7D-7532-FEBC-7B46-CAF0443F0CDC}"/>
              </a:ext>
            </a:extLst>
          </p:cNvPr>
          <p:cNvPicPr>
            <a:picLocks noChangeAspect="1"/>
          </p:cNvPicPr>
          <p:nvPr/>
        </p:nvPicPr>
        <p:blipFill>
          <a:blip r:embed="rId2"/>
          <a:srcRect t="1154" r="-1" b="-1"/>
          <a:stretch>
            <a:fillRect/>
          </a:stretch>
        </p:blipFill>
        <p:spPr>
          <a:xfrm>
            <a:off x="1069848" y="470168"/>
            <a:ext cx="5236194" cy="3557016"/>
          </a:xfrm>
          <a:prstGeom prst="rect">
            <a:avLst/>
          </a:prstGeom>
        </p:spPr>
      </p:pic>
      <p:pic>
        <p:nvPicPr>
          <p:cNvPr id="7" name="Picture 6">
            <a:extLst>
              <a:ext uri="{FF2B5EF4-FFF2-40B4-BE49-F238E27FC236}">
                <a16:creationId xmlns:a16="http://schemas.microsoft.com/office/drawing/2014/main" id="{7A740600-F88F-E8AB-99C8-732FDDC034C7}"/>
              </a:ext>
            </a:extLst>
          </p:cNvPr>
          <p:cNvPicPr>
            <a:picLocks noChangeAspect="1"/>
          </p:cNvPicPr>
          <p:nvPr/>
        </p:nvPicPr>
        <p:blipFill>
          <a:blip r:embed="rId3"/>
          <a:srcRect r="22711"/>
          <a:stretch>
            <a:fillRect/>
          </a:stretch>
        </p:blipFill>
        <p:spPr>
          <a:xfrm>
            <a:off x="6466908" y="470174"/>
            <a:ext cx="5236194" cy="3556755"/>
          </a:xfrm>
          <a:prstGeom prst="rect">
            <a:avLst/>
          </a:prstGeom>
        </p:spPr>
      </p:pic>
    </p:spTree>
    <p:extLst>
      <p:ext uri="{BB962C8B-B14F-4D97-AF65-F5344CB8AC3E}">
        <p14:creationId xmlns:p14="http://schemas.microsoft.com/office/powerpoint/2010/main" val="45585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9203ABB4-7E2A-4248-9FE7-4A419AFF2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26970D-C1E5-4FB1-84E8-86CB9CED1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5A6CDA0-0410-5204-A66A-7EF947421F21}"/>
              </a:ext>
            </a:extLst>
          </p:cNvPr>
          <p:cNvSpPr>
            <a:spLocks noGrp="1"/>
          </p:cNvSpPr>
          <p:nvPr>
            <p:ph type="title"/>
          </p:nvPr>
        </p:nvSpPr>
        <p:spPr>
          <a:xfrm>
            <a:off x="1069848" y="4590661"/>
            <a:ext cx="10210862" cy="1065690"/>
          </a:xfrm>
        </p:spPr>
        <p:txBody>
          <a:bodyPr vert="horz" lIns="91440" tIns="45720" rIns="91440" bIns="45720" rtlCol="0" anchor="b">
            <a:normAutofit/>
          </a:bodyPr>
          <a:lstStyle/>
          <a:p>
            <a:r>
              <a:rPr lang="en-US" sz="5900" spc="-100"/>
              <a:t>File Backup (Copy Content)</a:t>
            </a:r>
          </a:p>
        </p:txBody>
      </p:sp>
      <p:pic>
        <p:nvPicPr>
          <p:cNvPr id="8" name="Picture 7">
            <a:extLst>
              <a:ext uri="{FF2B5EF4-FFF2-40B4-BE49-F238E27FC236}">
                <a16:creationId xmlns:a16="http://schemas.microsoft.com/office/drawing/2014/main" id="{268208D3-00DD-F0D5-8977-5CB76BE8F579}"/>
              </a:ext>
            </a:extLst>
          </p:cNvPr>
          <p:cNvPicPr>
            <a:picLocks noChangeAspect="1"/>
          </p:cNvPicPr>
          <p:nvPr/>
        </p:nvPicPr>
        <p:blipFill>
          <a:blip r:embed="rId2"/>
          <a:stretch>
            <a:fillRect/>
          </a:stretch>
        </p:blipFill>
        <p:spPr>
          <a:xfrm>
            <a:off x="1069848" y="761998"/>
            <a:ext cx="10173765" cy="2967466"/>
          </a:xfrm>
          <a:prstGeom prst="rect">
            <a:avLst/>
          </a:prstGeom>
        </p:spPr>
      </p:pic>
    </p:spTree>
    <p:extLst>
      <p:ext uri="{BB962C8B-B14F-4D97-AF65-F5344CB8AC3E}">
        <p14:creationId xmlns:p14="http://schemas.microsoft.com/office/powerpoint/2010/main" val="1233604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9203ABB4-7E2A-4248-9FE7-4A419AFF2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26970D-C1E5-4FB1-84E8-86CB9CED1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E158F4D-806A-6CA1-C3EF-94B4160FD1DB}"/>
              </a:ext>
            </a:extLst>
          </p:cNvPr>
          <p:cNvSpPr>
            <a:spLocks noGrp="1"/>
          </p:cNvSpPr>
          <p:nvPr>
            <p:ph type="title"/>
          </p:nvPr>
        </p:nvSpPr>
        <p:spPr>
          <a:xfrm>
            <a:off x="1069848" y="4590661"/>
            <a:ext cx="10210862" cy="1065690"/>
          </a:xfrm>
        </p:spPr>
        <p:txBody>
          <a:bodyPr vert="horz" lIns="91440" tIns="45720" rIns="91440" bIns="45720" rtlCol="0" anchor="b">
            <a:normAutofit/>
          </a:bodyPr>
          <a:lstStyle/>
          <a:p>
            <a:r>
              <a:rPr lang="en-US" sz="5900" spc="-100"/>
              <a:t>Word Counter (Text Analytics)</a:t>
            </a:r>
          </a:p>
        </p:txBody>
      </p:sp>
      <p:pic>
        <p:nvPicPr>
          <p:cNvPr id="5" name="Picture 4">
            <a:extLst>
              <a:ext uri="{FF2B5EF4-FFF2-40B4-BE49-F238E27FC236}">
                <a16:creationId xmlns:a16="http://schemas.microsoft.com/office/drawing/2014/main" id="{975AD489-0E50-4DEB-EE04-1CD79731C3D6}"/>
              </a:ext>
            </a:extLst>
          </p:cNvPr>
          <p:cNvPicPr>
            <a:picLocks noChangeAspect="1"/>
          </p:cNvPicPr>
          <p:nvPr/>
        </p:nvPicPr>
        <p:blipFill>
          <a:blip r:embed="rId2"/>
          <a:stretch>
            <a:fillRect/>
          </a:stretch>
        </p:blipFill>
        <p:spPr>
          <a:xfrm>
            <a:off x="1997550" y="484632"/>
            <a:ext cx="8782113" cy="3556755"/>
          </a:xfrm>
          <a:prstGeom prst="rect">
            <a:avLst/>
          </a:prstGeom>
        </p:spPr>
      </p:pic>
    </p:spTree>
    <p:extLst>
      <p:ext uri="{BB962C8B-B14F-4D97-AF65-F5344CB8AC3E}">
        <p14:creationId xmlns:p14="http://schemas.microsoft.com/office/powerpoint/2010/main" val="775220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6E55C-BE16-DE12-5908-D3598DA33323}"/>
              </a:ext>
            </a:extLst>
          </p:cNvPr>
          <p:cNvSpPr>
            <a:spLocks noGrp="1"/>
          </p:cNvSpPr>
          <p:nvPr>
            <p:ph type="title"/>
          </p:nvPr>
        </p:nvSpPr>
        <p:spPr/>
        <p:txBody>
          <a:bodyPr/>
          <a:lstStyle/>
          <a:p>
            <a:r>
              <a:rPr lang="en-US" dirty="0"/>
              <a:t>Serialization – Deserialization </a:t>
            </a:r>
            <a:br>
              <a:rPr lang="en-US" dirty="0"/>
            </a:br>
            <a:br>
              <a:rPr lang="en-US" dirty="0"/>
            </a:br>
            <a:r>
              <a:rPr lang="en-US" dirty="0"/>
              <a:t>Pickling – </a:t>
            </a:r>
            <a:r>
              <a:rPr lang="en-US" dirty="0" err="1"/>
              <a:t>unpickiling</a:t>
            </a:r>
            <a:r>
              <a:rPr lang="en-US" dirty="0"/>
              <a:t> </a:t>
            </a:r>
          </a:p>
        </p:txBody>
      </p:sp>
      <p:sp>
        <p:nvSpPr>
          <p:cNvPr id="3" name="Content Placeholder 2">
            <a:extLst>
              <a:ext uri="{FF2B5EF4-FFF2-40B4-BE49-F238E27FC236}">
                <a16:creationId xmlns:a16="http://schemas.microsoft.com/office/drawing/2014/main" id="{03EECFA1-E347-9597-2781-C2A9F8FAA5D5}"/>
              </a:ext>
            </a:extLst>
          </p:cNvPr>
          <p:cNvSpPr>
            <a:spLocks noGrp="1"/>
          </p:cNvSpPr>
          <p:nvPr>
            <p:ph idx="1"/>
          </p:nvPr>
        </p:nvSpPr>
        <p:spPr/>
        <p:txBody>
          <a:bodyPr>
            <a:normAutofit/>
          </a:bodyPr>
          <a:lstStyle/>
          <a:p>
            <a:r>
              <a:rPr lang="en-US" sz="2800" dirty="0"/>
              <a:t>Serialization is the process of transforming data or an object in memory (RAM) to a stream of bytes called byte streams. These byte streams in a binary file can then be stored in a disk or in a database or sent through a network. Serialization process is also called pickling.</a:t>
            </a:r>
          </a:p>
          <a:p>
            <a:r>
              <a:rPr lang="en-US" sz="2800" dirty="0"/>
              <a:t>De-serialization or unpickling is the inverse of pickling process where a byte stream is converted back to Python object.</a:t>
            </a:r>
          </a:p>
          <a:p>
            <a:endParaRPr lang="en-US" sz="2800" dirty="0"/>
          </a:p>
        </p:txBody>
      </p:sp>
    </p:spTree>
    <p:extLst>
      <p:ext uri="{BB962C8B-B14F-4D97-AF65-F5344CB8AC3E}">
        <p14:creationId xmlns:p14="http://schemas.microsoft.com/office/powerpoint/2010/main" val="7797581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DEDB2-DCF8-6B3A-2F7C-F17833660C06}"/>
              </a:ext>
            </a:extLst>
          </p:cNvPr>
          <p:cNvSpPr>
            <a:spLocks noGrp="1"/>
          </p:cNvSpPr>
          <p:nvPr>
            <p:ph type="title"/>
          </p:nvPr>
        </p:nvSpPr>
        <p:spPr/>
        <p:txBody>
          <a:bodyPr/>
          <a:lstStyle/>
          <a:p>
            <a:r>
              <a:rPr lang="en-US" dirty="0"/>
              <a:t>The dump() method</a:t>
            </a:r>
            <a:br>
              <a:rPr lang="en-US" dirty="0"/>
            </a:br>
            <a:endParaRPr lang="en-US" dirty="0"/>
          </a:p>
        </p:txBody>
      </p:sp>
      <p:sp>
        <p:nvSpPr>
          <p:cNvPr id="3" name="Content Placeholder 2">
            <a:extLst>
              <a:ext uri="{FF2B5EF4-FFF2-40B4-BE49-F238E27FC236}">
                <a16:creationId xmlns:a16="http://schemas.microsoft.com/office/drawing/2014/main" id="{61BBF630-FABD-CA5C-2E4F-F3F61827558A}"/>
              </a:ext>
            </a:extLst>
          </p:cNvPr>
          <p:cNvSpPr>
            <a:spLocks noGrp="1"/>
          </p:cNvSpPr>
          <p:nvPr>
            <p:ph idx="1"/>
          </p:nvPr>
        </p:nvSpPr>
        <p:spPr>
          <a:xfrm>
            <a:off x="3429000" y="194310"/>
            <a:ext cx="8035290" cy="6275070"/>
          </a:xfrm>
        </p:spPr>
        <p:txBody>
          <a:bodyPr>
            <a:normAutofit/>
          </a:bodyPr>
          <a:lstStyle/>
          <a:p>
            <a:r>
              <a:rPr lang="en-US" sz="2800" dirty="0"/>
              <a:t>convert (pickling) Python objects for writing data in a binary file. The file in which data are to be dumped, needs to be opened in binary write mode (</a:t>
            </a:r>
            <a:r>
              <a:rPr lang="en-US" sz="2800" dirty="0" err="1"/>
              <a:t>wb</a:t>
            </a:r>
            <a:r>
              <a:rPr lang="en-US" sz="2800" dirty="0"/>
              <a:t>).</a:t>
            </a:r>
          </a:p>
          <a:p>
            <a:pPr marL="0" indent="0">
              <a:buNone/>
            </a:pPr>
            <a:r>
              <a:rPr lang="en-US" sz="2800" b="1" dirty="0"/>
              <a:t>Syntax of dump() is as follows:</a:t>
            </a:r>
            <a:endParaRPr lang="en-US" sz="2800" dirty="0"/>
          </a:p>
          <a:p>
            <a:pPr marL="0" indent="0">
              <a:buNone/>
            </a:pPr>
            <a:r>
              <a:rPr lang="en-US" sz="2800" i="1" dirty="0"/>
              <a:t>dump (</a:t>
            </a:r>
            <a:r>
              <a:rPr lang="en-US" sz="2800" i="1" dirty="0" err="1"/>
              <a:t>data_object</a:t>
            </a:r>
            <a:r>
              <a:rPr lang="en-US" sz="2800" i="1" dirty="0"/>
              <a:t>, </a:t>
            </a:r>
            <a:r>
              <a:rPr lang="en-US" sz="2800" i="1" dirty="0" err="1"/>
              <a:t>file_object</a:t>
            </a:r>
            <a:r>
              <a:rPr lang="en-US" sz="2800" i="1" dirty="0"/>
              <a:t>)</a:t>
            </a:r>
            <a:endParaRPr lang="en-US" sz="2800" dirty="0"/>
          </a:p>
          <a:p>
            <a:endParaRPr lang="en-US" sz="2800" dirty="0"/>
          </a:p>
          <a:p>
            <a:pPr marL="0" indent="0">
              <a:buNone/>
            </a:pPr>
            <a:r>
              <a:rPr lang="en-US" sz="2800" i="1" dirty="0"/>
              <a:t>import pickle</a:t>
            </a:r>
            <a:br>
              <a:rPr lang="en-US" sz="2800" i="1" dirty="0"/>
            </a:br>
            <a:r>
              <a:rPr lang="en-US" sz="2800" i="1" dirty="0" err="1"/>
              <a:t>listvalues</a:t>
            </a:r>
            <a:r>
              <a:rPr lang="en-US" sz="2800" i="1" dirty="0"/>
              <a:t>=[1,“Geetika”,‘F’, 26]</a:t>
            </a:r>
            <a:br>
              <a:rPr lang="en-US" sz="2800" i="1" dirty="0"/>
            </a:br>
            <a:r>
              <a:rPr lang="en-US" sz="2800" i="1" dirty="0" err="1"/>
              <a:t>fileobject</a:t>
            </a:r>
            <a:r>
              <a:rPr lang="en-US" sz="2800" i="1" dirty="0"/>
              <a:t>=open(“mybinary.dat”, “</a:t>
            </a:r>
            <a:r>
              <a:rPr lang="en-US" sz="2800" i="1" dirty="0" err="1"/>
              <a:t>wb</a:t>
            </a:r>
            <a:r>
              <a:rPr lang="en-US" sz="2800" i="1" dirty="0"/>
              <a:t>”)</a:t>
            </a:r>
            <a:br>
              <a:rPr lang="en-US" sz="2800" i="1" dirty="0"/>
            </a:br>
            <a:r>
              <a:rPr lang="en-US" sz="2800" i="1" dirty="0" err="1"/>
              <a:t>pickle.dump</a:t>
            </a:r>
            <a:r>
              <a:rPr lang="en-US" sz="2800" i="1" dirty="0"/>
              <a:t>(</a:t>
            </a:r>
            <a:r>
              <a:rPr lang="en-US" sz="2800" i="1" dirty="0" err="1"/>
              <a:t>listvalues,fileobject</a:t>
            </a:r>
            <a:r>
              <a:rPr lang="en-US" sz="2800" i="1" dirty="0"/>
              <a:t>)</a:t>
            </a:r>
            <a:br>
              <a:rPr lang="en-US" sz="2800" i="1" dirty="0"/>
            </a:br>
            <a:r>
              <a:rPr lang="en-US" sz="2800" i="1" dirty="0" err="1"/>
              <a:t>fileobject.close</a:t>
            </a:r>
            <a:r>
              <a:rPr lang="en-US" sz="2800" i="1" dirty="0"/>
              <a:t>()</a:t>
            </a:r>
            <a:endParaRPr lang="en-US" sz="2800" dirty="0"/>
          </a:p>
          <a:p>
            <a:endParaRPr lang="en-US" sz="2800" dirty="0"/>
          </a:p>
        </p:txBody>
      </p:sp>
    </p:spTree>
    <p:extLst>
      <p:ext uri="{BB962C8B-B14F-4D97-AF65-F5344CB8AC3E}">
        <p14:creationId xmlns:p14="http://schemas.microsoft.com/office/powerpoint/2010/main" val="564562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50472-C5D7-E0FC-43E4-D508D78AF22F}"/>
              </a:ext>
            </a:extLst>
          </p:cNvPr>
          <p:cNvSpPr>
            <a:spLocks noGrp="1"/>
          </p:cNvSpPr>
          <p:nvPr>
            <p:ph type="title"/>
          </p:nvPr>
        </p:nvSpPr>
        <p:spPr/>
        <p:txBody>
          <a:bodyPr/>
          <a:lstStyle/>
          <a:p>
            <a:r>
              <a:rPr lang="en-US" dirty="0"/>
              <a:t>The load() method</a:t>
            </a:r>
            <a:br>
              <a:rPr lang="en-US" dirty="0"/>
            </a:br>
            <a:endParaRPr lang="en-US" dirty="0"/>
          </a:p>
        </p:txBody>
      </p:sp>
      <p:sp>
        <p:nvSpPr>
          <p:cNvPr id="3" name="Content Placeholder 2">
            <a:extLst>
              <a:ext uri="{FF2B5EF4-FFF2-40B4-BE49-F238E27FC236}">
                <a16:creationId xmlns:a16="http://schemas.microsoft.com/office/drawing/2014/main" id="{CDA10F3F-620D-6829-913C-E7993369A5A9}"/>
              </a:ext>
            </a:extLst>
          </p:cNvPr>
          <p:cNvSpPr>
            <a:spLocks noGrp="1"/>
          </p:cNvSpPr>
          <p:nvPr>
            <p:ph idx="1"/>
          </p:nvPr>
        </p:nvSpPr>
        <p:spPr>
          <a:xfrm>
            <a:off x="3531870" y="864108"/>
            <a:ext cx="7652598" cy="5673852"/>
          </a:xfrm>
        </p:spPr>
        <p:txBody>
          <a:bodyPr>
            <a:noAutofit/>
          </a:bodyPr>
          <a:lstStyle/>
          <a:p>
            <a:r>
              <a:rPr lang="en-US" sz="2800" dirty="0"/>
              <a:t>This method is used to load (unpickling) data from a binary file. The file to be loaded is opened in binary read (</a:t>
            </a:r>
            <a:r>
              <a:rPr lang="en-US" sz="2800" dirty="0" err="1"/>
              <a:t>rb</a:t>
            </a:r>
            <a:r>
              <a:rPr lang="en-US" sz="2800" dirty="0"/>
              <a:t>) mode. Syntax of load() is as follows:</a:t>
            </a:r>
          </a:p>
          <a:p>
            <a:pPr marL="0" indent="0">
              <a:buNone/>
            </a:pPr>
            <a:r>
              <a:rPr lang="en-US" sz="2800" i="1" dirty="0" err="1"/>
              <a:t>Store_object</a:t>
            </a:r>
            <a:r>
              <a:rPr lang="en-US" sz="2800" i="1" dirty="0"/>
              <a:t>  load(</a:t>
            </a:r>
            <a:r>
              <a:rPr lang="en-US" sz="2800" i="1" dirty="0" err="1"/>
              <a:t>file_object</a:t>
            </a:r>
            <a:r>
              <a:rPr lang="en-US" sz="2800" i="1" dirty="0"/>
              <a:t>)</a:t>
            </a:r>
            <a:endParaRPr lang="en-US" sz="2800" dirty="0"/>
          </a:p>
          <a:p>
            <a:endParaRPr lang="en-US" sz="2800" dirty="0"/>
          </a:p>
          <a:p>
            <a:pPr marL="0" indent="0">
              <a:buNone/>
            </a:pPr>
            <a:r>
              <a:rPr lang="en-US" sz="2800" i="1" dirty="0"/>
              <a:t>import pickle</a:t>
            </a:r>
            <a:br>
              <a:rPr lang="en-US" sz="2800" i="1" dirty="0"/>
            </a:br>
            <a:r>
              <a:rPr lang="en-US" sz="2800" i="1" dirty="0"/>
              <a:t>print(“The data that were stored in file are: “)</a:t>
            </a:r>
            <a:br>
              <a:rPr lang="en-US" sz="2800" i="1" dirty="0"/>
            </a:br>
            <a:r>
              <a:rPr lang="en-US" sz="2800" i="1" dirty="0" err="1"/>
              <a:t>fileobject</a:t>
            </a:r>
            <a:r>
              <a:rPr lang="en-US" sz="2800" i="1" dirty="0"/>
              <a:t>=open(“mybinary.</a:t>
            </a:r>
            <a:r>
              <a:rPr lang="en-US" sz="2800" i="1" dirty="0" err="1"/>
              <a:t>dat</a:t>
            </a:r>
            <a:r>
              <a:rPr lang="en-US" sz="2800" i="1" dirty="0"/>
              <a:t>”,“</a:t>
            </a:r>
            <a:r>
              <a:rPr lang="en-US" sz="2800" i="1" dirty="0" err="1"/>
              <a:t>rb</a:t>
            </a:r>
            <a:r>
              <a:rPr lang="en-US" sz="2800" i="1" dirty="0"/>
              <a:t>”)</a:t>
            </a:r>
            <a:br>
              <a:rPr lang="en-US" sz="2800" i="1" dirty="0"/>
            </a:br>
            <a:r>
              <a:rPr lang="en-US" sz="2800" i="1" dirty="0" err="1"/>
              <a:t>objectvar</a:t>
            </a:r>
            <a:r>
              <a:rPr lang="en-US" sz="2800" i="1" dirty="0"/>
              <a:t>=</a:t>
            </a:r>
            <a:r>
              <a:rPr lang="en-US" sz="2800" i="1" dirty="0" err="1"/>
              <a:t>pickle.load</a:t>
            </a:r>
            <a:r>
              <a:rPr lang="en-US" sz="2800" i="1" dirty="0"/>
              <a:t>(</a:t>
            </a:r>
            <a:r>
              <a:rPr lang="en-US" sz="2800" i="1" dirty="0" err="1"/>
              <a:t>fileobject</a:t>
            </a:r>
            <a:r>
              <a:rPr lang="en-US" sz="2800" i="1" dirty="0"/>
              <a:t>)</a:t>
            </a:r>
            <a:br>
              <a:rPr lang="en-US" sz="2800" i="1" dirty="0"/>
            </a:br>
            <a:r>
              <a:rPr lang="en-US" sz="2800" i="1" dirty="0" err="1"/>
              <a:t>fileobject.close</a:t>
            </a:r>
            <a:r>
              <a:rPr lang="en-US" sz="2800" i="1" dirty="0"/>
              <a:t>()</a:t>
            </a:r>
            <a:br>
              <a:rPr lang="en-US" sz="2800" i="1" dirty="0"/>
            </a:br>
            <a:r>
              <a:rPr lang="en-US" sz="2800" i="1" dirty="0"/>
              <a:t>print(</a:t>
            </a:r>
            <a:r>
              <a:rPr lang="en-US" sz="2800" i="1" dirty="0" err="1"/>
              <a:t>objectvar</a:t>
            </a:r>
            <a:r>
              <a:rPr lang="en-US" sz="2800" i="1" dirty="0"/>
              <a:t>)</a:t>
            </a:r>
            <a:endParaRPr lang="en-US" sz="2800" dirty="0"/>
          </a:p>
          <a:p>
            <a:endParaRPr lang="en-US" sz="2800" dirty="0"/>
          </a:p>
        </p:txBody>
      </p:sp>
    </p:spTree>
    <p:extLst>
      <p:ext uri="{BB962C8B-B14F-4D97-AF65-F5344CB8AC3E}">
        <p14:creationId xmlns:p14="http://schemas.microsoft.com/office/powerpoint/2010/main" val="788301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D0E3C9-F4DE-FD95-9E32-448100375610}"/>
              </a:ext>
            </a:extLst>
          </p:cNvPr>
          <p:cNvSpPr txBox="1"/>
          <p:nvPr/>
        </p:nvSpPr>
        <p:spPr>
          <a:xfrm>
            <a:off x="514350" y="117693"/>
            <a:ext cx="10344149" cy="6740307"/>
          </a:xfrm>
          <a:prstGeom prst="rect">
            <a:avLst/>
          </a:prstGeom>
          <a:noFill/>
        </p:spPr>
        <p:txBody>
          <a:bodyPr wrap="square">
            <a:spAutoFit/>
          </a:bodyPr>
          <a:lstStyle/>
          <a:p>
            <a:pPr algn="l">
              <a:buNone/>
            </a:pPr>
            <a:r>
              <a:rPr lang="en-US" b="0" i="1" u="none" strike="noStrike" dirty="0">
                <a:solidFill>
                  <a:srgbClr val="212529"/>
                </a:solidFill>
                <a:effectLst/>
                <a:latin typeface="Muli"/>
              </a:rPr>
              <a:t>#Program to write and read employee records in a binary file</a:t>
            </a:r>
            <a:br>
              <a:rPr lang="en-US" b="0" i="1" u="none" strike="noStrike" dirty="0">
                <a:solidFill>
                  <a:srgbClr val="212529"/>
                </a:solidFill>
                <a:effectLst/>
                <a:latin typeface="Muli"/>
              </a:rPr>
            </a:br>
            <a:r>
              <a:rPr lang="en-US" b="0" i="1" u="none" strike="noStrike" dirty="0">
                <a:solidFill>
                  <a:srgbClr val="212529"/>
                </a:solidFill>
                <a:effectLst/>
                <a:latin typeface="Muli"/>
              </a:rPr>
              <a:t>import pickle</a:t>
            </a:r>
            <a:br>
              <a:rPr lang="en-US" b="0" i="1" u="none" strike="noStrike" dirty="0">
                <a:solidFill>
                  <a:srgbClr val="212529"/>
                </a:solidFill>
                <a:effectLst/>
                <a:latin typeface="Muli"/>
              </a:rPr>
            </a:br>
            <a:r>
              <a:rPr lang="en-US" b="0" i="1" u="none" strike="noStrike" dirty="0">
                <a:solidFill>
                  <a:srgbClr val="212529"/>
                </a:solidFill>
                <a:effectLst/>
                <a:latin typeface="Muli"/>
              </a:rPr>
              <a:t>print(“WORKING WITH BINARY FILES”)</a:t>
            </a:r>
            <a:br>
              <a:rPr lang="en-US" b="0" i="1" u="none" strike="noStrike" dirty="0">
                <a:solidFill>
                  <a:srgbClr val="212529"/>
                </a:solidFill>
                <a:effectLst/>
                <a:latin typeface="Muli"/>
              </a:rPr>
            </a:br>
            <a:r>
              <a:rPr lang="en-US" b="0" i="1" u="none" strike="noStrike" dirty="0" err="1">
                <a:solidFill>
                  <a:srgbClr val="212529"/>
                </a:solidFill>
                <a:effectLst/>
                <a:latin typeface="Muli"/>
              </a:rPr>
              <a:t>bfile</a:t>
            </a:r>
            <a:r>
              <a:rPr lang="en-US" b="0" i="1" u="none" strike="noStrike" dirty="0">
                <a:solidFill>
                  <a:srgbClr val="212529"/>
                </a:solidFill>
                <a:effectLst/>
                <a:latin typeface="Muli"/>
              </a:rPr>
              <a:t>=open(“empfile.</a:t>
            </a:r>
            <a:r>
              <a:rPr lang="en-US" b="0" i="1" u="none" strike="noStrike" dirty="0" err="1">
                <a:solidFill>
                  <a:srgbClr val="212529"/>
                </a:solidFill>
                <a:effectLst/>
                <a:latin typeface="Muli"/>
              </a:rPr>
              <a:t>dat</a:t>
            </a:r>
            <a:r>
              <a:rPr lang="en-US" b="0" i="1" u="none" strike="noStrike" dirty="0">
                <a:solidFill>
                  <a:srgbClr val="212529"/>
                </a:solidFill>
                <a:effectLst/>
                <a:latin typeface="Muli"/>
              </a:rPr>
              <a:t>”,“ab”)</a:t>
            </a:r>
            <a:br>
              <a:rPr lang="en-US" b="0" i="1" u="none" strike="noStrike" dirty="0">
                <a:solidFill>
                  <a:srgbClr val="212529"/>
                </a:solidFill>
                <a:effectLst/>
                <a:latin typeface="Muli"/>
              </a:rPr>
            </a:br>
            <a:r>
              <a:rPr lang="en-US" b="0" i="1" u="none" strike="noStrike" dirty="0" err="1">
                <a:solidFill>
                  <a:srgbClr val="212529"/>
                </a:solidFill>
                <a:effectLst/>
                <a:latin typeface="Muli"/>
              </a:rPr>
              <a:t>recno</a:t>
            </a:r>
            <a:r>
              <a:rPr lang="en-US" b="0" i="1" u="none" strike="noStrike" dirty="0">
                <a:solidFill>
                  <a:srgbClr val="212529"/>
                </a:solidFill>
                <a:effectLst/>
                <a:latin typeface="Muli"/>
              </a:rPr>
              <a:t>=1</a:t>
            </a:r>
            <a:br>
              <a:rPr lang="en-US" b="0" i="1" u="none" strike="noStrike" dirty="0">
                <a:solidFill>
                  <a:srgbClr val="212529"/>
                </a:solidFill>
                <a:effectLst/>
                <a:latin typeface="Muli"/>
              </a:rPr>
            </a:br>
            <a:r>
              <a:rPr lang="en-US" b="0" i="1" u="none" strike="noStrike" dirty="0">
                <a:solidFill>
                  <a:srgbClr val="212529"/>
                </a:solidFill>
                <a:effectLst/>
                <a:latin typeface="Muli"/>
              </a:rPr>
              <a:t>print (“Enter Records of Employees”)</a:t>
            </a:r>
            <a:br>
              <a:rPr lang="en-US" b="0" i="1" u="none" strike="noStrike" dirty="0">
                <a:solidFill>
                  <a:srgbClr val="212529"/>
                </a:solidFill>
                <a:effectLst/>
                <a:latin typeface="Muli"/>
              </a:rPr>
            </a:br>
            <a:r>
              <a:rPr lang="en-US" b="0" i="1" u="none" strike="noStrike" dirty="0">
                <a:solidFill>
                  <a:srgbClr val="212529"/>
                </a:solidFill>
                <a:effectLst/>
                <a:latin typeface="Muli"/>
              </a:rPr>
              <a:t>print()</a:t>
            </a:r>
            <a:br>
              <a:rPr lang="en-US" b="0" i="1" u="none" strike="noStrike" dirty="0">
                <a:solidFill>
                  <a:srgbClr val="212529"/>
                </a:solidFill>
                <a:effectLst/>
                <a:latin typeface="Muli"/>
              </a:rPr>
            </a:br>
            <a:r>
              <a:rPr lang="en-US" b="0" i="1" u="none" strike="noStrike" dirty="0">
                <a:solidFill>
                  <a:srgbClr val="212529"/>
                </a:solidFill>
                <a:effectLst/>
                <a:latin typeface="Muli"/>
              </a:rPr>
              <a:t>#taking data from user and dumping in the file as list object</a:t>
            </a:r>
            <a:br>
              <a:rPr lang="en-US" b="0" i="1" u="none" strike="noStrike" dirty="0">
                <a:solidFill>
                  <a:srgbClr val="212529"/>
                </a:solidFill>
                <a:effectLst/>
                <a:latin typeface="Muli"/>
              </a:rPr>
            </a:br>
            <a:r>
              <a:rPr lang="en-US" b="0" i="1" u="none" strike="noStrike" dirty="0">
                <a:solidFill>
                  <a:srgbClr val="212529"/>
                </a:solidFill>
                <a:effectLst/>
                <a:latin typeface="Muli"/>
              </a:rPr>
              <a:t>while True:</a:t>
            </a:r>
            <a:br>
              <a:rPr lang="en-US" b="0" i="1" u="none" strike="noStrike" dirty="0">
                <a:solidFill>
                  <a:srgbClr val="212529"/>
                </a:solidFill>
                <a:effectLst/>
                <a:latin typeface="Muli"/>
              </a:rPr>
            </a:br>
            <a:r>
              <a:rPr lang="en-US" b="0" i="1" u="none" strike="noStrike" dirty="0">
                <a:solidFill>
                  <a:srgbClr val="212529"/>
                </a:solidFill>
                <a:effectLst/>
                <a:latin typeface="Muli"/>
              </a:rPr>
              <a:t> print(“RECORD No.”, </a:t>
            </a:r>
            <a:r>
              <a:rPr lang="en-US" b="0" i="1" u="none" strike="noStrike" dirty="0" err="1">
                <a:solidFill>
                  <a:srgbClr val="212529"/>
                </a:solidFill>
                <a:effectLst/>
                <a:latin typeface="Muli"/>
              </a:rPr>
              <a:t>recno</a:t>
            </a:r>
            <a:r>
              <a:rPr lang="en-US" b="0" i="1" u="none" strike="noStrike" dirty="0">
                <a:solidFill>
                  <a:srgbClr val="212529"/>
                </a:solidFill>
                <a:effectLst/>
                <a:latin typeface="Muli"/>
              </a:rPr>
              <a:t>)</a:t>
            </a:r>
            <a:br>
              <a:rPr lang="en-US" b="0" i="1" u="none" strike="noStrike" dirty="0">
                <a:solidFill>
                  <a:srgbClr val="212529"/>
                </a:solidFill>
                <a:effectLst/>
                <a:latin typeface="Muli"/>
              </a:rPr>
            </a:br>
            <a:r>
              <a:rPr lang="en-US" b="0" i="1" u="none" strike="noStrike" dirty="0">
                <a:solidFill>
                  <a:srgbClr val="212529"/>
                </a:solidFill>
                <a:effectLst/>
                <a:latin typeface="Muli"/>
              </a:rPr>
              <a:t> </a:t>
            </a:r>
            <a:r>
              <a:rPr lang="en-US" b="0" i="1" u="none" strike="noStrike" dirty="0" err="1">
                <a:solidFill>
                  <a:srgbClr val="212529"/>
                </a:solidFill>
                <a:effectLst/>
                <a:latin typeface="Muli"/>
              </a:rPr>
              <a:t>eno</a:t>
            </a:r>
            <a:r>
              <a:rPr lang="en-US" b="0" i="1" u="none" strike="noStrike" dirty="0">
                <a:solidFill>
                  <a:srgbClr val="212529"/>
                </a:solidFill>
                <a:effectLst/>
                <a:latin typeface="Muli"/>
              </a:rPr>
              <a:t>=int(input("\</a:t>
            </a:r>
            <a:r>
              <a:rPr lang="en-US" b="0" i="1" u="none" strike="noStrike" dirty="0" err="1">
                <a:solidFill>
                  <a:srgbClr val="212529"/>
                </a:solidFill>
                <a:effectLst/>
                <a:latin typeface="Muli"/>
              </a:rPr>
              <a:t>tEmployee</a:t>
            </a:r>
            <a:r>
              <a:rPr lang="en-US" b="0" i="1" u="none" strike="noStrike" dirty="0">
                <a:solidFill>
                  <a:srgbClr val="212529"/>
                </a:solidFill>
                <a:effectLst/>
                <a:latin typeface="Muli"/>
              </a:rPr>
              <a:t> number : “))</a:t>
            </a:r>
            <a:br>
              <a:rPr lang="en-US" b="0" i="1" u="none" strike="noStrike" dirty="0">
                <a:solidFill>
                  <a:srgbClr val="212529"/>
                </a:solidFill>
                <a:effectLst/>
                <a:latin typeface="Muli"/>
              </a:rPr>
            </a:br>
            <a:r>
              <a:rPr lang="en-US" b="0" i="1" u="none" strike="noStrike" dirty="0">
                <a:solidFill>
                  <a:srgbClr val="212529"/>
                </a:solidFill>
                <a:effectLst/>
                <a:latin typeface="Muli"/>
              </a:rPr>
              <a:t> </a:t>
            </a:r>
            <a:r>
              <a:rPr lang="en-US" b="0" i="1" u="none" strike="noStrike" dirty="0" err="1">
                <a:solidFill>
                  <a:srgbClr val="212529"/>
                </a:solidFill>
                <a:effectLst/>
                <a:latin typeface="Muli"/>
              </a:rPr>
              <a:t>ename</a:t>
            </a:r>
            <a:r>
              <a:rPr lang="en-US" b="0" i="1" u="none" strike="noStrike" dirty="0">
                <a:solidFill>
                  <a:srgbClr val="212529"/>
                </a:solidFill>
                <a:effectLst/>
                <a:latin typeface="Muli"/>
              </a:rPr>
              <a:t>=input("\</a:t>
            </a:r>
            <a:r>
              <a:rPr lang="en-US" b="0" i="1" u="none" strike="noStrike" dirty="0" err="1">
                <a:solidFill>
                  <a:srgbClr val="212529"/>
                </a:solidFill>
                <a:effectLst/>
                <a:latin typeface="Muli"/>
              </a:rPr>
              <a:t>tEmployee</a:t>
            </a:r>
            <a:r>
              <a:rPr lang="en-US" b="0" i="1" u="none" strike="noStrike" dirty="0">
                <a:solidFill>
                  <a:srgbClr val="212529"/>
                </a:solidFill>
                <a:effectLst/>
                <a:latin typeface="Muli"/>
              </a:rPr>
              <a:t> Name : “)</a:t>
            </a:r>
            <a:br>
              <a:rPr lang="en-US" b="0" i="1" u="none" strike="noStrike" dirty="0">
                <a:solidFill>
                  <a:srgbClr val="212529"/>
                </a:solidFill>
                <a:effectLst/>
                <a:latin typeface="Muli"/>
              </a:rPr>
            </a:br>
            <a:r>
              <a:rPr lang="en-US" b="0" i="1" u="none" strike="noStrike" dirty="0">
                <a:solidFill>
                  <a:srgbClr val="212529"/>
                </a:solidFill>
                <a:effectLst/>
                <a:latin typeface="Muli"/>
              </a:rPr>
              <a:t> </a:t>
            </a:r>
            <a:r>
              <a:rPr lang="en-US" b="0" i="1" u="none" strike="noStrike" dirty="0" err="1">
                <a:solidFill>
                  <a:srgbClr val="212529"/>
                </a:solidFill>
                <a:effectLst/>
                <a:latin typeface="Muli"/>
              </a:rPr>
              <a:t>ebasic</a:t>
            </a:r>
            <a:r>
              <a:rPr lang="en-US" b="0" i="1" u="none" strike="noStrike" dirty="0">
                <a:solidFill>
                  <a:srgbClr val="212529"/>
                </a:solidFill>
                <a:effectLst/>
                <a:latin typeface="Muli"/>
              </a:rPr>
              <a:t>=int(input("\</a:t>
            </a:r>
            <a:r>
              <a:rPr lang="en-US" b="0" i="1" u="none" strike="noStrike" dirty="0" err="1">
                <a:solidFill>
                  <a:srgbClr val="212529"/>
                </a:solidFill>
                <a:effectLst/>
                <a:latin typeface="Muli"/>
              </a:rPr>
              <a:t>tBasic</a:t>
            </a:r>
            <a:r>
              <a:rPr lang="en-US" b="0" i="1" u="none" strike="noStrike" dirty="0">
                <a:solidFill>
                  <a:srgbClr val="212529"/>
                </a:solidFill>
                <a:effectLst/>
                <a:latin typeface="Muli"/>
              </a:rPr>
              <a:t> Salary : “))</a:t>
            </a:r>
            <a:br>
              <a:rPr lang="en-US" b="0" i="1" u="none" strike="noStrike" dirty="0">
                <a:solidFill>
                  <a:srgbClr val="212529"/>
                </a:solidFill>
                <a:effectLst/>
                <a:latin typeface="Muli"/>
              </a:rPr>
            </a:br>
            <a:r>
              <a:rPr lang="en-US" b="0" i="1" u="none" strike="noStrike" dirty="0">
                <a:solidFill>
                  <a:srgbClr val="212529"/>
                </a:solidFill>
                <a:effectLst/>
                <a:latin typeface="Muli"/>
              </a:rPr>
              <a:t> allow=int(input("\</a:t>
            </a:r>
            <a:r>
              <a:rPr lang="en-US" b="0" i="1" u="none" strike="noStrike" dirty="0" err="1">
                <a:solidFill>
                  <a:srgbClr val="212529"/>
                </a:solidFill>
                <a:effectLst/>
                <a:latin typeface="Muli"/>
              </a:rPr>
              <a:t>tAllowances</a:t>
            </a:r>
            <a:r>
              <a:rPr lang="en-US" b="0" i="1" u="none" strike="noStrike" dirty="0">
                <a:solidFill>
                  <a:srgbClr val="212529"/>
                </a:solidFill>
                <a:effectLst/>
                <a:latin typeface="Muli"/>
              </a:rPr>
              <a:t> : “))</a:t>
            </a:r>
            <a:br>
              <a:rPr lang="en-US" b="0" i="1" u="none" strike="noStrike" dirty="0">
                <a:solidFill>
                  <a:srgbClr val="212529"/>
                </a:solidFill>
                <a:effectLst/>
                <a:latin typeface="Muli"/>
              </a:rPr>
            </a:br>
            <a:r>
              <a:rPr lang="en-US" b="0" i="1" u="none" strike="noStrike" dirty="0">
                <a:solidFill>
                  <a:srgbClr val="212529"/>
                </a:solidFill>
                <a:effectLst/>
                <a:latin typeface="Muli"/>
              </a:rPr>
              <a:t> </a:t>
            </a:r>
            <a:r>
              <a:rPr lang="en-US" b="0" i="1" u="none" strike="noStrike" dirty="0" err="1">
                <a:solidFill>
                  <a:srgbClr val="212529"/>
                </a:solidFill>
                <a:effectLst/>
                <a:latin typeface="Muli"/>
              </a:rPr>
              <a:t>totsal</a:t>
            </a:r>
            <a:r>
              <a:rPr lang="en-US" b="0" i="1" u="none" strike="noStrike" dirty="0">
                <a:solidFill>
                  <a:srgbClr val="212529"/>
                </a:solidFill>
                <a:effectLst/>
                <a:latin typeface="Muli"/>
              </a:rPr>
              <a:t>=</a:t>
            </a:r>
            <a:r>
              <a:rPr lang="en-US" b="0" i="1" u="none" strike="noStrike" dirty="0" err="1">
                <a:solidFill>
                  <a:srgbClr val="212529"/>
                </a:solidFill>
                <a:effectLst/>
                <a:latin typeface="Muli"/>
              </a:rPr>
              <a:t>ebasic+allow</a:t>
            </a:r>
            <a:br>
              <a:rPr lang="en-US" b="0" i="1" u="none" strike="noStrike" dirty="0">
                <a:solidFill>
                  <a:srgbClr val="212529"/>
                </a:solidFill>
                <a:effectLst/>
                <a:latin typeface="Muli"/>
              </a:rPr>
            </a:br>
            <a:r>
              <a:rPr lang="en-US" b="0" i="1" u="none" strike="noStrike" dirty="0">
                <a:solidFill>
                  <a:srgbClr val="212529"/>
                </a:solidFill>
                <a:effectLst/>
                <a:latin typeface="Muli"/>
              </a:rPr>
              <a:t> print("\</a:t>
            </a:r>
            <a:r>
              <a:rPr lang="en-US" b="0" i="1" u="none" strike="noStrike" dirty="0" err="1">
                <a:solidFill>
                  <a:srgbClr val="212529"/>
                </a:solidFill>
                <a:effectLst/>
                <a:latin typeface="Muli"/>
              </a:rPr>
              <a:t>tTOTAL</a:t>
            </a:r>
            <a:r>
              <a:rPr lang="en-US" b="0" i="1" u="none" strike="noStrike" dirty="0">
                <a:solidFill>
                  <a:srgbClr val="212529"/>
                </a:solidFill>
                <a:effectLst/>
                <a:latin typeface="Muli"/>
              </a:rPr>
              <a:t> SALARY : “, </a:t>
            </a:r>
            <a:r>
              <a:rPr lang="en-US" b="0" i="1" u="none" strike="noStrike" dirty="0" err="1">
                <a:solidFill>
                  <a:srgbClr val="212529"/>
                </a:solidFill>
                <a:effectLst/>
                <a:latin typeface="Muli"/>
              </a:rPr>
              <a:t>totsal</a:t>
            </a:r>
            <a:r>
              <a:rPr lang="en-US" b="0" i="1" u="none" strike="noStrike" dirty="0">
                <a:solidFill>
                  <a:srgbClr val="212529"/>
                </a:solidFill>
                <a:effectLst/>
                <a:latin typeface="Muli"/>
              </a:rPr>
              <a:t>)</a:t>
            </a:r>
            <a:br>
              <a:rPr lang="en-US" b="0" i="1" u="none" strike="noStrike" dirty="0">
                <a:solidFill>
                  <a:srgbClr val="212529"/>
                </a:solidFill>
                <a:effectLst/>
                <a:latin typeface="Muli"/>
              </a:rPr>
            </a:br>
            <a:r>
              <a:rPr lang="en-US" b="0" i="1" u="none" strike="noStrike" dirty="0">
                <a:solidFill>
                  <a:srgbClr val="212529"/>
                </a:solidFill>
                <a:effectLst/>
                <a:latin typeface="Muli"/>
              </a:rPr>
              <a:t> </a:t>
            </a:r>
            <a:r>
              <a:rPr lang="en-US" b="0" i="1" u="none" strike="noStrike" dirty="0" err="1">
                <a:solidFill>
                  <a:srgbClr val="212529"/>
                </a:solidFill>
                <a:effectLst/>
                <a:latin typeface="Muli"/>
              </a:rPr>
              <a:t>edata</a:t>
            </a:r>
            <a:r>
              <a:rPr lang="en-US" b="0" i="1" u="none" strike="noStrike" dirty="0">
                <a:solidFill>
                  <a:srgbClr val="212529"/>
                </a:solidFill>
                <a:effectLst/>
                <a:latin typeface="Muli"/>
              </a:rPr>
              <a:t>=[</a:t>
            </a:r>
            <a:r>
              <a:rPr lang="en-US" b="0" i="1" u="none" strike="noStrike" dirty="0" err="1">
                <a:solidFill>
                  <a:srgbClr val="212529"/>
                </a:solidFill>
                <a:effectLst/>
                <a:latin typeface="Muli"/>
              </a:rPr>
              <a:t>eno,ename,ebasic,allow,totsal</a:t>
            </a:r>
            <a:r>
              <a:rPr lang="en-US" b="0" i="1" u="none" strike="noStrike" dirty="0">
                <a:solidFill>
                  <a:srgbClr val="212529"/>
                </a:solidFill>
                <a:effectLst/>
                <a:latin typeface="Muli"/>
              </a:rPr>
              <a:t>]</a:t>
            </a:r>
            <a:br>
              <a:rPr lang="en-US" b="0" i="1" u="none" strike="noStrike" dirty="0">
                <a:solidFill>
                  <a:srgbClr val="212529"/>
                </a:solidFill>
                <a:effectLst/>
                <a:latin typeface="Muli"/>
              </a:rPr>
            </a:br>
            <a:r>
              <a:rPr lang="en-US" b="0" i="1" u="none" strike="noStrike" dirty="0">
                <a:solidFill>
                  <a:srgbClr val="212529"/>
                </a:solidFill>
                <a:effectLst/>
                <a:latin typeface="Muli"/>
              </a:rPr>
              <a:t> </a:t>
            </a:r>
            <a:r>
              <a:rPr lang="en-US" b="0" i="1" u="none" strike="noStrike" dirty="0" err="1">
                <a:solidFill>
                  <a:srgbClr val="212529"/>
                </a:solidFill>
                <a:effectLst/>
                <a:latin typeface="Muli"/>
              </a:rPr>
              <a:t>pickle.dump</a:t>
            </a:r>
            <a:r>
              <a:rPr lang="en-US" b="0" i="1" u="none" strike="noStrike" dirty="0">
                <a:solidFill>
                  <a:srgbClr val="212529"/>
                </a:solidFill>
                <a:effectLst/>
                <a:latin typeface="Muli"/>
              </a:rPr>
              <a:t>(</a:t>
            </a:r>
            <a:r>
              <a:rPr lang="en-US" b="0" i="1" u="none" strike="noStrike" dirty="0" err="1">
                <a:solidFill>
                  <a:srgbClr val="212529"/>
                </a:solidFill>
                <a:effectLst/>
                <a:latin typeface="Muli"/>
              </a:rPr>
              <a:t>edata,bfile</a:t>
            </a:r>
            <a:r>
              <a:rPr lang="en-US" b="0" i="1" u="none" strike="noStrike" dirty="0">
                <a:solidFill>
                  <a:srgbClr val="212529"/>
                </a:solidFill>
                <a:effectLst/>
                <a:latin typeface="Muli"/>
              </a:rPr>
              <a:t>)</a:t>
            </a:r>
            <a:br>
              <a:rPr lang="en-US" b="0" i="1" u="none" strike="noStrike" dirty="0">
                <a:solidFill>
                  <a:srgbClr val="212529"/>
                </a:solidFill>
                <a:effectLst/>
                <a:latin typeface="Muli"/>
              </a:rPr>
            </a:br>
            <a:r>
              <a:rPr lang="en-US" b="0" i="1" u="none" strike="noStrike" dirty="0">
                <a:solidFill>
                  <a:srgbClr val="212529"/>
                </a:solidFill>
                <a:effectLst/>
                <a:latin typeface="Muli"/>
              </a:rPr>
              <a:t> </a:t>
            </a:r>
            <a:r>
              <a:rPr lang="en-US" b="0" i="1" u="none" strike="noStrike" dirty="0" err="1">
                <a:solidFill>
                  <a:srgbClr val="212529"/>
                </a:solidFill>
                <a:effectLst/>
                <a:latin typeface="Muli"/>
              </a:rPr>
              <a:t>ans</a:t>
            </a:r>
            <a:r>
              <a:rPr lang="en-US" b="0" i="1" u="none" strike="noStrike" dirty="0">
                <a:solidFill>
                  <a:srgbClr val="212529"/>
                </a:solidFill>
                <a:effectLst/>
                <a:latin typeface="Muli"/>
              </a:rPr>
              <a:t>=input(“Do you wish to enter more records (y/n)? “)</a:t>
            </a:r>
            <a:br>
              <a:rPr lang="en-US" b="0" i="1" u="none" strike="noStrike" dirty="0">
                <a:solidFill>
                  <a:srgbClr val="212529"/>
                </a:solidFill>
                <a:effectLst/>
                <a:latin typeface="Muli"/>
              </a:rPr>
            </a:br>
            <a:r>
              <a:rPr lang="en-US" b="0" i="1" u="none" strike="noStrike" dirty="0">
                <a:solidFill>
                  <a:srgbClr val="212529"/>
                </a:solidFill>
                <a:effectLst/>
                <a:latin typeface="Muli"/>
              </a:rPr>
              <a:t> </a:t>
            </a:r>
            <a:r>
              <a:rPr lang="en-US" b="0" i="1" u="none" strike="noStrike" dirty="0" err="1">
                <a:solidFill>
                  <a:srgbClr val="212529"/>
                </a:solidFill>
                <a:effectLst/>
                <a:latin typeface="Muli"/>
              </a:rPr>
              <a:t>recno</a:t>
            </a:r>
            <a:r>
              <a:rPr lang="en-US" b="0" i="1" u="none" strike="noStrike" dirty="0">
                <a:solidFill>
                  <a:srgbClr val="212529"/>
                </a:solidFill>
                <a:effectLst/>
                <a:latin typeface="Muli"/>
              </a:rPr>
              <a:t>=recno+1</a:t>
            </a:r>
            <a:br>
              <a:rPr lang="en-US" b="0" i="1" u="none" strike="noStrike" dirty="0">
                <a:solidFill>
                  <a:srgbClr val="212529"/>
                </a:solidFill>
                <a:effectLst/>
                <a:latin typeface="Muli"/>
              </a:rPr>
            </a:br>
            <a:r>
              <a:rPr lang="en-US" b="0" i="1" u="none" strike="noStrike" dirty="0">
                <a:solidFill>
                  <a:srgbClr val="212529"/>
                </a:solidFill>
                <a:effectLst/>
                <a:latin typeface="Muli"/>
              </a:rPr>
              <a:t> if </a:t>
            </a:r>
            <a:r>
              <a:rPr lang="en-US" b="0" i="1" u="none" strike="noStrike" dirty="0" err="1">
                <a:solidFill>
                  <a:srgbClr val="212529"/>
                </a:solidFill>
                <a:effectLst/>
                <a:latin typeface="Muli"/>
              </a:rPr>
              <a:t>ans.lower</a:t>
            </a:r>
            <a:r>
              <a:rPr lang="en-US" b="0" i="1" u="none" strike="noStrike" dirty="0">
                <a:solidFill>
                  <a:srgbClr val="212529"/>
                </a:solidFill>
                <a:effectLst/>
                <a:latin typeface="Muli"/>
              </a:rPr>
              <a:t>()==‘n’:</a:t>
            </a:r>
            <a:br>
              <a:rPr lang="en-US" b="0" i="1" u="none" strike="noStrike" dirty="0">
                <a:solidFill>
                  <a:srgbClr val="212529"/>
                </a:solidFill>
                <a:effectLst/>
                <a:latin typeface="Muli"/>
              </a:rPr>
            </a:br>
            <a:r>
              <a:rPr lang="en-US" b="0" i="1" u="none" strike="noStrike" dirty="0">
                <a:solidFill>
                  <a:srgbClr val="212529"/>
                </a:solidFill>
                <a:effectLst/>
                <a:latin typeface="Muli"/>
              </a:rPr>
              <a:t> print(“Record entry OVER “)</a:t>
            </a:r>
            <a:br>
              <a:rPr lang="en-US" b="0" i="1" u="none" strike="noStrike" dirty="0">
                <a:solidFill>
                  <a:srgbClr val="212529"/>
                </a:solidFill>
                <a:effectLst/>
                <a:latin typeface="Muli"/>
              </a:rPr>
            </a:br>
            <a:r>
              <a:rPr lang="en-US" b="0" i="1" u="none" strike="noStrike" dirty="0">
                <a:solidFill>
                  <a:srgbClr val="212529"/>
                </a:solidFill>
                <a:effectLst/>
                <a:latin typeface="Muli"/>
              </a:rPr>
              <a:t> print()</a:t>
            </a:r>
            <a:br>
              <a:rPr lang="en-US" b="0" i="1" u="none" strike="noStrike" dirty="0">
                <a:solidFill>
                  <a:srgbClr val="212529"/>
                </a:solidFill>
                <a:effectLst/>
                <a:latin typeface="Muli"/>
              </a:rPr>
            </a:br>
            <a:r>
              <a:rPr lang="en-US" b="0" i="1" u="none" strike="noStrike" dirty="0">
                <a:solidFill>
                  <a:srgbClr val="212529"/>
                </a:solidFill>
                <a:effectLst/>
                <a:latin typeface="Muli"/>
              </a:rPr>
              <a:t> break</a:t>
            </a:r>
            <a:endParaRPr lang="en-US" b="0" i="0" u="none" strike="noStrike" dirty="0">
              <a:solidFill>
                <a:srgbClr val="212529"/>
              </a:solidFill>
              <a:effectLst/>
              <a:latin typeface="Muli"/>
            </a:endParaRPr>
          </a:p>
        </p:txBody>
      </p:sp>
    </p:spTree>
    <p:extLst>
      <p:ext uri="{BB962C8B-B14F-4D97-AF65-F5344CB8AC3E}">
        <p14:creationId xmlns:p14="http://schemas.microsoft.com/office/powerpoint/2010/main" val="8851260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F137B0-5ED5-92A2-19CF-C82719734FD3}"/>
              </a:ext>
            </a:extLst>
          </p:cNvPr>
          <p:cNvSpPr txBox="1"/>
          <p:nvPr/>
        </p:nvSpPr>
        <p:spPr>
          <a:xfrm>
            <a:off x="1025842" y="409784"/>
            <a:ext cx="8106727" cy="5324535"/>
          </a:xfrm>
          <a:prstGeom prst="rect">
            <a:avLst/>
          </a:prstGeom>
          <a:noFill/>
        </p:spPr>
        <p:txBody>
          <a:bodyPr wrap="square">
            <a:spAutoFit/>
          </a:bodyPr>
          <a:lstStyle/>
          <a:p>
            <a:r>
              <a:rPr lang="en-US" sz="2000" b="0" i="1" u="none" strike="noStrike" dirty="0">
                <a:solidFill>
                  <a:srgbClr val="212529"/>
                </a:solidFill>
                <a:effectLst/>
                <a:latin typeface="Muli"/>
              </a:rPr>
              <a:t>#retrieving the size of file</a:t>
            </a:r>
            <a:br>
              <a:rPr lang="en-US" sz="2000" b="0" i="1" u="none" strike="noStrike" dirty="0">
                <a:solidFill>
                  <a:srgbClr val="212529"/>
                </a:solidFill>
                <a:effectLst/>
                <a:latin typeface="Muli"/>
              </a:rPr>
            </a:br>
            <a:r>
              <a:rPr lang="en-US" sz="2000" b="0" i="1" u="none" strike="noStrike" dirty="0">
                <a:solidFill>
                  <a:srgbClr val="212529"/>
                </a:solidFill>
                <a:effectLst/>
                <a:latin typeface="Muli"/>
              </a:rPr>
              <a:t>print(“Size of binary file (in bytes):",</a:t>
            </a:r>
            <a:r>
              <a:rPr lang="en-US" sz="2000" b="0" i="1" u="none" strike="noStrike" dirty="0" err="1">
                <a:solidFill>
                  <a:srgbClr val="212529"/>
                </a:solidFill>
                <a:effectLst/>
                <a:latin typeface="Muli"/>
              </a:rPr>
              <a:t>bfile.tell</a:t>
            </a:r>
            <a:r>
              <a:rPr lang="en-US" sz="2000" b="0" i="1" u="none" strike="noStrike" dirty="0">
                <a:solidFill>
                  <a:srgbClr val="212529"/>
                </a:solidFill>
                <a:effectLst/>
                <a:latin typeface="Muli"/>
              </a:rPr>
              <a:t>())</a:t>
            </a:r>
            <a:br>
              <a:rPr lang="en-US" sz="2000" b="0" i="1" u="none" strike="noStrike" dirty="0">
                <a:solidFill>
                  <a:srgbClr val="212529"/>
                </a:solidFill>
                <a:effectLst/>
                <a:latin typeface="Muli"/>
              </a:rPr>
            </a:br>
            <a:r>
              <a:rPr lang="en-US" sz="2000" b="0" i="1" u="none" strike="noStrike" dirty="0" err="1">
                <a:solidFill>
                  <a:srgbClr val="212529"/>
                </a:solidFill>
                <a:effectLst/>
                <a:latin typeface="Muli"/>
              </a:rPr>
              <a:t>bfile.close</a:t>
            </a:r>
            <a:r>
              <a:rPr lang="en-US" sz="2000" b="0" i="1" u="none" strike="noStrike" dirty="0">
                <a:solidFill>
                  <a:srgbClr val="212529"/>
                </a:solidFill>
                <a:effectLst/>
                <a:latin typeface="Muli"/>
              </a:rPr>
              <a:t>()</a:t>
            </a:r>
            <a:br>
              <a:rPr lang="en-US" sz="2000" b="0" i="1" u="none" strike="noStrike" dirty="0">
                <a:solidFill>
                  <a:srgbClr val="212529"/>
                </a:solidFill>
                <a:effectLst/>
                <a:latin typeface="Muli"/>
              </a:rPr>
            </a:br>
            <a:r>
              <a:rPr lang="en-US" sz="2000" b="0" i="1" u="none" strike="noStrike" dirty="0">
                <a:solidFill>
                  <a:srgbClr val="212529"/>
                </a:solidFill>
                <a:effectLst/>
                <a:latin typeface="Muli"/>
              </a:rPr>
              <a:t>#Reading the employee records from the file using load() module</a:t>
            </a:r>
            <a:br>
              <a:rPr lang="en-US" sz="2000" b="0" i="1" u="none" strike="noStrike" dirty="0">
                <a:solidFill>
                  <a:srgbClr val="212529"/>
                </a:solidFill>
                <a:effectLst/>
                <a:latin typeface="Muli"/>
              </a:rPr>
            </a:br>
            <a:r>
              <a:rPr lang="en-US" sz="2000" b="0" i="1" u="none" strike="noStrike" dirty="0">
                <a:solidFill>
                  <a:srgbClr val="212529"/>
                </a:solidFill>
                <a:effectLst/>
                <a:latin typeface="Muli"/>
              </a:rPr>
              <a:t>print(“Now reading the employee records from the file”)</a:t>
            </a:r>
            <a:br>
              <a:rPr lang="en-US" sz="2000" b="0" i="1" u="none" strike="noStrike" dirty="0">
                <a:solidFill>
                  <a:srgbClr val="212529"/>
                </a:solidFill>
                <a:effectLst/>
                <a:latin typeface="Muli"/>
              </a:rPr>
            </a:br>
            <a:r>
              <a:rPr lang="en-US" sz="2000" b="0" i="1" u="none" strike="noStrike" dirty="0">
                <a:solidFill>
                  <a:srgbClr val="212529"/>
                </a:solidFill>
                <a:effectLst/>
                <a:latin typeface="Muli"/>
              </a:rPr>
              <a:t>print()</a:t>
            </a:r>
            <a:br>
              <a:rPr lang="en-US" sz="2000" b="0" i="1" u="none" strike="noStrike" dirty="0">
                <a:solidFill>
                  <a:srgbClr val="212529"/>
                </a:solidFill>
                <a:effectLst/>
                <a:latin typeface="Muli"/>
              </a:rPr>
            </a:br>
            <a:r>
              <a:rPr lang="en-US" sz="2000" b="0" i="1" u="none" strike="noStrike" dirty="0" err="1">
                <a:solidFill>
                  <a:srgbClr val="212529"/>
                </a:solidFill>
                <a:effectLst/>
                <a:latin typeface="Muli"/>
              </a:rPr>
              <a:t>readrec</a:t>
            </a:r>
            <a:r>
              <a:rPr lang="en-US" sz="2000" b="0" i="1" u="none" strike="noStrike" dirty="0">
                <a:solidFill>
                  <a:srgbClr val="212529"/>
                </a:solidFill>
                <a:effectLst/>
                <a:latin typeface="Muli"/>
              </a:rPr>
              <a:t>=1</a:t>
            </a:r>
            <a:br>
              <a:rPr lang="en-US" sz="2000" b="0" i="1" u="none" strike="noStrike" dirty="0">
                <a:solidFill>
                  <a:srgbClr val="212529"/>
                </a:solidFill>
                <a:effectLst/>
                <a:latin typeface="Muli"/>
              </a:rPr>
            </a:br>
            <a:r>
              <a:rPr lang="en-US" sz="2000" b="0" i="1" u="none" strike="noStrike" dirty="0">
                <a:solidFill>
                  <a:srgbClr val="212529"/>
                </a:solidFill>
                <a:effectLst/>
                <a:latin typeface="Muli"/>
              </a:rPr>
              <a:t>try:</a:t>
            </a:r>
            <a:br>
              <a:rPr lang="en-US" sz="2000" b="0" i="1" u="none" strike="noStrike" dirty="0">
                <a:solidFill>
                  <a:srgbClr val="212529"/>
                </a:solidFill>
                <a:effectLst/>
                <a:latin typeface="Muli"/>
              </a:rPr>
            </a:br>
            <a:r>
              <a:rPr lang="en-US" sz="2000" b="0" i="1" u="none" strike="noStrike" dirty="0">
                <a:solidFill>
                  <a:srgbClr val="212529"/>
                </a:solidFill>
                <a:effectLst/>
                <a:latin typeface="Muli"/>
              </a:rPr>
              <a:t> with open(“empfile.</a:t>
            </a:r>
            <a:r>
              <a:rPr lang="en-US" sz="2000" b="0" i="1" u="none" strike="noStrike" dirty="0" err="1">
                <a:solidFill>
                  <a:srgbClr val="212529"/>
                </a:solidFill>
                <a:effectLst/>
                <a:latin typeface="Muli"/>
              </a:rPr>
              <a:t>dat</a:t>
            </a:r>
            <a:r>
              <a:rPr lang="en-US" sz="2000" b="0" i="1" u="none" strike="noStrike" dirty="0">
                <a:solidFill>
                  <a:srgbClr val="212529"/>
                </a:solidFill>
                <a:effectLst/>
                <a:latin typeface="Muli"/>
              </a:rPr>
              <a:t>”,“</a:t>
            </a:r>
            <a:r>
              <a:rPr lang="en-US" sz="2000" b="0" i="1" u="none" strike="noStrike" dirty="0" err="1">
                <a:solidFill>
                  <a:srgbClr val="212529"/>
                </a:solidFill>
                <a:effectLst/>
                <a:latin typeface="Muli"/>
              </a:rPr>
              <a:t>rb</a:t>
            </a:r>
            <a:r>
              <a:rPr lang="en-US" sz="2000" b="0" i="1" u="none" strike="noStrike" dirty="0">
                <a:solidFill>
                  <a:srgbClr val="212529"/>
                </a:solidFill>
                <a:effectLst/>
                <a:latin typeface="Muli"/>
              </a:rPr>
              <a:t>”) as </a:t>
            </a:r>
            <a:r>
              <a:rPr lang="en-US" sz="2000" b="0" i="1" u="none" strike="noStrike" dirty="0" err="1">
                <a:solidFill>
                  <a:srgbClr val="212529"/>
                </a:solidFill>
                <a:effectLst/>
                <a:latin typeface="Muli"/>
              </a:rPr>
              <a:t>bfile</a:t>
            </a:r>
            <a:r>
              <a:rPr lang="en-US" sz="2000" b="0" i="1" u="none" strike="noStrike" dirty="0">
                <a:solidFill>
                  <a:srgbClr val="212529"/>
                </a:solidFill>
                <a:effectLst/>
                <a:latin typeface="Muli"/>
              </a:rPr>
              <a:t>:</a:t>
            </a:r>
            <a:br>
              <a:rPr lang="en-US" sz="2000" b="0" i="1" u="none" strike="noStrike" dirty="0">
                <a:solidFill>
                  <a:srgbClr val="212529"/>
                </a:solidFill>
                <a:effectLst/>
                <a:latin typeface="Muli"/>
              </a:rPr>
            </a:br>
            <a:r>
              <a:rPr lang="en-US" sz="2000" b="0" i="1" u="none" strike="noStrike" dirty="0">
                <a:solidFill>
                  <a:srgbClr val="212529"/>
                </a:solidFill>
                <a:effectLst/>
                <a:latin typeface="Muli"/>
              </a:rPr>
              <a:t> while True:</a:t>
            </a:r>
            <a:br>
              <a:rPr lang="en-US" sz="2000" b="0" i="1" u="none" strike="noStrike" dirty="0">
                <a:solidFill>
                  <a:srgbClr val="212529"/>
                </a:solidFill>
                <a:effectLst/>
                <a:latin typeface="Muli"/>
              </a:rPr>
            </a:br>
            <a:r>
              <a:rPr lang="en-US" sz="2000" b="0" i="1" u="none" strike="noStrike" dirty="0">
                <a:solidFill>
                  <a:srgbClr val="212529"/>
                </a:solidFill>
                <a:effectLst/>
                <a:latin typeface="Muli"/>
              </a:rPr>
              <a:t> </a:t>
            </a:r>
            <a:r>
              <a:rPr lang="en-US" sz="2000" b="0" i="1" u="none" strike="noStrike" dirty="0" err="1">
                <a:solidFill>
                  <a:srgbClr val="212529"/>
                </a:solidFill>
                <a:effectLst/>
                <a:latin typeface="Muli"/>
              </a:rPr>
              <a:t>edata</a:t>
            </a:r>
            <a:r>
              <a:rPr lang="en-US" sz="2000" b="0" i="1" u="none" strike="noStrike" dirty="0">
                <a:solidFill>
                  <a:srgbClr val="212529"/>
                </a:solidFill>
                <a:effectLst/>
                <a:latin typeface="Muli"/>
              </a:rPr>
              <a:t>=</a:t>
            </a:r>
            <a:r>
              <a:rPr lang="en-US" sz="2000" b="0" i="1" u="none" strike="noStrike" dirty="0" err="1">
                <a:solidFill>
                  <a:srgbClr val="212529"/>
                </a:solidFill>
                <a:effectLst/>
                <a:latin typeface="Muli"/>
              </a:rPr>
              <a:t>pickle.load</a:t>
            </a:r>
            <a:r>
              <a:rPr lang="en-US" sz="2000" b="0" i="1" u="none" strike="noStrike" dirty="0">
                <a:solidFill>
                  <a:srgbClr val="212529"/>
                </a:solidFill>
                <a:effectLst/>
                <a:latin typeface="Muli"/>
              </a:rPr>
              <a:t>(</a:t>
            </a:r>
            <a:r>
              <a:rPr lang="en-US" sz="2000" b="0" i="1" u="none" strike="noStrike" dirty="0" err="1">
                <a:solidFill>
                  <a:srgbClr val="212529"/>
                </a:solidFill>
                <a:effectLst/>
                <a:latin typeface="Muli"/>
              </a:rPr>
              <a:t>bfile</a:t>
            </a:r>
            <a:r>
              <a:rPr lang="en-US" sz="2000" b="0" i="1" u="none" strike="noStrike" dirty="0">
                <a:solidFill>
                  <a:srgbClr val="212529"/>
                </a:solidFill>
                <a:effectLst/>
                <a:latin typeface="Muli"/>
              </a:rPr>
              <a:t>)</a:t>
            </a:r>
            <a:br>
              <a:rPr lang="en-US" sz="2000" b="0" i="1" u="none" strike="noStrike" dirty="0">
                <a:solidFill>
                  <a:srgbClr val="212529"/>
                </a:solidFill>
                <a:effectLst/>
                <a:latin typeface="Muli"/>
              </a:rPr>
            </a:br>
            <a:r>
              <a:rPr lang="en-US" sz="2000" b="0" i="1" u="none" strike="noStrike" dirty="0">
                <a:solidFill>
                  <a:srgbClr val="212529"/>
                </a:solidFill>
                <a:effectLst/>
                <a:latin typeface="Muli"/>
              </a:rPr>
              <a:t> print(“Record Number : “,</a:t>
            </a:r>
            <a:r>
              <a:rPr lang="en-US" sz="2000" b="0" i="1" u="none" strike="noStrike" dirty="0" err="1">
                <a:solidFill>
                  <a:srgbClr val="212529"/>
                </a:solidFill>
                <a:effectLst/>
                <a:latin typeface="Muli"/>
              </a:rPr>
              <a:t>readrec</a:t>
            </a:r>
            <a:r>
              <a:rPr lang="en-US" sz="2000" b="0" i="1" u="none" strike="noStrike" dirty="0">
                <a:solidFill>
                  <a:srgbClr val="212529"/>
                </a:solidFill>
                <a:effectLst/>
                <a:latin typeface="Muli"/>
              </a:rPr>
              <a:t>)</a:t>
            </a:r>
            <a:br>
              <a:rPr lang="en-US" sz="2000" b="0" i="1" u="none" strike="noStrike" dirty="0">
                <a:solidFill>
                  <a:srgbClr val="212529"/>
                </a:solidFill>
                <a:effectLst/>
                <a:latin typeface="Muli"/>
              </a:rPr>
            </a:br>
            <a:r>
              <a:rPr lang="en-US" sz="2000" b="0" i="1" u="none" strike="noStrike" dirty="0">
                <a:solidFill>
                  <a:srgbClr val="212529"/>
                </a:solidFill>
                <a:effectLst/>
                <a:latin typeface="Muli"/>
              </a:rPr>
              <a:t> print(</a:t>
            </a:r>
            <a:r>
              <a:rPr lang="en-US" sz="2000" b="0" i="1" u="none" strike="noStrike" dirty="0" err="1">
                <a:solidFill>
                  <a:srgbClr val="212529"/>
                </a:solidFill>
                <a:effectLst/>
                <a:latin typeface="Muli"/>
              </a:rPr>
              <a:t>edata</a:t>
            </a:r>
            <a:r>
              <a:rPr lang="en-US" sz="2000" b="0" i="1" u="none" strike="noStrike" dirty="0">
                <a:solidFill>
                  <a:srgbClr val="212529"/>
                </a:solidFill>
                <a:effectLst/>
                <a:latin typeface="Muli"/>
              </a:rPr>
              <a:t>)</a:t>
            </a:r>
            <a:br>
              <a:rPr lang="en-US" sz="2000" b="0" i="1" u="none" strike="noStrike" dirty="0">
                <a:solidFill>
                  <a:srgbClr val="212529"/>
                </a:solidFill>
                <a:effectLst/>
                <a:latin typeface="Muli"/>
              </a:rPr>
            </a:br>
            <a:r>
              <a:rPr lang="en-US" sz="2000" b="0" i="1" u="none" strike="noStrike" dirty="0">
                <a:solidFill>
                  <a:srgbClr val="212529"/>
                </a:solidFill>
                <a:effectLst/>
                <a:latin typeface="Muli"/>
              </a:rPr>
              <a:t> </a:t>
            </a:r>
            <a:r>
              <a:rPr lang="en-US" sz="2000" b="0" i="1" u="none" strike="noStrike" dirty="0" err="1">
                <a:solidFill>
                  <a:srgbClr val="212529"/>
                </a:solidFill>
                <a:effectLst/>
                <a:latin typeface="Muli"/>
              </a:rPr>
              <a:t>readrec</a:t>
            </a:r>
            <a:r>
              <a:rPr lang="en-US" sz="2000" b="0" i="1" u="none" strike="noStrike" dirty="0">
                <a:solidFill>
                  <a:srgbClr val="212529"/>
                </a:solidFill>
                <a:effectLst/>
                <a:latin typeface="Muli"/>
              </a:rPr>
              <a:t>=readrec+1</a:t>
            </a:r>
            <a:br>
              <a:rPr lang="en-US" sz="2000" b="0" i="1" u="none" strike="noStrike" dirty="0">
                <a:solidFill>
                  <a:srgbClr val="212529"/>
                </a:solidFill>
                <a:effectLst/>
                <a:latin typeface="Muli"/>
              </a:rPr>
            </a:br>
            <a:r>
              <a:rPr lang="en-US" sz="2000" b="0" i="1" u="none" strike="noStrike" dirty="0">
                <a:solidFill>
                  <a:srgbClr val="212529"/>
                </a:solidFill>
                <a:effectLst/>
                <a:latin typeface="Muli"/>
              </a:rPr>
              <a:t>except </a:t>
            </a:r>
            <a:r>
              <a:rPr lang="en-US" sz="2000" b="0" i="1" u="none" strike="noStrike" dirty="0" err="1">
                <a:solidFill>
                  <a:srgbClr val="212529"/>
                </a:solidFill>
                <a:effectLst/>
                <a:latin typeface="Muli"/>
              </a:rPr>
              <a:t>EOFError</a:t>
            </a:r>
            <a:r>
              <a:rPr lang="en-US" sz="2000" b="0" i="1" u="none" strike="noStrike" dirty="0">
                <a:solidFill>
                  <a:srgbClr val="212529"/>
                </a:solidFill>
                <a:effectLst/>
                <a:latin typeface="Muli"/>
              </a:rPr>
              <a:t>:</a:t>
            </a:r>
            <a:br>
              <a:rPr lang="en-US" sz="2000" b="0" i="1" u="none" strike="noStrike" dirty="0">
                <a:solidFill>
                  <a:srgbClr val="212529"/>
                </a:solidFill>
                <a:effectLst/>
                <a:latin typeface="Muli"/>
              </a:rPr>
            </a:br>
            <a:r>
              <a:rPr lang="en-US" sz="2000" b="0" i="1" u="none" strike="noStrike" dirty="0">
                <a:solidFill>
                  <a:srgbClr val="212529"/>
                </a:solidFill>
                <a:effectLst/>
                <a:latin typeface="Muli"/>
              </a:rPr>
              <a:t> pass</a:t>
            </a:r>
            <a:br>
              <a:rPr lang="en-US" sz="2000" b="0" i="1" u="none" strike="noStrike" dirty="0">
                <a:solidFill>
                  <a:srgbClr val="212529"/>
                </a:solidFill>
                <a:effectLst/>
                <a:latin typeface="Muli"/>
              </a:rPr>
            </a:br>
            <a:r>
              <a:rPr lang="en-US" sz="2000" b="0" i="1" u="none" strike="noStrike" dirty="0" err="1">
                <a:solidFill>
                  <a:srgbClr val="212529"/>
                </a:solidFill>
                <a:effectLst/>
                <a:latin typeface="Muli"/>
              </a:rPr>
              <a:t>bfile.close</a:t>
            </a:r>
            <a:r>
              <a:rPr lang="en-US" sz="2000" b="0" i="1" u="none" strike="noStrike" dirty="0">
                <a:solidFill>
                  <a:srgbClr val="212529"/>
                </a:solidFill>
                <a:effectLst/>
                <a:latin typeface="Muli"/>
              </a:rPr>
              <a:t>()</a:t>
            </a:r>
            <a:endParaRPr lang="en-US" sz="2000" dirty="0"/>
          </a:p>
        </p:txBody>
      </p:sp>
    </p:spTree>
    <p:extLst>
      <p:ext uri="{BB962C8B-B14F-4D97-AF65-F5344CB8AC3E}">
        <p14:creationId xmlns:p14="http://schemas.microsoft.com/office/powerpoint/2010/main" val="15078803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575D-7B52-32B4-B321-DC8387F8DAFC}"/>
              </a:ext>
            </a:extLst>
          </p:cNvPr>
          <p:cNvSpPr>
            <a:spLocks noGrp="1"/>
          </p:cNvSpPr>
          <p:nvPr>
            <p:ph type="ctrTitle"/>
          </p:nvPr>
        </p:nvSpPr>
        <p:spPr/>
        <p:txBody>
          <a:bodyPr/>
          <a:lstStyle/>
          <a:p>
            <a:r>
              <a:rPr lang="en-US" dirty="0"/>
              <a:t>Regular Expression-regex</a:t>
            </a:r>
          </a:p>
        </p:txBody>
      </p:sp>
      <p:sp>
        <p:nvSpPr>
          <p:cNvPr id="3" name="Subtitle 2">
            <a:extLst>
              <a:ext uri="{FF2B5EF4-FFF2-40B4-BE49-F238E27FC236}">
                <a16:creationId xmlns:a16="http://schemas.microsoft.com/office/drawing/2014/main" id="{F048A58E-703C-FE0B-780A-1D7E510A956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507819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3159D-3C13-CB8D-E79E-B16D6217F1AF}"/>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D7C55E16-FDB0-DE81-4799-CD23B5B66BD7}"/>
              </a:ext>
            </a:extLst>
          </p:cNvPr>
          <p:cNvSpPr>
            <a:spLocks noGrp="1"/>
          </p:cNvSpPr>
          <p:nvPr>
            <p:ph idx="1"/>
          </p:nvPr>
        </p:nvSpPr>
        <p:spPr/>
        <p:txBody>
          <a:bodyPr/>
          <a:lstStyle/>
          <a:p>
            <a:pPr fontAlgn="base"/>
            <a:r>
              <a:rPr lang="en-US" sz="2800" dirty="0"/>
              <a:t>A Regular Expression or </a:t>
            </a:r>
            <a:r>
              <a:rPr lang="en-US" sz="2800" dirty="0" err="1"/>
              <a:t>RegEx</a:t>
            </a:r>
            <a:r>
              <a:rPr lang="en-US" sz="2800" b="1" dirty="0"/>
              <a:t> </a:t>
            </a:r>
            <a:r>
              <a:rPr lang="en-US" sz="2800" dirty="0"/>
              <a:t>is a special sequence of characters that uses a search pattern to find a string or set of strings.</a:t>
            </a:r>
          </a:p>
          <a:p>
            <a:pPr fontAlgn="base"/>
            <a:r>
              <a:rPr lang="en-US" sz="2800" dirty="0"/>
              <a:t>It can detect the presence or absence of a text by matching it with a particular pattern and also can split a pattern into one or more sub-patterns.</a:t>
            </a:r>
          </a:p>
          <a:p>
            <a:pPr fontAlgn="base"/>
            <a:endParaRPr lang="en-US" sz="2800" dirty="0"/>
          </a:p>
          <a:p>
            <a:pPr marL="0" indent="0" fontAlgn="base">
              <a:buNone/>
            </a:pPr>
            <a:r>
              <a:rPr lang="en-US" sz="2800" i="1" dirty="0"/>
              <a:t>import re</a:t>
            </a:r>
            <a:endParaRPr lang="en-US" sz="2800" dirty="0"/>
          </a:p>
          <a:p>
            <a:endParaRPr lang="en-US" dirty="0"/>
          </a:p>
        </p:txBody>
      </p:sp>
    </p:spTree>
    <p:extLst>
      <p:ext uri="{BB962C8B-B14F-4D97-AF65-F5344CB8AC3E}">
        <p14:creationId xmlns:p14="http://schemas.microsoft.com/office/powerpoint/2010/main" val="14520122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51811-561F-078B-678B-DCE83882FA06}"/>
              </a:ext>
            </a:extLst>
          </p:cNvPr>
          <p:cNvSpPr>
            <a:spLocks noGrp="1"/>
          </p:cNvSpPr>
          <p:nvPr>
            <p:ph type="title"/>
          </p:nvPr>
        </p:nvSpPr>
        <p:spPr/>
        <p:txBody>
          <a:bodyPr/>
          <a:lstStyle/>
          <a:p>
            <a:r>
              <a:rPr lang="en-US" b="1" dirty="0"/>
              <a:t>How to Use </a:t>
            </a:r>
            <a:r>
              <a:rPr lang="en-US" b="1" dirty="0" err="1"/>
              <a:t>RegEx</a:t>
            </a:r>
            <a:r>
              <a:rPr lang="en-US" b="1" dirty="0"/>
              <a:t> in Python?</a:t>
            </a:r>
            <a:br>
              <a:rPr lang="en-US" b="1" dirty="0"/>
            </a:br>
            <a:endParaRPr lang="en-US" dirty="0"/>
          </a:p>
        </p:txBody>
      </p:sp>
      <p:sp>
        <p:nvSpPr>
          <p:cNvPr id="3" name="Content Placeholder 2">
            <a:extLst>
              <a:ext uri="{FF2B5EF4-FFF2-40B4-BE49-F238E27FC236}">
                <a16:creationId xmlns:a16="http://schemas.microsoft.com/office/drawing/2014/main" id="{4AE95ED9-97F2-94AE-F94B-BA82D9AB8EDD}"/>
              </a:ext>
            </a:extLst>
          </p:cNvPr>
          <p:cNvSpPr>
            <a:spLocks noGrp="1"/>
          </p:cNvSpPr>
          <p:nvPr>
            <p:ph idx="1"/>
          </p:nvPr>
        </p:nvSpPr>
        <p:spPr/>
        <p:txBody>
          <a:bodyPr>
            <a:normAutofit/>
          </a:bodyPr>
          <a:lstStyle/>
          <a:p>
            <a:pPr marL="0" indent="0">
              <a:buNone/>
            </a:pPr>
            <a:r>
              <a:rPr lang="en-US" sz="2800" dirty="0"/>
              <a:t>import re</a:t>
            </a:r>
          </a:p>
          <a:p>
            <a:pPr marL="0" indent="0">
              <a:buNone/>
            </a:pPr>
            <a:endParaRPr lang="en-US" sz="2800" dirty="0"/>
          </a:p>
          <a:p>
            <a:pPr marL="0" indent="0">
              <a:buNone/>
            </a:pPr>
            <a:r>
              <a:rPr lang="en-US" sz="2800" dirty="0"/>
              <a:t>s = '</a:t>
            </a:r>
            <a:r>
              <a:rPr lang="en-US" sz="2800" dirty="0" err="1"/>
              <a:t>GeeksforGeeks</a:t>
            </a:r>
            <a:r>
              <a:rPr lang="en-US" sz="2800" dirty="0"/>
              <a:t>: A computer science portal for geeks'</a:t>
            </a:r>
          </a:p>
          <a:p>
            <a:pPr marL="0" indent="0">
              <a:buNone/>
            </a:pPr>
            <a:r>
              <a:rPr lang="en-US" sz="2800" dirty="0"/>
              <a:t>match = </a:t>
            </a:r>
            <a:r>
              <a:rPr lang="en-US" sz="2800" dirty="0" err="1"/>
              <a:t>re.search</a:t>
            </a:r>
            <a:r>
              <a:rPr lang="en-US" sz="2800" dirty="0"/>
              <a:t>(</a:t>
            </a:r>
            <a:r>
              <a:rPr lang="en-US" sz="2800" dirty="0" err="1"/>
              <a:t>r'portal</a:t>
            </a:r>
            <a:r>
              <a:rPr lang="en-US" sz="2800" dirty="0"/>
              <a:t>', s)</a:t>
            </a:r>
          </a:p>
          <a:p>
            <a:pPr marL="0" indent="0">
              <a:buNone/>
            </a:pPr>
            <a:endParaRPr lang="en-US" sz="2800" dirty="0"/>
          </a:p>
          <a:p>
            <a:pPr marL="0" indent="0">
              <a:buNone/>
            </a:pPr>
            <a:r>
              <a:rPr lang="en-US" sz="2800" dirty="0"/>
              <a:t>print('Start Index:', </a:t>
            </a:r>
            <a:r>
              <a:rPr lang="en-US" sz="2800" dirty="0" err="1"/>
              <a:t>match.start</a:t>
            </a:r>
            <a:r>
              <a:rPr lang="en-US" sz="2800" dirty="0"/>
              <a:t>())</a:t>
            </a:r>
          </a:p>
          <a:p>
            <a:pPr marL="0" indent="0">
              <a:buNone/>
            </a:pPr>
            <a:r>
              <a:rPr lang="en-US" sz="2800" dirty="0"/>
              <a:t>print('End Index:', </a:t>
            </a:r>
            <a:r>
              <a:rPr lang="en-US" sz="2800" dirty="0" err="1"/>
              <a:t>match.end</a:t>
            </a:r>
            <a:r>
              <a:rPr lang="en-US" sz="2800" dirty="0"/>
              <a:t>())</a:t>
            </a:r>
          </a:p>
        </p:txBody>
      </p:sp>
    </p:spTree>
    <p:extLst>
      <p:ext uri="{BB962C8B-B14F-4D97-AF65-F5344CB8AC3E}">
        <p14:creationId xmlns:p14="http://schemas.microsoft.com/office/powerpoint/2010/main" val="6280370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94385-1F4D-6292-1C7F-37F8CB13C72A}"/>
              </a:ext>
            </a:extLst>
          </p:cNvPr>
          <p:cNvSpPr>
            <a:spLocks noGrp="1"/>
          </p:cNvSpPr>
          <p:nvPr>
            <p:ph type="title"/>
          </p:nvPr>
        </p:nvSpPr>
        <p:spPr/>
        <p:txBody>
          <a:bodyPr/>
          <a:lstStyle/>
          <a:p>
            <a:r>
              <a:rPr lang="en-US" b="1" dirty="0"/>
              <a:t>1. </a:t>
            </a:r>
            <a:r>
              <a:rPr lang="en-US" b="1" dirty="0" err="1"/>
              <a:t>re.findall</a:t>
            </a:r>
            <a:r>
              <a:rPr lang="en-US" b="1" dirty="0"/>
              <a:t>()</a:t>
            </a:r>
            <a:br>
              <a:rPr lang="en-US" b="1" dirty="0"/>
            </a:br>
            <a:endParaRPr lang="en-US" dirty="0"/>
          </a:p>
        </p:txBody>
      </p:sp>
      <p:sp>
        <p:nvSpPr>
          <p:cNvPr id="3" name="Content Placeholder 2">
            <a:extLst>
              <a:ext uri="{FF2B5EF4-FFF2-40B4-BE49-F238E27FC236}">
                <a16:creationId xmlns:a16="http://schemas.microsoft.com/office/drawing/2014/main" id="{909E31C9-5303-F6C2-FD78-F2BFE4533B92}"/>
              </a:ext>
            </a:extLst>
          </p:cNvPr>
          <p:cNvSpPr>
            <a:spLocks noGrp="1"/>
          </p:cNvSpPr>
          <p:nvPr>
            <p:ph idx="1"/>
          </p:nvPr>
        </p:nvSpPr>
        <p:spPr>
          <a:xfrm>
            <a:off x="3869268" y="308610"/>
            <a:ext cx="7315200" cy="6263640"/>
          </a:xfrm>
        </p:spPr>
        <p:txBody>
          <a:bodyPr>
            <a:normAutofit/>
          </a:bodyPr>
          <a:lstStyle/>
          <a:p>
            <a:pPr marL="0" indent="0" fontAlgn="base">
              <a:buNone/>
            </a:pPr>
            <a:r>
              <a:rPr lang="en-US" sz="2400" dirty="0"/>
              <a:t>Returns all non-overlapping matches of a pattern in the string as a list. It scans the string from left to right.</a:t>
            </a:r>
          </a:p>
          <a:p>
            <a:pPr marL="0" indent="0" fontAlgn="base">
              <a:buNone/>
            </a:pPr>
            <a:r>
              <a:rPr lang="en-US" sz="2400" b="1" dirty="0"/>
              <a:t>Example: </a:t>
            </a:r>
            <a:r>
              <a:rPr lang="en-US" sz="2400" dirty="0"/>
              <a:t>This code uses regular expression </a:t>
            </a:r>
            <a:r>
              <a:rPr lang="en-US" sz="2400" b="1" dirty="0"/>
              <a:t>\d+</a:t>
            </a:r>
            <a:r>
              <a:rPr lang="en-US" sz="2400" dirty="0"/>
              <a:t> to find all sequences of one or more digits in the given string.</a:t>
            </a:r>
          </a:p>
          <a:p>
            <a:pPr marL="0" indent="0" fontAlgn="base">
              <a:buNone/>
            </a:pPr>
            <a:r>
              <a:rPr lang="en-US" sz="2400" dirty="0"/>
              <a:t>Example</a:t>
            </a:r>
          </a:p>
          <a:p>
            <a:pPr marL="0" indent="0">
              <a:buNone/>
            </a:pPr>
            <a:r>
              <a:rPr lang="en-US" sz="2400" b="1" dirty="0"/>
              <a:t>import re</a:t>
            </a:r>
          </a:p>
          <a:p>
            <a:pPr marL="0" indent="0">
              <a:buNone/>
            </a:pPr>
            <a:r>
              <a:rPr lang="en-US" sz="2400" b="1" dirty="0"/>
              <a:t>string = """Hello my Number is 123456789 and</a:t>
            </a:r>
          </a:p>
          <a:p>
            <a:pPr marL="0" indent="0">
              <a:buNone/>
            </a:pPr>
            <a:r>
              <a:rPr lang="en-US" sz="2400" b="1" dirty="0"/>
              <a:t>            my friend's number is 987654321"""</a:t>
            </a:r>
          </a:p>
          <a:p>
            <a:pPr marL="0" indent="0">
              <a:buNone/>
            </a:pPr>
            <a:r>
              <a:rPr lang="en-US" sz="2400" b="1" dirty="0"/>
              <a:t>            </a:t>
            </a:r>
          </a:p>
          <a:p>
            <a:pPr marL="0" indent="0">
              <a:buNone/>
            </a:pPr>
            <a:r>
              <a:rPr lang="en-US" sz="2400" b="1" dirty="0"/>
              <a:t>regex = '\d+'</a:t>
            </a:r>
          </a:p>
          <a:p>
            <a:pPr marL="0" indent="0">
              <a:buNone/>
            </a:pPr>
            <a:r>
              <a:rPr lang="en-US" sz="2400" b="1" dirty="0"/>
              <a:t>match = </a:t>
            </a:r>
            <a:r>
              <a:rPr lang="en-US" sz="2400" b="1" dirty="0" err="1"/>
              <a:t>re.findall</a:t>
            </a:r>
            <a:r>
              <a:rPr lang="en-US" sz="2400" b="1" dirty="0"/>
              <a:t>(regex, string)</a:t>
            </a:r>
          </a:p>
          <a:p>
            <a:pPr marL="0" indent="0">
              <a:buNone/>
            </a:pPr>
            <a:r>
              <a:rPr lang="en-US" sz="2400" b="1" dirty="0"/>
              <a:t>print(match)</a:t>
            </a:r>
          </a:p>
        </p:txBody>
      </p:sp>
    </p:spTree>
    <p:extLst>
      <p:ext uri="{BB962C8B-B14F-4D97-AF65-F5344CB8AC3E}">
        <p14:creationId xmlns:p14="http://schemas.microsoft.com/office/powerpoint/2010/main" val="1416285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4E22B-B3A6-9B24-7683-1DE725063CAC}"/>
              </a:ext>
            </a:extLst>
          </p:cNvPr>
          <p:cNvSpPr>
            <a:spLocks noGrp="1"/>
          </p:cNvSpPr>
          <p:nvPr>
            <p:ph type="title"/>
          </p:nvPr>
        </p:nvSpPr>
        <p:spPr/>
        <p:txBody>
          <a:bodyPr/>
          <a:lstStyle/>
          <a:p>
            <a:r>
              <a:rPr lang="en-US" b="1" dirty="0"/>
              <a:t>2. </a:t>
            </a:r>
            <a:r>
              <a:rPr lang="en-US" b="1" dirty="0" err="1"/>
              <a:t>re.compile</a:t>
            </a:r>
            <a:r>
              <a:rPr lang="en-US" b="1" dirty="0"/>
              <a:t>()</a:t>
            </a:r>
            <a:br>
              <a:rPr lang="en-US" b="1" dirty="0"/>
            </a:br>
            <a:endParaRPr lang="en-US" dirty="0"/>
          </a:p>
        </p:txBody>
      </p:sp>
      <p:sp>
        <p:nvSpPr>
          <p:cNvPr id="3" name="Content Placeholder 2">
            <a:extLst>
              <a:ext uri="{FF2B5EF4-FFF2-40B4-BE49-F238E27FC236}">
                <a16:creationId xmlns:a16="http://schemas.microsoft.com/office/drawing/2014/main" id="{CDB6BD6C-6EE1-9B7C-E1E9-007CA2E1D21C}"/>
              </a:ext>
            </a:extLst>
          </p:cNvPr>
          <p:cNvSpPr>
            <a:spLocks noGrp="1"/>
          </p:cNvSpPr>
          <p:nvPr>
            <p:ph idx="1"/>
          </p:nvPr>
        </p:nvSpPr>
        <p:spPr>
          <a:xfrm>
            <a:off x="3869268" y="864108"/>
            <a:ext cx="7675032" cy="5120640"/>
          </a:xfrm>
        </p:spPr>
        <p:txBody>
          <a:bodyPr>
            <a:normAutofit/>
          </a:bodyPr>
          <a:lstStyle/>
          <a:p>
            <a:pPr fontAlgn="base"/>
            <a:r>
              <a:rPr lang="en-US" sz="2400" dirty="0"/>
              <a:t>Compiles a regex into a pattern object, which can be reused for matching or substitutions.</a:t>
            </a:r>
          </a:p>
          <a:p>
            <a:pPr fontAlgn="base"/>
            <a:r>
              <a:rPr lang="en-US" sz="2400" b="1" dirty="0"/>
              <a:t>Example 1: </a:t>
            </a:r>
            <a:r>
              <a:rPr lang="en-US" sz="2400" dirty="0"/>
              <a:t>This pattern </a:t>
            </a:r>
            <a:r>
              <a:rPr lang="en-US" sz="2400" b="1" dirty="0"/>
              <a:t>[a-e]</a:t>
            </a:r>
            <a:r>
              <a:rPr lang="en-US" sz="2400" dirty="0"/>
              <a:t> matches all lowercase letters between '</a:t>
            </a:r>
            <a:r>
              <a:rPr lang="en-US" sz="2400" b="1" dirty="0"/>
              <a:t>a</a:t>
            </a:r>
            <a:r>
              <a:rPr lang="en-US" sz="2400" dirty="0"/>
              <a:t>' and '</a:t>
            </a:r>
            <a:r>
              <a:rPr lang="en-US" sz="2400" b="1" dirty="0"/>
              <a:t>e</a:t>
            </a:r>
            <a:r>
              <a:rPr lang="en-US" sz="2400" dirty="0"/>
              <a:t>', in the input string </a:t>
            </a:r>
            <a:r>
              <a:rPr lang="en-US" sz="2400" b="1" dirty="0"/>
              <a:t>"Aye, said Mr. </a:t>
            </a:r>
            <a:r>
              <a:rPr lang="en-US" sz="2400" b="1" dirty="0" err="1"/>
              <a:t>Gibenson</a:t>
            </a:r>
            <a:r>
              <a:rPr lang="en-US" sz="2400" b="1" dirty="0"/>
              <a:t> Stark".</a:t>
            </a:r>
            <a:r>
              <a:rPr lang="en-US" sz="2400" dirty="0"/>
              <a:t> The output should be </a:t>
            </a:r>
            <a:r>
              <a:rPr lang="en-US" sz="2400" b="1" dirty="0"/>
              <a:t>['e', 'a', 'd', 'b', 'e']</a:t>
            </a:r>
            <a:r>
              <a:rPr lang="en-US" sz="2400" dirty="0"/>
              <a:t>, which are matching characters.</a:t>
            </a:r>
          </a:p>
          <a:p>
            <a:pPr fontAlgn="base"/>
            <a:endParaRPr lang="en-US" sz="2400" dirty="0"/>
          </a:p>
          <a:p>
            <a:pPr marL="0" indent="0">
              <a:buNone/>
            </a:pPr>
            <a:r>
              <a:rPr lang="en-US" sz="2800" dirty="0"/>
              <a:t>import re</a:t>
            </a:r>
          </a:p>
          <a:p>
            <a:pPr marL="0" indent="0">
              <a:buNone/>
            </a:pPr>
            <a:r>
              <a:rPr lang="en-US" sz="2800" dirty="0"/>
              <a:t>p = </a:t>
            </a:r>
            <a:r>
              <a:rPr lang="en-US" sz="2800" dirty="0" err="1"/>
              <a:t>re.compile</a:t>
            </a:r>
            <a:r>
              <a:rPr lang="en-US" sz="2800" dirty="0"/>
              <a:t>('[a-e]')</a:t>
            </a:r>
          </a:p>
          <a:p>
            <a:pPr marL="0" indent="0">
              <a:buNone/>
            </a:pPr>
            <a:r>
              <a:rPr lang="en-US" sz="2800" dirty="0"/>
              <a:t>print(</a:t>
            </a:r>
            <a:r>
              <a:rPr lang="en-US" sz="2800" dirty="0" err="1"/>
              <a:t>p.findall</a:t>
            </a:r>
            <a:r>
              <a:rPr lang="en-US" sz="2800" dirty="0"/>
              <a:t>("Aye, said Mr. </a:t>
            </a:r>
            <a:r>
              <a:rPr lang="en-US" sz="2800" dirty="0" err="1"/>
              <a:t>Gibenson</a:t>
            </a:r>
            <a:r>
              <a:rPr lang="en-US" sz="2800" dirty="0"/>
              <a:t> Stark"))</a:t>
            </a:r>
          </a:p>
        </p:txBody>
      </p:sp>
    </p:spTree>
    <p:extLst>
      <p:ext uri="{BB962C8B-B14F-4D97-AF65-F5344CB8AC3E}">
        <p14:creationId xmlns:p14="http://schemas.microsoft.com/office/powerpoint/2010/main" val="6591500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9362A-B2E9-B440-C7C5-87CDE78E241D}"/>
              </a:ext>
            </a:extLst>
          </p:cNvPr>
          <p:cNvSpPr>
            <a:spLocks noGrp="1"/>
          </p:cNvSpPr>
          <p:nvPr>
            <p:ph type="title"/>
          </p:nvPr>
        </p:nvSpPr>
        <p:spPr/>
        <p:txBody>
          <a:bodyPr/>
          <a:lstStyle/>
          <a:p>
            <a:r>
              <a:rPr lang="en-US" dirty="0"/>
              <a:t>Word and non-word characters</a:t>
            </a:r>
          </a:p>
        </p:txBody>
      </p:sp>
      <p:sp>
        <p:nvSpPr>
          <p:cNvPr id="3" name="Content Placeholder 2">
            <a:extLst>
              <a:ext uri="{FF2B5EF4-FFF2-40B4-BE49-F238E27FC236}">
                <a16:creationId xmlns:a16="http://schemas.microsoft.com/office/drawing/2014/main" id="{FBE4EB9E-D7D3-5D27-AE49-C8CFE497A74B}"/>
              </a:ext>
            </a:extLst>
          </p:cNvPr>
          <p:cNvSpPr>
            <a:spLocks noGrp="1"/>
          </p:cNvSpPr>
          <p:nvPr>
            <p:ph idx="1"/>
          </p:nvPr>
        </p:nvSpPr>
        <p:spPr>
          <a:xfrm>
            <a:off x="3732108" y="434340"/>
            <a:ext cx="7315200" cy="5813298"/>
          </a:xfrm>
        </p:spPr>
        <p:txBody>
          <a:bodyPr>
            <a:normAutofit/>
          </a:bodyPr>
          <a:lstStyle/>
          <a:p>
            <a:pPr marL="0" indent="0" fontAlgn="base">
              <a:buNone/>
            </a:pPr>
            <a:r>
              <a:rPr lang="en-US" sz="2400" b="1" dirty="0"/>
              <a:t>\w</a:t>
            </a:r>
            <a:r>
              <a:rPr lang="en-US" sz="2400" dirty="0"/>
              <a:t> matches a single word character.</a:t>
            </a:r>
          </a:p>
          <a:p>
            <a:pPr marL="0" indent="0" fontAlgn="base">
              <a:buNone/>
            </a:pPr>
            <a:r>
              <a:rPr lang="en-US" sz="2400" b="1" dirty="0"/>
              <a:t>\w+</a:t>
            </a:r>
            <a:r>
              <a:rPr lang="en-US" sz="2400" dirty="0"/>
              <a:t> matches a group of word characters.</a:t>
            </a:r>
          </a:p>
          <a:p>
            <a:pPr marL="0" indent="0" fontAlgn="base">
              <a:buNone/>
            </a:pPr>
            <a:r>
              <a:rPr lang="en-US" sz="2400" b="1" dirty="0"/>
              <a:t>\W</a:t>
            </a:r>
            <a:r>
              <a:rPr lang="en-US" sz="2400" dirty="0"/>
              <a:t> matches non-word characters.</a:t>
            </a:r>
          </a:p>
          <a:p>
            <a:pPr marL="0" indent="0">
              <a:buNone/>
            </a:pPr>
            <a:r>
              <a:rPr lang="en-US" sz="2400" dirty="0" err="1"/>
              <a:t>mport</a:t>
            </a:r>
            <a:r>
              <a:rPr lang="en-US" sz="2400" dirty="0"/>
              <a:t> re</a:t>
            </a:r>
          </a:p>
          <a:p>
            <a:pPr marL="0" indent="0">
              <a:buNone/>
            </a:pPr>
            <a:r>
              <a:rPr lang="en-US" sz="2400" dirty="0"/>
              <a:t>p = </a:t>
            </a:r>
            <a:r>
              <a:rPr lang="en-US" sz="2400" dirty="0" err="1"/>
              <a:t>re.compile</a:t>
            </a:r>
            <a:r>
              <a:rPr lang="en-US" sz="2400" dirty="0"/>
              <a:t>('\w')</a:t>
            </a:r>
          </a:p>
          <a:p>
            <a:pPr marL="0" indent="0">
              <a:buNone/>
            </a:pPr>
            <a:r>
              <a:rPr lang="en-US" sz="2400" dirty="0"/>
              <a:t>print(</a:t>
            </a:r>
            <a:r>
              <a:rPr lang="en-US" sz="2400" dirty="0" err="1"/>
              <a:t>p.findall</a:t>
            </a:r>
            <a:r>
              <a:rPr lang="en-US" sz="2400" dirty="0"/>
              <a:t>("He said * in </a:t>
            </a:r>
            <a:r>
              <a:rPr lang="en-US" sz="2400" dirty="0" err="1"/>
              <a:t>some_lang</a:t>
            </a:r>
            <a:r>
              <a:rPr lang="en-US" sz="2400" dirty="0"/>
              <a:t>."))</a:t>
            </a:r>
          </a:p>
          <a:p>
            <a:pPr marL="0" indent="0">
              <a:buNone/>
            </a:pPr>
            <a:r>
              <a:rPr lang="en-US" sz="2400" dirty="0"/>
              <a:t>p = </a:t>
            </a:r>
            <a:r>
              <a:rPr lang="en-US" sz="2400" dirty="0" err="1"/>
              <a:t>re.compile</a:t>
            </a:r>
            <a:r>
              <a:rPr lang="en-US" sz="2400" dirty="0"/>
              <a:t>('\w+')</a:t>
            </a:r>
          </a:p>
          <a:p>
            <a:pPr marL="0" indent="0">
              <a:buNone/>
            </a:pPr>
            <a:r>
              <a:rPr lang="en-US" sz="2400" dirty="0"/>
              <a:t>print(</a:t>
            </a:r>
            <a:r>
              <a:rPr lang="en-US" sz="2400" dirty="0" err="1"/>
              <a:t>p.findall</a:t>
            </a:r>
            <a:r>
              <a:rPr lang="en-US" sz="2400" dirty="0"/>
              <a:t>("I went to him at 11 A.M., he \</a:t>
            </a:r>
          </a:p>
          <a:p>
            <a:pPr marL="0" indent="0">
              <a:buNone/>
            </a:pPr>
            <a:r>
              <a:rPr lang="en-US" sz="2400" dirty="0"/>
              <a:t>said *** in </a:t>
            </a:r>
            <a:r>
              <a:rPr lang="en-US" sz="2400" dirty="0" err="1"/>
              <a:t>some_language</a:t>
            </a:r>
            <a:r>
              <a:rPr lang="en-US" sz="2400" dirty="0"/>
              <a:t>."))</a:t>
            </a:r>
          </a:p>
          <a:p>
            <a:pPr marL="0" indent="0">
              <a:buNone/>
            </a:pPr>
            <a:r>
              <a:rPr lang="en-US" sz="2400" dirty="0"/>
              <a:t>p = </a:t>
            </a:r>
            <a:r>
              <a:rPr lang="en-US" sz="2400" dirty="0" err="1"/>
              <a:t>re.compile</a:t>
            </a:r>
            <a:r>
              <a:rPr lang="en-US" sz="2400" dirty="0"/>
              <a:t>('\W')</a:t>
            </a:r>
          </a:p>
          <a:p>
            <a:pPr marL="0" indent="0">
              <a:buNone/>
            </a:pPr>
            <a:r>
              <a:rPr lang="en-US" sz="2400" dirty="0"/>
              <a:t>print(</a:t>
            </a:r>
            <a:r>
              <a:rPr lang="en-US" sz="2400" dirty="0" err="1"/>
              <a:t>p.findall</a:t>
            </a:r>
            <a:r>
              <a:rPr lang="en-US" sz="2400" dirty="0"/>
              <a:t>("he said *** in </a:t>
            </a:r>
            <a:r>
              <a:rPr lang="en-US" sz="2400" dirty="0" err="1"/>
              <a:t>some_language</a:t>
            </a:r>
            <a:r>
              <a:rPr lang="en-US" sz="2400" dirty="0"/>
              <a:t>."))</a:t>
            </a:r>
          </a:p>
        </p:txBody>
      </p:sp>
    </p:spTree>
    <p:extLst>
      <p:ext uri="{BB962C8B-B14F-4D97-AF65-F5344CB8AC3E}">
        <p14:creationId xmlns:p14="http://schemas.microsoft.com/office/powerpoint/2010/main" val="2696776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57AB8-C2F5-4850-5BAB-60FD428F930D}"/>
              </a:ext>
            </a:extLst>
          </p:cNvPr>
          <p:cNvSpPr>
            <a:spLocks noGrp="1"/>
          </p:cNvSpPr>
          <p:nvPr>
            <p:ph type="title"/>
          </p:nvPr>
        </p:nvSpPr>
        <p:spPr/>
        <p:txBody>
          <a:bodyPr/>
          <a:lstStyle/>
          <a:p>
            <a:r>
              <a:rPr lang="en-US" dirty="0"/>
              <a:t>Example	</a:t>
            </a:r>
          </a:p>
        </p:txBody>
      </p:sp>
      <p:sp>
        <p:nvSpPr>
          <p:cNvPr id="3" name="Content Placeholder 2">
            <a:extLst>
              <a:ext uri="{FF2B5EF4-FFF2-40B4-BE49-F238E27FC236}">
                <a16:creationId xmlns:a16="http://schemas.microsoft.com/office/drawing/2014/main" id="{600DB969-F7E5-7CB8-9832-CDA5CAF2F994}"/>
              </a:ext>
            </a:extLst>
          </p:cNvPr>
          <p:cNvSpPr>
            <a:spLocks noGrp="1"/>
          </p:cNvSpPr>
          <p:nvPr>
            <p:ph idx="1"/>
          </p:nvPr>
        </p:nvSpPr>
        <p:spPr/>
        <p:txBody>
          <a:bodyPr>
            <a:normAutofit/>
          </a:bodyPr>
          <a:lstStyle/>
          <a:p>
            <a:pPr marL="0" indent="0">
              <a:buNone/>
            </a:pPr>
            <a:r>
              <a:rPr lang="en-US" sz="2400" dirty="0"/>
              <a:t>The regular expression pattern '</a:t>
            </a:r>
            <a:r>
              <a:rPr lang="en-US" sz="2400" b="1" dirty="0"/>
              <a:t>ab*</a:t>
            </a:r>
            <a:r>
              <a:rPr lang="en-US" sz="2400" dirty="0"/>
              <a:t>' to find and list all occurrences of '</a:t>
            </a:r>
            <a:r>
              <a:rPr lang="en-US" sz="2400" b="1" dirty="0"/>
              <a:t>ab</a:t>
            </a:r>
            <a:r>
              <a:rPr lang="en-US" sz="2400" dirty="0"/>
              <a:t>' followed by zero or more '</a:t>
            </a:r>
            <a:r>
              <a:rPr lang="en-US" sz="2400" b="1" dirty="0"/>
              <a:t>b</a:t>
            </a:r>
            <a:r>
              <a:rPr lang="en-US" sz="2400" dirty="0"/>
              <a:t>' characters. In the input string "</a:t>
            </a:r>
            <a:r>
              <a:rPr lang="en-US" sz="2400" dirty="0" err="1"/>
              <a:t>ababbaabbb</a:t>
            </a:r>
            <a:r>
              <a:rPr lang="en-US" sz="2400" dirty="0"/>
              <a:t>". It returns the following list of matches: ['ab', 'abb', '</a:t>
            </a:r>
            <a:r>
              <a:rPr lang="en-US" sz="2400" dirty="0" err="1"/>
              <a:t>abbb</a:t>
            </a:r>
            <a:r>
              <a:rPr lang="en-US" sz="2400" dirty="0"/>
              <a:t>’].</a:t>
            </a:r>
          </a:p>
          <a:p>
            <a:pPr marL="0" indent="0">
              <a:buNone/>
            </a:pPr>
            <a:endParaRPr lang="en-US" sz="2400" dirty="0"/>
          </a:p>
          <a:p>
            <a:pPr marL="0" indent="0">
              <a:buNone/>
            </a:pPr>
            <a:r>
              <a:rPr lang="en-US" sz="2400" dirty="0"/>
              <a:t>import re</a:t>
            </a:r>
          </a:p>
          <a:p>
            <a:pPr marL="0" indent="0">
              <a:buNone/>
            </a:pPr>
            <a:r>
              <a:rPr lang="en-US" sz="2400" dirty="0"/>
              <a:t>p = </a:t>
            </a:r>
            <a:r>
              <a:rPr lang="en-US" sz="2400" dirty="0" err="1"/>
              <a:t>re.compile</a:t>
            </a:r>
            <a:r>
              <a:rPr lang="en-US" sz="2400" dirty="0"/>
              <a:t>('ab*')</a:t>
            </a:r>
          </a:p>
          <a:p>
            <a:pPr marL="0" indent="0">
              <a:buNone/>
            </a:pPr>
            <a:r>
              <a:rPr lang="en-US" sz="2400" dirty="0"/>
              <a:t>print(</a:t>
            </a:r>
            <a:r>
              <a:rPr lang="en-US" sz="2400" dirty="0" err="1"/>
              <a:t>p.findall</a:t>
            </a:r>
            <a:r>
              <a:rPr lang="en-US" sz="2400" dirty="0"/>
              <a:t>("</a:t>
            </a:r>
            <a:r>
              <a:rPr lang="en-US" sz="2400" dirty="0" err="1"/>
              <a:t>ababbaabbb</a:t>
            </a:r>
            <a:r>
              <a:rPr lang="en-US" sz="2400" dirty="0"/>
              <a:t>"))</a:t>
            </a:r>
          </a:p>
        </p:txBody>
      </p:sp>
    </p:spTree>
    <p:extLst>
      <p:ext uri="{BB962C8B-B14F-4D97-AF65-F5344CB8AC3E}">
        <p14:creationId xmlns:p14="http://schemas.microsoft.com/office/powerpoint/2010/main" val="2165356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97C96-8CA9-60FB-0195-85523F1AEB2C}"/>
              </a:ext>
            </a:extLst>
          </p:cNvPr>
          <p:cNvSpPr>
            <a:spLocks noGrp="1"/>
          </p:cNvSpPr>
          <p:nvPr>
            <p:ph type="title"/>
          </p:nvPr>
        </p:nvSpPr>
        <p:spPr/>
        <p:txBody>
          <a:bodyPr/>
          <a:lstStyle/>
          <a:p>
            <a:r>
              <a:rPr lang="en-US" b="1" dirty="0"/>
              <a:t>3. </a:t>
            </a:r>
            <a:r>
              <a:rPr lang="en-US" b="1" dirty="0" err="1"/>
              <a:t>re.split</a:t>
            </a:r>
            <a:r>
              <a:rPr lang="en-US" b="1" dirty="0"/>
              <a:t>() </a:t>
            </a:r>
            <a:br>
              <a:rPr lang="en-US" b="1" dirty="0"/>
            </a:br>
            <a:endParaRPr lang="en-US" dirty="0"/>
          </a:p>
        </p:txBody>
      </p:sp>
      <p:sp>
        <p:nvSpPr>
          <p:cNvPr id="4" name="Rectangle 1">
            <a:extLst>
              <a:ext uri="{FF2B5EF4-FFF2-40B4-BE49-F238E27FC236}">
                <a16:creationId xmlns:a16="http://schemas.microsoft.com/office/drawing/2014/main" id="{0D61E4C8-6806-3CA2-84DE-A4954EDAFD9B}"/>
              </a:ext>
            </a:extLst>
          </p:cNvPr>
          <p:cNvSpPr>
            <a:spLocks noGrp="1" noChangeArrowheads="1"/>
          </p:cNvSpPr>
          <p:nvPr>
            <p:ph idx="1"/>
          </p:nvPr>
        </p:nvSpPr>
        <p:spPr bwMode="auto">
          <a:xfrm>
            <a:off x="3464493" y="1123837"/>
            <a:ext cx="8290360" cy="51706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73239"/>
                </a:solidFill>
                <a:effectLst/>
                <a:latin typeface="Nunito" pitchFamily="2" charset="0"/>
              </a:rPr>
              <a:t>Splits a string wherever the pattern matches. The remaining characters are returned as list elements.</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273239"/>
                </a:solidFill>
                <a:effectLst/>
                <a:latin typeface="Nunito" pitchFamily="2" charset="0"/>
              </a:rPr>
              <a:t>Syntax: </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chemeClr val="tx1"/>
                </a:solidFill>
                <a:effectLst/>
                <a:latin typeface="Arial" panose="020B0604020202020204" pitchFamily="34" charset="0"/>
              </a:rPr>
              <a:t>re.split</a:t>
            </a:r>
            <a:r>
              <a:rPr kumimoji="0" lang="en-US" altLang="en-US" sz="2800" b="0" i="0" u="none" strike="noStrike" cap="none" normalizeH="0" baseline="0" dirty="0">
                <a:ln>
                  <a:noFill/>
                </a:ln>
                <a:solidFill>
                  <a:schemeClr val="tx1"/>
                </a:solidFill>
                <a:effectLst/>
                <a:latin typeface="Arial" panose="020B0604020202020204" pitchFamily="34" charset="0"/>
              </a:rPr>
              <a:t>(pattern, string, </a:t>
            </a:r>
            <a:r>
              <a:rPr kumimoji="0" lang="en-US" altLang="en-US" sz="2800" b="0" i="0" u="none" strike="noStrike" cap="none" normalizeH="0" baseline="0" dirty="0" err="1">
                <a:ln>
                  <a:noFill/>
                </a:ln>
                <a:solidFill>
                  <a:schemeClr val="tx1"/>
                </a:solidFill>
                <a:effectLst/>
                <a:latin typeface="Arial" panose="020B0604020202020204" pitchFamily="34" charset="0"/>
              </a:rPr>
              <a:t>maxsplit</a:t>
            </a:r>
            <a:r>
              <a:rPr kumimoji="0" lang="en-US" altLang="en-US" sz="2800" b="0" i="0" u="none" strike="noStrike" cap="none" normalizeH="0" baseline="0" dirty="0">
                <a:ln>
                  <a:noFill/>
                </a:ln>
                <a:solidFill>
                  <a:schemeClr val="tx1"/>
                </a:solidFill>
                <a:effectLst/>
                <a:latin typeface="Arial" panose="020B0604020202020204" pitchFamily="34" charset="0"/>
              </a:rPr>
              <a:t>=0, flags=0)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273239"/>
                </a:solidFill>
                <a:effectLst/>
                <a:latin typeface="Nunito" pitchFamily="2" charset="0"/>
              </a:rPr>
              <a:t>pattern:</a:t>
            </a:r>
            <a:r>
              <a:rPr kumimoji="0" lang="en-US" altLang="en-US" sz="2800" b="0" i="0" u="none" strike="noStrike" cap="none" normalizeH="0" baseline="0" dirty="0">
                <a:ln>
                  <a:noFill/>
                </a:ln>
                <a:solidFill>
                  <a:srgbClr val="273239"/>
                </a:solidFill>
                <a:effectLst/>
                <a:latin typeface="Nunito" pitchFamily="2" charset="0"/>
              </a:rPr>
              <a:t> Regular expression to match split points.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273239"/>
                </a:solidFill>
                <a:effectLst/>
                <a:latin typeface="Nunito" pitchFamily="2" charset="0"/>
              </a:rPr>
              <a:t>string:</a:t>
            </a:r>
            <a:r>
              <a:rPr kumimoji="0" lang="en-US" altLang="en-US" sz="2800" b="0" i="0" u="none" strike="noStrike" cap="none" normalizeH="0" baseline="0" dirty="0">
                <a:ln>
                  <a:noFill/>
                </a:ln>
                <a:solidFill>
                  <a:srgbClr val="273239"/>
                </a:solidFill>
                <a:effectLst/>
                <a:latin typeface="Nunito" pitchFamily="2" charset="0"/>
              </a:rPr>
              <a:t> The input string to split.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err="1">
                <a:ln>
                  <a:noFill/>
                </a:ln>
                <a:solidFill>
                  <a:srgbClr val="273239"/>
                </a:solidFill>
                <a:effectLst/>
                <a:latin typeface="Nunito" pitchFamily="2" charset="0"/>
              </a:rPr>
              <a:t>maxsplit</a:t>
            </a:r>
            <a:r>
              <a:rPr kumimoji="0" lang="en-US" altLang="en-US" sz="2800" b="1" i="0" u="none" strike="noStrike" cap="none" normalizeH="0" baseline="0" dirty="0">
                <a:ln>
                  <a:noFill/>
                </a:ln>
                <a:solidFill>
                  <a:srgbClr val="273239"/>
                </a:solidFill>
                <a:effectLst/>
                <a:latin typeface="Nunito" pitchFamily="2" charset="0"/>
              </a:rPr>
              <a:t> (optional): </a:t>
            </a:r>
            <a:r>
              <a:rPr kumimoji="0" lang="en-US" altLang="en-US" sz="2800" b="0" i="0" u="none" strike="noStrike" cap="none" normalizeH="0" baseline="0" dirty="0">
                <a:ln>
                  <a:noFill/>
                </a:ln>
                <a:solidFill>
                  <a:srgbClr val="273239"/>
                </a:solidFill>
                <a:effectLst/>
                <a:latin typeface="Nunito" pitchFamily="2" charset="0"/>
              </a:rPr>
              <a:t>Limits the number of splits. Default is 0 (no limit).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273239"/>
                </a:solidFill>
                <a:effectLst/>
                <a:latin typeface="Nunito" pitchFamily="2" charset="0"/>
              </a:rPr>
              <a:t>flags (optional): </a:t>
            </a:r>
            <a:r>
              <a:rPr kumimoji="0" lang="en-US" altLang="en-US" sz="2800" b="0" i="0" u="none" strike="noStrike" cap="none" normalizeH="0" baseline="0" dirty="0">
                <a:ln>
                  <a:noFill/>
                </a:ln>
                <a:solidFill>
                  <a:srgbClr val="273239"/>
                </a:solidFill>
                <a:effectLst/>
                <a:latin typeface="Nunito" pitchFamily="2" charset="0"/>
              </a:rPr>
              <a:t>Apply regex flags like </a:t>
            </a:r>
            <a:r>
              <a:rPr kumimoji="0" lang="en-US" altLang="en-US" sz="2800" b="0" i="0" u="none" strike="noStrike" cap="none" normalizeH="0" baseline="0" dirty="0" err="1">
                <a:ln>
                  <a:noFill/>
                </a:ln>
                <a:solidFill>
                  <a:srgbClr val="273239"/>
                </a:solidFill>
                <a:effectLst/>
                <a:latin typeface="Nunito" pitchFamily="2" charset="0"/>
              </a:rPr>
              <a:t>re.IGNORECASE</a:t>
            </a:r>
            <a:r>
              <a:rPr kumimoji="0" lang="en-US" altLang="en-US" sz="2800" b="0" i="0" u="none" strike="noStrike" cap="none" normalizeH="0" baseline="0" dirty="0">
                <a:ln>
                  <a:noFill/>
                </a:ln>
                <a:solidFill>
                  <a:srgbClr val="273239"/>
                </a:solidFill>
                <a:effectLst/>
                <a:latin typeface="Nunito" pitchFamily="2"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383837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3134F-8EFA-75B6-1308-FB1B15778960}"/>
              </a:ext>
            </a:extLst>
          </p:cNvPr>
          <p:cNvSpPr>
            <a:spLocks noGrp="1"/>
          </p:cNvSpPr>
          <p:nvPr>
            <p:ph type="title"/>
          </p:nvPr>
        </p:nvSpPr>
        <p:spPr/>
        <p:txBody>
          <a:bodyPr/>
          <a:lstStyle/>
          <a:p>
            <a:r>
              <a:rPr lang="en-US" b="1" dirty="0"/>
              <a:t>Example </a:t>
            </a:r>
            <a:endParaRPr lang="en-US" dirty="0"/>
          </a:p>
        </p:txBody>
      </p:sp>
      <p:sp>
        <p:nvSpPr>
          <p:cNvPr id="3" name="Content Placeholder 2">
            <a:extLst>
              <a:ext uri="{FF2B5EF4-FFF2-40B4-BE49-F238E27FC236}">
                <a16:creationId xmlns:a16="http://schemas.microsoft.com/office/drawing/2014/main" id="{2B4CF32F-52A7-5DF3-2CA5-77E9C6E9DCEF}"/>
              </a:ext>
            </a:extLst>
          </p:cNvPr>
          <p:cNvSpPr>
            <a:spLocks noGrp="1"/>
          </p:cNvSpPr>
          <p:nvPr>
            <p:ph idx="1"/>
          </p:nvPr>
        </p:nvSpPr>
        <p:spPr/>
        <p:txBody>
          <a:bodyPr>
            <a:noAutofit/>
          </a:bodyPr>
          <a:lstStyle/>
          <a:p>
            <a:pPr marL="0" indent="0" fontAlgn="base">
              <a:buNone/>
            </a:pPr>
            <a:r>
              <a:rPr lang="en-US" sz="2800" b="1" dirty="0"/>
              <a:t>Splitting by non-word characters or digits</a:t>
            </a:r>
            <a:endParaRPr lang="en-US" sz="2800" dirty="0"/>
          </a:p>
          <a:p>
            <a:pPr marL="0" indent="0" fontAlgn="base">
              <a:buNone/>
            </a:pPr>
            <a:r>
              <a:rPr lang="en-US" sz="2800" dirty="0"/>
              <a:t>This example demonstrates how to split a string using different patterns like non-word characters (\W+), apostrophes, and digits (\d+).</a:t>
            </a:r>
          </a:p>
          <a:p>
            <a:pPr marL="0" indent="0" fontAlgn="base">
              <a:buNone/>
            </a:pPr>
            <a:endParaRPr lang="en-US" sz="2800" dirty="0"/>
          </a:p>
          <a:p>
            <a:pPr marL="0" indent="0">
              <a:buNone/>
            </a:pPr>
            <a:r>
              <a:rPr lang="en-US" sz="2800" dirty="0"/>
              <a:t>from re import split</a:t>
            </a:r>
          </a:p>
          <a:p>
            <a:pPr marL="0" indent="0">
              <a:buNone/>
            </a:pPr>
            <a:r>
              <a:rPr lang="en-US" sz="2800" dirty="0"/>
              <a:t>print(split('\W+', 'Words, words , Words'))</a:t>
            </a:r>
          </a:p>
          <a:p>
            <a:pPr marL="0" indent="0">
              <a:buNone/>
            </a:pPr>
            <a:r>
              <a:rPr lang="en-US" sz="2800" dirty="0"/>
              <a:t>print(split('\W+', "Word's words Words"))</a:t>
            </a:r>
          </a:p>
          <a:p>
            <a:pPr marL="0" indent="0">
              <a:buNone/>
            </a:pPr>
            <a:r>
              <a:rPr lang="en-US" sz="2800" dirty="0"/>
              <a:t>print(split('\W+', 'On 12th Jan 2016, at 11:02 AM'))</a:t>
            </a:r>
          </a:p>
          <a:p>
            <a:pPr marL="0" indent="0">
              <a:buNone/>
            </a:pPr>
            <a:r>
              <a:rPr lang="en-US" sz="2800" dirty="0"/>
              <a:t>print(split('\d+', 'On 12th Jan 2016, at 11:02 AM'))</a:t>
            </a:r>
          </a:p>
        </p:txBody>
      </p:sp>
    </p:spTree>
    <p:extLst>
      <p:ext uri="{BB962C8B-B14F-4D97-AF65-F5344CB8AC3E}">
        <p14:creationId xmlns:p14="http://schemas.microsoft.com/office/powerpoint/2010/main" val="37512065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927A6-DF9B-CCC1-CA35-B3BC02C26A71}"/>
              </a:ext>
            </a:extLst>
          </p:cNvPr>
          <p:cNvSpPr>
            <a:spLocks noGrp="1"/>
          </p:cNvSpPr>
          <p:nvPr>
            <p:ph type="title"/>
          </p:nvPr>
        </p:nvSpPr>
        <p:spPr/>
        <p:txBody>
          <a:bodyPr/>
          <a:lstStyle/>
          <a:p>
            <a:r>
              <a:rPr lang="en-US" b="1" dirty="0"/>
              <a:t>4. </a:t>
            </a:r>
            <a:r>
              <a:rPr lang="en-US" b="1" dirty="0" err="1"/>
              <a:t>re.sub</a:t>
            </a:r>
            <a:r>
              <a:rPr lang="en-US" b="1" dirty="0"/>
              <a:t>()</a:t>
            </a:r>
            <a:br>
              <a:rPr lang="en-US" b="1" dirty="0"/>
            </a:br>
            <a:endParaRPr lang="en-US" dirty="0"/>
          </a:p>
        </p:txBody>
      </p:sp>
      <p:sp>
        <p:nvSpPr>
          <p:cNvPr id="4" name="Rectangle 1">
            <a:extLst>
              <a:ext uri="{FF2B5EF4-FFF2-40B4-BE49-F238E27FC236}">
                <a16:creationId xmlns:a16="http://schemas.microsoft.com/office/drawing/2014/main" id="{3C0FFC4D-B9E2-7D5F-606D-4855910BA2BA}"/>
              </a:ext>
            </a:extLst>
          </p:cNvPr>
          <p:cNvSpPr>
            <a:spLocks noGrp="1" noChangeArrowheads="1"/>
          </p:cNvSpPr>
          <p:nvPr>
            <p:ph idx="1"/>
          </p:nvPr>
        </p:nvSpPr>
        <p:spPr bwMode="auto">
          <a:xfrm>
            <a:off x="3665420" y="735954"/>
            <a:ext cx="8073189" cy="53860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73239"/>
                </a:solidFill>
                <a:effectLst/>
                <a:latin typeface="Nunito" pitchFamily="2" charset="0"/>
              </a:rPr>
              <a:t>The </a:t>
            </a:r>
            <a:r>
              <a:rPr kumimoji="0" lang="en-US" altLang="en-US" sz="2800" b="0" i="0" u="none" strike="noStrike" cap="none" normalizeH="0" baseline="0" dirty="0" err="1">
                <a:ln>
                  <a:noFill/>
                </a:ln>
                <a:solidFill>
                  <a:srgbClr val="273239"/>
                </a:solidFill>
                <a:effectLst/>
                <a:latin typeface="Nunito" pitchFamily="2" charset="0"/>
              </a:rPr>
              <a:t>re.sub</a:t>
            </a:r>
            <a:r>
              <a:rPr kumimoji="0" lang="en-US" altLang="en-US" sz="2800" b="0" i="0" u="none" strike="noStrike" cap="none" normalizeH="0" baseline="0" dirty="0">
                <a:ln>
                  <a:noFill/>
                </a:ln>
                <a:solidFill>
                  <a:srgbClr val="273239"/>
                </a:solidFill>
                <a:effectLst/>
                <a:latin typeface="Nunito" pitchFamily="2" charset="0"/>
              </a:rPr>
              <a:t>() function replaces all occurrences of a pattern in a string with a replacement string.</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273239"/>
                </a:solidFill>
                <a:effectLst/>
                <a:latin typeface="Nunito" pitchFamily="2" charset="0"/>
              </a:rPr>
              <a:t>Syntax:</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chemeClr val="tx1"/>
                </a:solidFill>
                <a:effectLst/>
                <a:latin typeface="Arial" panose="020B0604020202020204" pitchFamily="34" charset="0"/>
              </a:rPr>
              <a:t>re.sub</a:t>
            </a:r>
            <a:r>
              <a:rPr kumimoji="0" lang="en-US" altLang="en-US" sz="2800" b="0" i="0" u="none" strike="noStrike" cap="none" normalizeH="0" baseline="0" dirty="0">
                <a:ln>
                  <a:noFill/>
                </a:ln>
                <a:solidFill>
                  <a:schemeClr val="tx1"/>
                </a:solidFill>
                <a:effectLst/>
                <a:latin typeface="Arial" panose="020B0604020202020204" pitchFamily="34" charset="0"/>
              </a:rPr>
              <a:t>(pattern, </a:t>
            </a:r>
            <a:r>
              <a:rPr kumimoji="0" lang="en-US" altLang="en-US" sz="2800" b="0" i="0" u="none" strike="noStrike" cap="none" normalizeH="0" baseline="0" dirty="0" err="1">
                <a:ln>
                  <a:noFill/>
                </a:ln>
                <a:solidFill>
                  <a:schemeClr val="tx1"/>
                </a:solidFill>
                <a:effectLst/>
                <a:latin typeface="Arial" panose="020B0604020202020204" pitchFamily="34" charset="0"/>
              </a:rPr>
              <a:t>repl</a:t>
            </a:r>
            <a:r>
              <a:rPr kumimoji="0" lang="en-US" altLang="en-US" sz="2800" b="0" i="0" u="none" strike="noStrike" cap="none" normalizeH="0" baseline="0" dirty="0">
                <a:ln>
                  <a:noFill/>
                </a:ln>
                <a:solidFill>
                  <a:schemeClr val="tx1"/>
                </a:solidFill>
                <a:effectLst/>
                <a:latin typeface="Arial" panose="020B0604020202020204" pitchFamily="34" charset="0"/>
              </a:rPr>
              <a:t>, string, count=0, flags=0)</a:t>
            </a:r>
          </a:p>
          <a:p>
            <a:pPr marL="502920" lvl="1" indent="0">
              <a:lnSpc>
                <a:spcPct val="100000"/>
              </a:lnSpc>
              <a:buClrTx/>
              <a:buFontTx/>
              <a:buChar char="•"/>
            </a:pPr>
            <a:r>
              <a:rPr kumimoji="0" lang="en-US" altLang="en-US" sz="2600" b="1" i="0" u="none" strike="noStrike" cap="none" normalizeH="0" baseline="0" dirty="0">
                <a:ln>
                  <a:noFill/>
                </a:ln>
                <a:solidFill>
                  <a:srgbClr val="273239"/>
                </a:solidFill>
                <a:effectLst/>
                <a:latin typeface="Nunito" pitchFamily="2" charset="0"/>
              </a:rPr>
              <a:t>pattern</a:t>
            </a:r>
            <a:r>
              <a:rPr kumimoji="0" lang="en-US" altLang="en-US" sz="2600" b="0" i="0" u="none" strike="noStrike" cap="none" normalizeH="0" baseline="0" dirty="0">
                <a:ln>
                  <a:noFill/>
                </a:ln>
                <a:solidFill>
                  <a:srgbClr val="273239"/>
                </a:solidFill>
                <a:effectLst/>
                <a:latin typeface="Nunito" pitchFamily="2" charset="0"/>
              </a:rPr>
              <a:t>: The regex pattern to search for.</a:t>
            </a:r>
          </a:p>
          <a:p>
            <a:pPr marL="502920" lvl="1" indent="0">
              <a:lnSpc>
                <a:spcPct val="100000"/>
              </a:lnSpc>
              <a:buClrTx/>
              <a:buFontTx/>
              <a:buChar char="•"/>
            </a:pPr>
            <a:r>
              <a:rPr kumimoji="0" lang="en-US" altLang="en-US" sz="2600" b="1" i="0" u="none" strike="noStrike" cap="none" normalizeH="0" baseline="0" dirty="0" err="1">
                <a:ln>
                  <a:noFill/>
                </a:ln>
                <a:solidFill>
                  <a:srgbClr val="273239"/>
                </a:solidFill>
                <a:effectLst/>
                <a:latin typeface="Nunito" pitchFamily="2" charset="0"/>
              </a:rPr>
              <a:t>repl</a:t>
            </a:r>
            <a:r>
              <a:rPr kumimoji="0" lang="en-US" altLang="en-US" sz="2600" b="0" i="0" u="none" strike="noStrike" cap="none" normalizeH="0" baseline="0" dirty="0">
                <a:ln>
                  <a:noFill/>
                </a:ln>
                <a:solidFill>
                  <a:srgbClr val="273239"/>
                </a:solidFill>
                <a:effectLst/>
                <a:latin typeface="Nunito" pitchFamily="2" charset="0"/>
              </a:rPr>
              <a:t>: The string to replace matches with.</a:t>
            </a:r>
          </a:p>
          <a:p>
            <a:pPr marL="502920" lvl="1" indent="0">
              <a:lnSpc>
                <a:spcPct val="100000"/>
              </a:lnSpc>
              <a:buClrTx/>
              <a:buFontTx/>
              <a:buChar char="•"/>
            </a:pPr>
            <a:r>
              <a:rPr kumimoji="0" lang="en-US" altLang="en-US" sz="2600" b="1" i="0" u="none" strike="noStrike" cap="none" normalizeH="0" baseline="0" dirty="0">
                <a:ln>
                  <a:noFill/>
                </a:ln>
                <a:solidFill>
                  <a:srgbClr val="273239"/>
                </a:solidFill>
                <a:effectLst/>
                <a:latin typeface="Nunito" pitchFamily="2" charset="0"/>
              </a:rPr>
              <a:t>string</a:t>
            </a:r>
            <a:r>
              <a:rPr kumimoji="0" lang="en-US" altLang="en-US" sz="2600" b="0" i="0" u="none" strike="noStrike" cap="none" normalizeH="0" baseline="0" dirty="0">
                <a:ln>
                  <a:noFill/>
                </a:ln>
                <a:solidFill>
                  <a:srgbClr val="273239"/>
                </a:solidFill>
                <a:effectLst/>
                <a:latin typeface="Nunito" pitchFamily="2" charset="0"/>
              </a:rPr>
              <a:t>: The input string to process.</a:t>
            </a:r>
          </a:p>
          <a:p>
            <a:pPr marL="502920" lvl="1" indent="0">
              <a:lnSpc>
                <a:spcPct val="100000"/>
              </a:lnSpc>
              <a:buClrTx/>
              <a:buFontTx/>
              <a:buChar char="•"/>
            </a:pPr>
            <a:r>
              <a:rPr kumimoji="0" lang="en-US" altLang="en-US" sz="2600" b="1" i="0" u="none" strike="noStrike" cap="none" normalizeH="0" baseline="0" dirty="0">
                <a:ln>
                  <a:noFill/>
                </a:ln>
                <a:solidFill>
                  <a:srgbClr val="273239"/>
                </a:solidFill>
                <a:effectLst/>
                <a:latin typeface="Nunito" pitchFamily="2" charset="0"/>
              </a:rPr>
              <a:t>count</a:t>
            </a:r>
            <a:r>
              <a:rPr kumimoji="0" lang="en-US" altLang="en-US" sz="2600" b="0" i="0" u="none" strike="noStrike" cap="none" normalizeH="0" baseline="0" dirty="0">
                <a:ln>
                  <a:noFill/>
                </a:ln>
                <a:solidFill>
                  <a:srgbClr val="273239"/>
                </a:solidFill>
                <a:effectLst/>
                <a:latin typeface="Nunito" pitchFamily="2" charset="0"/>
              </a:rPr>
              <a:t> (optional): Maximum number of substitutions (default is 0, which means replace all).</a:t>
            </a:r>
          </a:p>
          <a:p>
            <a:pPr marL="502920" lvl="1" indent="0">
              <a:lnSpc>
                <a:spcPct val="100000"/>
              </a:lnSpc>
              <a:buClrTx/>
              <a:buFontTx/>
              <a:buChar char="•"/>
            </a:pPr>
            <a:r>
              <a:rPr kumimoji="0" lang="en-US" altLang="en-US" sz="2600" b="1" i="0" u="none" strike="noStrike" cap="none" normalizeH="0" baseline="0" dirty="0">
                <a:ln>
                  <a:noFill/>
                </a:ln>
                <a:solidFill>
                  <a:srgbClr val="273239"/>
                </a:solidFill>
                <a:effectLst/>
                <a:latin typeface="Nunito" pitchFamily="2" charset="0"/>
              </a:rPr>
              <a:t>flags (optional)</a:t>
            </a:r>
            <a:r>
              <a:rPr kumimoji="0" lang="en-US" altLang="en-US" sz="2600" b="0" i="0" u="none" strike="noStrike" cap="none" normalizeH="0" baseline="0" dirty="0">
                <a:ln>
                  <a:noFill/>
                </a:ln>
                <a:solidFill>
                  <a:srgbClr val="273239"/>
                </a:solidFill>
                <a:effectLst/>
                <a:latin typeface="Nunito" pitchFamily="2" charset="0"/>
              </a:rPr>
              <a:t>: Regex flags like </a:t>
            </a:r>
            <a:r>
              <a:rPr kumimoji="0" lang="en-US" altLang="en-US" sz="2600" b="0" i="0" u="none" strike="noStrike" cap="none" normalizeH="0" baseline="0" dirty="0" err="1">
                <a:ln>
                  <a:noFill/>
                </a:ln>
                <a:solidFill>
                  <a:srgbClr val="273239"/>
                </a:solidFill>
                <a:effectLst/>
                <a:latin typeface="Nunito" pitchFamily="2" charset="0"/>
              </a:rPr>
              <a:t>re.IGNORECASE</a:t>
            </a:r>
            <a:r>
              <a:rPr kumimoji="0" lang="en-US" altLang="en-US" sz="2600" b="0" i="0" u="none" strike="noStrike" cap="none" normalizeH="0" baseline="0" dirty="0">
                <a:ln>
                  <a:noFill/>
                </a:ln>
                <a:solidFill>
                  <a:srgbClr val="273239"/>
                </a:solidFill>
                <a:effectLst/>
                <a:latin typeface="Nunito" pitchFamily="2"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65903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5B520-DC2F-0CB7-CFA6-D62734888573}"/>
              </a:ext>
            </a:extLst>
          </p:cNvPr>
          <p:cNvSpPr>
            <a:spLocks noGrp="1"/>
          </p:cNvSpPr>
          <p:nvPr>
            <p:ph type="title"/>
          </p:nvPr>
        </p:nvSpPr>
        <p:spPr/>
        <p:txBody>
          <a:bodyPr/>
          <a:lstStyle/>
          <a:p>
            <a:r>
              <a:rPr lang="en-US" dirty="0"/>
              <a:t>different ways to replace the pattern '</a:t>
            </a:r>
            <a:r>
              <a:rPr lang="en-US" b="1" dirty="0" err="1"/>
              <a:t>ub</a:t>
            </a:r>
            <a:r>
              <a:rPr lang="en-US" dirty="0"/>
              <a:t>' with '</a:t>
            </a:r>
            <a:r>
              <a:rPr lang="en-US" b="1" dirty="0"/>
              <a:t>~*</a:t>
            </a:r>
            <a:r>
              <a:rPr lang="en-US" dirty="0"/>
              <a:t>', using various flags and count values.</a:t>
            </a:r>
          </a:p>
        </p:txBody>
      </p:sp>
      <p:sp>
        <p:nvSpPr>
          <p:cNvPr id="3" name="Content Placeholder 2">
            <a:extLst>
              <a:ext uri="{FF2B5EF4-FFF2-40B4-BE49-F238E27FC236}">
                <a16:creationId xmlns:a16="http://schemas.microsoft.com/office/drawing/2014/main" id="{AA4997E8-EDA5-2EEF-E21C-460C66C1A71D}"/>
              </a:ext>
            </a:extLst>
          </p:cNvPr>
          <p:cNvSpPr>
            <a:spLocks noGrp="1"/>
          </p:cNvSpPr>
          <p:nvPr>
            <p:ph idx="1"/>
          </p:nvPr>
        </p:nvSpPr>
        <p:spPr>
          <a:xfrm>
            <a:off x="3869268" y="864108"/>
            <a:ext cx="8322732" cy="5120640"/>
          </a:xfrm>
        </p:spPr>
        <p:txBody>
          <a:bodyPr>
            <a:noAutofit/>
          </a:bodyPr>
          <a:lstStyle/>
          <a:p>
            <a:pPr marL="0" indent="0">
              <a:buNone/>
            </a:pPr>
            <a:r>
              <a:rPr lang="en-US" sz="2400" dirty="0"/>
              <a:t>import re</a:t>
            </a:r>
          </a:p>
          <a:p>
            <a:pPr marL="0" indent="0">
              <a:buNone/>
            </a:pPr>
            <a:r>
              <a:rPr lang="en-US" sz="2400" dirty="0"/>
              <a:t># Case-insensitive replacement of all '</a:t>
            </a:r>
            <a:r>
              <a:rPr lang="en-US" sz="2400" dirty="0" err="1"/>
              <a:t>ub</a:t>
            </a:r>
            <a:r>
              <a:rPr lang="en-US" sz="2400" dirty="0"/>
              <a:t>'</a:t>
            </a:r>
          </a:p>
          <a:p>
            <a:pPr marL="0" indent="0">
              <a:buNone/>
            </a:pPr>
            <a:r>
              <a:rPr lang="en-US" sz="2400" dirty="0"/>
              <a:t>print(</a:t>
            </a:r>
            <a:r>
              <a:rPr lang="en-US" sz="2400" dirty="0" err="1"/>
              <a:t>re.sub</a:t>
            </a:r>
            <a:r>
              <a:rPr lang="en-US" sz="2400" dirty="0"/>
              <a:t>('</a:t>
            </a:r>
            <a:r>
              <a:rPr lang="en-US" sz="2400" dirty="0" err="1"/>
              <a:t>ub</a:t>
            </a:r>
            <a:r>
              <a:rPr lang="en-US" sz="2400" dirty="0"/>
              <a:t>', '~*', 'Subject has Uber booked already', flags=</a:t>
            </a:r>
            <a:r>
              <a:rPr lang="en-US" sz="2400" dirty="0" err="1"/>
              <a:t>re.IGNORECASE</a:t>
            </a:r>
            <a:r>
              <a:rPr lang="en-US" sz="2400" dirty="0"/>
              <a:t>))</a:t>
            </a:r>
          </a:p>
          <a:p>
            <a:pPr marL="0" indent="0">
              <a:buNone/>
            </a:pPr>
            <a:r>
              <a:rPr lang="en-US" sz="2400" dirty="0"/>
              <a:t># Case-sensitive replacement of all '</a:t>
            </a:r>
            <a:r>
              <a:rPr lang="en-US" sz="2400" dirty="0" err="1"/>
              <a:t>ub</a:t>
            </a:r>
            <a:r>
              <a:rPr lang="en-US" sz="2400" dirty="0"/>
              <a:t>'</a:t>
            </a:r>
          </a:p>
          <a:p>
            <a:pPr marL="0" indent="0">
              <a:buNone/>
            </a:pPr>
            <a:r>
              <a:rPr lang="en-US" sz="2400" dirty="0"/>
              <a:t>print(</a:t>
            </a:r>
            <a:r>
              <a:rPr lang="en-US" sz="2400" dirty="0" err="1"/>
              <a:t>re.sub</a:t>
            </a:r>
            <a:r>
              <a:rPr lang="en-US" sz="2400" dirty="0"/>
              <a:t>('</a:t>
            </a:r>
            <a:r>
              <a:rPr lang="en-US" sz="2400" dirty="0" err="1"/>
              <a:t>ub</a:t>
            </a:r>
            <a:r>
              <a:rPr lang="en-US" sz="2400" dirty="0"/>
              <a:t>', '~*', 'Subject has Uber booked already'))</a:t>
            </a:r>
          </a:p>
          <a:p>
            <a:pPr marL="0" indent="0">
              <a:buNone/>
            </a:pPr>
            <a:r>
              <a:rPr lang="en-US" sz="2400" dirty="0"/>
              <a:t># Replace only the first '</a:t>
            </a:r>
            <a:r>
              <a:rPr lang="en-US" sz="2400" dirty="0" err="1"/>
              <a:t>ub</a:t>
            </a:r>
            <a:r>
              <a:rPr lang="en-US" sz="2400" dirty="0"/>
              <a:t>', case-insensitive</a:t>
            </a:r>
          </a:p>
          <a:p>
            <a:pPr marL="0" indent="0">
              <a:buNone/>
            </a:pPr>
            <a:r>
              <a:rPr lang="en-US" sz="2400" dirty="0"/>
              <a:t>print(</a:t>
            </a:r>
            <a:r>
              <a:rPr lang="en-US" sz="2400" dirty="0" err="1"/>
              <a:t>re.sub</a:t>
            </a:r>
            <a:r>
              <a:rPr lang="en-US" sz="2400" dirty="0"/>
              <a:t>('</a:t>
            </a:r>
            <a:r>
              <a:rPr lang="en-US" sz="2400" dirty="0" err="1"/>
              <a:t>ub</a:t>
            </a:r>
            <a:r>
              <a:rPr lang="en-US" sz="2400" dirty="0"/>
              <a:t>', '~*', 'Subject has Uber booked already', count=1, flags=</a:t>
            </a:r>
            <a:r>
              <a:rPr lang="en-US" sz="2400" dirty="0" err="1"/>
              <a:t>re.IGNORECASE</a:t>
            </a:r>
            <a:r>
              <a:rPr lang="en-US" sz="2400" dirty="0"/>
              <a:t>))</a:t>
            </a:r>
          </a:p>
          <a:p>
            <a:pPr marL="0" indent="0">
              <a:buNone/>
            </a:pPr>
            <a:r>
              <a:rPr lang="en-US" sz="2400" dirty="0"/>
              <a:t># Replace "AND" with "&amp;", ignoring case</a:t>
            </a:r>
          </a:p>
          <a:p>
            <a:pPr marL="0" indent="0">
              <a:buNone/>
            </a:pPr>
            <a:r>
              <a:rPr lang="en-US" sz="2400" dirty="0"/>
              <a:t>print(</a:t>
            </a:r>
            <a:r>
              <a:rPr lang="en-US" sz="2400" dirty="0" err="1"/>
              <a:t>re.sub</a:t>
            </a:r>
            <a:r>
              <a:rPr lang="en-US" sz="2400" dirty="0"/>
              <a:t>(r'\</a:t>
            </a:r>
            <a:r>
              <a:rPr lang="en-US" sz="2400" dirty="0" err="1"/>
              <a:t>sAND</a:t>
            </a:r>
            <a:r>
              <a:rPr lang="en-US" sz="2400" dirty="0"/>
              <a:t>\s', ' &amp; ', 'Baked Beans And Spam', flags=</a:t>
            </a:r>
            <a:r>
              <a:rPr lang="en-US" sz="2400" dirty="0" err="1"/>
              <a:t>re.IGNORECASE</a:t>
            </a:r>
            <a:r>
              <a:rPr lang="en-US" sz="2400" dirty="0"/>
              <a:t>))</a:t>
            </a:r>
          </a:p>
        </p:txBody>
      </p:sp>
    </p:spTree>
    <p:extLst>
      <p:ext uri="{BB962C8B-B14F-4D97-AF65-F5344CB8AC3E}">
        <p14:creationId xmlns:p14="http://schemas.microsoft.com/office/powerpoint/2010/main" val="5390983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51650-1905-70B7-B8AD-BB7E260AD7D7}"/>
              </a:ext>
            </a:extLst>
          </p:cNvPr>
          <p:cNvSpPr>
            <a:spLocks noGrp="1"/>
          </p:cNvSpPr>
          <p:nvPr>
            <p:ph type="title"/>
          </p:nvPr>
        </p:nvSpPr>
        <p:spPr/>
        <p:txBody>
          <a:bodyPr/>
          <a:lstStyle/>
          <a:p>
            <a:r>
              <a:rPr lang="en-US" b="1" dirty="0"/>
              <a:t> [] - Square Brackets</a:t>
            </a:r>
            <a:br>
              <a:rPr lang="en-US" b="1" dirty="0"/>
            </a:br>
            <a:endParaRPr lang="en-US" dirty="0"/>
          </a:p>
        </p:txBody>
      </p:sp>
      <p:sp>
        <p:nvSpPr>
          <p:cNvPr id="3" name="Content Placeholder 2">
            <a:extLst>
              <a:ext uri="{FF2B5EF4-FFF2-40B4-BE49-F238E27FC236}">
                <a16:creationId xmlns:a16="http://schemas.microsoft.com/office/drawing/2014/main" id="{5FABB5BD-39FA-AAD1-97AE-5AB43DB3D95C}"/>
              </a:ext>
            </a:extLst>
          </p:cNvPr>
          <p:cNvSpPr>
            <a:spLocks noGrp="1"/>
          </p:cNvSpPr>
          <p:nvPr>
            <p:ph idx="1"/>
          </p:nvPr>
        </p:nvSpPr>
        <p:spPr>
          <a:xfrm>
            <a:off x="3480647" y="868680"/>
            <a:ext cx="8322733" cy="5120640"/>
          </a:xfrm>
        </p:spPr>
        <p:txBody>
          <a:bodyPr>
            <a:normAutofit/>
          </a:bodyPr>
          <a:lstStyle/>
          <a:p>
            <a:pPr marL="0" indent="0">
              <a:buNone/>
            </a:pPr>
            <a:r>
              <a:rPr lang="en-US" sz="2800" dirty="0"/>
              <a:t>import re</a:t>
            </a:r>
          </a:p>
          <a:p>
            <a:pPr marL="0" indent="0">
              <a:buNone/>
            </a:pPr>
            <a:endParaRPr lang="en-US" sz="2800" dirty="0"/>
          </a:p>
          <a:p>
            <a:pPr marL="0" indent="0">
              <a:buNone/>
            </a:pPr>
            <a:r>
              <a:rPr lang="en-US" sz="2800" dirty="0"/>
              <a:t>string = "The quick brown fox jumps over the lazy dog"</a:t>
            </a:r>
          </a:p>
          <a:p>
            <a:pPr marL="0" indent="0">
              <a:buNone/>
            </a:pPr>
            <a:r>
              <a:rPr lang="en-US" sz="2800" dirty="0"/>
              <a:t>pattern = "[a-m]"</a:t>
            </a:r>
          </a:p>
          <a:p>
            <a:pPr marL="0" indent="0">
              <a:buNone/>
            </a:pPr>
            <a:r>
              <a:rPr lang="en-US" sz="2800" dirty="0"/>
              <a:t>result = </a:t>
            </a:r>
            <a:r>
              <a:rPr lang="en-US" sz="2800" dirty="0" err="1"/>
              <a:t>re.findall</a:t>
            </a:r>
            <a:r>
              <a:rPr lang="en-US" sz="2800" dirty="0"/>
              <a:t>(pattern, string)</a:t>
            </a:r>
          </a:p>
          <a:p>
            <a:pPr marL="0" indent="0">
              <a:buNone/>
            </a:pPr>
            <a:endParaRPr lang="en-US" sz="2800" dirty="0"/>
          </a:p>
          <a:p>
            <a:pPr marL="0" indent="0">
              <a:buNone/>
            </a:pPr>
            <a:r>
              <a:rPr lang="en-US" sz="2800" dirty="0"/>
              <a:t>print(result)</a:t>
            </a:r>
          </a:p>
        </p:txBody>
      </p:sp>
    </p:spTree>
    <p:extLst>
      <p:ext uri="{BB962C8B-B14F-4D97-AF65-F5344CB8AC3E}">
        <p14:creationId xmlns:p14="http://schemas.microsoft.com/office/powerpoint/2010/main" val="12547782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8546C-F805-1289-DB85-9AAA8CFCBDF3}"/>
              </a:ext>
            </a:extLst>
          </p:cNvPr>
          <p:cNvSpPr>
            <a:spLocks noGrp="1"/>
          </p:cNvSpPr>
          <p:nvPr>
            <p:ph type="title"/>
          </p:nvPr>
        </p:nvSpPr>
        <p:spPr/>
        <p:txBody>
          <a:bodyPr/>
          <a:lstStyle/>
          <a:p>
            <a:r>
              <a:rPr lang="en-US" b="1" dirty="0"/>
              <a:t>^ - Caret</a:t>
            </a:r>
            <a:br>
              <a:rPr lang="en-US" b="1" dirty="0"/>
            </a:br>
            <a:endParaRPr lang="en-US" dirty="0"/>
          </a:p>
        </p:txBody>
      </p:sp>
      <p:sp>
        <p:nvSpPr>
          <p:cNvPr id="3" name="Content Placeholder 2">
            <a:extLst>
              <a:ext uri="{FF2B5EF4-FFF2-40B4-BE49-F238E27FC236}">
                <a16:creationId xmlns:a16="http://schemas.microsoft.com/office/drawing/2014/main" id="{BA140873-9740-EEC8-C986-5C770E680F6D}"/>
              </a:ext>
            </a:extLst>
          </p:cNvPr>
          <p:cNvSpPr>
            <a:spLocks noGrp="1"/>
          </p:cNvSpPr>
          <p:nvPr>
            <p:ph idx="1"/>
          </p:nvPr>
        </p:nvSpPr>
        <p:spPr>
          <a:xfrm>
            <a:off x="3634741" y="308610"/>
            <a:ext cx="8304340" cy="6286500"/>
          </a:xfrm>
        </p:spPr>
        <p:txBody>
          <a:bodyPr>
            <a:normAutofit fontScale="92500" lnSpcReduction="20000"/>
          </a:bodyPr>
          <a:lstStyle/>
          <a:p>
            <a:pPr marL="0" indent="0" fontAlgn="base">
              <a:buNone/>
            </a:pPr>
            <a:r>
              <a:rPr lang="en-US" sz="2400" dirty="0"/>
              <a:t>It matches the beginning of the string i.e. checks whether the string starts with the given character(s) or not. For example -  </a:t>
            </a:r>
          </a:p>
          <a:p>
            <a:pPr fontAlgn="base"/>
            <a:r>
              <a:rPr lang="en-US" sz="2400" dirty="0"/>
              <a:t>^g will check if the string starts with g such as geeks, globe, girl, g, etc.</a:t>
            </a:r>
          </a:p>
          <a:p>
            <a:pPr fontAlgn="base"/>
            <a:r>
              <a:rPr lang="en-US" sz="2400" dirty="0"/>
              <a:t>^</a:t>
            </a:r>
            <a:r>
              <a:rPr lang="en-US" sz="2400" dirty="0" err="1"/>
              <a:t>ge</a:t>
            </a:r>
            <a:r>
              <a:rPr lang="en-US" sz="2400" dirty="0"/>
              <a:t> will check if the string starts with </a:t>
            </a:r>
            <a:r>
              <a:rPr lang="en-US" sz="2400" dirty="0" err="1"/>
              <a:t>ge</a:t>
            </a:r>
            <a:r>
              <a:rPr lang="en-US" sz="2400" dirty="0"/>
              <a:t> such as geeks, </a:t>
            </a:r>
            <a:r>
              <a:rPr lang="en-US" sz="2400" dirty="0" err="1"/>
              <a:t>geeksforgeeks</a:t>
            </a:r>
            <a:r>
              <a:rPr lang="en-US" sz="2400" dirty="0"/>
              <a:t>, etc.</a:t>
            </a:r>
          </a:p>
          <a:p>
            <a:pPr marL="0" indent="0" fontAlgn="base">
              <a:buNone/>
            </a:pPr>
            <a:r>
              <a:rPr lang="en-US" sz="2400" b="1" dirty="0"/>
              <a:t>Example: </a:t>
            </a:r>
            <a:r>
              <a:rPr lang="en-US" sz="2400" dirty="0"/>
              <a:t>This code uses regular expressions to check if a list of strings starts with </a:t>
            </a:r>
            <a:r>
              <a:rPr lang="en-US" sz="2400" b="1" dirty="0"/>
              <a:t>"The"</a:t>
            </a:r>
            <a:r>
              <a:rPr lang="en-US" sz="2400" dirty="0"/>
              <a:t>. If a string begins with </a:t>
            </a:r>
            <a:r>
              <a:rPr lang="en-US" sz="2400" b="1" dirty="0"/>
              <a:t>"The," it's marked as "Matched"</a:t>
            </a:r>
            <a:r>
              <a:rPr lang="en-US" sz="2400" dirty="0"/>
              <a:t> otherwise, it's labeled as</a:t>
            </a:r>
            <a:r>
              <a:rPr lang="en-US" sz="2400" b="1" dirty="0"/>
              <a:t> "Not matched".</a:t>
            </a:r>
            <a:endParaRPr lang="en-US" sz="2400" dirty="0"/>
          </a:p>
          <a:p>
            <a:pPr marL="0" indent="0">
              <a:buNone/>
            </a:pPr>
            <a:r>
              <a:rPr lang="en-US" sz="2400" dirty="0"/>
              <a:t>import re</a:t>
            </a:r>
          </a:p>
          <a:p>
            <a:pPr marL="0" indent="0">
              <a:buNone/>
            </a:pPr>
            <a:r>
              <a:rPr lang="en-US" sz="2400" dirty="0"/>
              <a:t>regex = </a:t>
            </a:r>
            <a:r>
              <a:rPr lang="en-US" sz="2400" dirty="0" err="1"/>
              <a:t>r'^The</a:t>
            </a:r>
            <a:r>
              <a:rPr lang="en-US" sz="2400" dirty="0"/>
              <a:t>'</a:t>
            </a:r>
          </a:p>
          <a:p>
            <a:pPr marL="0" indent="0">
              <a:buNone/>
            </a:pPr>
            <a:r>
              <a:rPr lang="en-US" sz="2400" dirty="0"/>
              <a:t>strings = ['The quick brown fox', 'The lazy dog', 'A quick brown fox']</a:t>
            </a:r>
          </a:p>
          <a:p>
            <a:pPr marL="0" indent="0">
              <a:buNone/>
            </a:pPr>
            <a:r>
              <a:rPr lang="en-US" sz="2400" dirty="0"/>
              <a:t>for string in strings:</a:t>
            </a:r>
          </a:p>
          <a:p>
            <a:pPr marL="0" indent="0">
              <a:buNone/>
            </a:pPr>
            <a:r>
              <a:rPr lang="en-US" sz="2400" dirty="0"/>
              <a:t>    if </a:t>
            </a:r>
            <a:r>
              <a:rPr lang="en-US" sz="2400" dirty="0" err="1"/>
              <a:t>re.match</a:t>
            </a:r>
            <a:r>
              <a:rPr lang="en-US" sz="2400" dirty="0"/>
              <a:t>(regex, string):</a:t>
            </a:r>
          </a:p>
          <a:p>
            <a:pPr marL="0" indent="0">
              <a:buNone/>
            </a:pPr>
            <a:r>
              <a:rPr lang="en-US" sz="2400" dirty="0"/>
              <a:t>        print(</a:t>
            </a:r>
            <a:r>
              <a:rPr lang="en-US" sz="2400" dirty="0" err="1"/>
              <a:t>f'Matched</a:t>
            </a:r>
            <a:r>
              <a:rPr lang="en-US" sz="2400" dirty="0"/>
              <a:t>: {string}')</a:t>
            </a:r>
          </a:p>
          <a:p>
            <a:pPr marL="0" indent="0">
              <a:buNone/>
            </a:pPr>
            <a:r>
              <a:rPr lang="en-US" sz="2400" dirty="0"/>
              <a:t>    else:</a:t>
            </a:r>
          </a:p>
          <a:p>
            <a:pPr marL="0" indent="0">
              <a:buNone/>
            </a:pPr>
            <a:r>
              <a:rPr lang="en-US" sz="2400" dirty="0"/>
              <a:t>        print(</a:t>
            </a:r>
            <a:r>
              <a:rPr lang="en-US" sz="2400" dirty="0" err="1"/>
              <a:t>f'Not</a:t>
            </a:r>
            <a:r>
              <a:rPr lang="en-US" sz="2400" dirty="0"/>
              <a:t> matched: {string}')</a:t>
            </a:r>
          </a:p>
        </p:txBody>
      </p:sp>
    </p:spTree>
    <p:extLst>
      <p:ext uri="{BB962C8B-B14F-4D97-AF65-F5344CB8AC3E}">
        <p14:creationId xmlns:p14="http://schemas.microsoft.com/office/powerpoint/2010/main" val="24956604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B2DB6-5BF6-76BF-62BE-FB4D30B8EA4B}"/>
              </a:ext>
            </a:extLst>
          </p:cNvPr>
          <p:cNvSpPr>
            <a:spLocks noGrp="1"/>
          </p:cNvSpPr>
          <p:nvPr>
            <p:ph type="title"/>
          </p:nvPr>
        </p:nvSpPr>
        <p:spPr/>
        <p:txBody>
          <a:bodyPr/>
          <a:lstStyle/>
          <a:p>
            <a:r>
              <a:rPr lang="en-US" b="1" dirty="0"/>
              <a:t>$ - Dollar</a:t>
            </a:r>
            <a:br>
              <a:rPr lang="en-US" b="1" dirty="0"/>
            </a:br>
            <a:endParaRPr lang="en-US" dirty="0"/>
          </a:p>
        </p:txBody>
      </p:sp>
      <p:sp>
        <p:nvSpPr>
          <p:cNvPr id="3" name="Content Placeholder 2">
            <a:extLst>
              <a:ext uri="{FF2B5EF4-FFF2-40B4-BE49-F238E27FC236}">
                <a16:creationId xmlns:a16="http://schemas.microsoft.com/office/drawing/2014/main" id="{3BF02BE2-4C18-34A0-3DDF-F8D60D2BDE43}"/>
              </a:ext>
            </a:extLst>
          </p:cNvPr>
          <p:cNvSpPr>
            <a:spLocks noGrp="1"/>
          </p:cNvSpPr>
          <p:nvPr>
            <p:ph idx="1"/>
          </p:nvPr>
        </p:nvSpPr>
        <p:spPr>
          <a:xfrm>
            <a:off x="3492078" y="114300"/>
            <a:ext cx="8212242" cy="6629400"/>
          </a:xfrm>
        </p:spPr>
        <p:txBody>
          <a:bodyPr>
            <a:normAutofit lnSpcReduction="10000"/>
          </a:bodyPr>
          <a:lstStyle/>
          <a:p>
            <a:pPr marL="0" indent="0" fontAlgn="base">
              <a:buNone/>
            </a:pPr>
            <a:r>
              <a:rPr lang="en-US" sz="2400" dirty="0"/>
              <a:t>It matches the end of the string </a:t>
            </a:r>
            <a:r>
              <a:rPr lang="en-US" sz="2400" dirty="0" err="1"/>
              <a:t>i.e</a:t>
            </a:r>
            <a:r>
              <a:rPr lang="en-US" sz="2400" dirty="0"/>
              <a:t> checks whether the string ends with the given character(s) or not. For example-</a:t>
            </a:r>
          </a:p>
          <a:p>
            <a:pPr fontAlgn="base"/>
            <a:r>
              <a:rPr lang="en-US" dirty="0"/>
              <a:t>s$ will check for the string that ends with a such as geeks, ends, s, etc.</a:t>
            </a:r>
          </a:p>
          <a:p>
            <a:pPr fontAlgn="base"/>
            <a:r>
              <a:rPr lang="en-US" dirty="0" err="1"/>
              <a:t>ks</a:t>
            </a:r>
            <a:r>
              <a:rPr lang="en-US" dirty="0"/>
              <a:t>$ will check for the string that ends with </a:t>
            </a:r>
            <a:r>
              <a:rPr lang="en-US" dirty="0" err="1"/>
              <a:t>ks</a:t>
            </a:r>
            <a:r>
              <a:rPr lang="en-US" dirty="0"/>
              <a:t> such as geeks, </a:t>
            </a:r>
            <a:r>
              <a:rPr lang="en-US" dirty="0" err="1"/>
              <a:t>geeksforgeeks</a:t>
            </a:r>
            <a:r>
              <a:rPr lang="en-US" dirty="0"/>
              <a:t>, </a:t>
            </a:r>
            <a:r>
              <a:rPr lang="en-US" dirty="0" err="1"/>
              <a:t>ks</a:t>
            </a:r>
            <a:r>
              <a:rPr lang="en-US" dirty="0"/>
              <a:t>, etc.</a:t>
            </a:r>
          </a:p>
          <a:p>
            <a:pPr marL="0" indent="0" fontAlgn="base">
              <a:buNone/>
            </a:pPr>
            <a:r>
              <a:rPr lang="en-US" sz="2400" b="1" dirty="0"/>
              <a:t>Example: </a:t>
            </a:r>
            <a:r>
              <a:rPr lang="en-US" sz="2400" dirty="0"/>
              <a:t>This code uses a regular expression to check if the string ends with</a:t>
            </a:r>
            <a:r>
              <a:rPr lang="en-US" sz="2400" b="1" dirty="0"/>
              <a:t> "World!".</a:t>
            </a:r>
            <a:r>
              <a:rPr lang="en-US" sz="2400" dirty="0"/>
              <a:t> If a match is found, it prints </a:t>
            </a:r>
            <a:r>
              <a:rPr lang="en-US" sz="2400" b="1" dirty="0"/>
              <a:t>"Match found!"</a:t>
            </a:r>
            <a:r>
              <a:rPr lang="en-US" sz="2400" dirty="0"/>
              <a:t> otherwise, it prints </a:t>
            </a:r>
            <a:r>
              <a:rPr lang="en-US" sz="2400" b="1" dirty="0"/>
              <a:t>"Match not found"</a:t>
            </a:r>
            <a:r>
              <a:rPr lang="en-US" sz="2400" dirty="0"/>
              <a:t>.</a:t>
            </a:r>
          </a:p>
          <a:p>
            <a:pPr marL="0" indent="0">
              <a:buNone/>
            </a:pPr>
            <a:r>
              <a:rPr lang="en-US" sz="2400" dirty="0"/>
              <a:t>import re</a:t>
            </a:r>
          </a:p>
          <a:p>
            <a:pPr marL="0" indent="0">
              <a:buNone/>
            </a:pPr>
            <a:r>
              <a:rPr lang="en-US" sz="2400" dirty="0"/>
              <a:t>string = "Hello World!"</a:t>
            </a:r>
          </a:p>
          <a:p>
            <a:pPr marL="0" indent="0">
              <a:buNone/>
            </a:pPr>
            <a:r>
              <a:rPr lang="en-US" sz="2400" dirty="0"/>
              <a:t>pattern = </a:t>
            </a:r>
            <a:r>
              <a:rPr lang="en-US" sz="2400" dirty="0" err="1"/>
              <a:t>r"World</a:t>
            </a:r>
            <a:r>
              <a:rPr lang="en-US" sz="2400" dirty="0"/>
              <a:t>!$"</a:t>
            </a:r>
          </a:p>
          <a:p>
            <a:pPr marL="0" indent="0">
              <a:buNone/>
            </a:pPr>
            <a:r>
              <a:rPr lang="en-US" sz="2400" dirty="0"/>
              <a:t>match = </a:t>
            </a:r>
            <a:r>
              <a:rPr lang="en-US" sz="2400" dirty="0" err="1"/>
              <a:t>re.search</a:t>
            </a:r>
            <a:r>
              <a:rPr lang="en-US" sz="2400" dirty="0"/>
              <a:t>(pattern, string)</a:t>
            </a:r>
          </a:p>
          <a:p>
            <a:pPr marL="0" indent="0">
              <a:buNone/>
            </a:pPr>
            <a:r>
              <a:rPr lang="en-US" sz="2400" dirty="0"/>
              <a:t>if match:</a:t>
            </a:r>
          </a:p>
          <a:p>
            <a:pPr marL="0" indent="0">
              <a:buNone/>
            </a:pPr>
            <a:r>
              <a:rPr lang="en-US" sz="2400" dirty="0"/>
              <a:t>    print("Match found!")</a:t>
            </a:r>
          </a:p>
          <a:p>
            <a:pPr marL="0" indent="0">
              <a:buNone/>
            </a:pPr>
            <a:r>
              <a:rPr lang="en-US" sz="2400" dirty="0"/>
              <a:t>else:</a:t>
            </a:r>
          </a:p>
          <a:p>
            <a:pPr marL="0" indent="0">
              <a:buNone/>
            </a:pPr>
            <a:r>
              <a:rPr lang="en-US" sz="2400" dirty="0"/>
              <a:t>    print("Match not found.")</a:t>
            </a:r>
          </a:p>
        </p:txBody>
      </p:sp>
    </p:spTree>
    <p:extLst>
      <p:ext uri="{BB962C8B-B14F-4D97-AF65-F5344CB8AC3E}">
        <p14:creationId xmlns:p14="http://schemas.microsoft.com/office/powerpoint/2010/main" val="9228336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4A7FC5-56F0-4FE3-8383-04EE92963F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Working">
            <a:extLst>
              <a:ext uri="{FF2B5EF4-FFF2-40B4-BE49-F238E27FC236}">
                <a16:creationId xmlns:a16="http://schemas.microsoft.com/office/drawing/2014/main" id="{BC829010-59E7-4B6E-AE76-EEE7D0ED0D8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0" y="-1"/>
            <a:ext cx="12188932" cy="6858000"/>
          </a:xfrm>
          <a:prstGeom prst="rect">
            <a:avLst/>
          </a:prstGeom>
        </p:spPr>
      </p:pic>
      <p:sp>
        <p:nvSpPr>
          <p:cNvPr id="12" name="Rectangle 11">
            <a:extLst>
              <a:ext uri="{FF2B5EF4-FFF2-40B4-BE49-F238E27FC236}">
                <a16:creationId xmlns:a16="http://schemas.microsoft.com/office/drawing/2014/main" id="{DE6BEBC3-6A99-4A53-9835-9875E0841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993299F-3E8A-4BF7-9C3D-B9F22CF94C4E}"/>
              </a:ext>
            </a:extLst>
          </p:cNvPr>
          <p:cNvSpPr>
            <a:spLocks noGrp="1"/>
          </p:cNvSpPr>
          <p:nvPr>
            <p:ph type="ctrTitle"/>
          </p:nvPr>
        </p:nvSpPr>
        <p:spPr>
          <a:xfrm>
            <a:off x="1069848" y="1298448"/>
            <a:ext cx="7315200" cy="2130552"/>
          </a:xfrm>
        </p:spPr>
        <p:txBody>
          <a:bodyPr>
            <a:normAutofit/>
          </a:bodyPr>
          <a:lstStyle/>
          <a:p>
            <a:r>
              <a:rPr lang="en-US" dirty="0"/>
              <a:t>Thank you</a:t>
            </a:r>
          </a:p>
        </p:txBody>
      </p:sp>
      <p:sp>
        <p:nvSpPr>
          <p:cNvPr id="3" name="Subtitle 2">
            <a:extLst>
              <a:ext uri="{FF2B5EF4-FFF2-40B4-BE49-F238E27FC236}">
                <a16:creationId xmlns:a16="http://schemas.microsoft.com/office/drawing/2014/main" id="{EF6083A9-53C1-4358-80D7-727411C121D9}"/>
              </a:ext>
            </a:extLst>
          </p:cNvPr>
          <p:cNvSpPr>
            <a:spLocks noGrp="1"/>
          </p:cNvSpPr>
          <p:nvPr>
            <p:ph type="subTitle" idx="1"/>
          </p:nvPr>
        </p:nvSpPr>
        <p:spPr>
          <a:xfrm>
            <a:off x="1100015" y="3454094"/>
            <a:ext cx="7315200" cy="2130552"/>
          </a:xfrm>
        </p:spPr>
        <p:txBody>
          <a:bodyPr>
            <a:normAutofit/>
          </a:bodyPr>
          <a:lstStyle/>
          <a:p>
            <a:r>
              <a:rPr lang="en-US" b="1" dirty="0"/>
              <a:t>Rakhee.chhibber@hcltech.com</a:t>
            </a:r>
            <a:endParaRPr lang="en-US" dirty="0"/>
          </a:p>
        </p:txBody>
      </p:sp>
      <p:sp>
        <p:nvSpPr>
          <p:cNvPr id="14" name="Rectangle 13">
            <a:extLst>
              <a:ext uri="{FF2B5EF4-FFF2-40B4-BE49-F238E27FC236}">
                <a16:creationId xmlns:a16="http://schemas.microsoft.com/office/drawing/2014/main" id="{D1006911-EDB8-4CDF-AEAA-A3FA060851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5816944"/>
      </p:ext>
    </p:extLst>
  </p:cSld>
  <p:clrMapOvr>
    <a:masterClrMapping/>
  </p:clrMapOvr>
</p:sld>
</file>

<file path=ppt/theme/theme1.xml><?xml version="1.0" encoding="utf-8"?>
<a:theme xmlns:a="http://schemas.openxmlformats.org/drawingml/2006/main" name="Frame">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668657-C50E-4365-A5FD-AC07593EBE57}">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EA82F57F-EFCE-45E0-9F75-822371CB5F7C}">
  <ds:schemaRefs>
    <ds:schemaRef ds:uri="http://schemas.microsoft.com/sharepoint/v3/contenttype/forms"/>
  </ds:schemaRefs>
</ds:datastoreItem>
</file>

<file path=customXml/itemProps3.xml><?xml version="1.0" encoding="utf-8"?>
<ds:datastoreItem xmlns:ds="http://schemas.openxmlformats.org/officeDocument/2006/customXml" ds:itemID="{1179D151-6AED-4C4E-9A23-4BEC5BA4367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Architecture design</Template>
  <TotalTime>102</TotalTime>
  <Words>3300</Words>
  <Application>Microsoft Office PowerPoint</Application>
  <PresentationFormat>Widescreen</PresentationFormat>
  <Paragraphs>270</Paragraphs>
  <Slides>47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Calibri</vt:lpstr>
      <vt:lpstr>Consolas</vt:lpstr>
      <vt:lpstr>Corbel</vt:lpstr>
      <vt:lpstr>Muli</vt:lpstr>
      <vt:lpstr>Nunito</vt:lpstr>
      <vt:lpstr>Wingdings 2</vt:lpstr>
      <vt:lpstr>Frame</vt:lpstr>
      <vt:lpstr>File Handling in Python</vt:lpstr>
      <vt:lpstr>Introduction</vt:lpstr>
      <vt:lpstr>Why do we need File Handling </vt:lpstr>
      <vt:lpstr>TYPES OF FILES </vt:lpstr>
      <vt:lpstr>OPENING AND CLOSING A TEXT FILE </vt:lpstr>
      <vt:lpstr>Closing a file </vt:lpstr>
      <vt:lpstr>Opening a file using with clause </vt:lpstr>
      <vt:lpstr>Checking File Properties </vt:lpstr>
      <vt:lpstr>Write to Text File in Python </vt:lpstr>
      <vt:lpstr>Writing to a Python Text File Using write() </vt:lpstr>
      <vt:lpstr>Writing to a Text File Using writelines() </vt:lpstr>
      <vt:lpstr>Python Read Text File </vt:lpstr>
      <vt:lpstr>Reading From a File Using read()</vt:lpstr>
      <vt:lpstr>Reading a Text File Using readline()</vt:lpstr>
      <vt:lpstr>Reading a File Using readlines()</vt:lpstr>
      <vt:lpstr>PowerPoint Presentation</vt:lpstr>
      <vt:lpstr>PowerPoint Presentation</vt:lpstr>
      <vt:lpstr>SETTING OFFSETS IN A FILE </vt:lpstr>
      <vt:lpstr>SETTING OFFSETS IN A FILE </vt:lpstr>
      <vt:lpstr>PowerPoint Presentation</vt:lpstr>
      <vt:lpstr>Traversing a file and displaying data </vt:lpstr>
      <vt:lpstr>Examples</vt:lpstr>
      <vt:lpstr>Log File Reader (Error Monitoring)</vt:lpstr>
      <vt:lpstr>Save User Data (Registration System)</vt:lpstr>
      <vt:lpstr>CSV File Handling (E-commerce Orders)</vt:lpstr>
      <vt:lpstr>File Backup (Copy Content)</vt:lpstr>
      <vt:lpstr>Word Counter (Text Analytics)</vt:lpstr>
      <vt:lpstr>Serialization – Deserialization   Pickling – unpickiling </vt:lpstr>
      <vt:lpstr>The dump() method </vt:lpstr>
      <vt:lpstr>The load() method </vt:lpstr>
      <vt:lpstr>PowerPoint Presentation</vt:lpstr>
      <vt:lpstr>PowerPoint Presentation</vt:lpstr>
      <vt:lpstr>Regular Expression-regex</vt:lpstr>
      <vt:lpstr>introduction</vt:lpstr>
      <vt:lpstr>How to Use RegEx in Python? </vt:lpstr>
      <vt:lpstr>1. re.findall() </vt:lpstr>
      <vt:lpstr>2. re.compile() </vt:lpstr>
      <vt:lpstr>Word and non-word characters</vt:lpstr>
      <vt:lpstr>Example </vt:lpstr>
      <vt:lpstr>3. re.split()  </vt:lpstr>
      <vt:lpstr>Example </vt:lpstr>
      <vt:lpstr>4. re.sub() </vt:lpstr>
      <vt:lpstr>different ways to replace the pattern 'ub' with '~*', using various flags and count values.</vt:lpstr>
      <vt:lpstr> [] - Square Brackets </vt:lpstr>
      <vt:lpstr>^ - Caret </vt:lpstr>
      <vt:lpstr>$ - Dollar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2</cp:revision>
  <dcterms:created xsi:type="dcterms:W3CDTF">2025-09-07T15:24:58Z</dcterms:created>
  <dcterms:modified xsi:type="dcterms:W3CDTF">2025-09-07T17:07:33Z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