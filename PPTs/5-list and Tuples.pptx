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1" r:id="rId4"/>
    <p:sldId id="264" r:id="rId5"/>
    <p:sldId id="270" r:id="rId6"/>
    <p:sldId id="258" r:id="rId7"/>
    <p:sldId id="262" r:id="rId8"/>
    <p:sldId id="260" r:id="rId9"/>
    <p:sldId id="263" r:id="rId10"/>
    <p:sldId id="265" r:id="rId11"/>
    <p:sldId id="267" r:id="rId12"/>
    <p:sldId id="266" r:id="rId13"/>
    <p:sldId id="271" r:id="rId14"/>
    <p:sldId id="272" r:id="rId15"/>
    <p:sldId id="268" r:id="rId16"/>
    <p:sldId id="269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5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8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46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69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0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4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2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3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8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2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47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5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7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2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187B58-3857-4454-9C70-EFB475976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0C799-1FF4-5FCC-476D-64E647DBC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8" r="59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C5418A4-3935-49EA-B51C-5DDCBFAA3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8056" y="2813365"/>
            <a:ext cx="7450687" cy="3406460"/>
          </a:xfrm>
          <a:custGeom>
            <a:avLst/>
            <a:gdLst>
              <a:gd name="connsiteX0" fmla="*/ 6457914 w 7450687"/>
              <a:gd name="connsiteY0" fmla="*/ 0 h 3406460"/>
              <a:gd name="connsiteX1" fmla="*/ 6844288 w 7450687"/>
              <a:gd name="connsiteY1" fmla="*/ 233492 h 3406460"/>
              <a:gd name="connsiteX2" fmla="*/ 7386323 w 7450687"/>
              <a:gd name="connsiteY2" fmla="*/ 717155 h 3406460"/>
              <a:gd name="connsiteX3" fmla="*/ 7430798 w 7450687"/>
              <a:gd name="connsiteY3" fmla="*/ 1809564 h 3406460"/>
              <a:gd name="connsiteX4" fmla="*/ 7013848 w 7450687"/>
              <a:gd name="connsiteY4" fmla="*/ 3104890 h 3406460"/>
              <a:gd name="connsiteX5" fmla="*/ 6569101 w 7450687"/>
              <a:gd name="connsiteY5" fmla="*/ 3402314 h 3406460"/>
              <a:gd name="connsiteX6" fmla="*/ 3683807 w 7450687"/>
              <a:gd name="connsiteY6" fmla="*/ 3341162 h 3406460"/>
              <a:gd name="connsiteX7" fmla="*/ 1704683 w 7450687"/>
              <a:gd name="connsiteY7" fmla="*/ 2860279 h 3406460"/>
              <a:gd name="connsiteX8" fmla="*/ 2010446 w 7450687"/>
              <a:gd name="connsiteY8" fmla="*/ 2801907 h 3406460"/>
              <a:gd name="connsiteX9" fmla="*/ 1273834 w 7450687"/>
              <a:gd name="connsiteY9" fmla="*/ 2674041 h 3406460"/>
              <a:gd name="connsiteX10" fmla="*/ 1315530 w 7450687"/>
              <a:gd name="connsiteY10" fmla="*/ 2657363 h 3406460"/>
              <a:gd name="connsiteX11" fmla="*/ 1234919 w 7450687"/>
              <a:gd name="connsiteY11" fmla="*/ 2590651 h 3406460"/>
              <a:gd name="connsiteX12" fmla="*/ 904138 w 7450687"/>
              <a:gd name="connsiteY12" fmla="*/ 2485024 h 3406460"/>
              <a:gd name="connsiteX13" fmla="*/ 1315530 w 7450687"/>
              <a:gd name="connsiteY13" fmla="*/ 2307126 h 3406460"/>
              <a:gd name="connsiteX14" fmla="*/ 851326 w 7450687"/>
              <a:gd name="connsiteY14" fmla="*/ 2065294 h 3406460"/>
              <a:gd name="connsiteX15" fmla="*/ 615053 w 7450687"/>
              <a:gd name="connsiteY15" fmla="*/ 2006921 h 3406460"/>
              <a:gd name="connsiteX16" fmla="*/ 1393361 w 7450687"/>
              <a:gd name="connsiteY16" fmla="*/ 1703937 h 3406460"/>
              <a:gd name="connsiteX17" fmla="*/ 131391 w 7450687"/>
              <a:gd name="connsiteY17" fmla="*/ 1553835 h 3406460"/>
              <a:gd name="connsiteX18" fmla="*/ 234239 w 7450687"/>
              <a:gd name="connsiteY18" fmla="*/ 1492682 h 3406460"/>
              <a:gd name="connsiteX19" fmla="*/ 1018105 w 7450687"/>
              <a:gd name="connsiteY19" fmla="*/ 1509360 h 3406460"/>
              <a:gd name="connsiteX20" fmla="*/ 1148750 w 7450687"/>
              <a:gd name="connsiteY20" fmla="*/ 1462106 h 3406460"/>
              <a:gd name="connsiteX21" fmla="*/ 1018105 w 7450687"/>
              <a:gd name="connsiteY21" fmla="*/ 1387055 h 3406460"/>
              <a:gd name="connsiteX22" fmla="*/ 509426 w 7450687"/>
              <a:gd name="connsiteY22" fmla="*/ 1331461 h 3406460"/>
              <a:gd name="connsiteX23" fmla="*/ 376002 w 7450687"/>
              <a:gd name="connsiteY23" fmla="*/ 1206376 h 3406460"/>
              <a:gd name="connsiteX24" fmla="*/ 150849 w 7450687"/>
              <a:gd name="connsiteY24" fmla="*/ 1061833 h 3406460"/>
              <a:gd name="connsiteX25" fmla="*/ 306510 w 7450687"/>
              <a:gd name="connsiteY25" fmla="*/ 942308 h 3406460"/>
              <a:gd name="connsiteX26" fmla="*/ 53560 w 7450687"/>
              <a:gd name="connsiteY26" fmla="*/ 764409 h 3406460"/>
              <a:gd name="connsiteX27" fmla="*/ 125832 w 7450687"/>
              <a:gd name="connsiteY27" fmla="*/ 530917 h 3406460"/>
              <a:gd name="connsiteX28" fmla="*/ 551121 w 7450687"/>
              <a:gd name="connsiteY28" fmla="*/ 475324 h 3406460"/>
              <a:gd name="connsiteX29" fmla="*/ 1120952 w 7450687"/>
              <a:gd name="connsiteY29" fmla="*/ 394713 h 3406460"/>
              <a:gd name="connsiteX30" fmla="*/ 1693564 w 7450687"/>
              <a:gd name="connsiteY30" fmla="*/ 325221 h 3406460"/>
              <a:gd name="connsiteX31" fmla="*/ 2266175 w 7450687"/>
              <a:gd name="connsiteY31" fmla="*/ 325221 h 3406460"/>
              <a:gd name="connsiteX32" fmla="*/ 2430177 w 7450687"/>
              <a:gd name="connsiteY32" fmla="*/ 330781 h 3406460"/>
              <a:gd name="connsiteX33" fmla="*/ 2432956 w 7450687"/>
              <a:gd name="connsiteY33" fmla="*/ 330781 h 3406460"/>
              <a:gd name="connsiteX34" fmla="*/ 3144551 w 7450687"/>
              <a:gd name="connsiteY34" fmla="*/ 355798 h 3406460"/>
              <a:gd name="connsiteX35" fmla="*/ 3408619 w 7450687"/>
              <a:gd name="connsiteY35" fmla="*/ 358577 h 3406460"/>
              <a:gd name="connsiteX36" fmla="*/ 3981231 w 7450687"/>
              <a:gd name="connsiteY36" fmla="*/ 361357 h 3406460"/>
              <a:gd name="connsiteX37" fmla="*/ 4551063 w 7450687"/>
              <a:gd name="connsiteY37" fmla="*/ 350238 h 3406460"/>
              <a:gd name="connsiteX38" fmla="*/ 5129233 w 7450687"/>
              <a:gd name="connsiteY38" fmla="*/ 316882 h 3406460"/>
              <a:gd name="connsiteX39" fmla="*/ 5699065 w 7450687"/>
              <a:gd name="connsiteY39" fmla="*/ 272407 h 3406460"/>
              <a:gd name="connsiteX40" fmla="*/ 6063202 w 7450687"/>
              <a:gd name="connsiteY40" fmla="*/ 172339 h 3406460"/>
              <a:gd name="connsiteX41" fmla="*/ 6457914 w 7450687"/>
              <a:gd name="connsiteY41" fmla="*/ 0 h 3406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50687" h="3406460">
                <a:moveTo>
                  <a:pt x="6457914" y="0"/>
                </a:moveTo>
                <a:cubicBezTo>
                  <a:pt x="6560763" y="125085"/>
                  <a:pt x="6713644" y="161221"/>
                  <a:pt x="6844288" y="233492"/>
                </a:cubicBezTo>
                <a:cubicBezTo>
                  <a:pt x="6972153" y="289086"/>
                  <a:pt x="7336289" y="611527"/>
                  <a:pt x="7386323" y="717155"/>
                </a:cubicBezTo>
                <a:cubicBezTo>
                  <a:pt x="7475273" y="900613"/>
                  <a:pt x="7453035" y="1573293"/>
                  <a:pt x="7430798" y="1809564"/>
                </a:cubicBezTo>
                <a:cubicBezTo>
                  <a:pt x="7347408" y="2398855"/>
                  <a:pt x="7041645" y="3077093"/>
                  <a:pt x="7013848" y="3104890"/>
                </a:cubicBezTo>
                <a:cubicBezTo>
                  <a:pt x="6924899" y="3085432"/>
                  <a:pt x="6721983" y="3391196"/>
                  <a:pt x="6569101" y="3402314"/>
                </a:cubicBezTo>
                <a:cubicBezTo>
                  <a:pt x="6407881" y="3413434"/>
                  <a:pt x="4039604" y="3405095"/>
                  <a:pt x="3683807" y="3341162"/>
                </a:cubicBezTo>
                <a:cubicBezTo>
                  <a:pt x="1749158" y="2988144"/>
                  <a:pt x="1704683" y="2860279"/>
                  <a:pt x="1704683" y="2860279"/>
                </a:cubicBezTo>
                <a:cubicBezTo>
                  <a:pt x="1704683" y="2860279"/>
                  <a:pt x="1910378" y="2835262"/>
                  <a:pt x="2010446" y="2801907"/>
                </a:cubicBezTo>
                <a:cubicBezTo>
                  <a:pt x="1865904" y="2799126"/>
                  <a:pt x="1296072" y="2693500"/>
                  <a:pt x="1273834" y="2674041"/>
                </a:cubicBezTo>
                <a:cubicBezTo>
                  <a:pt x="1284954" y="2668482"/>
                  <a:pt x="1301632" y="2662923"/>
                  <a:pt x="1315530" y="2657363"/>
                </a:cubicBezTo>
                <a:cubicBezTo>
                  <a:pt x="1284954" y="2640686"/>
                  <a:pt x="1259936" y="2621228"/>
                  <a:pt x="1234919" y="2590651"/>
                </a:cubicBezTo>
                <a:cubicBezTo>
                  <a:pt x="1154309" y="2487804"/>
                  <a:pt x="1018105" y="2523940"/>
                  <a:pt x="904138" y="2485024"/>
                </a:cubicBezTo>
                <a:cubicBezTo>
                  <a:pt x="976410" y="2268210"/>
                  <a:pt x="1168208" y="2348820"/>
                  <a:pt x="1315530" y="2307126"/>
                </a:cubicBezTo>
                <a:cubicBezTo>
                  <a:pt x="929156" y="2179260"/>
                  <a:pt x="1004207" y="2112548"/>
                  <a:pt x="851326" y="2065294"/>
                </a:cubicBezTo>
                <a:cubicBezTo>
                  <a:pt x="659528" y="2006921"/>
                  <a:pt x="615053" y="2006921"/>
                  <a:pt x="615053" y="2006921"/>
                </a:cubicBezTo>
                <a:cubicBezTo>
                  <a:pt x="840206" y="1829023"/>
                  <a:pt x="1109834" y="2020820"/>
                  <a:pt x="1393361" y="1703937"/>
                </a:cubicBezTo>
                <a:cubicBezTo>
                  <a:pt x="1120952" y="1659463"/>
                  <a:pt x="306510" y="1637225"/>
                  <a:pt x="131391" y="1553835"/>
                </a:cubicBezTo>
                <a:cubicBezTo>
                  <a:pt x="198103" y="1584411"/>
                  <a:pt x="203663" y="1492682"/>
                  <a:pt x="234239" y="1492682"/>
                </a:cubicBezTo>
                <a:cubicBezTo>
                  <a:pt x="492748" y="1489903"/>
                  <a:pt x="756816" y="1542717"/>
                  <a:pt x="1018105" y="1509360"/>
                </a:cubicBezTo>
                <a:cubicBezTo>
                  <a:pt x="1065359" y="1506581"/>
                  <a:pt x="1140411" y="1531597"/>
                  <a:pt x="1148750" y="1462106"/>
                </a:cubicBezTo>
                <a:cubicBezTo>
                  <a:pt x="1157088" y="1375936"/>
                  <a:pt x="1059800" y="1395394"/>
                  <a:pt x="1018105" y="1387055"/>
                </a:cubicBezTo>
                <a:cubicBezTo>
                  <a:pt x="848545" y="1359258"/>
                  <a:pt x="681766" y="1348140"/>
                  <a:pt x="509426" y="1331461"/>
                </a:cubicBezTo>
                <a:cubicBezTo>
                  <a:pt x="437155" y="1323122"/>
                  <a:pt x="348206" y="1339800"/>
                  <a:pt x="376002" y="1206376"/>
                </a:cubicBezTo>
                <a:cubicBezTo>
                  <a:pt x="353764" y="1078512"/>
                  <a:pt x="220341" y="1122986"/>
                  <a:pt x="150849" y="1061833"/>
                </a:cubicBezTo>
                <a:cubicBezTo>
                  <a:pt x="184205" y="989562"/>
                  <a:pt x="278714" y="1039597"/>
                  <a:pt x="306510" y="942308"/>
                </a:cubicBezTo>
                <a:cubicBezTo>
                  <a:pt x="173086" y="972884"/>
                  <a:pt x="186985" y="761630"/>
                  <a:pt x="53560" y="764409"/>
                </a:cubicBezTo>
                <a:cubicBezTo>
                  <a:pt x="-57626" y="639324"/>
                  <a:pt x="22984" y="578171"/>
                  <a:pt x="125832" y="530917"/>
                </a:cubicBezTo>
                <a:cubicBezTo>
                  <a:pt x="259256" y="472544"/>
                  <a:pt x="406578" y="486442"/>
                  <a:pt x="551121" y="475324"/>
                </a:cubicBezTo>
                <a:cubicBezTo>
                  <a:pt x="742919" y="450306"/>
                  <a:pt x="926376" y="391934"/>
                  <a:pt x="1120952" y="394713"/>
                </a:cubicBezTo>
                <a:cubicBezTo>
                  <a:pt x="1304411" y="336340"/>
                  <a:pt x="1507326" y="400272"/>
                  <a:pt x="1693564" y="325221"/>
                </a:cubicBezTo>
                <a:cubicBezTo>
                  <a:pt x="1882582" y="325221"/>
                  <a:pt x="2074379" y="325221"/>
                  <a:pt x="2266175" y="325221"/>
                </a:cubicBezTo>
                <a:cubicBezTo>
                  <a:pt x="2321770" y="328001"/>
                  <a:pt x="2374582" y="328001"/>
                  <a:pt x="2430177" y="330781"/>
                </a:cubicBezTo>
                <a:cubicBezTo>
                  <a:pt x="2430177" y="330781"/>
                  <a:pt x="2432956" y="330781"/>
                  <a:pt x="2432956" y="330781"/>
                </a:cubicBezTo>
                <a:cubicBezTo>
                  <a:pt x="2672008" y="339120"/>
                  <a:pt x="2908279" y="344679"/>
                  <a:pt x="3144551" y="355798"/>
                </a:cubicBezTo>
                <a:cubicBezTo>
                  <a:pt x="3233500" y="355798"/>
                  <a:pt x="3319670" y="358577"/>
                  <a:pt x="3408619" y="358577"/>
                </a:cubicBezTo>
                <a:cubicBezTo>
                  <a:pt x="3597637" y="372475"/>
                  <a:pt x="3789434" y="380814"/>
                  <a:pt x="3981231" y="361357"/>
                </a:cubicBezTo>
                <a:cubicBezTo>
                  <a:pt x="4173028" y="378035"/>
                  <a:pt x="4359266" y="366917"/>
                  <a:pt x="4551063" y="350238"/>
                </a:cubicBezTo>
                <a:cubicBezTo>
                  <a:pt x="4745639" y="369696"/>
                  <a:pt x="4937437" y="341899"/>
                  <a:pt x="5129233" y="316882"/>
                </a:cubicBezTo>
                <a:cubicBezTo>
                  <a:pt x="5321031" y="328001"/>
                  <a:pt x="5512828" y="328001"/>
                  <a:pt x="5699065" y="272407"/>
                </a:cubicBezTo>
                <a:cubicBezTo>
                  <a:pt x="5840829" y="333560"/>
                  <a:pt x="5910321" y="133424"/>
                  <a:pt x="6063202" y="172339"/>
                </a:cubicBezTo>
                <a:cubicBezTo>
                  <a:pt x="6216084" y="214035"/>
                  <a:pt x="6324491" y="55593"/>
                  <a:pt x="6457914" y="0"/>
                </a:cubicBezTo>
                <a:close/>
              </a:path>
            </a:pathLst>
          </a:cu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FA90F-BABE-4F8A-4FE1-820C53EE0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8986" y="3547277"/>
            <a:ext cx="4452181" cy="1341624"/>
          </a:xfrm>
        </p:spPr>
        <p:txBody>
          <a:bodyPr anchor="b">
            <a:normAutofit/>
          </a:bodyPr>
          <a:lstStyle/>
          <a:p>
            <a:r>
              <a:rPr lang="en-US" sz="4000"/>
              <a:t>Lists and Tuples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ED331-E9DF-D1A7-B54D-F50CE313E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5110" y="4945656"/>
            <a:ext cx="3957144" cy="646785"/>
          </a:xfrm>
        </p:spPr>
        <p:txBody>
          <a:bodyPr>
            <a:normAutofit/>
          </a:bodyPr>
          <a:lstStyle/>
          <a:p>
            <a:r>
              <a:rPr lang="en-US" sz="2000"/>
              <a:t>Dr. Rakhee Chhibber</a:t>
            </a:r>
          </a:p>
        </p:txBody>
      </p:sp>
    </p:spTree>
    <p:extLst>
      <p:ext uri="{BB962C8B-B14F-4D97-AF65-F5344CB8AC3E}">
        <p14:creationId xmlns:p14="http://schemas.microsoft.com/office/powerpoint/2010/main" val="326624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13B29-B390-73E1-0967-FC3B4A29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1C833-3BB1-0B56-12D5-A89DB306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400550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/>
              <a:t>a</a:t>
            </a:r>
            <a:r>
              <a:rPr lang="en-US" b="1" dirty="0"/>
              <a:t> list </a:t>
            </a:r>
            <a:r>
              <a:rPr lang="en-US" dirty="0"/>
              <a:t>is a built-in dynamic sized array (automatically grows and shrinks). We can store all types of items (including another list) in a list.</a:t>
            </a:r>
          </a:p>
          <a:p>
            <a:pPr lvl="1" fontAlgn="base"/>
            <a:r>
              <a:rPr lang="en-US" dirty="0"/>
              <a:t>Can contain duplicate items.</a:t>
            </a:r>
          </a:p>
          <a:p>
            <a:pPr lvl="1" fontAlgn="base"/>
            <a:r>
              <a:rPr lang="en-US" dirty="0"/>
              <a:t>Mutable : We can modify, replace or delete the items.</a:t>
            </a:r>
          </a:p>
          <a:p>
            <a:pPr lvl="1" fontAlgn="base"/>
            <a:r>
              <a:rPr lang="en-US" dirty="0"/>
              <a:t>Ordered : Maintains the order of elements based on how they are added.</a:t>
            </a:r>
          </a:p>
          <a:p>
            <a:pPr lvl="1" fontAlgn="base"/>
            <a:r>
              <a:rPr lang="en-US" dirty="0"/>
              <a:t>Items can be accessed directly using their position (index), starting from 0.</a:t>
            </a:r>
          </a:p>
          <a:p>
            <a:pPr lvl="1" fontAlgn="base"/>
            <a:r>
              <a:rPr lang="en-US" dirty="0"/>
              <a:t>May contain mixed type of items, this is possible because a list mainly stores references at contiguous locations and actual items maybe stored at different locations.</a:t>
            </a:r>
          </a:p>
        </p:txBody>
      </p:sp>
    </p:spTree>
    <p:extLst>
      <p:ext uri="{BB962C8B-B14F-4D97-AF65-F5344CB8AC3E}">
        <p14:creationId xmlns:p14="http://schemas.microsoft.com/office/powerpoint/2010/main" val="263768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8A46-2A26-E9F4-5CBE-7DDE4EDC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3018"/>
            <a:ext cx="10515600" cy="1325563"/>
          </a:xfrm>
        </p:spPr>
        <p:txBody>
          <a:bodyPr/>
          <a:lstStyle/>
          <a:p>
            <a:r>
              <a:rPr lang="en-US" dirty="0"/>
              <a:t>Creating a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E6812-8A7E-08E4-4568-CC6D4603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1348581"/>
            <a:ext cx="11258550" cy="4823619"/>
          </a:xfrm>
        </p:spPr>
        <p:txBody>
          <a:bodyPr/>
          <a:lstStyle/>
          <a:p>
            <a:r>
              <a:rPr lang="en-US" dirty="0"/>
              <a:t>Using [] bracket</a:t>
            </a:r>
          </a:p>
          <a:p>
            <a:pPr marL="457200" lvl="1" indent="0">
              <a:buNone/>
            </a:pPr>
            <a:r>
              <a:rPr lang="en-US" dirty="0"/>
              <a:t>countries = ["United States", "Canada", "Poland", "Germany", "Austria"]</a:t>
            </a:r>
          </a:p>
          <a:p>
            <a:r>
              <a:rPr lang="en-US" dirty="0"/>
              <a:t>Using constructor – list()</a:t>
            </a:r>
          </a:p>
          <a:p>
            <a:pPr marL="457200" lvl="1" indent="0">
              <a:buNone/>
            </a:pPr>
            <a:r>
              <a:rPr lang="en-US" dirty="0"/>
              <a:t>Digits=list(range(10))</a:t>
            </a:r>
          </a:p>
          <a:p>
            <a:r>
              <a:rPr lang="en-US" dirty="0"/>
              <a:t>Converting tuple in list</a:t>
            </a:r>
          </a:p>
          <a:p>
            <a:pPr marL="457200" lvl="1" indent="0">
              <a:buNone/>
            </a:pPr>
            <a:r>
              <a:rPr lang="en-US" dirty="0"/>
              <a:t>L=list((1,2,3,4))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C8F671-7BCE-6F2C-6AB5-924FDE9E0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6267"/>
            <a:ext cx="184731" cy="18466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48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159E-4E7D-F244-A3D2-B643EE02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A81B9-7611-CA28-ED6A-AA56724D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3018"/>
            <a:ext cx="10515600" cy="1325563"/>
          </a:xfrm>
        </p:spPr>
        <p:txBody>
          <a:bodyPr/>
          <a:lstStyle/>
          <a:p>
            <a:r>
              <a:rPr lang="en-US" dirty="0"/>
              <a:t>Creating a list from existing sequence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40A49-0104-E7BA-AFFB-C3C05894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1348581"/>
            <a:ext cx="11258550" cy="482361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L1=list(“hello”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T=(‘</a:t>
            </a:r>
            <a:r>
              <a:rPr lang="en-US" dirty="0" err="1"/>
              <a:t>w’,’e’,’t’,’h</a:t>
            </a:r>
            <a:r>
              <a:rPr lang="en-US" dirty="0"/>
              <a:t>’)</a:t>
            </a:r>
          </a:p>
          <a:p>
            <a:pPr marL="0" indent="0">
              <a:buNone/>
            </a:pPr>
            <a:r>
              <a:rPr lang="en-US" dirty="0"/>
              <a:t>L2=list(t)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L3=list(input(“enter list elements”)</a:t>
            </a:r>
          </a:p>
          <a:p>
            <a:pPr marL="0" indent="0">
              <a:buNone/>
            </a:pPr>
            <a:r>
              <a:rPr lang="en-US" dirty="0"/>
              <a:t>For example enter = 123456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26F922-5416-914F-393D-ED522D889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6267"/>
            <a:ext cx="184731" cy="184666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5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2C26-7EA9-CDE4-1C56-B4FACC09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Creating List with Repeated Elements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9433-D25C-6F4F-9F2C-6F4CE2A8A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[2] * 5</a:t>
            </a:r>
          </a:p>
        </p:txBody>
      </p:sp>
    </p:spTree>
    <p:extLst>
      <p:ext uri="{BB962C8B-B14F-4D97-AF65-F5344CB8AC3E}">
        <p14:creationId xmlns:p14="http://schemas.microsoft.com/office/powerpoint/2010/main" val="314210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AF4202-E0C2-EF6A-B3EA-98C83B654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65" y="1325284"/>
            <a:ext cx="12007959" cy="11526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700" b="0" i="1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words = ["foo", "bar", "</a:t>
            </a:r>
            <a:r>
              <a:rPr kumimoji="0" lang="en-US" altLang="en-US" sz="3700" b="0" i="1" u="none" strike="noStrike" cap="none" normalizeH="0" baseline="0" dirty="0" err="1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baz</a:t>
            </a:r>
            <a:r>
              <a:rPr kumimoji="0" lang="en-US" altLang="en-US" sz="3700" b="0" i="1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", "</a:t>
            </a:r>
            <a:r>
              <a:rPr kumimoji="0" lang="en-US" altLang="en-US" sz="3700" b="0" i="1" u="none" strike="noStrike" cap="none" normalizeH="0" baseline="0" dirty="0" err="1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qux</a:t>
            </a:r>
            <a:r>
              <a:rPr kumimoji="0" lang="en-US" altLang="en-US" sz="3700" b="0" i="1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", "quux", "</a:t>
            </a:r>
            <a:r>
              <a:rPr kumimoji="0" lang="en-US" altLang="en-US" sz="3700" b="0" i="1" u="none" strike="noStrike" cap="none" normalizeH="0" baseline="0" dirty="0" err="1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corge</a:t>
            </a:r>
            <a:r>
              <a:rPr kumimoji="0" lang="en-US" altLang="en-US" sz="3700" b="0" i="1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"]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108EE-F3B5-BD49-7EB0-1D249D9A4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27" y="2477947"/>
            <a:ext cx="9826733" cy="21908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1F60A6-B031-8C48-A3D1-06CF0BF81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73" y="4668781"/>
            <a:ext cx="9688931" cy="210071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973149D-4006-3EF7-98F4-EF03F407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list elements</a:t>
            </a:r>
          </a:p>
        </p:txBody>
      </p:sp>
    </p:spTree>
    <p:extLst>
      <p:ext uri="{BB962C8B-B14F-4D97-AF65-F5344CB8AC3E}">
        <p14:creationId xmlns:p14="http://schemas.microsoft.com/office/powerpoint/2010/main" val="171965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86AD-1726-06CE-E48C-9A8ADB88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 the output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5AE80F-FF49-32F4-9691-76AC5560D9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78490"/>
            <a:ext cx="5951220" cy="3791807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words[-1]</a:t>
            </a:r>
          </a:p>
          <a:p>
            <a:pPr marL="0" indent="0" eaLnBrk="0" fontAlgn="base" hangingPunct="0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words[-2]</a:t>
            </a:r>
          </a:p>
          <a:p>
            <a:pPr marL="0" indent="0" eaLnBrk="0" fontAlgn="base" hangingPunct="0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words[-</a:t>
            </a:r>
            <a:r>
              <a:rPr lang="en-US" altLang="en-US" dirty="0" err="1">
                <a:latin typeface="Arial" panose="020B0604020202020204" pitchFamily="34" charset="0"/>
              </a:rPr>
              <a:t>len</a:t>
            </a:r>
            <a:r>
              <a:rPr lang="en-US" altLang="en-US" dirty="0">
                <a:latin typeface="Arial" panose="020B0604020202020204" pitchFamily="34" charset="0"/>
              </a:rPr>
              <a:t>(words)]</a:t>
            </a:r>
          </a:p>
          <a:p>
            <a:pPr marL="0" indent="0" eaLnBrk="0" fontAlgn="base" hangingPunct="0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words[2:5]</a:t>
            </a:r>
          </a:p>
          <a:p>
            <a:pPr marL="0" indent="0" eaLnBrk="0" fontAlgn="base" hangingPunct="0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words[-5:-2]</a:t>
            </a:r>
          </a:p>
          <a:p>
            <a:pPr marL="0" indent="0" eaLnBrk="0" fontAlgn="base" hangingPunct="0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words[1:4]</a:t>
            </a:r>
          </a:p>
          <a:p>
            <a:pPr marL="0" indent="0" eaLnBrk="0" fontAlgn="base" hangingPunct="0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words[-5:-2] == words[1:4]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3C826B-3769-FBE1-1B88-89C252A0D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9CFDF-AE64-ADA0-EF5D-28B9CCF5D996}"/>
              </a:ext>
            </a:extLst>
          </p:cNvPr>
          <p:cNvSpPr txBox="1"/>
          <p:nvPr/>
        </p:nvSpPr>
        <p:spPr>
          <a:xfrm>
            <a:off x="6703728" y="2253868"/>
            <a:ext cx="5089855" cy="4001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</a:rPr>
              <a:t>words[:4]</a:t>
            </a:r>
          </a:p>
          <a:p>
            <a:r>
              <a:rPr lang="en-US" sz="2800" dirty="0">
                <a:latin typeface="Arial" panose="020B0604020202020204" pitchFamily="34" charset="0"/>
              </a:rPr>
              <a:t>words[0:4]</a:t>
            </a:r>
          </a:p>
          <a:p>
            <a:r>
              <a:rPr lang="en-US" sz="2800" dirty="0">
                <a:latin typeface="Arial" panose="020B0604020202020204" pitchFamily="34" charset="0"/>
              </a:rPr>
              <a:t>words[2:]</a:t>
            </a:r>
          </a:p>
          <a:p>
            <a:r>
              <a:rPr lang="en-US" sz="2800" dirty="0">
                <a:latin typeface="Arial" panose="020B0604020202020204" pitchFamily="34" charset="0"/>
              </a:rPr>
              <a:t>words[2:len(words)]</a:t>
            </a:r>
          </a:p>
          <a:p>
            <a:r>
              <a:rPr lang="en-US" sz="2800" dirty="0">
                <a:latin typeface="Arial" panose="020B0604020202020204" pitchFamily="34" charset="0"/>
              </a:rPr>
              <a:t>words[:4] + words[4:]</a:t>
            </a:r>
          </a:p>
          <a:p>
            <a:r>
              <a:rPr lang="en-US" sz="2800" dirty="0">
                <a:latin typeface="Arial" panose="020B0604020202020204" pitchFamily="34" charset="0"/>
              </a:rPr>
              <a:t>words[:4] + words[4:] == words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E9A06"/>
                </a:solidFill>
                <a:effectLst/>
                <a:latin typeface="SFMono-Regular"/>
              </a:rPr>
              <a:t>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4E9A06"/>
                </a:solidFill>
                <a:effectLst/>
                <a:latin typeface="SFMono-Regular"/>
              </a:rPr>
              <a:t>qux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4E9A06"/>
                </a:solidFill>
                <a:effectLst/>
                <a:latin typeface="SFMono-Regular"/>
              </a:rPr>
              <a:t>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04A87"/>
                </a:solidFill>
                <a:effectLst/>
                <a:latin typeface="SFMono-Regular"/>
              </a:rPr>
              <a:t>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4E308CD-4156-7EED-F0B1-FE97E7F7E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92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EE96-2E88-A394-569A-C5A00DB3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Nested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C1F5-9438-EC84-0164-293640DB2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/>
              <a:t>x = ["a", ["bb", ["ccc", "</a:t>
            </a:r>
            <a:r>
              <a:rPr lang="en-US" altLang="en-US" i="1" dirty="0" err="1"/>
              <a:t>ddd</a:t>
            </a:r>
            <a:r>
              <a:rPr lang="en-US" altLang="en-US" i="1" dirty="0"/>
              <a:t>"], "ee", "ff"], "g", ["</a:t>
            </a:r>
            <a:r>
              <a:rPr lang="en-US" altLang="en-US" i="1" dirty="0" err="1"/>
              <a:t>hh</a:t>
            </a:r>
            <a:r>
              <a:rPr lang="en-US" altLang="en-US" i="1" dirty="0"/>
              <a:t>", "ii"], "j"] </a:t>
            </a:r>
          </a:p>
          <a:p>
            <a:endParaRPr lang="en-US" dirty="0"/>
          </a:p>
        </p:txBody>
      </p:sp>
      <p:pic>
        <p:nvPicPr>
          <p:cNvPr id="3074" name="Picture 2" descr="Nested lists diagram">
            <a:extLst>
              <a:ext uri="{FF2B5EF4-FFF2-40B4-BE49-F238E27FC236}">
                <a16:creationId xmlns:a16="http://schemas.microsoft.com/office/drawing/2014/main" id="{845FF922-A97E-B0E9-B532-578F60481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088" y="2926079"/>
            <a:ext cx="8957092" cy="381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198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6B29-95A7-76AF-9219-DEE92FEF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D583F-17B2-7412-71FC-97F7273C9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510"/>
            <a:ext cx="10515600" cy="45605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x[0], x[2], x[4]</a:t>
            </a:r>
          </a:p>
          <a:p>
            <a:pPr marL="0" indent="0">
              <a:buNone/>
            </a:pPr>
            <a:r>
              <a:rPr lang="en-US" dirty="0"/>
              <a:t> x[1]</a:t>
            </a:r>
          </a:p>
          <a:p>
            <a:pPr marL="0" indent="0">
              <a:buNone/>
            </a:pPr>
            <a:r>
              <a:rPr lang="en-US" dirty="0"/>
              <a:t> x[3]</a:t>
            </a:r>
          </a:p>
          <a:p>
            <a:pPr marL="0" indent="0">
              <a:buNone/>
            </a:pPr>
            <a:r>
              <a:rPr lang="en-US" dirty="0"/>
              <a:t> x[1][0]</a:t>
            </a:r>
          </a:p>
          <a:p>
            <a:pPr marL="0" indent="0">
              <a:buNone/>
            </a:pPr>
            <a:r>
              <a:rPr lang="en-US" dirty="0"/>
              <a:t> x[1][1]</a:t>
            </a:r>
          </a:p>
          <a:p>
            <a:pPr marL="0" indent="0">
              <a:buNone/>
            </a:pPr>
            <a:r>
              <a:rPr lang="en-US" dirty="0"/>
              <a:t> x[1][2]</a:t>
            </a:r>
          </a:p>
          <a:p>
            <a:pPr marL="0" indent="0">
              <a:buNone/>
            </a:pPr>
            <a:r>
              <a:rPr lang="en-US" dirty="0"/>
              <a:t> x[1][3]</a:t>
            </a:r>
          </a:p>
          <a:p>
            <a:pPr marL="0" indent="0">
              <a:buNone/>
            </a:pPr>
            <a:r>
              <a:rPr lang="it-IT" dirty="0"/>
              <a:t> x[1][1][0]</a:t>
            </a:r>
          </a:p>
          <a:p>
            <a:pPr marL="0" indent="0">
              <a:buNone/>
            </a:pPr>
            <a:r>
              <a:rPr lang="it-IT" dirty="0"/>
              <a:t> x[1][1][1]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2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7F48-E43C-4181-4119-4B5EF7F6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073B-18ED-78C5-C618-9D81D24F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L1=[1,2,3,4]</a:t>
            </a:r>
          </a:p>
          <a:p>
            <a:pPr marL="0" indent="0">
              <a:buNone/>
            </a:pPr>
            <a:r>
              <a:rPr lang="en-US" dirty="0"/>
              <a:t>L2=[5,6,7,8]</a:t>
            </a:r>
          </a:p>
          <a:p>
            <a:pPr marL="0" indent="0">
              <a:buNone/>
            </a:pPr>
            <a:r>
              <a:rPr lang="en-US" dirty="0"/>
              <a:t>L3=[1,2,3,4]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L1==l2</a:t>
            </a:r>
          </a:p>
          <a:p>
            <a:pPr marL="0" indent="0">
              <a:buNone/>
            </a:pPr>
            <a:r>
              <a:rPr lang="en-US" dirty="0"/>
              <a:t>L1==l3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L1&gt;l2</a:t>
            </a:r>
          </a:p>
          <a:p>
            <a:pPr marL="0" indent="0">
              <a:buNone/>
            </a:pPr>
            <a:r>
              <a:rPr lang="en-US" dirty="0"/>
              <a:t>L1&lt;l3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51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6139-FF6A-8797-F924-ECA59314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true copy of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30CB3-6A4D-523F-FE5C-6EA396EC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A=[1,2,3,4]</a:t>
            </a:r>
          </a:p>
          <a:p>
            <a:pPr marL="0" indent="0">
              <a:buNone/>
            </a:pPr>
            <a:r>
              <a:rPr lang="en-US" dirty="0"/>
              <a:t>B=A</a:t>
            </a:r>
          </a:p>
          <a:p>
            <a:pPr marL="0" indent="0">
              <a:buNone/>
            </a:pPr>
            <a:r>
              <a:rPr lang="en-US" dirty="0"/>
              <a:t>A[1]=5</a:t>
            </a:r>
          </a:p>
          <a:p>
            <a:pPr marL="0" indent="0">
              <a:buNone/>
            </a:pPr>
            <a:r>
              <a:rPr lang="en-US" dirty="0"/>
              <a:t>Print(b)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Separate copy</a:t>
            </a:r>
          </a:p>
          <a:p>
            <a:pPr marL="0" indent="0">
              <a:buNone/>
            </a:pPr>
            <a:r>
              <a:rPr lang="en-US" dirty="0"/>
              <a:t>B=list(a)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31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A041-9A7C-7EC4-8C3D-3B8BE8D24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operations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06D75-C332-F76D-F360-61C293888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2011680"/>
            <a:ext cx="5654040" cy="4160520"/>
          </a:xfrm>
        </p:spPr>
        <p:txBody>
          <a:bodyPr/>
          <a:lstStyle/>
          <a:p>
            <a:r>
              <a:rPr lang="en-US" dirty="0"/>
              <a:t>Joining the lists - +</a:t>
            </a:r>
          </a:p>
          <a:p>
            <a:r>
              <a:rPr lang="en-US" dirty="0"/>
              <a:t>Repeating or replicating list - *</a:t>
            </a:r>
          </a:p>
          <a:p>
            <a:r>
              <a:rPr lang="en-US" dirty="0"/>
              <a:t>Slicing the list</a:t>
            </a:r>
          </a:p>
          <a:p>
            <a:r>
              <a:rPr lang="en-US" dirty="0"/>
              <a:t>Len(list)</a:t>
            </a:r>
          </a:p>
          <a:p>
            <a:r>
              <a:rPr lang="en-US" dirty="0"/>
              <a:t>Max(list)</a:t>
            </a:r>
          </a:p>
          <a:p>
            <a:r>
              <a:rPr lang="en-US" dirty="0"/>
              <a:t>Min(list)</a:t>
            </a:r>
          </a:p>
          <a:p>
            <a:r>
              <a:rPr lang="en-US" dirty="0"/>
              <a:t>Sum(list)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26060-6120-85A9-CBCA-A584B267A0F1}"/>
              </a:ext>
            </a:extLst>
          </p:cNvPr>
          <p:cNvSpPr txBox="1">
            <a:spLocks/>
          </p:cNvSpPr>
          <p:nvPr/>
        </p:nvSpPr>
        <p:spPr>
          <a:xfrm>
            <a:off x="6248400" y="1724978"/>
            <a:ext cx="5654040" cy="4160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Append()</a:t>
            </a:r>
          </a:p>
          <a:p>
            <a:r>
              <a:rPr lang="en-US" dirty="0"/>
              <a:t>Extend()</a:t>
            </a:r>
          </a:p>
          <a:p>
            <a:r>
              <a:rPr lang="en-US" dirty="0"/>
              <a:t>Insert()</a:t>
            </a:r>
          </a:p>
          <a:p>
            <a:r>
              <a:rPr lang="en-US" dirty="0"/>
              <a:t>Pop()</a:t>
            </a:r>
          </a:p>
          <a:p>
            <a:r>
              <a:rPr lang="en-US" dirty="0"/>
              <a:t>Remove()</a:t>
            </a:r>
          </a:p>
          <a:p>
            <a:r>
              <a:rPr lang="en-US" dirty="0"/>
              <a:t>Clear()</a:t>
            </a:r>
          </a:p>
          <a:p>
            <a:r>
              <a:rPr lang="en-US" dirty="0"/>
              <a:t>Count()</a:t>
            </a:r>
          </a:p>
          <a:p>
            <a:r>
              <a:rPr lang="en-US" dirty="0"/>
              <a:t>Reverse()</a:t>
            </a:r>
          </a:p>
          <a:p>
            <a:r>
              <a:rPr lang="en-US" dirty="0"/>
              <a:t>Sort()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8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0C5B-82CA-8F7E-930E-50B093EF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Iterating Over Lists</a:t>
            </a:r>
            <a:br>
              <a:rPr lang="en-US" b="1" i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A898-D869-1DCC-850B-5014E3C22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['apple', 'banana', 'cherry']</a:t>
            </a:r>
          </a:p>
          <a:p>
            <a:endParaRPr lang="en-US" dirty="0"/>
          </a:p>
          <a:p>
            <a:r>
              <a:rPr lang="en-US" dirty="0"/>
              <a:t># Iterating over the list</a:t>
            </a:r>
          </a:p>
          <a:p>
            <a:r>
              <a:rPr lang="en-US" dirty="0"/>
              <a:t>for item in a:</a:t>
            </a:r>
          </a:p>
          <a:p>
            <a:r>
              <a:rPr lang="en-US" dirty="0"/>
              <a:t>    print(item)</a:t>
            </a:r>
          </a:p>
        </p:txBody>
      </p:sp>
    </p:spTree>
    <p:extLst>
      <p:ext uri="{BB962C8B-B14F-4D97-AF65-F5344CB8AC3E}">
        <p14:creationId xmlns:p14="http://schemas.microsoft.com/office/powerpoint/2010/main" val="594393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2A9B-7F01-FC41-C6BD-6C303DDC6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List Comprehension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6E32A-88EB-855A-BC7A-10CD7D41B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 comprehension is a concise way to create lists using a single line of code. It is useful for applying an operation or filter to items in an </a:t>
            </a:r>
            <a:r>
              <a:rPr lang="en-US" dirty="0" err="1"/>
              <a:t>iterable</a:t>
            </a:r>
            <a:r>
              <a:rPr lang="en-US" dirty="0"/>
              <a:t>, such as a list or range.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Create a list of squares from 1 to 5</a:t>
            </a:r>
          </a:p>
          <a:p>
            <a:pPr marL="0" indent="0">
              <a:buNone/>
            </a:pPr>
            <a:r>
              <a:rPr lang="en-US" dirty="0"/>
              <a:t>squares = [x**2 for x in range(1, 6)]</a:t>
            </a:r>
          </a:p>
          <a:p>
            <a:pPr marL="0" indent="0">
              <a:buNone/>
            </a:pPr>
            <a:r>
              <a:rPr lang="en-US" dirty="0"/>
              <a:t>print(squares)</a:t>
            </a:r>
          </a:p>
        </p:txBody>
      </p:sp>
    </p:spTree>
    <p:extLst>
      <p:ext uri="{BB962C8B-B14F-4D97-AF65-F5344CB8AC3E}">
        <p14:creationId xmlns:p14="http://schemas.microsoft.com/office/powerpoint/2010/main" val="3343400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E421-BD67-5D24-FC3F-DFE3CFE0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</p:spTree>
    <p:extLst>
      <p:ext uri="{BB962C8B-B14F-4D97-AF65-F5344CB8AC3E}">
        <p14:creationId xmlns:p14="http://schemas.microsoft.com/office/powerpoint/2010/main" val="2144713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A04-E22A-4A63-E331-03A7F376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E5BD1-8974-72BC-6C42-213A8F3FB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A tuple in Python is an immutable ordered collection of elements.</a:t>
            </a:r>
          </a:p>
          <a:p>
            <a:pPr fontAlgn="base"/>
            <a:r>
              <a:rPr lang="en-US" dirty="0"/>
              <a:t>Tuples are similar to lists, but unlike lists, they cannot be changed after their creation (i.e., they are immutable).</a:t>
            </a:r>
          </a:p>
          <a:p>
            <a:pPr fontAlgn="base"/>
            <a:r>
              <a:rPr lang="en-US" dirty="0"/>
              <a:t>Tuples can hold elements of different data types.</a:t>
            </a:r>
          </a:p>
          <a:p>
            <a:pPr fontAlgn="base"/>
            <a:r>
              <a:rPr lang="en-US" dirty="0"/>
              <a:t>The main characteristics of tuples are being </a:t>
            </a:r>
            <a:r>
              <a:rPr lang="en-US" b="1" dirty="0"/>
              <a:t>ordered </a:t>
            </a:r>
            <a:r>
              <a:rPr lang="en-US" dirty="0"/>
              <a:t>, </a:t>
            </a:r>
            <a:r>
              <a:rPr lang="en-US" b="1" dirty="0"/>
              <a:t>heterogeneous </a:t>
            </a:r>
            <a:r>
              <a:rPr lang="en-US" dirty="0"/>
              <a:t>and </a:t>
            </a:r>
            <a:r>
              <a:rPr lang="en-US" b="1" dirty="0"/>
              <a:t>immutable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621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6ADE-AE2B-5965-A4CC-8010AECB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Creating a Tuple</a:t>
            </a:r>
            <a:br>
              <a:rPr lang="en-US" b="1" i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18892-375E-6D21-3770-56FEE4021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690688"/>
            <a:ext cx="10515600" cy="465201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tup = ()</a:t>
            </a:r>
          </a:p>
          <a:p>
            <a:pPr marL="0" indent="0">
              <a:buNone/>
            </a:pPr>
            <a:r>
              <a:rPr lang="en-US" dirty="0"/>
              <a:t>print(tup)</a:t>
            </a:r>
          </a:p>
          <a:p>
            <a:pPr marL="0" indent="0">
              <a:buNone/>
            </a:pPr>
            <a:r>
              <a:rPr lang="en-US" dirty="0"/>
              <a:t># Using String</a:t>
            </a:r>
          </a:p>
          <a:p>
            <a:pPr marL="0" indent="0">
              <a:buNone/>
            </a:pPr>
            <a:r>
              <a:rPr lang="en-US" dirty="0"/>
              <a:t>tup = ('Geeks', 'For')</a:t>
            </a:r>
          </a:p>
          <a:p>
            <a:pPr marL="0" indent="0">
              <a:buNone/>
            </a:pPr>
            <a:r>
              <a:rPr lang="en-US" dirty="0"/>
              <a:t>print(tup)</a:t>
            </a:r>
          </a:p>
          <a:p>
            <a:pPr marL="0" indent="0">
              <a:buNone/>
            </a:pPr>
            <a:r>
              <a:rPr lang="en-US" dirty="0"/>
              <a:t># Using List</a:t>
            </a:r>
          </a:p>
          <a:p>
            <a:pPr marL="0" indent="0">
              <a:buNone/>
            </a:pPr>
            <a:r>
              <a:rPr lang="en-US" dirty="0"/>
              <a:t>li = [1, 2, 4, 5, 6]</a:t>
            </a:r>
          </a:p>
          <a:p>
            <a:pPr marL="0" indent="0">
              <a:buNone/>
            </a:pPr>
            <a:r>
              <a:rPr lang="en-US" dirty="0"/>
              <a:t>print(tuple(li))</a:t>
            </a:r>
          </a:p>
          <a:p>
            <a:pPr marL="0" indent="0">
              <a:buNone/>
            </a:pPr>
            <a:r>
              <a:rPr lang="en-US" dirty="0"/>
              <a:t># Using Built-in Function</a:t>
            </a:r>
          </a:p>
          <a:p>
            <a:pPr marL="0" indent="0">
              <a:buNone/>
            </a:pPr>
            <a:r>
              <a:rPr lang="en-US" dirty="0"/>
              <a:t>tup = tuple('Geeks')</a:t>
            </a:r>
          </a:p>
          <a:p>
            <a:pPr marL="0" indent="0">
              <a:buNone/>
            </a:pPr>
            <a:r>
              <a:rPr lang="en-US" dirty="0"/>
              <a:t>print(tup)</a:t>
            </a:r>
          </a:p>
        </p:txBody>
      </p:sp>
    </p:spTree>
    <p:extLst>
      <p:ext uri="{BB962C8B-B14F-4D97-AF65-F5344CB8AC3E}">
        <p14:creationId xmlns:p14="http://schemas.microsoft.com/office/powerpoint/2010/main" val="401769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3A6F-544A-E3A7-2ED8-8BBBFB31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Creating a Tuple with Mixed Datatypes.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42DBA-6B7B-D708-7C95-31889358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tup = (5, 'Welcome', 7, 'Geeks')</a:t>
            </a:r>
          </a:p>
          <a:p>
            <a:pPr marL="0" indent="0">
              <a:buNone/>
            </a:pPr>
            <a:r>
              <a:rPr lang="en-US" dirty="0"/>
              <a:t>print(tup)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61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24C6-3CDA-9C47-FB0A-864E73C7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Creating a Tuple with nested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2A56-CF84-855C-F036-3977B7B7F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tup1 = (0, 1, 2, 3)</a:t>
            </a:r>
          </a:p>
          <a:p>
            <a:pPr marL="0" indent="0">
              <a:buNone/>
            </a:pPr>
            <a:r>
              <a:rPr lang="en-US" dirty="0"/>
              <a:t>tup2 = ('python', 'geek')</a:t>
            </a:r>
          </a:p>
          <a:p>
            <a:pPr marL="0" indent="0">
              <a:buNone/>
            </a:pPr>
            <a:r>
              <a:rPr lang="en-US" dirty="0"/>
              <a:t>tup3 = (tup1, tup2)</a:t>
            </a:r>
          </a:p>
          <a:p>
            <a:pPr marL="0" indent="0">
              <a:buNone/>
            </a:pPr>
            <a:r>
              <a:rPr lang="en-US" dirty="0"/>
              <a:t>print(tup3)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742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2DF6-DDE5-C09C-9354-C4D443E0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Tuple with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3145-C62B-9F88-6371-EA78E468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tup1 = ('Geeks',) * 3</a:t>
            </a:r>
          </a:p>
          <a:p>
            <a:pPr marL="0" indent="0">
              <a:buNone/>
            </a:pPr>
            <a:r>
              <a:rPr lang="en-US" dirty="0"/>
              <a:t>print(tup1)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35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8B52-F126-C212-110C-CE0A0300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Tuple with the use of loop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DE773-7C41-DF02-F715-B1D3DEC16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up = ('Geeks')</a:t>
            </a:r>
          </a:p>
          <a:p>
            <a:pPr marL="0" indent="0">
              <a:buNone/>
            </a:pPr>
            <a:r>
              <a:rPr lang="en-US" dirty="0"/>
              <a:t>n = 5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range(int(n)):</a:t>
            </a:r>
          </a:p>
          <a:p>
            <a:pPr marL="0" indent="0">
              <a:buNone/>
            </a:pPr>
            <a:r>
              <a:rPr lang="en-US" dirty="0"/>
              <a:t>    tup = (tup,)</a:t>
            </a:r>
          </a:p>
          <a:p>
            <a:pPr marL="0" indent="0">
              <a:buNone/>
            </a:pPr>
            <a:r>
              <a:rPr lang="en-US" dirty="0"/>
              <a:t>    print(tup)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56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90BC-1173-A8C5-89E4-F93B986F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i="0" dirty="0"/>
              <a:t>Accessing of Tuples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15BD2-2F11-E1D5-EC90-14A72BE14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470"/>
            <a:ext cx="10515600" cy="517779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# Accessing Tuple with Indexing</a:t>
            </a:r>
          </a:p>
          <a:p>
            <a:pPr marL="0" indent="0">
              <a:buNone/>
            </a:pPr>
            <a:r>
              <a:rPr lang="en-US" dirty="0"/>
              <a:t>tup = tuple("Geeks")</a:t>
            </a:r>
          </a:p>
          <a:p>
            <a:pPr marL="0" indent="0">
              <a:buNone/>
            </a:pPr>
            <a:r>
              <a:rPr lang="en-US" dirty="0"/>
              <a:t>print(tup[0])</a:t>
            </a:r>
          </a:p>
          <a:p>
            <a:pPr marL="0" indent="0">
              <a:buNone/>
            </a:pPr>
            <a:r>
              <a:rPr lang="en-US" dirty="0"/>
              <a:t># Accessing a range of elements using slicing</a:t>
            </a:r>
          </a:p>
          <a:p>
            <a:pPr marL="0" indent="0">
              <a:buNone/>
            </a:pPr>
            <a:r>
              <a:rPr lang="en-US" dirty="0"/>
              <a:t>print(tup[1:4])  </a:t>
            </a:r>
          </a:p>
          <a:p>
            <a:pPr marL="0" indent="0">
              <a:buNone/>
            </a:pPr>
            <a:r>
              <a:rPr lang="en-US" dirty="0"/>
              <a:t>print(tup[:3])</a:t>
            </a:r>
          </a:p>
          <a:p>
            <a:pPr marL="0" indent="0">
              <a:buNone/>
            </a:pPr>
            <a:r>
              <a:rPr lang="en-US" dirty="0"/>
              <a:t># Tuple unpacking</a:t>
            </a:r>
          </a:p>
          <a:p>
            <a:pPr marL="0" indent="0">
              <a:buNone/>
            </a:pPr>
            <a:r>
              <a:rPr lang="en-US" dirty="0"/>
              <a:t>tup = ("Geeks", "For", "Geeks")</a:t>
            </a:r>
          </a:p>
          <a:p>
            <a:pPr marL="0" indent="0">
              <a:buNone/>
            </a:pPr>
            <a:r>
              <a:rPr lang="en-US" dirty="0"/>
              <a:t># This line unpack values of Tuple1</a:t>
            </a:r>
          </a:p>
          <a:p>
            <a:pPr marL="0" indent="0">
              <a:buNone/>
            </a:pPr>
            <a:r>
              <a:rPr lang="en-US" dirty="0"/>
              <a:t>a, b, c = tup</a:t>
            </a:r>
          </a:p>
          <a:p>
            <a:pPr marL="0" indent="0">
              <a:buNone/>
            </a:pPr>
            <a:r>
              <a:rPr lang="en-US" dirty="0"/>
              <a:t>print(a)</a:t>
            </a:r>
          </a:p>
          <a:p>
            <a:pPr marL="0" indent="0">
              <a:buNone/>
            </a:pPr>
            <a:r>
              <a:rPr lang="en-US" dirty="0"/>
              <a:t>print(b)</a:t>
            </a:r>
          </a:p>
          <a:p>
            <a:pPr marL="0" indent="0">
              <a:buNone/>
            </a:pPr>
            <a:r>
              <a:rPr lang="en-US" dirty="0"/>
              <a:t>print(c)</a:t>
            </a:r>
          </a:p>
        </p:txBody>
      </p:sp>
    </p:spTree>
    <p:extLst>
      <p:ext uri="{BB962C8B-B14F-4D97-AF65-F5344CB8AC3E}">
        <p14:creationId xmlns:p14="http://schemas.microsoft.com/office/powerpoint/2010/main" val="1789965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ACB3-9BA7-D286-DD1B-50EC7FC5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Concatenation of Tuples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33E6E-4FB7-6798-72ED-27D869514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2038156"/>
            <a:ext cx="9002381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83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6D4A-AE03-6E62-9E41-77F38486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Slicing of Tuple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B0B7A-3517-E99A-550C-3E7727909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1571366"/>
            <a:ext cx="989785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86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C778E-081C-95BC-5F9F-8D56D1778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0ED9E-F237-351B-B0E5-B82FD6CB7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tup = tuple('GEEKSFORGEEKS')</a:t>
            </a:r>
          </a:p>
          <a:p>
            <a:endParaRPr lang="en-US" dirty="0"/>
          </a:p>
          <a:p>
            <a:r>
              <a:rPr lang="en-US" dirty="0"/>
              <a:t># Removing First element</a:t>
            </a:r>
          </a:p>
          <a:p>
            <a:r>
              <a:rPr lang="en-US" dirty="0"/>
              <a:t>print(tup[1:])</a:t>
            </a:r>
          </a:p>
          <a:p>
            <a:endParaRPr lang="en-US" dirty="0"/>
          </a:p>
          <a:p>
            <a:r>
              <a:rPr lang="en-US" dirty="0"/>
              <a:t># Reversing the Tuple</a:t>
            </a:r>
          </a:p>
          <a:p>
            <a:r>
              <a:rPr lang="en-US" dirty="0"/>
              <a:t>print(tup[::-1])</a:t>
            </a:r>
          </a:p>
          <a:p>
            <a:endParaRPr lang="en-US" dirty="0"/>
          </a:p>
          <a:p>
            <a:r>
              <a:rPr lang="en-US" dirty="0"/>
              <a:t># Printing elements of a Range</a:t>
            </a:r>
          </a:p>
          <a:p>
            <a:r>
              <a:rPr lang="en-US" dirty="0"/>
              <a:t>print(tup[4:9])</a:t>
            </a:r>
          </a:p>
        </p:txBody>
      </p:sp>
    </p:spTree>
    <p:extLst>
      <p:ext uri="{BB962C8B-B14F-4D97-AF65-F5344CB8AC3E}">
        <p14:creationId xmlns:p14="http://schemas.microsoft.com/office/powerpoint/2010/main" val="924432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8635-FA2C-D793-D091-3186E676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Deleting a Tuple</a:t>
            </a:r>
            <a:br>
              <a:rPr lang="en-US" b="1" i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694F-BA28-E059-AF11-405247F5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tup</a:t>
            </a:r>
            <a:r>
              <a:rPr lang="fr-FR" dirty="0"/>
              <a:t> = (0, 1, 2, 3, 4)</a:t>
            </a:r>
          </a:p>
          <a:p>
            <a:r>
              <a:rPr lang="fr-FR" dirty="0" err="1"/>
              <a:t>del</a:t>
            </a:r>
            <a:r>
              <a:rPr lang="fr-FR" dirty="0"/>
              <a:t> </a:t>
            </a:r>
            <a:r>
              <a:rPr lang="fr-FR" dirty="0" err="1"/>
              <a:t>tup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tup</a:t>
            </a:r>
            <a:r>
              <a:rPr lang="fr-F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2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51DC-E7C6-756C-2059-BBF3E959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/>
              <a:t>Tuple Unpacking with Asterisk (*)</a:t>
            </a:r>
            <a:br>
              <a:rPr lang="en-US" b="1" i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B54CA-A4D2-B7CB-EDBE-24EF41E4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tup = (1, 2, 3, 4, 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a, *b, c = tup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print(a) </a:t>
            </a:r>
          </a:p>
          <a:p>
            <a:pPr marL="0" indent="0">
              <a:buNone/>
            </a:pPr>
            <a:r>
              <a:rPr lang="en-US" dirty="0"/>
              <a:t>print(b) </a:t>
            </a:r>
          </a:p>
          <a:p>
            <a:pPr marL="0" indent="0">
              <a:buNone/>
            </a:pPr>
            <a:r>
              <a:rPr lang="en-US" dirty="0"/>
              <a:t>print(c)</a:t>
            </a:r>
          </a:p>
        </p:txBody>
      </p:sp>
    </p:spTree>
    <p:extLst>
      <p:ext uri="{BB962C8B-B14F-4D97-AF65-F5344CB8AC3E}">
        <p14:creationId xmlns:p14="http://schemas.microsoft.com/office/powerpoint/2010/main" val="4243352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F1FC8D-F57E-D32C-E207-F711CC526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32" y="1058780"/>
            <a:ext cx="10884567" cy="309211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5100" b="0" i="1" u="none" strike="noStrike" cap="none" normalizeH="0" baseline="0" dirty="0">
              <a:ln>
                <a:noFill/>
              </a:ln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3F2CCD-0C3A-3B89-3A5C-437AEE5F1D05}"/>
              </a:ext>
            </a:extLst>
          </p:cNvPr>
          <p:cNvSpPr/>
          <p:nvPr/>
        </p:nvSpPr>
        <p:spPr>
          <a:xfrm>
            <a:off x="4285251" y="2967335"/>
            <a:ext cx="36215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5381185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1064</Words>
  <Application>Microsoft Office PowerPoint</Application>
  <PresentationFormat>Widescreen</PresentationFormat>
  <Paragraphs>180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Century Gothic</vt:lpstr>
      <vt:lpstr>Elephant</vt:lpstr>
      <vt:lpstr>SFMono-Regular</vt:lpstr>
      <vt:lpstr>BrushVTI</vt:lpstr>
      <vt:lpstr>Lists and Tuples in Python</vt:lpstr>
      <vt:lpstr>Lists - Introduction</vt:lpstr>
      <vt:lpstr>Creating a list </vt:lpstr>
      <vt:lpstr>Creating a list from existing sequence </vt:lpstr>
      <vt:lpstr>Creating List with Repeated Elements</vt:lpstr>
      <vt:lpstr>Accessing list elements</vt:lpstr>
      <vt:lpstr>Tell the output</vt:lpstr>
      <vt:lpstr> Nested List</vt:lpstr>
      <vt:lpstr>State the output</vt:lpstr>
      <vt:lpstr>Comparing the list</vt:lpstr>
      <vt:lpstr>Making true copy of list</vt:lpstr>
      <vt:lpstr>List operations and functions</vt:lpstr>
      <vt:lpstr>Iterating Over Lists </vt:lpstr>
      <vt:lpstr>List Comprehension in Python</vt:lpstr>
      <vt:lpstr>Tuples</vt:lpstr>
      <vt:lpstr>Tuple </vt:lpstr>
      <vt:lpstr>Creating a Tuple </vt:lpstr>
      <vt:lpstr>Creating a Tuple with Mixed Datatypes.</vt:lpstr>
      <vt:lpstr> Creating a Tuple with nested tuples</vt:lpstr>
      <vt:lpstr>Creating a Tuple with repetition</vt:lpstr>
      <vt:lpstr>Creating a Tuple with the use of loop </vt:lpstr>
      <vt:lpstr>Accessing of Tuples</vt:lpstr>
      <vt:lpstr>Concatenation of Tuples</vt:lpstr>
      <vt:lpstr>Slicing of Tuple</vt:lpstr>
      <vt:lpstr>PowerPoint Presentation</vt:lpstr>
      <vt:lpstr>Deleting a Tuple </vt:lpstr>
      <vt:lpstr>Tuple Unpacking with Asterisk (*)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rakhee chhibber</dc:creator>
  <cp:lastModifiedBy>rakhee chhibber</cp:lastModifiedBy>
  <cp:revision>2</cp:revision>
  <dcterms:created xsi:type="dcterms:W3CDTF">2025-08-17T17:36:54Z</dcterms:created>
  <dcterms:modified xsi:type="dcterms:W3CDTF">2025-08-18T09:36:24Z</dcterms:modified>
</cp:coreProperties>
</file>