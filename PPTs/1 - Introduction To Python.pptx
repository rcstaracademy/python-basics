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2"/>
  </p:notesMasterIdLst>
  <p:handoutMasterIdLst>
    <p:handoutMasterId r:id="rId53"/>
  </p:handoutMasterIdLst>
  <p:sldIdLst>
    <p:sldId id="292" r:id="rId5"/>
    <p:sldId id="299" r:id="rId6"/>
    <p:sldId id="301" r:id="rId7"/>
    <p:sldId id="303" r:id="rId8"/>
    <p:sldId id="307" r:id="rId9"/>
    <p:sldId id="302" r:id="rId10"/>
    <p:sldId id="305" r:id="rId11"/>
    <p:sldId id="304" r:id="rId12"/>
    <p:sldId id="308" r:id="rId13"/>
    <p:sldId id="306" r:id="rId14"/>
    <p:sldId id="309" r:id="rId15"/>
    <p:sldId id="310" r:id="rId16"/>
    <p:sldId id="311" r:id="rId17"/>
    <p:sldId id="316" r:id="rId18"/>
    <p:sldId id="313" r:id="rId19"/>
    <p:sldId id="319" r:id="rId20"/>
    <p:sldId id="318" r:id="rId21"/>
    <p:sldId id="317" r:id="rId22"/>
    <p:sldId id="320" r:id="rId23"/>
    <p:sldId id="321" r:id="rId24"/>
    <p:sldId id="315" r:id="rId25"/>
    <p:sldId id="261" r:id="rId26"/>
    <p:sldId id="322" r:id="rId27"/>
    <p:sldId id="323" r:id="rId28"/>
    <p:sldId id="325" r:id="rId29"/>
    <p:sldId id="297" r:id="rId30"/>
    <p:sldId id="298" r:id="rId31"/>
    <p:sldId id="327" r:id="rId32"/>
    <p:sldId id="328" r:id="rId33"/>
    <p:sldId id="331" r:id="rId34"/>
    <p:sldId id="330" r:id="rId35"/>
    <p:sldId id="332" r:id="rId36"/>
    <p:sldId id="333" r:id="rId37"/>
    <p:sldId id="335" r:id="rId38"/>
    <p:sldId id="336" r:id="rId39"/>
    <p:sldId id="337" r:id="rId40"/>
    <p:sldId id="340" r:id="rId41"/>
    <p:sldId id="339" r:id="rId42"/>
    <p:sldId id="338" r:id="rId43"/>
    <p:sldId id="341" r:id="rId44"/>
    <p:sldId id="342" r:id="rId45"/>
    <p:sldId id="343" r:id="rId46"/>
    <p:sldId id="344" r:id="rId47"/>
    <p:sldId id="345" r:id="rId48"/>
    <p:sldId id="346" r:id="rId49"/>
    <p:sldId id="347" r:id="rId50"/>
    <p:sldId id="289"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B0B3"/>
    <a:srgbClr val="D8E7EE"/>
    <a:srgbClr val="EFEFEF"/>
    <a:srgbClr val="D84400"/>
    <a:srgbClr val="446992"/>
    <a:srgbClr val="AEC2D8"/>
    <a:srgbClr val="98432A"/>
    <a:srgbClr val="44678D"/>
    <a:srgbClr val="263E5A"/>
    <a:srgbClr val="D6E0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39" autoAdjust="0"/>
  </p:normalViewPr>
  <p:slideViewPr>
    <p:cSldViewPr snapToGrid="0" showGuides="1">
      <p:cViewPr varScale="1">
        <p:scale>
          <a:sx n="56" d="100"/>
          <a:sy n="56" d="100"/>
        </p:scale>
        <p:origin x="1000" y="44"/>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microsoft.com/office/2018/10/relationships/authors" Target="author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8/11/2025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8/11/2025</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7</a:t>
            </a:fld>
            <a:endParaRPr lang="en-US" dirty="0"/>
          </a:p>
        </p:txBody>
      </p:sp>
    </p:spTree>
    <p:extLst>
      <p:ext uri="{BB962C8B-B14F-4D97-AF65-F5344CB8AC3E}">
        <p14:creationId xmlns:p14="http://schemas.microsoft.com/office/powerpoint/2010/main" val="35800653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47</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wo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914400" y="731520"/>
            <a:ext cx="4389120" cy="2103120"/>
          </a:xfrm>
        </p:spPr>
        <p:txBody>
          <a:bodyPr anchor="b" anchorCtr="0">
            <a:normAutofit/>
          </a:bodyPr>
          <a:lstStyle>
            <a:lvl1pPr>
              <a:defRPr sz="3600"/>
            </a:lvl1pPr>
          </a:lstStyle>
          <a:p>
            <a:r>
              <a:rPr lang="en-US"/>
              <a:t>Click to edit Master title style</a:t>
            </a:r>
          </a:p>
        </p:txBody>
      </p:sp>
      <p:sp>
        <p:nvSpPr>
          <p:cNvPr id="4" name="Content Placeholder 2">
            <a:extLst>
              <a:ext uri="{FF2B5EF4-FFF2-40B4-BE49-F238E27FC236}">
                <a16:creationId xmlns:a16="http://schemas.microsoft.com/office/drawing/2014/main" id="{C403123E-E3E0-5E2A-E1FB-EC28A2C68EEB}"/>
              </a:ext>
            </a:extLst>
          </p:cNvPr>
          <p:cNvSpPr>
            <a:spLocks noGrp="1"/>
          </p:cNvSpPr>
          <p:nvPr>
            <p:ph idx="14"/>
          </p:nvPr>
        </p:nvSpPr>
        <p:spPr>
          <a:xfrm>
            <a:off x="914400" y="3108960"/>
            <a:ext cx="4389120" cy="192024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9" name="Content Placeholder 2">
            <a:extLst>
              <a:ext uri="{FF2B5EF4-FFF2-40B4-BE49-F238E27FC236}">
                <a16:creationId xmlns:a16="http://schemas.microsoft.com/office/drawing/2014/main" id="{5B0A6B95-C59B-C125-7957-8C41B37891E1}"/>
              </a:ext>
            </a:extLst>
          </p:cNvPr>
          <p:cNvSpPr>
            <a:spLocks noGrp="1"/>
          </p:cNvSpPr>
          <p:nvPr>
            <p:ph idx="1"/>
          </p:nvPr>
        </p:nvSpPr>
        <p:spPr>
          <a:xfrm>
            <a:off x="5852160" y="731520"/>
            <a:ext cx="5367528" cy="52120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Freeform 11">
            <a:extLst>
              <a:ext uri="{FF2B5EF4-FFF2-40B4-BE49-F238E27FC236}">
                <a16:creationId xmlns:a16="http://schemas.microsoft.com/office/drawing/2014/main" id="{18CD2E87-8426-FC12-6665-A6E2F64FEA93}"/>
              </a:ext>
            </a:extLst>
          </p:cNvPr>
          <p:cNvSpPr>
            <a:spLocks noChangeAspect="1"/>
          </p:cNvSpPr>
          <p:nvPr userDrawn="1"/>
        </p:nvSpPr>
        <p:spPr>
          <a:xfrm flipH="1">
            <a:off x="-9525" y="5039331"/>
            <a:ext cx="986377" cy="128016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1">
            <a:extLst>
              <a:ext uri="{FF2B5EF4-FFF2-40B4-BE49-F238E27FC236}">
                <a16:creationId xmlns:a16="http://schemas.microsoft.com/office/drawing/2014/main" id="{D35CF771-1335-6C94-6AA8-AF68EADDDF00}"/>
              </a:ext>
            </a:extLst>
          </p:cNvPr>
          <p:cNvSpPr/>
          <p:nvPr userDrawn="1"/>
        </p:nvSpPr>
        <p:spPr>
          <a:xfrm>
            <a:off x="1140014" y="5142797"/>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bg2">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92439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731520"/>
            <a:ext cx="7671816" cy="2103120"/>
          </a:xfrm>
        </p:spPr>
        <p:txBody>
          <a:bodyPr anchor="b" anchorCtr="0">
            <a:normAutofit/>
          </a:body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F9296AFE-5FB8-52A4-3111-3B53DBE4DB3E}"/>
              </a:ext>
            </a:extLst>
          </p:cNvPr>
          <p:cNvSpPr>
            <a:spLocks noGrp="1"/>
          </p:cNvSpPr>
          <p:nvPr>
            <p:ph idx="14"/>
          </p:nvPr>
        </p:nvSpPr>
        <p:spPr>
          <a:xfrm>
            <a:off x="914400" y="3200400"/>
            <a:ext cx="10149840" cy="28346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Freeform: Shape 12">
            <a:extLst>
              <a:ext uri="{FF2B5EF4-FFF2-40B4-BE49-F238E27FC236}">
                <a16:creationId xmlns:a16="http://schemas.microsoft.com/office/drawing/2014/main" id="{809C5320-0161-C582-141C-55F06D4F3BAE}"/>
              </a:ext>
            </a:extLst>
          </p:cNvPr>
          <p:cNvSpPr/>
          <p:nvPr userDrawn="1"/>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6">
            <a:extLst>
              <a:ext uri="{FF2B5EF4-FFF2-40B4-BE49-F238E27FC236}">
                <a16:creationId xmlns:a16="http://schemas.microsoft.com/office/drawing/2014/main" id="{29C982F3-4477-76AC-0429-350585A39FFA}"/>
              </a:ext>
            </a:extLst>
          </p:cNvPr>
          <p:cNvSpPr/>
          <p:nvPr userDrawn="1"/>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5">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87A8F7B2-0552-AAD4-9DE2-845DE10CA10A}"/>
              </a:ext>
            </a:extLst>
          </p:cNvPr>
          <p:cNvSpPr/>
          <p:nvPr userDrawn="1"/>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9">
            <a:extLst>
              <a:ext uri="{FF2B5EF4-FFF2-40B4-BE49-F238E27FC236}">
                <a16:creationId xmlns:a16="http://schemas.microsoft.com/office/drawing/2014/main" id="{395DA7FF-BAA0-F04C-CA6C-16E9C2D55593}"/>
              </a:ext>
            </a:extLst>
          </p:cNvPr>
          <p:cNvSpPr/>
          <p:nvPr userDrawn="1"/>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468D9CEC-53B7-B8DC-B77E-E3F86681879C}"/>
              </a:ext>
            </a:extLst>
          </p:cNvPr>
          <p:cNvSpPr/>
          <p:nvPr userDrawn="1"/>
        </p:nvSpPr>
        <p:spPr>
          <a:xfrm>
            <a:off x="2336512" y="-9525"/>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9222D4D6-56B1-C4C3-0E51-FB22F0CD902B}"/>
              </a:ext>
            </a:extLst>
          </p:cNvPr>
          <p:cNvSpPr/>
          <p:nvPr userDrawn="1"/>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0E6292F0-9E78-C98C-097B-30DEBBC1B179}"/>
              </a:ext>
            </a:extLst>
          </p:cNvPr>
          <p:cNvSpPr/>
          <p:nvPr userDrawn="1"/>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2">
            <a:extLst>
              <a:ext uri="{FF2B5EF4-FFF2-40B4-BE49-F238E27FC236}">
                <a16:creationId xmlns:a16="http://schemas.microsoft.com/office/drawing/2014/main" id="{315817B3-76DB-FDD0-60F7-E385C0E84F58}"/>
              </a:ext>
            </a:extLst>
          </p:cNvPr>
          <p:cNvSpPr/>
          <p:nvPr userDrawn="1"/>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Tree>
    <p:extLst>
      <p:ext uri="{BB962C8B-B14F-4D97-AF65-F5344CB8AC3E}">
        <p14:creationId xmlns:p14="http://schemas.microsoft.com/office/powerpoint/2010/main" val="389171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72" r:id="rId9"/>
    <p:sldLayoutId id="2147483673" r:id="rId10"/>
    <p:sldLayoutId id="2147483653" r:id="rId11"/>
    <p:sldLayoutId id="2147483663" r:id="rId12"/>
    <p:sldLayoutId id="2147483665" r:id="rId13"/>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normAutofit fontScale="90000"/>
          </a:bodyPr>
          <a:lstStyle/>
          <a:p>
            <a:r>
              <a:rPr lang="en-US" dirty="0"/>
              <a:t>Introduction To Python</a:t>
            </a:r>
            <a:br>
              <a:rPr lang="en-US" dirty="0"/>
            </a:br>
            <a:br>
              <a:rPr lang="en-US" dirty="0"/>
            </a:br>
            <a:r>
              <a:rPr lang="en-US" dirty="0"/>
              <a:t>Session 1-PART 1</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Dr. Rakhee Chhibber</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3714114" y="2651761"/>
            <a:ext cx="5658486" cy="3817619"/>
          </a:xfrm>
        </p:spPr>
        <p:txBody>
          <a:bodyPr anchor="t" anchorCtr="0">
            <a:noAutofit/>
          </a:bodyPr>
          <a:lstStyle/>
          <a:p>
            <a:pPr marL="0">
              <a:lnSpc>
                <a:spcPct val="100000"/>
              </a:lnSpc>
              <a:spcBef>
                <a:spcPts val="0"/>
              </a:spcBef>
            </a:pPr>
            <a:r>
              <a:rPr lang="en-US" sz="2400" dirty="0"/>
              <a:t>Python</a:t>
            </a:r>
          </a:p>
          <a:p>
            <a:pPr marL="0">
              <a:lnSpc>
                <a:spcPct val="100000"/>
              </a:lnSpc>
              <a:spcBef>
                <a:spcPts val="0"/>
              </a:spcBef>
            </a:pPr>
            <a:r>
              <a:rPr lang="en-US" sz="2400" dirty="0"/>
              <a:t>Features of Python</a:t>
            </a:r>
          </a:p>
          <a:p>
            <a:pPr marL="0">
              <a:lnSpc>
                <a:spcPct val="100000"/>
              </a:lnSpc>
              <a:spcBef>
                <a:spcPts val="0"/>
              </a:spcBef>
            </a:pPr>
            <a:r>
              <a:rPr lang="en-US" sz="2400" dirty="0"/>
              <a:t>Flavors of Python</a:t>
            </a:r>
          </a:p>
          <a:p>
            <a:pPr marL="0">
              <a:lnSpc>
                <a:spcPct val="100000"/>
              </a:lnSpc>
              <a:spcBef>
                <a:spcPts val="0"/>
              </a:spcBef>
            </a:pPr>
            <a:r>
              <a:rPr lang="en-US" sz="2400" dirty="0"/>
              <a:t>Execution of a Python Program</a:t>
            </a:r>
          </a:p>
          <a:p>
            <a:pPr marL="0">
              <a:lnSpc>
                <a:spcPct val="100000"/>
              </a:lnSpc>
              <a:spcBef>
                <a:spcPts val="0"/>
              </a:spcBef>
            </a:pPr>
            <a:r>
              <a:rPr lang="en-US" sz="2400" dirty="0"/>
              <a:t>Python Virtual Machine (PVM)</a:t>
            </a:r>
          </a:p>
          <a:p>
            <a:pPr marL="0">
              <a:lnSpc>
                <a:spcPct val="100000"/>
              </a:lnSpc>
              <a:spcBef>
                <a:spcPts val="0"/>
              </a:spcBef>
            </a:pPr>
            <a:r>
              <a:rPr lang="en-US" sz="2400" dirty="0"/>
              <a:t>Viewing the Byte Code</a:t>
            </a:r>
          </a:p>
          <a:p>
            <a:pPr marL="0">
              <a:lnSpc>
                <a:spcPct val="100000"/>
              </a:lnSpc>
              <a:spcBef>
                <a:spcPts val="0"/>
              </a:spcBef>
            </a:pPr>
            <a:r>
              <a:rPr lang="en-US" sz="2400" dirty="0"/>
              <a:t>Frozen Binaries</a:t>
            </a:r>
          </a:p>
          <a:p>
            <a:pPr marL="0">
              <a:lnSpc>
                <a:spcPct val="100000"/>
              </a:lnSpc>
              <a:spcBef>
                <a:spcPts val="0"/>
              </a:spcBef>
            </a:pPr>
            <a:r>
              <a:rPr lang="en-US" sz="2400" dirty="0"/>
              <a:t>Memory Management in Python</a:t>
            </a:r>
          </a:p>
          <a:p>
            <a:pPr marL="0">
              <a:lnSpc>
                <a:spcPct val="100000"/>
              </a:lnSpc>
              <a:spcBef>
                <a:spcPts val="0"/>
              </a:spcBef>
            </a:pPr>
            <a:r>
              <a:rPr lang="en-US" sz="2400" dirty="0"/>
              <a:t>Comparisons between C and Python</a:t>
            </a:r>
          </a:p>
          <a:p>
            <a:pPr marL="0">
              <a:lnSpc>
                <a:spcPct val="100000"/>
              </a:lnSpc>
              <a:spcBef>
                <a:spcPts val="0"/>
              </a:spcBef>
            </a:pPr>
            <a:r>
              <a:rPr lang="en-US" sz="2400" dirty="0"/>
              <a:t>Comparisons between Java and Python</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ECED85F-A54F-EC08-869E-4F3659C9D9D0}"/>
              </a:ext>
            </a:extLst>
          </p:cNvPr>
          <p:cNvSpPr>
            <a:spLocks noGrp="1"/>
          </p:cNvSpPr>
          <p:nvPr>
            <p:ph type="title"/>
          </p:nvPr>
        </p:nvSpPr>
        <p:spPr>
          <a:xfrm>
            <a:off x="914400" y="731520"/>
            <a:ext cx="7671816" cy="1303020"/>
          </a:xfrm>
        </p:spPr>
        <p:txBody>
          <a:bodyPr/>
          <a:lstStyle/>
          <a:p>
            <a:r>
              <a:rPr lang="en-US" dirty="0"/>
              <a:t>What is Python?</a:t>
            </a:r>
          </a:p>
        </p:txBody>
      </p:sp>
      <p:sp>
        <p:nvSpPr>
          <p:cNvPr id="11" name="Content Placeholder 2">
            <a:extLst>
              <a:ext uri="{FF2B5EF4-FFF2-40B4-BE49-F238E27FC236}">
                <a16:creationId xmlns:a16="http://schemas.microsoft.com/office/drawing/2014/main" id="{CB2B7AA2-24F5-CA9D-8F11-81315FDAF35B}"/>
              </a:ext>
            </a:extLst>
          </p:cNvPr>
          <p:cNvSpPr>
            <a:spLocks noGrp="1"/>
          </p:cNvSpPr>
          <p:nvPr>
            <p:ph idx="14"/>
          </p:nvPr>
        </p:nvSpPr>
        <p:spPr>
          <a:xfrm>
            <a:off x="914400" y="2583180"/>
            <a:ext cx="10401300" cy="3783330"/>
          </a:xfrm>
        </p:spPr>
        <p:txBody>
          <a:bodyPr>
            <a:noAutofit/>
          </a:bodyPr>
          <a:lstStyle/>
          <a:p>
            <a:r>
              <a:rPr lang="en-US" sz="2800" dirty="0"/>
              <a:t>Python is a </a:t>
            </a:r>
            <a:r>
              <a:rPr lang="en-US" sz="2800" b="1" dirty="0"/>
              <a:t>high-level</a:t>
            </a:r>
            <a:r>
              <a:rPr lang="en-US" sz="2800" dirty="0"/>
              <a:t>, </a:t>
            </a:r>
            <a:r>
              <a:rPr lang="en-US" sz="2800" b="1" dirty="0"/>
              <a:t>interpreted</a:t>
            </a:r>
            <a:r>
              <a:rPr lang="en-US" sz="2800" dirty="0"/>
              <a:t>, </a:t>
            </a:r>
            <a:r>
              <a:rPr lang="en-US" sz="2800" b="1" dirty="0"/>
              <a:t>general-purpose programming language</a:t>
            </a:r>
            <a:r>
              <a:rPr lang="en-US" sz="2800" dirty="0"/>
              <a:t> that emphasizes code readability and simplicity. It supports multiple programming paradigms, including:</a:t>
            </a:r>
          </a:p>
          <a:p>
            <a:pPr lvl="1"/>
            <a:r>
              <a:rPr lang="en-US" sz="2800" b="1" dirty="0"/>
              <a:t>Procedural</a:t>
            </a:r>
            <a:endParaRPr lang="en-US" sz="2800" dirty="0"/>
          </a:p>
          <a:p>
            <a:pPr lvl="1"/>
            <a:r>
              <a:rPr lang="en-US" sz="2800" b="1" dirty="0"/>
              <a:t>Object-Oriented</a:t>
            </a:r>
            <a:endParaRPr lang="en-US" sz="2800" dirty="0"/>
          </a:p>
          <a:p>
            <a:pPr lvl="1"/>
            <a:r>
              <a:rPr lang="en-US" sz="2800" b="1" dirty="0"/>
              <a:t>Functional programming</a:t>
            </a:r>
            <a:endParaRPr lang="en-US" sz="2800" dirty="0"/>
          </a:p>
        </p:txBody>
      </p:sp>
      <p:sp>
        <p:nvSpPr>
          <p:cNvPr id="13" name="Slide Number Placeholder 3">
            <a:extLst>
              <a:ext uri="{FF2B5EF4-FFF2-40B4-BE49-F238E27FC236}">
                <a16:creationId xmlns:a16="http://schemas.microsoft.com/office/drawing/2014/main" id="{0D41DD3E-F175-19AE-5450-06BB8E456007}"/>
              </a:ext>
            </a:extLst>
          </p:cNvPr>
          <p:cNvSpPr>
            <a:spLocks noGrp="1"/>
          </p:cNvSpPr>
          <p:nvPr>
            <p:ph type="sldNum" sz="quarter" idx="12"/>
          </p:nvPr>
        </p:nvSpPr>
        <p:spPr>
          <a:xfrm>
            <a:off x="11194169" y="6217920"/>
            <a:ext cx="458592" cy="365125"/>
          </a:xfrm>
        </p:spPr>
        <p:txBody>
          <a:bodyPr/>
          <a:lstStyle/>
          <a:p>
            <a:pPr>
              <a:spcAft>
                <a:spcPts val="600"/>
              </a:spcAft>
            </a:pPr>
            <a:fld id="{CBD12358-51D2-46B3-9BDE-DF29528B9454}" type="slidenum">
              <a:rPr lang="en-US" smtClean="0"/>
              <a:pPr>
                <a:spcAft>
                  <a:spcPts val="600"/>
                </a:spcAft>
              </a:pPr>
              <a:t>3</a:t>
            </a:fld>
            <a:endParaRPr lang="en-US"/>
          </a:p>
        </p:txBody>
      </p:sp>
    </p:spTree>
    <p:extLst>
      <p:ext uri="{BB962C8B-B14F-4D97-AF65-F5344CB8AC3E}">
        <p14:creationId xmlns:p14="http://schemas.microsoft.com/office/powerpoint/2010/main" val="2567287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92E3A-538E-ABB6-64D7-099844A86BA2}"/>
            </a:ext>
          </a:extLst>
        </p:cNvPr>
        <p:cNvGrpSpPr/>
        <p:nvPr/>
      </p:nvGrpSpPr>
      <p:grpSpPr>
        <a:xfrm>
          <a:off x="0" y="0"/>
          <a:ext cx="0" cy="0"/>
          <a:chOff x="0" y="0"/>
          <a:chExt cx="0" cy="0"/>
        </a:xfrm>
      </p:grpSpPr>
      <p:graphicFrame>
        <p:nvGraphicFramePr>
          <p:cNvPr id="3" name="Content Placeholder 2">
            <a:extLst>
              <a:ext uri="{FF2B5EF4-FFF2-40B4-BE49-F238E27FC236}">
                <a16:creationId xmlns:a16="http://schemas.microsoft.com/office/drawing/2014/main" id="{FCBBC0E0-BFFB-06D5-91FF-84603854C3D6}"/>
              </a:ext>
            </a:extLst>
          </p:cNvPr>
          <p:cNvGraphicFramePr>
            <a:graphicFrameLocks noGrp="1"/>
          </p:cNvGraphicFramePr>
          <p:nvPr>
            <p:ph idx="14"/>
            <p:extLst>
              <p:ext uri="{D42A27DB-BD31-4B8C-83A1-F6EECF244321}">
                <p14:modId xmlns:p14="http://schemas.microsoft.com/office/powerpoint/2010/main" val="3801234967"/>
              </p:ext>
            </p:extLst>
          </p:nvPr>
        </p:nvGraphicFramePr>
        <p:xfrm>
          <a:off x="539239" y="91440"/>
          <a:ext cx="11272764" cy="6505290"/>
        </p:xfrm>
        <a:graphic>
          <a:graphicData uri="http://schemas.openxmlformats.org/drawingml/2006/table">
            <a:tbl>
              <a:tblPr firstRow="1" firstCol="1" bandRow="1">
                <a:tableStyleId>{9DCAF9ED-07DC-4A11-8D7F-57B35C25682E}</a:tableStyleId>
              </a:tblPr>
              <a:tblGrid>
                <a:gridCol w="11272764">
                  <a:extLst>
                    <a:ext uri="{9D8B030D-6E8A-4147-A177-3AD203B41FA5}">
                      <a16:colId xmlns:a16="http://schemas.microsoft.com/office/drawing/2014/main" val="2227361534"/>
                    </a:ext>
                  </a:extLst>
                </a:gridCol>
              </a:tblGrid>
              <a:tr h="587831">
                <a:tc>
                  <a:txBody>
                    <a:bodyPr/>
                    <a:lstStyle/>
                    <a:p>
                      <a:pPr marL="0" marR="0">
                        <a:lnSpc>
                          <a:spcPct val="107000"/>
                        </a:lnSpc>
                        <a:spcAft>
                          <a:spcPts val="800"/>
                        </a:spcAft>
                        <a:buNone/>
                      </a:pPr>
                      <a:r>
                        <a:rPr lang="en-US" sz="2400" dirty="0"/>
                        <a:t>Features of Python</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975" marR="3975" marT="3975" marB="3975" anchor="ctr"/>
                </a:tc>
                <a:extLst>
                  <a:ext uri="{0D108BD9-81ED-4DB2-BD59-A6C34878D82A}">
                    <a16:rowId xmlns:a16="http://schemas.microsoft.com/office/drawing/2014/main" val="2947269467"/>
                  </a:ext>
                </a:extLst>
              </a:tr>
              <a:tr h="559020">
                <a:tc>
                  <a:txBody>
                    <a:bodyPr/>
                    <a:lstStyle/>
                    <a:p>
                      <a:r>
                        <a:rPr lang="en-US" sz="2000" b="1" dirty="0"/>
                        <a:t>🧠 1. Simple and Easy to Learn and Open Source</a:t>
                      </a:r>
                      <a:endParaRPr lang="en-US" sz="2000" dirty="0"/>
                    </a:p>
                  </a:txBody>
                  <a:tcPr marL="3975" marR="3975" marT="3975" marB="3975" anchor="ctr"/>
                </a:tc>
                <a:extLst>
                  <a:ext uri="{0D108BD9-81ED-4DB2-BD59-A6C34878D82A}">
                    <a16:rowId xmlns:a16="http://schemas.microsoft.com/office/drawing/2014/main" val="1160537215"/>
                  </a:ext>
                </a:extLst>
              </a:tr>
              <a:tr h="595799">
                <a:tc>
                  <a:txBody>
                    <a:bodyPr/>
                    <a:lstStyle/>
                    <a:p>
                      <a:r>
                        <a:rPr lang="en-US" sz="2000" b="1" dirty="0"/>
                        <a:t>🔄 2. Interpreted Language - C</a:t>
                      </a:r>
                      <a:r>
                        <a:rPr lang="en-US" sz="2000" dirty="0"/>
                        <a:t>ode is executed </a:t>
                      </a:r>
                      <a:r>
                        <a:rPr lang="en-US" sz="2000" b="1" dirty="0"/>
                        <a:t>line-by-line. </a:t>
                      </a:r>
                      <a:endParaRPr lang="en-US" sz="2000" dirty="0"/>
                    </a:p>
                  </a:txBody>
                  <a:tcPr marL="3975" marR="3975" marT="3975" marB="3975" anchor="ctr"/>
                </a:tc>
                <a:extLst>
                  <a:ext uri="{0D108BD9-81ED-4DB2-BD59-A6C34878D82A}">
                    <a16:rowId xmlns:a16="http://schemas.microsoft.com/office/drawing/2014/main" val="73546985"/>
                  </a:ext>
                </a:extLst>
              </a:tr>
              <a:tr h="661326">
                <a:tc>
                  <a:txBody>
                    <a:bodyPr/>
                    <a:lstStyle/>
                    <a:p>
                      <a:r>
                        <a:rPr lang="en-US" b="1" dirty="0"/>
                        <a:t>3. Extensive Standard Library - </a:t>
                      </a:r>
                      <a:r>
                        <a:rPr lang="en-US" dirty="0"/>
                        <a:t>File I/O, OS interaction, Web services, Regular expressions,  Data manipulation (math, statistics, JSON, etc.)</a:t>
                      </a:r>
                    </a:p>
                  </a:txBody>
                  <a:tcPr marL="3975" marR="3975" marT="3975" marB="3975" anchor="ctr"/>
                </a:tc>
                <a:extLst>
                  <a:ext uri="{0D108BD9-81ED-4DB2-BD59-A6C34878D82A}">
                    <a16:rowId xmlns:a16="http://schemas.microsoft.com/office/drawing/2014/main" val="2975533908"/>
                  </a:ext>
                </a:extLst>
              </a:tr>
              <a:tr h="396987">
                <a:tc>
                  <a:txBody>
                    <a:bodyPr/>
                    <a:lstStyle/>
                    <a:p>
                      <a:r>
                        <a:rPr lang="en-US" sz="2000" b="1" dirty="0"/>
                        <a:t>🔍 4. Dynamically Typed -No</a:t>
                      </a:r>
                      <a:r>
                        <a:rPr lang="en-US" sz="2000" dirty="0"/>
                        <a:t> need to declare variable types.</a:t>
                      </a:r>
                    </a:p>
                  </a:txBody>
                  <a:tcPr marL="3975" marR="3975" marT="3975" marB="3975" anchor="ctr"/>
                </a:tc>
                <a:extLst>
                  <a:ext uri="{0D108BD9-81ED-4DB2-BD59-A6C34878D82A}">
                    <a16:rowId xmlns:a16="http://schemas.microsoft.com/office/drawing/2014/main" val="2420324736"/>
                  </a:ext>
                </a:extLst>
              </a:tr>
              <a:tr h="485206">
                <a:tc>
                  <a:txBody>
                    <a:bodyPr/>
                    <a:lstStyle/>
                    <a:p>
                      <a:r>
                        <a:rPr lang="en-US" sz="2000" b="1" dirty="0"/>
                        <a:t>🌍 5. Cross-Platform - </a:t>
                      </a:r>
                      <a:r>
                        <a:rPr lang="en-US" sz="2000" dirty="0"/>
                        <a:t> runs on </a:t>
                      </a:r>
                      <a:r>
                        <a:rPr lang="en-US" sz="2000" b="1" dirty="0"/>
                        <a:t>Windows, macOS, Linux</a:t>
                      </a:r>
                      <a:r>
                        <a:rPr lang="en-US" sz="2000" dirty="0"/>
                        <a:t>, and even mobile and embedded devices.</a:t>
                      </a:r>
                    </a:p>
                  </a:txBody>
                  <a:tcPr marL="3975" marR="3975" marT="3975" marB="3975" anchor="ctr"/>
                </a:tc>
                <a:extLst>
                  <a:ext uri="{0D108BD9-81ED-4DB2-BD59-A6C34878D82A}">
                    <a16:rowId xmlns:a16="http://schemas.microsoft.com/office/drawing/2014/main" val="2179667088"/>
                  </a:ext>
                </a:extLst>
              </a:tr>
              <a:tr h="595799">
                <a:tc>
                  <a:txBody>
                    <a:bodyPr/>
                    <a:lstStyle/>
                    <a:p>
                      <a:r>
                        <a:rPr lang="en-US" sz="2000" b="1" dirty="0"/>
                        <a:t>🧰 6. Supports Multiple Programming Paradigms - </a:t>
                      </a:r>
                      <a:r>
                        <a:rPr lang="en-US" sz="2000" dirty="0"/>
                        <a:t>Procedural Programming, Object-Oriented Programming, Functional Programming</a:t>
                      </a:r>
                    </a:p>
                  </a:txBody>
                  <a:tcPr marL="3975" marR="3975" marT="3975" marB="3975" anchor="ctr"/>
                </a:tc>
                <a:extLst>
                  <a:ext uri="{0D108BD9-81ED-4DB2-BD59-A6C34878D82A}">
                    <a16:rowId xmlns:a16="http://schemas.microsoft.com/office/drawing/2014/main" val="1846164860"/>
                  </a:ext>
                </a:extLst>
              </a:tr>
              <a:tr h="889863">
                <a:tc>
                  <a:txBody>
                    <a:bodyPr/>
                    <a:lstStyle/>
                    <a:p>
                      <a:r>
                        <a:rPr lang="en-US" sz="2000" b="1" dirty="0"/>
                        <a:t>📡 7. Huge Ecosystem of Libraries and Frameworks - </a:t>
                      </a:r>
                      <a:r>
                        <a:rPr lang="en-US" sz="2000" dirty="0"/>
                        <a:t>For Web: Django, Flask</a:t>
                      </a:r>
                    </a:p>
                    <a:p>
                      <a:r>
                        <a:rPr lang="en-US" sz="2000" dirty="0"/>
                        <a:t>For Data Science: Pandas, NumPy, Matplotlib, For Machine Learning: Scikit-learn, TensorFlow, </a:t>
                      </a:r>
                      <a:r>
                        <a:rPr lang="en-US" sz="2000" dirty="0" err="1"/>
                        <a:t>PyTorch</a:t>
                      </a:r>
                      <a:endParaRPr lang="en-US" sz="2000" dirty="0"/>
                    </a:p>
                    <a:p>
                      <a:r>
                        <a:rPr lang="en-US" sz="2000" dirty="0"/>
                        <a:t>For Automation: Selenium, </a:t>
                      </a:r>
                      <a:r>
                        <a:rPr lang="en-US" sz="2000" dirty="0" err="1"/>
                        <a:t>PyAutoGUI</a:t>
                      </a:r>
                      <a:endParaRPr lang="en-US" sz="2000" dirty="0"/>
                    </a:p>
                  </a:txBody>
                  <a:tcPr marL="3975" marR="3975" marT="3975" marB="3975" anchor="ctr"/>
                </a:tc>
                <a:extLst>
                  <a:ext uri="{0D108BD9-81ED-4DB2-BD59-A6C34878D82A}">
                    <a16:rowId xmlns:a16="http://schemas.microsoft.com/office/drawing/2014/main" val="1996856072"/>
                  </a:ext>
                </a:extLst>
              </a:tr>
              <a:tr h="422081">
                <a:tc>
                  <a:txBody>
                    <a:bodyPr/>
                    <a:lstStyle/>
                    <a:p>
                      <a:r>
                        <a:rPr lang="en-US" sz="2000" b="1" dirty="0"/>
                        <a:t>🧹 8. Automatic Memory Management - </a:t>
                      </a:r>
                      <a:r>
                        <a:rPr lang="en-US" sz="2000" dirty="0"/>
                        <a:t>Python has built-in </a:t>
                      </a:r>
                      <a:r>
                        <a:rPr lang="en-US" sz="2000" b="1" dirty="0"/>
                        <a:t>garbage collection. </a:t>
                      </a:r>
                      <a:endParaRPr lang="en-US" sz="2000" dirty="0"/>
                    </a:p>
                  </a:txBody>
                  <a:tcPr marL="3975" marR="3975" marT="3975" marB="3975" anchor="ctr"/>
                </a:tc>
                <a:extLst>
                  <a:ext uri="{0D108BD9-81ED-4DB2-BD59-A6C34878D82A}">
                    <a16:rowId xmlns:a16="http://schemas.microsoft.com/office/drawing/2014/main" val="655693908"/>
                  </a:ext>
                </a:extLst>
              </a:tr>
              <a:tr h="639590">
                <a:tc>
                  <a:txBody>
                    <a:bodyPr/>
                    <a:lstStyle/>
                    <a:p>
                      <a:r>
                        <a:rPr lang="en-US" sz="2000" b="1" dirty="0"/>
                        <a:t>👨‍👩‍👧‍👦 9. Large Community and Active Development - </a:t>
                      </a:r>
                      <a:r>
                        <a:rPr lang="en-US" sz="2000" dirty="0"/>
                        <a:t>Huge community support on Stack Overflow, GitHub, etc. And Thousands of open-source Python packages.</a:t>
                      </a:r>
                    </a:p>
                  </a:txBody>
                  <a:tcPr marL="3975" marR="3975" marT="3975" marB="3975" anchor="ctr"/>
                </a:tc>
                <a:extLst>
                  <a:ext uri="{0D108BD9-81ED-4DB2-BD59-A6C34878D82A}">
                    <a16:rowId xmlns:a16="http://schemas.microsoft.com/office/drawing/2014/main" val="2535925386"/>
                  </a:ext>
                </a:extLst>
              </a:tr>
              <a:tr h="595799">
                <a:tc>
                  <a:txBody>
                    <a:bodyPr/>
                    <a:lstStyle/>
                    <a:p>
                      <a:r>
                        <a:rPr lang="en-US" sz="2000" b="1" dirty="0"/>
                        <a:t>🔄 10. Integration Capabilities - </a:t>
                      </a:r>
                      <a:r>
                        <a:rPr lang="en-US" sz="2000" dirty="0"/>
                        <a:t>Easily integrates with C, C++, Java, and other languages. Good for API development and system integration.</a:t>
                      </a:r>
                    </a:p>
                  </a:txBody>
                  <a:tcPr marL="3975" marR="3975" marT="3975" marB="3975" anchor="ctr"/>
                </a:tc>
                <a:extLst>
                  <a:ext uri="{0D108BD9-81ED-4DB2-BD59-A6C34878D82A}">
                    <a16:rowId xmlns:a16="http://schemas.microsoft.com/office/drawing/2014/main" val="3130821511"/>
                  </a:ext>
                </a:extLst>
              </a:tr>
            </a:tbl>
          </a:graphicData>
        </a:graphic>
      </p:graphicFrame>
      <p:sp>
        <p:nvSpPr>
          <p:cNvPr id="13" name="Slide Number Placeholder 3">
            <a:extLst>
              <a:ext uri="{FF2B5EF4-FFF2-40B4-BE49-F238E27FC236}">
                <a16:creationId xmlns:a16="http://schemas.microsoft.com/office/drawing/2014/main" id="{85990F68-0ACF-443E-7A86-EFE334CBA7CE}"/>
              </a:ext>
            </a:extLst>
          </p:cNvPr>
          <p:cNvSpPr>
            <a:spLocks noGrp="1"/>
          </p:cNvSpPr>
          <p:nvPr>
            <p:ph type="sldNum" sz="quarter" idx="12"/>
          </p:nvPr>
        </p:nvSpPr>
        <p:spPr>
          <a:xfrm>
            <a:off x="11194169" y="6217920"/>
            <a:ext cx="458592" cy="365125"/>
          </a:xfrm>
        </p:spPr>
        <p:txBody>
          <a:bodyPr anchor="ctr">
            <a:normAutofit/>
          </a:bodyPr>
          <a:lstStyle/>
          <a:p>
            <a:pPr>
              <a:spcAft>
                <a:spcPts val="600"/>
              </a:spcAft>
            </a:pPr>
            <a:fld id="{CBD12358-51D2-46B3-9BDE-DF29528B9454}" type="slidenum">
              <a:rPr lang="en-US" smtClean="0"/>
              <a:pPr>
                <a:spcAft>
                  <a:spcPts val="600"/>
                </a:spcAft>
              </a:pPr>
              <a:t>4</a:t>
            </a:fld>
            <a:endParaRPr lang="en-US"/>
          </a:p>
        </p:txBody>
      </p:sp>
      <p:sp>
        <p:nvSpPr>
          <p:cNvPr id="4" name="Rectangle 3">
            <a:extLst>
              <a:ext uri="{FF2B5EF4-FFF2-40B4-BE49-F238E27FC236}">
                <a16:creationId xmlns:a16="http://schemas.microsoft.com/office/drawing/2014/main" id="{8815ED13-3150-7909-D347-D08D4625D808}"/>
              </a:ext>
            </a:extLst>
          </p:cNvPr>
          <p:cNvSpPr>
            <a:spLocks noChangeArrowheads="1"/>
          </p:cNvSpPr>
          <p:nvPr/>
        </p:nvSpPr>
        <p:spPr bwMode="auto">
          <a:xfrm>
            <a:off x="0" y="-50291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691515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E1D62-1579-DE34-9C03-5149118C5B6D}"/>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7C987A64-DCC9-74BC-624E-4CF85F676D01}"/>
              </a:ext>
            </a:extLst>
          </p:cNvPr>
          <p:cNvSpPr>
            <a:spLocks noGrp="1"/>
          </p:cNvSpPr>
          <p:nvPr>
            <p:ph type="title"/>
          </p:nvPr>
        </p:nvSpPr>
        <p:spPr>
          <a:xfrm>
            <a:off x="649704" y="226194"/>
            <a:ext cx="4653815" cy="653916"/>
          </a:xfrm>
        </p:spPr>
        <p:txBody>
          <a:bodyPr anchor="b">
            <a:normAutofit/>
          </a:bodyPr>
          <a:lstStyle/>
          <a:p>
            <a:r>
              <a:rPr lang="en-US" dirty="0"/>
              <a:t>History of Python</a:t>
            </a:r>
          </a:p>
        </p:txBody>
      </p:sp>
      <p:graphicFrame>
        <p:nvGraphicFramePr>
          <p:cNvPr id="3" name="Content Placeholder 2">
            <a:extLst>
              <a:ext uri="{FF2B5EF4-FFF2-40B4-BE49-F238E27FC236}">
                <a16:creationId xmlns:a16="http://schemas.microsoft.com/office/drawing/2014/main" id="{7060F034-370C-04CB-176D-FDE842C4C0C2}"/>
              </a:ext>
            </a:extLst>
          </p:cNvPr>
          <p:cNvGraphicFramePr>
            <a:graphicFrameLocks noGrp="1"/>
          </p:cNvGraphicFramePr>
          <p:nvPr>
            <p:ph idx="14"/>
          </p:nvPr>
        </p:nvGraphicFramePr>
        <p:xfrm>
          <a:off x="214386" y="1152023"/>
          <a:ext cx="6620754" cy="3548779"/>
        </p:xfrm>
        <a:graphic>
          <a:graphicData uri="http://schemas.openxmlformats.org/drawingml/2006/table">
            <a:tbl>
              <a:tblPr firstRow="1" firstCol="1" bandRow="1">
                <a:tableStyleId>{9DCAF9ED-07DC-4A11-8D7F-57B35C25682E}</a:tableStyleId>
              </a:tblPr>
              <a:tblGrid>
                <a:gridCol w="1688198">
                  <a:extLst>
                    <a:ext uri="{9D8B030D-6E8A-4147-A177-3AD203B41FA5}">
                      <a16:colId xmlns:a16="http://schemas.microsoft.com/office/drawing/2014/main" val="1710263208"/>
                    </a:ext>
                  </a:extLst>
                </a:gridCol>
                <a:gridCol w="4932556">
                  <a:extLst>
                    <a:ext uri="{9D8B030D-6E8A-4147-A177-3AD203B41FA5}">
                      <a16:colId xmlns:a16="http://schemas.microsoft.com/office/drawing/2014/main" val="2227361534"/>
                    </a:ext>
                  </a:extLst>
                </a:gridCol>
              </a:tblGrid>
              <a:tr h="348191">
                <a:tc>
                  <a:txBody>
                    <a:bodyPr/>
                    <a:lstStyle/>
                    <a:p>
                      <a:pPr marL="0" marR="0">
                        <a:lnSpc>
                          <a:spcPct val="107000"/>
                        </a:lnSpc>
                        <a:spcAft>
                          <a:spcPts val="800"/>
                        </a:spcAft>
                        <a:buNone/>
                      </a:pPr>
                      <a:r>
                        <a:rPr lang="en-US" sz="2000" kern="100">
                          <a:effectLst/>
                        </a:rPr>
                        <a:t>Year</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3975" marR="3975" marT="3975" marB="3975" anchor="ctr"/>
                </a:tc>
                <a:tc>
                  <a:txBody>
                    <a:bodyPr/>
                    <a:lstStyle/>
                    <a:p>
                      <a:pPr marL="0" marR="0">
                        <a:lnSpc>
                          <a:spcPct val="107000"/>
                        </a:lnSpc>
                        <a:spcAft>
                          <a:spcPts val="800"/>
                        </a:spcAft>
                        <a:buNone/>
                      </a:pPr>
                      <a:r>
                        <a:rPr lang="en-US" sz="2000" kern="100">
                          <a:effectLst/>
                        </a:rPr>
                        <a:t>Event</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3975" marR="3975" marT="3975" marB="3975" anchor="ctr"/>
                </a:tc>
                <a:extLst>
                  <a:ext uri="{0D108BD9-81ED-4DB2-BD59-A6C34878D82A}">
                    <a16:rowId xmlns:a16="http://schemas.microsoft.com/office/drawing/2014/main" val="2947269467"/>
                  </a:ext>
                </a:extLst>
              </a:tr>
              <a:tr h="700901">
                <a:tc>
                  <a:txBody>
                    <a:bodyPr/>
                    <a:lstStyle/>
                    <a:p>
                      <a:pPr marL="0" marR="0">
                        <a:lnSpc>
                          <a:spcPct val="107000"/>
                        </a:lnSpc>
                        <a:spcAft>
                          <a:spcPts val="800"/>
                        </a:spcAft>
                        <a:buNone/>
                      </a:pPr>
                      <a:r>
                        <a:rPr lang="en-US" sz="2000" kern="100">
                          <a:effectLst/>
                        </a:rPr>
                        <a:t>1989</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3975" marR="3975" marT="3975" marB="3975" anchor="ctr"/>
                </a:tc>
                <a:tc>
                  <a:txBody>
                    <a:bodyPr/>
                    <a:lstStyle/>
                    <a:p>
                      <a:pPr marL="0" marR="0">
                        <a:lnSpc>
                          <a:spcPct val="107000"/>
                        </a:lnSpc>
                        <a:spcAft>
                          <a:spcPts val="800"/>
                        </a:spcAft>
                        <a:buNone/>
                      </a:pPr>
                      <a:r>
                        <a:rPr lang="en-US" sz="2000" kern="100" dirty="0">
                          <a:effectLst/>
                        </a:rPr>
                        <a:t>Guido van Rossum starts working on Python</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975" marR="3975" marT="3975" marB="3975" anchor="ctr"/>
                </a:tc>
                <a:extLst>
                  <a:ext uri="{0D108BD9-81ED-4DB2-BD59-A6C34878D82A}">
                    <a16:rowId xmlns:a16="http://schemas.microsoft.com/office/drawing/2014/main" val="1160537215"/>
                  </a:ext>
                </a:extLst>
              </a:tr>
              <a:tr h="348191">
                <a:tc>
                  <a:txBody>
                    <a:bodyPr/>
                    <a:lstStyle/>
                    <a:p>
                      <a:pPr marL="0" marR="0">
                        <a:lnSpc>
                          <a:spcPct val="107000"/>
                        </a:lnSpc>
                        <a:spcAft>
                          <a:spcPts val="800"/>
                        </a:spcAft>
                        <a:buNone/>
                      </a:pPr>
                      <a:r>
                        <a:rPr lang="en-US" sz="2000" kern="100">
                          <a:effectLst/>
                        </a:rPr>
                        <a:t>1991</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3975" marR="3975" marT="3975" marB="3975" anchor="ctr"/>
                </a:tc>
                <a:tc>
                  <a:txBody>
                    <a:bodyPr/>
                    <a:lstStyle/>
                    <a:p>
                      <a:pPr marL="0" marR="0">
                        <a:lnSpc>
                          <a:spcPct val="107000"/>
                        </a:lnSpc>
                        <a:spcAft>
                          <a:spcPts val="800"/>
                        </a:spcAft>
                        <a:buNone/>
                      </a:pPr>
                      <a:r>
                        <a:rPr lang="en-US" sz="2000" kern="100" dirty="0">
                          <a:effectLst/>
                        </a:rPr>
                        <a:t>Python 0.9.0 is released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975" marR="3975" marT="3975" marB="3975" anchor="ctr"/>
                </a:tc>
                <a:extLst>
                  <a:ext uri="{0D108BD9-81ED-4DB2-BD59-A6C34878D82A}">
                    <a16:rowId xmlns:a16="http://schemas.microsoft.com/office/drawing/2014/main" val="73546985"/>
                  </a:ext>
                </a:extLst>
              </a:tr>
              <a:tr h="700901">
                <a:tc>
                  <a:txBody>
                    <a:bodyPr/>
                    <a:lstStyle/>
                    <a:p>
                      <a:pPr marL="0" marR="0">
                        <a:lnSpc>
                          <a:spcPct val="107000"/>
                        </a:lnSpc>
                        <a:spcAft>
                          <a:spcPts val="800"/>
                        </a:spcAft>
                        <a:buNone/>
                      </a:pPr>
                      <a:r>
                        <a:rPr lang="en-US" sz="2000" kern="100" dirty="0">
                          <a:effectLst/>
                        </a:rPr>
                        <a:t>2000</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975" marR="3975" marT="3975" marB="3975" anchor="ctr"/>
                </a:tc>
                <a:tc>
                  <a:txBody>
                    <a:bodyPr/>
                    <a:lstStyle/>
                    <a:p>
                      <a:pPr marL="0" marR="0">
                        <a:lnSpc>
                          <a:spcPct val="107000"/>
                        </a:lnSpc>
                        <a:spcAft>
                          <a:spcPts val="800"/>
                        </a:spcAft>
                        <a:buNone/>
                      </a:pPr>
                      <a:r>
                        <a:rPr lang="en-US" sz="2000" kern="100">
                          <a:effectLst/>
                        </a:rPr>
                        <a:t>Python 2.0 is launched (with list comprehensions, garbage collection)</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3975" marR="3975" marT="3975" marB="3975" anchor="ctr"/>
                </a:tc>
                <a:extLst>
                  <a:ext uri="{0D108BD9-81ED-4DB2-BD59-A6C34878D82A}">
                    <a16:rowId xmlns:a16="http://schemas.microsoft.com/office/drawing/2014/main" val="2975533908"/>
                  </a:ext>
                </a:extLst>
              </a:tr>
              <a:tr h="700901">
                <a:tc>
                  <a:txBody>
                    <a:bodyPr/>
                    <a:lstStyle/>
                    <a:p>
                      <a:pPr marL="0" marR="0">
                        <a:lnSpc>
                          <a:spcPct val="107000"/>
                        </a:lnSpc>
                        <a:spcAft>
                          <a:spcPts val="800"/>
                        </a:spcAft>
                        <a:buNone/>
                      </a:pPr>
                      <a:r>
                        <a:rPr lang="en-US" sz="2000" kern="100">
                          <a:effectLst/>
                        </a:rPr>
                        <a:t>2008</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3975" marR="3975" marT="3975" marB="3975" anchor="ctr"/>
                </a:tc>
                <a:tc>
                  <a:txBody>
                    <a:bodyPr/>
                    <a:lstStyle/>
                    <a:p>
                      <a:pPr marL="0" marR="0">
                        <a:lnSpc>
                          <a:spcPct val="107000"/>
                        </a:lnSpc>
                        <a:spcAft>
                          <a:spcPts val="800"/>
                        </a:spcAft>
                        <a:buNone/>
                      </a:pPr>
                      <a:r>
                        <a:rPr lang="en-US" sz="2000" kern="100">
                          <a:effectLst/>
                        </a:rPr>
                        <a:t>Python 3.0 released (not backward compatible)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3975" marR="3975" marT="3975" marB="3975" anchor="ctr"/>
                </a:tc>
                <a:extLst>
                  <a:ext uri="{0D108BD9-81ED-4DB2-BD59-A6C34878D82A}">
                    <a16:rowId xmlns:a16="http://schemas.microsoft.com/office/drawing/2014/main" val="2420324736"/>
                  </a:ext>
                </a:extLst>
              </a:tr>
              <a:tr h="700901">
                <a:tc>
                  <a:txBody>
                    <a:bodyPr/>
                    <a:lstStyle/>
                    <a:p>
                      <a:pPr marL="0" marR="0">
                        <a:lnSpc>
                          <a:spcPct val="107000"/>
                        </a:lnSpc>
                        <a:spcAft>
                          <a:spcPts val="800"/>
                        </a:spcAft>
                        <a:buNone/>
                      </a:pPr>
                      <a:r>
                        <a:rPr lang="en-US" sz="2000" kern="100" dirty="0">
                          <a:effectLst/>
                        </a:rPr>
                        <a:t>Present - 2023</a:t>
                      </a:r>
                    </a:p>
                    <a:p>
                      <a:pPr marL="0" marR="0">
                        <a:lnSpc>
                          <a:spcPct val="107000"/>
                        </a:lnSpc>
                        <a:spcAft>
                          <a:spcPts val="800"/>
                        </a:spcAft>
                        <a:buNone/>
                      </a:pPr>
                      <a:r>
                        <a:rPr lang="en-US" sz="2000" dirty="0"/>
                        <a:t>Python 3.12.x</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975" marR="3975" marT="3975" marB="3975" anchor="ctr"/>
                </a:tc>
                <a:tc>
                  <a:txBody>
                    <a:bodyPr/>
                    <a:lstStyle/>
                    <a:p>
                      <a:pPr marL="0" marR="0">
                        <a:lnSpc>
                          <a:spcPct val="107000"/>
                        </a:lnSpc>
                        <a:spcAft>
                          <a:spcPts val="800"/>
                        </a:spcAft>
                        <a:buNone/>
                      </a:pPr>
                      <a:r>
                        <a:rPr lang="en-US" sz="2000" kern="100" dirty="0">
                          <a:effectLst/>
                        </a:rPr>
                        <a:t>Widely used in AI, ML, data science, automation, web development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975" marR="3975" marT="3975" marB="3975" anchor="ctr"/>
                </a:tc>
                <a:extLst>
                  <a:ext uri="{0D108BD9-81ED-4DB2-BD59-A6C34878D82A}">
                    <a16:rowId xmlns:a16="http://schemas.microsoft.com/office/drawing/2014/main" val="2179667088"/>
                  </a:ext>
                </a:extLst>
              </a:tr>
            </a:tbl>
          </a:graphicData>
        </a:graphic>
      </p:graphicFrame>
      <p:pic>
        <p:nvPicPr>
          <p:cNvPr id="2050" name="Picture 2" descr="A graphical timeline of Python history">
            <a:extLst>
              <a:ext uri="{FF2B5EF4-FFF2-40B4-BE49-F238E27FC236}">
                <a16:creationId xmlns:a16="http://schemas.microsoft.com/office/drawing/2014/main" id="{AD30A06D-5612-8CF3-106F-63210915559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38167" y="355074"/>
            <a:ext cx="4939447" cy="5862846"/>
          </a:xfrm>
          <a:prstGeom prst="rect">
            <a:avLst/>
          </a:prstGeom>
          <a:solidFill>
            <a:srgbClr val="FFFFFF"/>
          </a:solidFill>
        </p:spPr>
      </p:pic>
      <p:sp>
        <p:nvSpPr>
          <p:cNvPr id="13" name="Slide Number Placeholder 3">
            <a:extLst>
              <a:ext uri="{FF2B5EF4-FFF2-40B4-BE49-F238E27FC236}">
                <a16:creationId xmlns:a16="http://schemas.microsoft.com/office/drawing/2014/main" id="{3AAA01F8-87B9-B744-2CC9-7FA9B2EDBC9B}"/>
              </a:ext>
            </a:extLst>
          </p:cNvPr>
          <p:cNvSpPr>
            <a:spLocks noGrp="1"/>
          </p:cNvSpPr>
          <p:nvPr>
            <p:ph type="sldNum" sz="quarter" idx="12"/>
          </p:nvPr>
        </p:nvSpPr>
        <p:spPr>
          <a:xfrm>
            <a:off x="11194169" y="6217920"/>
            <a:ext cx="458592" cy="365125"/>
          </a:xfrm>
        </p:spPr>
        <p:txBody>
          <a:bodyPr anchor="ctr">
            <a:normAutofit/>
          </a:bodyPr>
          <a:lstStyle/>
          <a:p>
            <a:pPr>
              <a:spcAft>
                <a:spcPts val="600"/>
              </a:spcAft>
            </a:pPr>
            <a:fld id="{CBD12358-51D2-46B3-9BDE-DF29528B9454}" type="slidenum">
              <a:rPr lang="en-US" smtClean="0"/>
              <a:pPr>
                <a:spcAft>
                  <a:spcPts val="600"/>
                </a:spcAft>
              </a:pPr>
              <a:t>5</a:t>
            </a:fld>
            <a:endParaRPr lang="en-US"/>
          </a:p>
        </p:txBody>
      </p:sp>
      <p:sp>
        <p:nvSpPr>
          <p:cNvPr id="4" name="Rectangle 3">
            <a:extLst>
              <a:ext uri="{FF2B5EF4-FFF2-40B4-BE49-F238E27FC236}">
                <a16:creationId xmlns:a16="http://schemas.microsoft.com/office/drawing/2014/main" id="{7E5401E2-4669-0952-065E-C3EB2D09A35E}"/>
              </a:ext>
            </a:extLst>
          </p:cNvPr>
          <p:cNvSpPr>
            <a:spLocks noChangeArrowheads="1"/>
          </p:cNvSpPr>
          <p:nvPr/>
        </p:nvSpPr>
        <p:spPr bwMode="auto">
          <a:xfrm>
            <a:off x="0" y="-50291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792108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D61D7-A32B-DBFA-021C-8C41DE1FC44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96406BD-5204-B151-E675-D2F566CDEC73}"/>
              </a:ext>
            </a:extLst>
          </p:cNvPr>
          <p:cNvSpPr>
            <a:spLocks noGrp="1"/>
          </p:cNvSpPr>
          <p:nvPr>
            <p:ph type="title"/>
          </p:nvPr>
        </p:nvSpPr>
        <p:spPr>
          <a:xfrm>
            <a:off x="649704" y="226194"/>
            <a:ext cx="4653815" cy="653916"/>
          </a:xfrm>
        </p:spPr>
        <p:txBody>
          <a:bodyPr anchor="b">
            <a:normAutofit/>
          </a:bodyPr>
          <a:lstStyle/>
          <a:p>
            <a:r>
              <a:rPr lang="en-US" dirty="0"/>
              <a:t>Flavors of Python</a:t>
            </a:r>
          </a:p>
        </p:txBody>
      </p:sp>
      <p:sp>
        <p:nvSpPr>
          <p:cNvPr id="13" name="Slide Number Placeholder 3">
            <a:extLst>
              <a:ext uri="{FF2B5EF4-FFF2-40B4-BE49-F238E27FC236}">
                <a16:creationId xmlns:a16="http://schemas.microsoft.com/office/drawing/2014/main" id="{DBDEBCA5-27EA-7CA4-AC2A-3C3E86D01450}"/>
              </a:ext>
            </a:extLst>
          </p:cNvPr>
          <p:cNvSpPr>
            <a:spLocks noGrp="1"/>
          </p:cNvSpPr>
          <p:nvPr>
            <p:ph type="sldNum" sz="quarter" idx="12"/>
          </p:nvPr>
        </p:nvSpPr>
        <p:spPr>
          <a:xfrm>
            <a:off x="11194169" y="6217920"/>
            <a:ext cx="458592" cy="365125"/>
          </a:xfrm>
        </p:spPr>
        <p:txBody>
          <a:bodyPr anchor="ctr">
            <a:normAutofit/>
          </a:bodyPr>
          <a:lstStyle/>
          <a:p>
            <a:pPr>
              <a:spcAft>
                <a:spcPts val="600"/>
              </a:spcAft>
            </a:pPr>
            <a:fld id="{CBD12358-51D2-46B3-9BDE-DF29528B9454}" type="slidenum">
              <a:rPr lang="en-US" smtClean="0"/>
              <a:pPr>
                <a:spcAft>
                  <a:spcPts val="600"/>
                </a:spcAft>
              </a:pPr>
              <a:t>6</a:t>
            </a:fld>
            <a:endParaRPr lang="en-US"/>
          </a:p>
        </p:txBody>
      </p:sp>
      <p:sp>
        <p:nvSpPr>
          <p:cNvPr id="4" name="Rectangle 3">
            <a:extLst>
              <a:ext uri="{FF2B5EF4-FFF2-40B4-BE49-F238E27FC236}">
                <a16:creationId xmlns:a16="http://schemas.microsoft.com/office/drawing/2014/main" id="{950F6825-DEB1-0588-C660-2C907FFBF264}"/>
              </a:ext>
            </a:extLst>
          </p:cNvPr>
          <p:cNvSpPr>
            <a:spLocks noChangeArrowheads="1"/>
          </p:cNvSpPr>
          <p:nvPr/>
        </p:nvSpPr>
        <p:spPr bwMode="auto">
          <a:xfrm>
            <a:off x="0" y="-50291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Table 6">
            <a:extLst>
              <a:ext uri="{FF2B5EF4-FFF2-40B4-BE49-F238E27FC236}">
                <a16:creationId xmlns:a16="http://schemas.microsoft.com/office/drawing/2014/main" id="{892F542A-77E7-CC26-B133-E810F77AEE15}"/>
              </a:ext>
            </a:extLst>
          </p:cNvPr>
          <p:cNvGraphicFramePr>
            <a:graphicFrameLocks noGrp="1"/>
          </p:cNvGraphicFramePr>
          <p:nvPr>
            <p:extLst>
              <p:ext uri="{D42A27DB-BD31-4B8C-83A1-F6EECF244321}">
                <p14:modId xmlns:p14="http://schemas.microsoft.com/office/powerpoint/2010/main" val="1673012027"/>
              </p:ext>
            </p:extLst>
          </p:nvPr>
        </p:nvGraphicFramePr>
        <p:xfrm>
          <a:off x="811531" y="1257300"/>
          <a:ext cx="11149842" cy="3657600"/>
        </p:xfrm>
        <a:graphic>
          <a:graphicData uri="http://schemas.openxmlformats.org/drawingml/2006/table">
            <a:tbl>
              <a:tblPr>
                <a:tableStyleId>{D03447BB-5D67-496B-8E87-E561075AD55C}</a:tableStyleId>
              </a:tblPr>
              <a:tblGrid>
                <a:gridCol w="1863089">
                  <a:extLst>
                    <a:ext uri="{9D8B030D-6E8A-4147-A177-3AD203B41FA5}">
                      <a16:colId xmlns:a16="http://schemas.microsoft.com/office/drawing/2014/main" val="958790594"/>
                    </a:ext>
                  </a:extLst>
                </a:gridCol>
                <a:gridCol w="1760220">
                  <a:extLst>
                    <a:ext uri="{9D8B030D-6E8A-4147-A177-3AD203B41FA5}">
                      <a16:colId xmlns:a16="http://schemas.microsoft.com/office/drawing/2014/main" val="3835395899"/>
                    </a:ext>
                  </a:extLst>
                </a:gridCol>
                <a:gridCol w="3497580">
                  <a:extLst>
                    <a:ext uri="{9D8B030D-6E8A-4147-A177-3AD203B41FA5}">
                      <a16:colId xmlns:a16="http://schemas.microsoft.com/office/drawing/2014/main" val="2160869541"/>
                    </a:ext>
                  </a:extLst>
                </a:gridCol>
                <a:gridCol w="4028953">
                  <a:extLst>
                    <a:ext uri="{9D8B030D-6E8A-4147-A177-3AD203B41FA5}">
                      <a16:colId xmlns:a16="http://schemas.microsoft.com/office/drawing/2014/main" val="2245010717"/>
                    </a:ext>
                  </a:extLst>
                </a:gridCol>
              </a:tblGrid>
              <a:tr h="0">
                <a:tc>
                  <a:txBody>
                    <a:bodyPr/>
                    <a:lstStyle/>
                    <a:p>
                      <a:r>
                        <a:rPr lang="en-US" sz="2400" dirty="0">
                          <a:solidFill>
                            <a:schemeClr val="bg1"/>
                          </a:solidFill>
                        </a:rPr>
                        <a:t>Flavor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solidFill>
                            <a:schemeClr val="bg1"/>
                          </a:solidFill>
                        </a:rPr>
                        <a:t>Based 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solidFill>
                            <a:schemeClr val="bg1"/>
                          </a:solidFill>
                        </a:rPr>
                        <a:t>Target Platform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solidFill>
                            <a:schemeClr val="bg1"/>
                          </a:solidFill>
                        </a:rPr>
                        <a:t>Use Case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4170213"/>
                  </a:ext>
                </a:extLst>
              </a:tr>
              <a:tr h="0">
                <a:tc>
                  <a:txBody>
                    <a:bodyPr/>
                    <a:lstStyle/>
                    <a:p>
                      <a:r>
                        <a:rPr lang="en-US" sz="2400" b="1" dirty="0" err="1">
                          <a:solidFill>
                            <a:schemeClr val="tx1"/>
                          </a:solidFill>
                        </a:rPr>
                        <a:t>CPython</a:t>
                      </a: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General-purpose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Default, most widely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extLst>
                  <a:ext uri="{0D108BD9-81ED-4DB2-BD59-A6C34878D82A}">
                    <a16:rowId xmlns:a16="http://schemas.microsoft.com/office/drawing/2014/main" val="2288942484"/>
                  </a:ext>
                </a:extLst>
              </a:tr>
              <a:tr h="125730">
                <a:tc>
                  <a:txBody>
                    <a:bodyPr/>
                    <a:lstStyle/>
                    <a:p>
                      <a:r>
                        <a:rPr lang="en-US" sz="2400" b="1" dirty="0" err="1">
                          <a:solidFill>
                            <a:schemeClr val="tx1"/>
                          </a:solidFill>
                        </a:rPr>
                        <a:t>Jython</a:t>
                      </a: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Java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JVM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Integrate with Java apps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extLst>
                  <a:ext uri="{0D108BD9-81ED-4DB2-BD59-A6C34878D82A}">
                    <a16:rowId xmlns:a16="http://schemas.microsoft.com/office/drawing/2014/main" val="2845240024"/>
                  </a:ext>
                </a:extLst>
              </a:tr>
              <a:tr h="0">
                <a:tc>
                  <a:txBody>
                    <a:bodyPr/>
                    <a:lstStyle/>
                    <a:p>
                      <a:r>
                        <a:rPr lang="en-US" sz="2400" b="1" dirty="0" err="1">
                          <a:solidFill>
                            <a:schemeClr val="tx1"/>
                          </a:solidFill>
                        </a:rPr>
                        <a:t>IronPython</a:t>
                      </a: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dirty="0">
                          <a:solidFill>
                            <a:schemeClr val="tx1"/>
                          </a:solidFill>
                        </a:rPr>
                        <a:t>.NET CLR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Use in .NET environments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extLst>
                  <a:ext uri="{0D108BD9-81ED-4DB2-BD59-A6C34878D82A}">
                    <a16:rowId xmlns:a16="http://schemas.microsoft.com/office/drawing/2014/main" val="2602676203"/>
                  </a:ext>
                </a:extLst>
              </a:tr>
              <a:tr h="0">
                <a:tc>
                  <a:txBody>
                    <a:bodyPr/>
                    <a:lstStyle/>
                    <a:p>
                      <a:r>
                        <a:rPr lang="en-US" sz="2400" b="1" dirty="0" err="1">
                          <a:solidFill>
                            <a:schemeClr val="tx1"/>
                          </a:solidFill>
                        </a:rPr>
                        <a:t>PyPy</a:t>
                      </a: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dirty="0">
                          <a:solidFill>
                            <a:schemeClr val="tx1"/>
                          </a:solidFill>
                        </a:rPr>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High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Speed-critical applications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extLst>
                  <a:ext uri="{0D108BD9-81ED-4DB2-BD59-A6C34878D82A}">
                    <a16:rowId xmlns:a16="http://schemas.microsoft.com/office/drawing/2014/main" val="3229052925"/>
                  </a:ext>
                </a:extLst>
              </a:tr>
              <a:tr h="0">
                <a:tc>
                  <a:txBody>
                    <a:bodyPr/>
                    <a:lstStyle/>
                    <a:p>
                      <a:r>
                        <a:rPr lang="en-US" sz="2400" b="1" dirty="0" err="1">
                          <a:solidFill>
                            <a:schemeClr val="tx1"/>
                          </a:solidFill>
                        </a:rPr>
                        <a:t>Stackless</a:t>
                      </a: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dirty="0" err="1">
                          <a:solidFill>
                            <a:schemeClr val="tx1"/>
                          </a:solidFill>
                        </a:rPr>
                        <a:t>CPython</a:t>
                      </a: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Concurrent environments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Games, microthreads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extLst>
                  <a:ext uri="{0D108BD9-81ED-4DB2-BD59-A6C34878D82A}">
                    <a16:rowId xmlns:a16="http://schemas.microsoft.com/office/drawing/2014/main" val="1287688000"/>
                  </a:ext>
                </a:extLst>
              </a:tr>
              <a:tr h="0">
                <a:tc>
                  <a:txBody>
                    <a:bodyPr/>
                    <a:lstStyle/>
                    <a:p>
                      <a:r>
                        <a:rPr lang="en-US" sz="2400" b="1" dirty="0" err="1">
                          <a:solidFill>
                            <a:schemeClr val="tx1"/>
                          </a:solidFill>
                        </a:rPr>
                        <a:t>MicroPython</a:t>
                      </a: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dirty="0">
                          <a:solidFill>
                            <a:schemeClr val="tx1"/>
                          </a:solidFill>
                        </a:rPr>
                        <a:t>Microcontrollers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a:solidFill>
                            <a:schemeClr val="tx1"/>
                          </a:solidFill>
                        </a:rPr>
                        <a:t>IoT, hardware projects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extLst>
                  <a:ext uri="{0D108BD9-81ED-4DB2-BD59-A6C34878D82A}">
                    <a16:rowId xmlns:a16="http://schemas.microsoft.com/office/drawing/2014/main" val="2856853028"/>
                  </a:ext>
                </a:extLst>
              </a:tr>
              <a:tr h="0">
                <a:tc>
                  <a:txBody>
                    <a:bodyPr/>
                    <a:lstStyle/>
                    <a:p>
                      <a:r>
                        <a:rPr lang="en-US" sz="2400" b="1" dirty="0">
                          <a:solidFill>
                            <a:schemeClr val="tx1"/>
                          </a:solidFill>
                        </a:rPr>
                        <a:t>Brython</a:t>
                      </a:r>
                      <a:endParaRPr lang="en-US"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dirty="0">
                          <a:solidFill>
                            <a:schemeClr val="tx1"/>
                          </a:solidFill>
                        </a:rPr>
                        <a:t>JavaScript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dirty="0">
                          <a:solidFill>
                            <a:schemeClr val="tx1"/>
                          </a:solidFill>
                        </a:rPr>
                        <a:t>Web browsers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tc>
                  <a:txBody>
                    <a:bodyPr/>
                    <a:lstStyle/>
                    <a:p>
                      <a:r>
                        <a:rPr lang="en-US" sz="2400" dirty="0">
                          <a:solidFill>
                            <a:schemeClr val="tx1"/>
                          </a:solidFill>
                        </a:rPr>
                        <a:t>Python in the browser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B0B3"/>
                    </a:solidFill>
                  </a:tcPr>
                </a:tc>
                <a:extLst>
                  <a:ext uri="{0D108BD9-81ED-4DB2-BD59-A6C34878D82A}">
                    <a16:rowId xmlns:a16="http://schemas.microsoft.com/office/drawing/2014/main" val="2700136507"/>
                  </a:ext>
                </a:extLst>
              </a:tr>
            </a:tbl>
          </a:graphicData>
        </a:graphic>
      </p:graphicFrame>
    </p:spTree>
    <p:extLst>
      <p:ext uri="{BB962C8B-B14F-4D97-AF65-F5344CB8AC3E}">
        <p14:creationId xmlns:p14="http://schemas.microsoft.com/office/powerpoint/2010/main" val="720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74595-B284-5906-F7E4-9623446943DA}"/>
            </a:ext>
          </a:extLst>
        </p:cNvPr>
        <p:cNvGrpSpPr/>
        <p:nvPr/>
      </p:nvGrpSpPr>
      <p:grpSpPr>
        <a:xfrm>
          <a:off x="0" y="0"/>
          <a:ext cx="0" cy="0"/>
          <a:chOff x="0" y="0"/>
          <a:chExt cx="0" cy="0"/>
        </a:xfrm>
      </p:grpSpPr>
      <p:graphicFrame>
        <p:nvGraphicFramePr>
          <p:cNvPr id="3" name="Content Placeholder 2">
            <a:extLst>
              <a:ext uri="{FF2B5EF4-FFF2-40B4-BE49-F238E27FC236}">
                <a16:creationId xmlns:a16="http://schemas.microsoft.com/office/drawing/2014/main" id="{45F007EC-472A-FCD6-8C53-AAC5931C9707}"/>
              </a:ext>
            </a:extLst>
          </p:cNvPr>
          <p:cNvGraphicFramePr>
            <a:graphicFrameLocks noGrp="1"/>
          </p:cNvGraphicFramePr>
          <p:nvPr>
            <p:ph idx="14"/>
            <p:extLst>
              <p:ext uri="{D42A27DB-BD31-4B8C-83A1-F6EECF244321}">
                <p14:modId xmlns:p14="http://schemas.microsoft.com/office/powerpoint/2010/main" val="2262064055"/>
              </p:ext>
            </p:extLst>
          </p:nvPr>
        </p:nvGraphicFramePr>
        <p:xfrm>
          <a:off x="2183130" y="746346"/>
          <a:ext cx="9704070" cy="5365308"/>
        </p:xfrm>
        <a:graphic>
          <a:graphicData uri="http://schemas.openxmlformats.org/drawingml/2006/table">
            <a:tbl>
              <a:tblPr firstRow="1" firstCol="1" bandRow="1">
                <a:tableStyleId>{9DCAF9ED-07DC-4A11-8D7F-57B35C25682E}</a:tableStyleId>
              </a:tblPr>
              <a:tblGrid>
                <a:gridCol w="4852035">
                  <a:extLst>
                    <a:ext uri="{9D8B030D-6E8A-4147-A177-3AD203B41FA5}">
                      <a16:colId xmlns:a16="http://schemas.microsoft.com/office/drawing/2014/main" val="2227361534"/>
                    </a:ext>
                  </a:extLst>
                </a:gridCol>
                <a:gridCol w="4852035">
                  <a:extLst>
                    <a:ext uri="{9D8B030D-6E8A-4147-A177-3AD203B41FA5}">
                      <a16:colId xmlns:a16="http://schemas.microsoft.com/office/drawing/2014/main" val="1746625282"/>
                    </a:ext>
                  </a:extLst>
                </a:gridCol>
              </a:tblGrid>
              <a:tr h="359231">
                <a:tc gridSpan="2">
                  <a:txBody>
                    <a:bodyPr/>
                    <a:lstStyle/>
                    <a:p>
                      <a:pPr marL="0" marR="0">
                        <a:lnSpc>
                          <a:spcPct val="150000"/>
                        </a:lnSpc>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Python Program – Execution on Different Modes</a:t>
                      </a:r>
                    </a:p>
                  </a:txBody>
                  <a:tcPr marL="3975" marR="3975" marT="3975" marB="3975" anchor="ctr">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2947269467"/>
                  </a:ext>
                </a:extLst>
              </a:tr>
              <a:tr h="559020">
                <a:tc>
                  <a:txBody>
                    <a:bodyPr/>
                    <a:lstStyle/>
                    <a:p>
                      <a:pPr>
                        <a:lnSpc>
                          <a:spcPct val="150000"/>
                        </a:lnSpc>
                      </a:pPr>
                      <a:r>
                        <a:rPr lang="en-US" sz="2400" dirty="0"/>
                        <a:t>✅ 1. Script Mode (Running .</a:t>
                      </a:r>
                      <a:r>
                        <a:rPr lang="en-US" sz="2400" dirty="0" err="1"/>
                        <a:t>py</a:t>
                      </a:r>
                      <a:r>
                        <a:rPr lang="en-US" sz="2400" dirty="0"/>
                        <a:t> files)  </a:t>
                      </a:r>
                    </a:p>
                  </a:txBody>
                  <a:tcPr marL="3975" marR="3975" marT="3975" marB="3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t>python my_script.py</a:t>
                      </a:r>
                    </a:p>
                  </a:txBody>
                  <a:tcPr marL="3975" marR="3975" marT="3975" marB="3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0537215"/>
                  </a:ext>
                </a:extLst>
              </a:tr>
              <a:tr h="595799">
                <a:tc>
                  <a:txBody>
                    <a:bodyPr/>
                    <a:lstStyle/>
                    <a:p>
                      <a:pPr>
                        <a:lnSpc>
                          <a:spcPct val="150000"/>
                        </a:lnSpc>
                      </a:pPr>
                      <a:r>
                        <a:rPr lang="en-US" sz="2400" dirty="0"/>
                        <a:t>✅ 2. </a:t>
                      </a:r>
                      <a:r>
                        <a:rPr lang="en-US" sz="2400" b="1" dirty="0"/>
                        <a:t>Using an IDE (Integrated Development Environment)</a:t>
                      </a:r>
                      <a:endParaRPr lang="en-US" sz="2400" dirty="0"/>
                    </a:p>
                  </a:txBody>
                  <a:tcPr marL="3975" marR="3975" marT="3975" marB="3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t>PyCharm, VS Code, IDLE (comes with Python)</a:t>
                      </a:r>
                    </a:p>
                  </a:txBody>
                  <a:tcPr marL="3975" marR="3975" marT="3975" marB="3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546985"/>
                  </a:ext>
                </a:extLst>
              </a:tr>
              <a:tr h="661326">
                <a:tc>
                  <a:txBody>
                    <a:bodyPr/>
                    <a:lstStyle/>
                    <a:p>
                      <a:pPr>
                        <a:lnSpc>
                          <a:spcPct val="150000"/>
                        </a:lnSpc>
                      </a:pPr>
                      <a:r>
                        <a:rPr lang="en-US" sz="2400" dirty="0"/>
                        <a:t>✅ 3. </a:t>
                      </a:r>
                      <a:r>
                        <a:rPr lang="en-US" sz="2400" b="1" dirty="0"/>
                        <a:t>Using </a:t>
                      </a:r>
                      <a:r>
                        <a:rPr lang="en-US" sz="2400" b="1" dirty="0" err="1"/>
                        <a:t>Jupyter</a:t>
                      </a:r>
                      <a:r>
                        <a:rPr lang="en-US" sz="2400" b="1" dirty="0"/>
                        <a:t> Notebook</a:t>
                      </a:r>
                      <a:endParaRPr lang="en-US" sz="2400" dirty="0"/>
                    </a:p>
                  </a:txBody>
                  <a:tcPr marL="3975" marR="3975" marT="3975" marB="3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err="1"/>
                        <a:t>jupyter</a:t>
                      </a:r>
                      <a:r>
                        <a:rPr lang="en-US" sz="2400" dirty="0"/>
                        <a:t> notebook</a:t>
                      </a:r>
                    </a:p>
                  </a:txBody>
                  <a:tcPr marL="3975" marR="3975" marT="3975" marB="3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5533908"/>
                  </a:ext>
                </a:extLst>
              </a:tr>
              <a:tr h="396987">
                <a:tc>
                  <a:txBody>
                    <a:bodyPr/>
                    <a:lstStyle/>
                    <a:p>
                      <a:pPr>
                        <a:lnSpc>
                          <a:spcPct val="150000"/>
                        </a:lnSpc>
                      </a:pPr>
                      <a:r>
                        <a:rPr lang="en-US" sz="2400" dirty="0"/>
                        <a:t>✅ 4. </a:t>
                      </a:r>
                      <a:r>
                        <a:rPr lang="en-US" sz="2400" b="1" dirty="0"/>
                        <a:t>Using Online Interpreters</a:t>
                      </a:r>
                      <a:endParaRPr lang="en-US" sz="2400" dirty="0"/>
                    </a:p>
                  </a:txBody>
                  <a:tcPr marL="3975" marR="3975" marT="3975" marB="3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t>Google </a:t>
                      </a:r>
                      <a:r>
                        <a:rPr lang="en-US" sz="2400" dirty="0" err="1"/>
                        <a:t>Colab</a:t>
                      </a:r>
                      <a:r>
                        <a:rPr lang="en-US" sz="2400" dirty="0"/>
                        <a:t>, </a:t>
                      </a:r>
                      <a:r>
                        <a:rPr lang="en-US" sz="2400" dirty="0" err="1"/>
                        <a:t>Programiz</a:t>
                      </a:r>
                      <a:endParaRPr lang="en-US" sz="2400" dirty="0"/>
                    </a:p>
                  </a:txBody>
                  <a:tcPr marL="3975" marR="3975" marT="3975" marB="3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324736"/>
                  </a:ext>
                </a:extLst>
              </a:tr>
              <a:tr h="485206">
                <a:tc>
                  <a:txBody>
                    <a:bodyPr/>
                    <a:lstStyle/>
                    <a:p>
                      <a:pPr>
                        <a:lnSpc>
                          <a:spcPct val="150000"/>
                        </a:lnSpc>
                      </a:pPr>
                      <a:r>
                        <a:rPr lang="en-US" sz="2400" dirty="0"/>
                        <a:t>✅ 5. </a:t>
                      </a:r>
                      <a:r>
                        <a:rPr lang="en-US" sz="2400" b="1" dirty="0"/>
                        <a:t>Converting to Executables (Frozen Binaries)- </a:t>
                      </a:r>
                      <a:r>
                        <a:rPr lang="en-US" sz="2400" dirty="0" err="1"/>
                        <a:t>pyinstaller</a:t>
                      </a:r>
                      <a:r>
                        <a:rPr lang="en-US" sz="2400" dirty="0"/>
                        <a:t>, py2exe</a:t>
                      </a:r>
                    </a:p>
                  </a:txBody>
                  <a:tcPr marL="3975" marR="3975" marT="3975" marB="3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t>For Ex- </a:t>
                      </a:r>
                    </a:p>
                    <a:p>
                      <a:pPr>
                        <a:lnSpc>
                          <a:spcPct val="150000"/>
                        </a:lnSpc>
                      </a:pPr>
                      <a:r>
                        <a:rPr lang="en-US" sz="2400" dirty="0" err="1"/>
                        <a:t>pyinstaller</a:t>
                      </a:r>
                      <a:r>
                        <a:rPr lang="en-US" sz="2400" dirty="0"/>
                        <a:t> my_script.py</a:t>
                      </a:r>
                    </a:p>
                  </a:txBody>
                  <a:tcPr marL="3975" marR="3975" marT="3975" marB="3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9667088"/>
                  </a:ext>
                </a:extLst>
              </a:tr>
              <a:tr h="595799">
                <a:tc>
                  <a:txBody>
                    <a:bodyPr/>
                    <a:lstStyle/>
                    <a:p>
                      <a:pPr>
                        <a:lnSpc>
                          <a:spcPct val="150000"/>
                        </a:lnSpc>
                      </a:pPr>
                      <a:r>
                        <a:rPr lang="en-US" sz="2400" dirty="0"/>
                        <a:t>✅ 6. </a:t>
                      </a:r>
                      <a:r>
                        <a:rPr lang="en-US" sz="2400" b="1" dirty="0"/>
                        <a:t>Embedded in Web Apps / APIs</a:t>
                      </a:r>
                      <a:endParaRPr lang="en-US" sz="2400" dirty="0"/>
                    </a:p>
                  </a:txBody>
                  <a:tcPr marL="3975" marR="3975" marT="3975" marB="3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b="1" dirty="0"/>
                        <a:t>Flask / Django</a:t>
                      </a:r>
                      <a:r>
                        <a:rPr lang="en-US" sz="2400" dirty="0"/>
                        <a:t> for web</a:t>
                      </a:r>
                    </a:p>
                    <a:p>
                      <a:pPr>
                        <a:lnSpc>
                          <a:spcPct val="150000"/>
                        </a:lnSpc>
                      </a:pPr>
                      <a:r>
                        <a:rPr lang="en-US" sz="2400" b="1" dirty="0" err="1"/>
                        <a:t>FastAPI</a:t>
                      </a:r>
                      <a:r>
                        <a:rPr lang="en-US" sz="2400" dirty="0"/>
                        <a:t> for REST APIs</a:t>
                      </a:r>
                    </a:p>
                  </a:txBody>
                  <a:tcPr marL="3975" marR="3975" marT="3975" marB="3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6164860"/>
                  </a:ext>
                </a:extLst>
              </a:tr>
            </a:tbl>
          </a:graphicData>
        </a:graphic>
      </p:graphicFrame>
      <p:sp>
        <p:nvSpPr>
          <p:cNvPr id="13" name="Slide Number Placeholder 3">
            <a:extLst>
              <a:ext uri="{FF2B5EF4-FFF2-40B4-BE49-F238E27FC236}">
                <a16:creationId xmlns:a16="http://schemas.microsoft.com/office/drawing/2014/main" id="{14208CA5-32BC-EFF2-53C2-2BD25CCB8387}"/>
              </a:ext>
            </a:extLst>
          </p:cNvPr>
          <p:cNvSpPr>
            <a:spLocks noGrp="1"/>
          </p:cNvSpPr>
          <p:nvPr>
            <p:ph type="sldNum" sz="quarter" idx="12"/>
          </p:nvPr>
        </p:nvSpPr>
        <p:spPr>
          <a:xfrm>
            <a:off x="11194169" y="6217920"/>
            <a:ext cx="458592" cy="365125"/>
          </a:xfrm>
        </p:spPr>
        <p:txBody>
          <a:bodyPr anchor="ctr">
            <a:normAutofit/>
          </a:bodyPr>
          <a:lstStyle/>
          <a:p>
            <a:pPr>
              <a:spcAft>
                <a:spcPts val="600"/>
              </a:spcAft>
            </a:pPr>
            <a:fld id="{CBD12358-51D2-46B3-9BDE-DF29528B9454}" type="slidenum">
              <a:rPr lang="en-US" smtClean="0"/>
              <a:pPr>
                <a:spcAft>
                  <a:spcPts val="600"/>
                </a:spcAft>
              </a:pPr>
              <a:t>7</a:t>
            </a:fld>
            <a:endParaRPr lang="en-US"/>
          </a:p>
        </p:txBody>
      </p:sp>
      <p:sp>
        <p:nvSpPr>
          <p:cNvPr id="4" name="Rectangle 3">
            <a:extLst>
              <a:ext uri="{FF2B5EF4-FFF2-40B4-BE49-F238E27FC236}">
                <a16:creationId xmlns:a16="http://schemas.microsoft.com/office/drawing/2014/main" id="{19C7DE33-8691-B414-537D-E8CA3FEA2C24}"/>
              </a:ext>
            </a:extLst>
          </p:cNvPr>
          <p:cNvSpPr>
            <a:spLocks noChangeArrowheads="1"/>
          </p:cNvSpPr>
          <p:nvPr/>
        </p:nvSpPr>
        <p:spPr bwMode="auto">
          <a:xfrm>
            <a:off x="0" y="-50291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935296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C60B6-262C-3748-2D29-E59AE4DAA214}"/>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6BDD4216-9741-CB6E-1158-5A271EB7259E}"/>
              </a:ext>
            </a:extLst>
          </p:cNvPr>
          <p:cNvSpPr>
            <a:spLocks noGrp="1"/>
          </p:cNvSpPr>
          <p:nvPr>
            <p:ph type="title"/>
          </p:nvPr>
        </p:nvSpPr>
        <p:spPr>
          <a:xfrm>
            <a:off x="811530" y="274956"/>
            <a:ext cx="7671816" cy="1303020"/>
          </a:xfrm>
        </p:spPr>
        <p:txBody>
          <a:bodyPr/>
          <a:lstStyle/>
          <a:p>
            <a:r>
              <a:rPr lang="en-US" dirty="0"/>
              <a:t>Python Virtual Machine</a:t>
            </a:r>
          </a:p>
        </p:txBody>
      </p:sp>
      <p:sp>
        <p:nvSpPr>
          <p:cNvPr id="13" name="Slide Number Placeholder 3">
            <a:extLst>
              <a:ext uri="{FF2B5EF4-FFF2-40B4-BE49-F238E27FC236}">
                <a16:creationId xmlns:a16="http://schemas.microsoft.com/office/drawing/2014/main" id="{DB2234D5-7C54-7A1B-C9DA-80D0C660760D}"/>
              </a:ext>
            </a:extLst>
          </p:cNvPr>
          <p:cNvSpPr>
            <a:spLocks noGrp="1"/>
          </p:cNvSpPr>
          <p:nvPr>
            <p:ph type="sldNum" sz="quarter" idx="12"/>
          </p:nvPr>
        </p:nvSpPr>
        <p:spPr>
          <a:xfrm>
            <a:off x="11194169" y="6217920"/>
            <a:ext cx="458592" cy="365125"/>
          </a:xfrm>
        </p:spPr>
        <p:txBody>
          <a:bodyPr/>
          <a:lstStyle/>
          <a:p>
            <a:pPr>
              <a:spcAft>
                <a:spcPts val="600"/>
              </a:spcAft>
            </a:pPr>
            <a:fld id="{CBD12358-51D2-46B3-9BDE-DF29528B9454}" type="slidenum">
              <a:rPr lang="en-US" smtClean="0"/>
              <a:pPr>
                <a:spcAft>
                  <a:spcPts val="600"/>
                </a:spcAft>
              </a:pPr>
              <a:t>8</a:t>
            </a:fld>
            <a:endParaRPr lang="en-US"/>
          </a:p>
        </p:txBody>
      </p:sp>
      <p:grpSp>
        <p:nvGrpSpPr>
          <p:cNvPr id="7" name="Group 6">
            <a:extLst>
              <a:ext uri="{FF2B5EF4-FFF2-40B4-BE49-F238E27FC236}">
                <a16:creationId xmlns:a16="http://schemas.microsoft.com/office/drawing/2014/main" id="{608F5BFF-24CB-9C77-B170-21BF4B1A9A4F}"/>
              </a:ext>
            </a:extLst>
          </p:cNvPr>
          <p:cNvGrpSpPr/>
          <p:nvPr/>
        </p:nvGrpSpPr>
        <p:grpSpPr>
          <a:xfrm>
            <a:off x="811530" y="1776182"/>
            <a:ext cx="11212830" cy="4624300"/>
            <a:chOff x="811530" y="1776182"/>
            <a:chExt cx="11212830" cy="4624300"/>
          </a:xfrm>
        </p:grpSpPr>
        <p:pic>
          <p:nvPicPr>
            <p:cNvPr id="5" name="Picture 4">
              <a:extLst>
                <a:ext uri="{FF2B5EF4-FFF2-40B4-BE49-F238E27FC236}">
                  <a16:creationId xmlns:a16="http://schemas.microsoft.com/office/drawing/2014/main" id="{B18064D4-4814-D2F0-6B9C-0B4D6F210329}"/>
                </a:ext>
              </a:extLst>
            </p:cNvPr>
            <p:cNvPicPr>
              <a:picLocks noChangeAspect="1"/>
            </p:cNvPicPr>
            <p:nvPr/>
          </p:nvPicPr>
          <p:blipFill>
            <a:blip r:embed="rId2"/>
            <a:stretch>
              <a:fillRect/>
            </a:stretch>
          </p:blipFill>
          <p:spPr>
            <a:xfrm>
              <a:off x="811530" y="1776182"/>
              <a:ext cx="11212829" cy="4600906"/>
            </a:xfrm>
            <a:prstGeom prst="rect">
              <a:avLst/>
            </a:prstGeom>
            <a:ln>
              <a:solidFill>
                <a:srgbClr val="D8E7EE"/>
              </a:solidFill>
            </a:ln>
          </p:spPr>
        </p:pic>
        <p:sp>
          <p:nvSpPr>
            <p:cNvPr id="6" name="Rectangle 5">
              <a:extLst>
                <a:ext uri="{FF2B5EF4-FFF2-40B4-BE49-F238E27FC236}">
                  <a16:creationId xmlns:a16="http://schemas.microsoft.com/office/drawing/2014/main" id="{231D9C07-A11B-514A-603E-1F21084E8574}"/>
                </a:ext>
              </a:extLst>
            </p:cNvPr>
            <p:cNvSpPr/>
            <p:nvPr/>
          </p:nvSpPr>
          <p:spPr>
            <a:xfrm>
              <a:off x="10301872" y="3360954"/>
              <a:ext cx="1722488" cy="3039528"/>
            </a:xfrm>
            <a:prstGeom prst="rect">
              <a:avLst/>
            </a:prstGeom>
            <a:solidFill>
              <a:srgbClr val="D8E7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81446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4742F-C39C-89BC-F11D-E6AA48F5C5F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58708FFB-0F50-91A9-F0BE-E548040E00C5}"/>
              </a:ext>
            </a:extLst>
          </p:cNvPr>
          <p:cNvSpPr>
            <a:spLocks noGrp="1"/>
          </p:cNvSpPr>
          <p:nvPr>
            <p:ph type="title"/>
          </p:nvPr>
        </p:nvSpPr>
        <p:spPr>
          <a:xfrm>
            <a:off x="605790" y="375493"/>
            <a:ext cx="8298180" cy="891540"/>
          </a:xfrm>
        </p:spPr>
        <p:txBody>
          <a:bodyPr/>
          <a:lstStyle/>
          <a:p>
            <a:r>
              <a:rPr lang="en-US" dirty="0"/>
              <a:t>Execution of Python Program</a:t>
            </a:r>
          </a:p>
        </p:txBody>
      </p:sp>
      <p:sp>
        <p:nvSpPr>
          <p:cNvPr id="13" name="Slide Number Placeholder 3">
            <a:extLst>
              <a:ext uri="{FF2B5EF4-FFF2-40B4-BE49-F238E27FC236}">
                <a16:creationId xmlns:a16="http://schemas.microsoft.com/office/drawing/2014/main" id="{E27D0F50-BDF9-2E5C-C9D0-D9BE84CE17CA}"/>
              </a:ext>
            </a:extLst>
          </p:cNvPr>
          <p:cNvSpPr>
            <a:spLocks noGrp="1"/>
          </p:cNvSpPr>
          <p:nvPr>
            <p:ph type="sldNum" sz="quarter" idx="12"/>
          </p:nvPr>
        </p:nvSpPr>
        <p:spPr>
          <a:xfrm>
            <a:off x="11194169" y="6217920"/>
            <a:ext cx="458592" cy="365125"/>
          </a:xfrm>
        </p:spPr>
        <p:txBody>
          <a:bodyPr/>
          <a:lstStyle/>
          <a:p>
            <a:pPr>
              <a:spcAft>
                <a:spcPts val="600"/>
              </a:spcAft>
            </a:pPr>
            <a:fld id="{CBD12358-51D2-46B3-9BDE-DF29528B9454}" type="slidenum">
              <a:rPr lang="en-US" smtClean="0"/>
              <a:pPr>
                <a:spcAft>
                  <a:spcPts val="600"/>
                </a:spcAft>
              </a:pPr>
              <a:t>9</a:t>
            </a:fld>
            <a:endParaRPr lang="en-US"/>
          </a:p>
        </p:txBody>
      </p:sp>
      <p:sp>
        <p:nvSpPr>
          <p:cNvPr id="5" name="TextBox 4">
            <a:extLst>
              <a:ext uri="{FF2B5EF4-FFF2-40B4-BE49-F238E27FC236}">
                <a16:creationId xmlns:a16="http://schemas.microsoft.com/office/drawing/2014/main" id="{5F5ABAD0-008A-8876-2CF2-93AEAEA06104}"/>
              </a:ext>
            </a:extLst>
          </p:cNvPr>
          <p:cNvSpPr txBox="1"/>
          <p:nvPr/>
        </p:nvSpPr>
        <p:spPr>
          <a:xfrm>
            <a:off x="2043113" y="1404194"/>
            <a:ext cx="3626167" cy="5078313"/>
          </a:xfrm>
          <a:prstGeom prst="rect">
            <a:avLst/>
          </a:prstGeom>
          <a:noFill/>
        </p:spPr>
        <p:txBody>
          <a:bodyPr wrap="square">
            <a:spAutoFit/>
          </a:bodyPr>
          <a:lstStyle/>
          <a:p>
            <a:r>
              <a:rPr lang="en-US" dirty="0">
                <a:solidFill>
                  <a:schemeClr val="bg1"/>
                </a:solidFill>
              </a:rPr>
              <a:t>+-----------------+</a:t>
            </a:r>
          </a:p>
          <a:p>
            <a:r>
              <a:rPr lang="en-US" dirty="0">
                <a:solidFill>
                  <a:schemeClr val="bg1"/>
                </a:solidFill>
              </a:rPr>
              <a:t>| .</a:t>
            </a:r>
            <a:r>
              <a:rPr lang="en-US" dirty="0" err="1">
                <a:solidFill>
                  <a:schemeClr val="bg1"/>
                </a:solidFill>
              </a:rPr>
              <a:t>py</a:t>
            </a:r>
            <a:r>
              <a:rPr lang="en-US" dirty="0">
                <a:solidFill>
                  <a:schemeClr val="bg1"/>
                </a:solidFill>
              </a:rPr>
              <a:t> Source Code |</a:t>
            </a:r>
          </a:p>
          <a:p>
            <a:r>
              <a:rPr lang="en-US" dirty="0">
                <a:solidFill>
                  <a:schemeClr val="bg1"/>
                </a:solidFill>
              </a:rPr>
              <a:t>+-----------------+</a:t>
            </a:r>
          </a:p>
          <a:p>
            <a:r>
              <a:rPr lang="en-US" dirty="0">
                <a:solidFill>
                  <a:schemeClr val="bg1"/>
                </a:solidFill>
              </a:rPr>
              <a:t>        |</a:t>
            </a:r>
          </a:p>
          <a:p>
            <a:r>
              <a:rPr lang="en-US" dirty="0">
                <a:solidFill>
                  <a:schemeClr val="bg1"/>
                </a:solidFill>
              </a:rPr>
              <a:t>        v</a:t>
            </a:r>
          </a:p>
          <a:p>
            <a:r>
              <a:rPr lang="en-US" dirty="0">
                <a:solidFill>
                  <a:schemeClr val="bg1"/>
                </a:solidFill>
              </a:rPr>
              <a:t>+---------------------+</a:t>
            </a:r>
          </a:p>
          <a:p>
            <a:r>
              <a:rPr lang="en-US" dirty="0">
                <a:solidFill>
                  <a:schemeClr val="bg1"/>
                </a:solidFill>
              </a:rPr>
              <a:t>| Compilation to .</a:t>
            </a:r>
            <a:r>
              <a:rPr lang="en-US" dirty="0" err="1">
                <a:solidFill>
                  <a:schemeClr val="bg1"/>
                </a:solidFill>
              </a:rPr>
              <a:t>pyc</a:t>
            </a:r>
            <a:r>
              <a:rPr lang="en-US" dirty="0">
                <a:solidFill>
                  <a:schemeClr val="bg1"/>
                </a:solidFill>
              </a:rPr>
              <a:t> |</a:t>
            </a:r>
          </a:p>
          <a:p>
            <a:r>
              <a:rPr lang="en-US" dirty="0">
                <a:solidFill>
                  <a:schemeClr val="bg1"/>
                </a:solidFill>
              </a:rPr>
              <a:t>+---------------------+</a:t>
            </a:r>
          </a:p>
          <a:p>
            <a:r>
              <a:rPr lang="en-US" dirty="0">
                <a:solidFill>
                  <a:schemeClr val="bg1"/>
                </a:solidFill>
              </a:rPr>
              <a:t>        |</a:t>
            </a:r>
          </a:p>
          <a:p>
            <a:r>
              <a:rPr lang="en-US" dirty="0">
                <a:solidFill>
                  <a:schemeClr val="bg1"/>
                </a:solidFill>
              </a:rPr>
              <a:t>        v</a:t>
            </a:r>
          </a:p>
          <a:p>
            <a:r>
              <a:rPr lang="en-US" dirty="0">
                <a:solidFill>
                  <a:schemeClr val="bg1"/>
                </a:solidFill>
              </a:rPr>
              <a:t>+-----------------------+</a:t>
            </a:r>
          </a:p>
          <a:p>
            <a:r>
              <a:rPr lang="en-US" dirty="0">
                <a:solidFill>
                  <a:schemeClr val="bg1"/>
                </a:solidFill>
              </a:rPr>
              <a:t>| Execution by Python VM|</a:t>
            </a:r>
          </a:p>
          <a:p>
            <a:r>
              <a:rPr lang="en-US" dirty="0">
                <a:solidFill>
                  <a:schemeClr val="bg1"/>
                </a:solidFill>
              </a:rPr>
              <a:t>+-----------------------+</a:t>
            </a:r>
          </a:p>
          <a:p>
            <a:r>
              <a:rPr lang="en-US" dirty="0">
                <a:solidFill>
                  <a:schemeClr val="bg1"/>
                </a:solidFill>
              </a:rPr>
              <a:t>        |</a:t>
            </a:r>
          </a:p>
          <a:p>
            <a:r>
              <a:rPr lang="en-US" dirty="0">
                <a:solidFill>
                  <a:schemeClr val="bg1"/>
                </a:solidFill>
              </a:rPr>
              <a:t>        v</a:t>
            </a:r>
          </a:p>
          <a:p>
            <a:r>
              <a:rPr lang="en-US" dirty="0">
                <a:solidFill>
                  <a:schemeClr val="bg1"/>
                </a:solidFill>
              </a:rPr>
              <a:t>+--------------+</a:t>
            </a:r>
          </a:p>
          <a:p>
            <a:r>
              <a:rPr lang="en-US" dirty="0">
                <a:solidFill>
                  <a:schemeClr val="bg1"/>
                </a:solidFill>
              </a:rPr>
              <a:t>| Program Output|</a:t>
            </a:r>
          </a:p>
          <a:p>
            <a:r>
              <a:rPr lang="en-US" dirty="0">
                <a:solidFill>
                  <a:schemeClr val="bg1"/>
                </a:solidFill>
              </a:rPr>
              <a:t>+--------------+</a:t>
            </a:r>
          </a:p>
        </p:txBody>
      </p:sp>
    </p:spTree>
    <p:extLst>
      <p:ext uri="{BB962C8B-B14F-4D97-AF65-F5344CB8AC3E}">
        <p14:creationId xmlns:p14="http://schemas.microsoft.com/office/powerpoint/2010/main" val="1926327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C89B3-993A-77E0-8488-337CD3AD2298}"/>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C6336906-06B3-86CB-1A13-1265AA836546}"/>
              </a:ext>
            </a:extLst>
          </p:cNvPr>
          <p:cNvSpPr>
            <a:spLocks noGrp="1"/>
          </p:cNvSpPr>
          <p:nvPr>
            <p:ph type="title"/>
          </p:nvPr>
        </p:nvSpPr>
        <p:spPr>
          <a:xfrm>
            <a:off x="914400" y="731520"/>
            <a:ext cx="7671816" cy="1303020"/>
          </a:xfrm>
        </p:spPr>
        <p:txBody>
          <a:bodyPr/>
          <a:lstStyle/>
          <a:p>
            <a:r>
              <a:rPr lang="en-US" dirty="0"/>
              <a:t>Viewing The Bytecode</a:t>
            </a:r>
          </a:p>
        </p:txBody>
      </p:sp>
      <p:sp>
        <p:nvSpPr>
          <p:cNvPr id="11" name="Content Placeholder 2">
            <a:extLst>
              <a:ext uri="{FF2B5EF4-FFF2-40B4-BE49-F238E27FC236}">
                <a16:creationId xmlns:a16="http://schemas.microsoft.com/office/drawing/2014/main" id="{2BD15AFE-955A-9079-6147-B2948C4CF71F}"/>
              </a:ext>
            </a:extLst>
          </p:cNvPr>
          <p:cNvSpPr>
            <a:spLocks noGrp="1"/>
          </p:cNvSpPr>
          <p:nvPr>
            <p:ph idx="14"/>
          </p:nvPr>
        </p:nvSpPr>
        <p:spPr>
          <a:xfrm>
            <a:off x="804299" y="2617152"/>
            <a:ext cx="6728071" cy="3783330"/>
          </a:xfrm>
        </p:spPr>
        <p:txBody>
          <a:bodyPr>
            <a:noAutofit/>
          </a:bodyPr>
          <a:lstStyle/>
          <a:p>
            <a:pPr marL="0" indent="0">
              <a:buNone/>
            </a:pPr>
            <a:r>
              <a:rPr lang="en-US" sz="2800" dirty="0"/>
              <a:t>import dis</a:t>
            </a:r>
          </a:p>
          <a:p>
            <a:pPr marL="0" indent="0">
              <a:buNone/>
            </a:pPr>
            <a:r>
              <a:rPr lang="en-US" sz="2800" dirty="0"/>
              <a:t>def greet():</a:t>
            </a:r>
          </a:p>
          <a:p>
            <a:pPr marL="0" indent="0">
              <a:buNone/>
            </a:pPr>
            <a:r>
              <a:rPr lang="en-US" sz="2800" dirty="0"/>
              <a:t>    print("Hello")</a:t>
            </a:r>
          </a:p>
          <a:p>
            <a:pPr marL="0" indent="0">
              <a:buNone/>
            </a:pPr>
            <a:r>
              <a:rPr lang="en-US" sz="2800" dirty="0" err="1"/>
              <a:t>dis.dis</a:t>
            </a:r>
            <a:r>
              <a:rPr lang="en-US" sz="2800" dirty="0"/>
              <a:t>(greet)</a:t>
            </a:r>
          </a:p>
          <a:p>
            <a:pPr marL="0" indent="0">
              <a:buNone/>
            </a:pPr>
            <a:endParaRPr lang="en-US" sz="2800" dirty="0"/>
          </a:p>
          <a:p>
            <a:pPr marL="0" indent="0">
              <a:buNone/>
            </a:pPr>
            <a:r>
              <a:rPr lang="en-US" sz="2800" dirty="0"/>
              <a:t>Will provide the assembly code</a:t>
            </a:r>
          </a:p>
        </p:txBody>
      </p:sp>
      <p:sp>
        <p:nvSpPr>
          <p:cNvPr id="13" name="Slide Number Placeholder 3">
            <a:extLst>
              <a:ext uri="{FF2B5EF4-FFF2-40B4-BE49-F238E27FC236}">
                <a16:creationId xmlns:a16="http://schemas.microsoft.com/office/drawing/2014/main" id="{3AE315DF-0A76-2E7C-4CF1-D058BF86E1F9}"/>
              </a:ext>
            </a:extLst>
          </p:cNvPr>
          <p:cNvSpPr>
            <a:spLocks noGrp="1"/>
          </p:cNvSpPr>
          <p:nvPr>
            <p:ph type="sldNum" sz="quarter" idx="12"/>
          </p:nvPr>
        </p:nvSpPr>
        <p:spPr>
          <a:xfrm>
            <a:off x="11194169" y="6217920"/>
            <a:ext cx="458592" cy="365125"/>
          </a:xfrm>
        </p:spPr>
        <p:txBody>
          <a:bodyPr/>
          <a:lstStyle/>
          <a:p>
            <a:pPr>
              <a:spcAft>
                <a:spcPts val="600"/>
              </a:spcAft>
            </a:pPr>
            <a:fld id="{CBD12358-51D2-46B3-9BDE-DF29528B9454}" type="slidenum">
              <a:rPr lang="en-US" smtClean="0"/>
              <a:pPr>
                <a:spcAft>
                  <a:spcPts val="600"/>
                </a:spcAft>
              </a:pPr>
              <a:t>10</a:t>
            </a:fld>
            <a:endParaRPr lang="en-US"/>
          </a:p>
        </p:txBody>
      </p:sp>
    </p:spTree>
    <p:extLst>
      <p:ext uri="{BB962C8B-B14F-4D97-AF65-F5344CB8AC3E}">
        <p14:creationId xmlns:p14="http://schemas.microsoft.com/office/powerpoint/2010/main" val="2070114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D9F30-0DA9-9420-03FB-9D7F945A10CC}"/>
              </a:ext>
            </a:extLst>
          </p:cNvPr>
          <p:cNvSpPr>
            <a:spLocks noGrp="1"/>
          </p:cNvSpPr>
          <p:nvPr>
            <p:ph type="title"/>
          </p:nvPr>
        </p:nvSpPr>
        <p:spPr>
          <a:xfrm>
            <a:off x="902970" y="640080"/>
            <a:ext cx="7671816" cy="925830"/>
          </a:xfrm>
        </p:spPr>
        <p:txBody>
          <a:bodyPr/>
          <a:lstStyle/>
          <a:p>
            <a:r>
              <a:rPr lang="en-US" dirty="0"/>
              <a:t>Frozen Binaries</a:t>
            </a:r>
          </a:p>
        </p:txBody>
      </p:sp>
      <p:sp>
        <p:nvSpPr>
          <p:cNvPr id="3" name="Content Placeholder 2">
            <a:extLst>
              <a:ext uri="{FF2B5EF4-FFF2-40B4-BE49-F238E27FC236}">
                <a16:creationId xmlns:a16="http://schemas.microsoft.com/office/drawing/2014/main" id="{6A88A673-3ECE-635C-F052-41BD8C0100E5}"/>
              </a:ext>
            </a:extLst>
          </p:cNvPr>
          <p:cNvSpPr>
            <a:spLocks noGrp="1"/>
          </p:cNvSpPr>
          <p:nvPr>
            <p:ph idx="14"/>
          </p:nvPr>
        </p:nvSpPr>
        <p:spPr>
          <a:xfrm>
            <a:off x="773430" y="1663065"/>
            <a:ext cx="9418320" cy="1605915"/>
          </a:xfrm>
        </p:spPr>
        <p:txBody>
          <a:bodyPr>
            <a:normAutofit/>
          </a:bodyPr>
          <a:lstStyle/>
          <a:p>
            <a:pPr marL="0" indent="0" algn="just">
              <a:buNone/>
            </a:pPr>
            <a:r>
              <a:rPr lang="en-US" sz="2400" b="1" dirty="0"/>
              <a:t>Frozen binaries</a:t>
            </a:r>
            <a:r>
              <a:rPr lang="en-US" sz="2400" dirty="0"/>
              <a:t> are </a:t>
            </a:r>
            <a:r>
              <a:rPr lang="en-US" sz="2400" b="1" dirty="0"/>
              <a:t>standalone executable files</a:t>
            </a:r>
            <a:r>
              <a:rPr lang="en-US" sz="2400" dirty="0"/>
              <a:t> that bundle a Python application along with the Python interpreter and all dependencies into a </a:t>
            </a:r>
            <a:r>
              <a:rPr lang="en-US" sz="2400" b="1" dirty="0"/>
              <a:t>single file or directory</a:t>
            </a:r>
            <a:r>
              <a:rPr lang="en-US" sz="2400" dirty="0"/>
              <a:t>. This makes the application runnable </a:t>
            </a:r>
            <a:r>
              <a:rPr lang="en-US" sz="2400" b="1" dirty="0"/>
              <a:t>without requiring Python to be installed</a:t>
            </a:r>
            <a:r>
              <a:rPr lang="en-US" sz="2400" dirty="0"/>
              <a:t> on the target machine. </a:t>
            </a:r>
          </a:p>
        </p:txBody>
      </p:sp>
      <p:sp>
        <p:nvSpPr>
          <p:cNvPr id="4" name="Slide Number Placeholder 3">
            <a:extLst>
              <a:ext uri="{FF2B5EF4-FFF2-40B4-BE49-F238E27FC236}">
                <a16:creationId xmlns:a16="http://schemas.microsoft.com/office/drawing/2014/main" id="{01A0FE6A-3579-FA7E-84D3-4636A4147C39}"/>
              </a:ext>
            </a:extLst>
          </p:cNvPr>
          <p:cNvSpPr>
            <a:spLocks noGrp="1"/>
          </p:cNvSpPr>
          <p:nvPr>
            <p:ph type="sldNum" sz="quarter" idx="12"/>
          </p:nvPr>
        </p:nvSpPr>
        <p:spPr/>
        <p:txBody>
          <a:bodyPr/>
          <a:lstStyle/>
          <a:p>
            <a:fld id="{CBD12358-51D2-46B3-9BDE-DF29528B9454}" type="slidenum">
              <a:rPr lang="en-US" smtClean="0"/>
              <a:t>11</a:t>
            </a:fld>
            <a:endParaRPr lang="en-US" dirty="0"/>
          </a:p>
        </p:txBody>
      </p:sp>
      <p:graphicFrame>
        <p:nvGraphicFramePr>
          <p:cNvPr id="9" name="Table 8">
            <a:extLst>
              <a:ext uri="{FF2B5EF4-FFF2-40B4-BE49-F238E27FC236}">
                <a16:creationId xmlns:a16="http://schemas.microsoft.com/office/drawing/2014/main" id="{4C69EB81-748F-04AD-6716-B0CD67499181}"/>
              </a:ext>
            </a:extLst>
          </p:cNvPr>
          <p:cNvGraphicFramePr>
            <a:graphicFrameLocks noGrp="1"/>
          </p:cNvGraphicFramePr>
          <p:nvPr>
            <p:extLst>
              <p:ext uri="{D42A27DB-BD31-4B8C-83A1-F6EECF244321}">
                <p14:modId xmlns:p14="http://schemas.microsoft.com/office/powerpoint/2010/main" val="908420696"/>
              </p:ext>
            </p:extLst>
          </p:nvPr>
        </p:nvGraphicFramePr>
        <p:xfrm>
          <a:off x="838200" y="3154680"/>
          <a:ext cx="10515600" cy="1828800"/>
        </p:xfrm>
        <a:graphic>
          <a:graphicData uri="http://schemas.openxmlformats.org/drawingml/2006/table">
            <a:tbl>
              <a:tblPr>
                <a:tableStyleId>{3C2FFA5D-87B4-456A-9821-1D502468CF0F}</a:tableStyleId>
              </a:tblPr>
              <a:tblGrid>
                <a:gridCol w="3771900">
                  <a:extLst>
                    <a:ext uri="{9D8B030D-6E8A-4147-A177-3AD203B41FA5}">
                      <a16:colId xmlns:a16="http://schemas.microsoft.com/office/drawing/2014/main" val="2533918185"/>
                    </a:ext>
                  </a:extLst>
                </a:gridCol>
                <a:gridCol w="6743700">
                  <a:extLst>
                    <a:ext uri="{9D8B030D-6E8A-4147-A177-3AD203B41FA5}">
                      <a16:colId xmlns:a16="http://schemas.microsoft.com/office/drawing/2014/main" val="3572212097"/>
                    </a:ext>
                  </a:extLst>
                </a:gridCol>
              </a:tblGrid>
              <a:tr h="0">
                <a:tc>
                  <a:txBody>
                    <a:bodyPr/>
                    <a:lstStyle/>
                    <a:p>
                      <a:r>
                        <a:rPr lang="en-US" sz="2400" dirty="0"/>
                        <a:t>Purpose</a:t>
                      </a:r>
                    </a:p>
                  </a:txBody>
                  <a:tcPr anchor="ctr"/>
                </a:tc>
                <a:tc>
                  <a:txBody>
                    <a:bodyPr/>
                    <a:lstStyle/>
                    <a:p>
                      <a:r>
                        <a:rPr lang="en-US" sz="2400"/>
                        <a:t>Benefit</a:t>
                      </a:r>
                    </a:p>
                  </a:txBody>
                  <a:tcPr anchor="ctr"/>
                </a:tc>
                <a:extLst>
                  <a:ext uri="{0D108BD9-81ED-4DB2-BD59-A6C34878D82A}">
                    <a16:rowId xmlns:a16="http://schemas.microsoft.com/office/drawing/2014/main" val="636198877"/>
                  </a:ext>
                </a:extLst>
              </a:tr>
              <a:tr h="0">
                <a:tc>
                  <a:txBody>
                    <a:bodyPr/>
                    <a:lstStyle/>
                    <a:p>
                      <a:r>
                        <a:rPr lang="en-US" sz="2400" b="1"/>
                        <a:t>Distribute Python programs</a:t>
                      </a:r>
                      <a:endParaRPr lang="en-US" sz="2400"/>
                    </a:p>
                  </a:txBody>
                  <a:tcPr anchor="ctr"/>
                </a:tc>
                <a:tc>
                  <a:txBody>
                    <a:bodyPr/>
                    <a:lstStyle/>
                    <a:p>
                      <a:r>
                        <a:rPr lang="en-US" sz="2400" dirty="0"/>
                        <a:t>No Python installation required on target</a:t>
                      </a:r>
                    </a:p>
                  </a:txBody>
                  <a:tcPr anchor="ctr"/>
                </a:tc>
                <a:extLst>
                  <a:ext uri="{0D108BD9-81ED-4DB2-BD59-A6C34878D82A}">
                    <a16:rowId xmlns:a16="http://schemas.microsoft.com/office/drawing/2014/main" val="3277206752"/>
                  </a:ext>
                </a:extLst>
              </a:tr>
              <a:tr h="0">
                <a:tc>
                  <a:txBody>
                    <a:bodyPr/>
                    <a:lstStyle/>
                    <a:p>
                      <a:r>
                        <a:rPr lang="en-US" sz="2400" b="1"/>
                        <a:t>Simplify deployment</a:t>
                      </a:r>
                      <a:endParaRPr lang="en-US" sz="2400"/>
                    </a:p>
                  </a:txBody>
                  <a:tcPr anchor="ctr"/>
                </a:tc>
                <a:tc>
                  <a:txBody>
                    <a:bodyPr/>
                    <a:lstStyle/>
                    <a:p>
                      <a:r>
                        <a:rPr lang="en-US" sz="2400"/>
                        <a:t>Easy to share via .exe, .app, etc.</a:t>
                      </a:r>
                    </a:p>
                  </a:txBody>
                  <a:tcPr anchor="ctr"/>
                </a:tc>
                <a:extLst>
                  <a:ext uri="{0D108BD9-81ED-4DB2-BD59-A6C34878D82A}">
                    <a16:rowId xmlns:a16="http://schemas.microsoft.com/office/drawing/2014/main" val="1666921535"/>
                  </a:ext>
                </a:extLst>
              </a:tr>
              <a:tr h="0">
                <a:tc>
                  <a:txBody>
                    <a:bodyPr/>
                    <a:lstStyle/>
                    <a:p>
                      <a:r>
                        <a:rPr lang="en-US" sz="2400" b="1"/>
                        <a:t>Protect source code</a:t>
                      </a:r>
                      <a:endParaRPr lang="en-US" sz="2400"/>
                    </a:p>
                  </a:txBody>
                  <a:tcPr anchor="ctr"/>
                </a:tc>
                <a:tc>
                  <a:txBody>
                    <a:bodyPr/>
                    <a:lstStyle/>
                    <a:p>
                      <a:r>
                        <a:rPr lang="en-US" sz="2400" dirty="0"/>
                        <a:t>Optionally hides the original .</a:t>
                      </a:r>
                      <a:r>
                        <a:rPr lang="en-US" sz="2400" dirty="0" err="1"/>
                        <a:t>py</a:t>
                      </a:r>
                      <a:r>
                        <a:rPr lang="en-US" sz="2400" dirty="0"/>
                        <a:t> files</a:t>
                      </a:r>
                    </a:p>
                  </a:txBody>
                  <a:tcPr anchor="ctr"/>
                </a:tc>
                <a:extLst>
                  <a:ext uri="{0D108BD9-81ED-4DB2-BD59-A6C34878D82A}">
                    <a16:rowId xmlns:a16="http://schemas.microsoft.com/office/drawing/2014/main" val="3477866536"/>
                  </a:ext>
                </a:extLst>
              </a:tr>
            </a:tbl>
          </a:graphicData>
        </a:graphic>
      </p:graphicFrame>
      <p:graphicFrame>
        <p:nvGraphicFramePr>
          <p:cNvPr id="11" name="Table 10">
            <a:extLst>
              <a:ext uri="{FF2B5EF4-FFF2-40B4-BE49-F238E27FC236}">
                <a16:creationId xmlns:a16="http://schemas.microsoft.com/office/drawing/2014/main" id="{0F23C2A2-35E2-2A17-A945-9FC16773DC6F}"/>
              </a:ext>
            </a:extLst>
          </p:cNvPr>
          <p:cNvGraphicFramePr>
            <a:graphicFrameLocks noGrp="1"/>
          </p:cNvGraphicFramePr>
          <p:nvPr>
            <p:extLst>
              <p:ext uri="{D42A27DB-BD31-4B8C-83A1-F6EECF244321}">
                <p14:modId xmlns:p14="http://schemas.microsoft.com/office/powerpoint/2010/main" val="2979924202"/>
              </p:ext>
            </p:extLst>
          </p:nvPr>
        </p:nvGraphicFramePr>
        <p:xfrm>
          <a:off x="907865" y="5485765"/>
          <a:ext cx="10515600" cy="1097280"/>
        </p:xfrm>
        <a:graphic>
          <a:graphicData uri="http://schemas.openxmlformats.org/drawingml/2006/table">
            <a:tbl>
              <a:tblPr>
                <a:tableStyleId>{3C2FFA5D-87B4-456A-9821-1D502468CF0F}</a:tableStyleId>
              </a:tblPr>
              <a:tblGrid>
                <a:gridCol w="1722120">
                  <a:extLst>
                    <a:ext uri="{9D8B030D-6E8A-4147-A177-3AD203B41FA5}">
                      <a16:colId xmlns:a16="http://schemas.microsoft.com/office/drawing/2014/main" val="1431282146"/>
                    </a:ext>
                  </a:extLst>
                </a:gridCol>
                <a:gridCol w="2503170">
                  <a:extLst>
                    <a:ext uri="{9D8B030D-6E8A-4147-A177-3AD203B41FA5}">
                      <a16:colId xmlns:a16="http://schemas.microsoft.com/office/drawing/2014/main" val="627626438"/>
                    </a:ext>
                  </a:extLst>
                </a:gridCol>
                <a:gridCol w="6290310">
                  <a:extLst>
                    <a:ext uri="{9D8B030D-6E8A-4147-A177-3AD203B41FA5}">
                      <a16:colId xmlns:a16="http://schemas.microsoft.com/office/drawing/2014/main" val="3401507428"/>
                    </a:ext>
                  </a:extLst>
                </a:gridCol>
              </a:tblGrid>
              <a:tr h="252248">
                <a:tc>
                  <a:txBody>
                    <a:bodyPr/>
                    <a:lstStyle/>
                    <a:p>
                      <a:r>
                        <a:rPr lang="en-US" sz="2000">
                          <a:solidFill>
                            <a:schemeClr val="tx1"/>
                          </a:solidFill>
                        </a:rPr>
                        <a:t>Tool</a:t>
                      </a:r>
                    </a:p>
                  </a:txBody>
                  <a:tcPr anchor="ctr"/>
                </a:tc>
                <a:tc>
                  <a:txBody>
                    <a:bodyPr/>
                    <a:lstStyle/>
                    <a:p>
                      <a:r>
                        <a:rPr lang="en-US" sz="2000">
                          <a:solidFill>
                            <a:schemeClr val="tx1"/>
                          </a:solidFill>
                        </a:rPr>
                        <a:t>Platform</a:t>
                      </a:r>
                    </a:p>
                  </a:txBody>
                  <a:tcPr anchor="ctr"/>
                </a:tc>
                <a:tc>
                  <a:txBody>
                    <a:bodyPr/>
                    <a:lstStyle/>
                    <a:p>
                      <a:r>
                        <a:rPr lang="en-US" sz="2000" dirty="0">
                          <a:solidFill>
                            <a:schemeClr val="tx1"/>
                          </a:solidFill>
                        </a:rPr>
                        <a:t>Code</a:t>
                      </a:r>
                    </a:p>
                  </a:txBody>
                  <a:tcPr anchor="ctr"/>
                </a:tc>
                <a:extLst>
                  <a:ext uri="{0D108BD9-81ED-4DB2-BD59-A6C34878D82A}">
                    <a16:rowId xmlns:a16="http://schemas.microsoft.com/office/drawing/2014/main" val="2357653778"/>
                  </a:ext>
                </a:extLst>
              </a:tr>
              <a:tr h="441435">
                <a:tc>
                  <a:txBody>
                    <a:bodyPr/>
                    <a:lstStyle/>
                    <a:p>
                      <a:r>
                        <a:rPr lang="en-US" sz="2000" b="1" dirty="0" err="1">
                          <a:solidFill>
                            <a:schemeClr val="tx1"/>
                          </a:solidFill>
                        </a:rPr>
                        <a:t>PyInstaller</a:t>
                      </a:r>
                      <a:endParaRPr lang="en-US" sz="2000" dirty="0">
                        <a:solidFill>
                          <a:schemeClr val="tx1"/>
                        </a:solidFill>
                      </a:endParaRPr>
                    </a:p>
                  </a:txBody>
                  <a:tcPr anchor="ctr"/>
                </a:tc>
                <a:tc>
                  <a:txBody>
                    <a:bodyPr/>
                    <a:lstStyle/>
                    <a:p>
                      <a:r>
                        <a:rPr lang="en-US" sz="2000">
                          <a:solidFill>
                            <a:schemeClr val="tx1"/>
                          </a:solidFill>
                        </a:rPr>
                        <a:t>Cross-platform</a:t>
                      </a:r>
                    </a:p>
                  </a:txBody>
                  <a:tcPr anchor="ctr"/>
                </a:tc>
                <a:tc>
                  <a:txBody>
                    <a:bodyPr/>
                    <a:lstStyle/>
                    <a:p>
                      <a:r>
                        <a:rPr lang="en-US" sz="2000" dirty="0">
                          <a:solidFill>
                            <a:schemeClr val="tx1"/>
                          </a:solidFill>
                        </a:rPr>
                        <a:t>pip install </a:t>
                      </a:r>
                      <a:r>
                        <a:rPr lang="en-US" sz="2000" dirty="0" err="1">
                          <a:solidFill>
                            <a:schemeClr val="tx1"/>
                          </a:solidFill>
                        </a:rPr>
                        <a:t>pyinstaller</a:t>
                      </a:r>
                      <a:endParaRPr lang="en-US" sz="2000" dirty="0">
                        <a:solidFill>
                          <a:schemeClr val="tx1"/>
                        </a:solidFill>
                      </a:endParaRPr>
                    </a:p>
                    <a:p>
                      <a:r>
                        <a:rPr lang="en-US" sz="2000" dirty="0" err="1">
                          <a:solidFill>
                            <a:schemeClr val="tx1"/>
                          </a:solidFill>
                        </a:rPr>
                        <a:t>pyinstaller</a:t>
                      </a:r>
                      <a:r>
                        <a:rPr lang="en-US" sz="2000" dirty="0">
                          <a:solidFill>
                            <a:schemeClr val="tx1"/>
                          </a:solidFill>
                        </a:rPr>
                        <a:t> --</a:t>
                      </a:r>
                      <a:r>
                        <a:rPr lang="en-US" sz="2000" dirty="0" err="1">
                          <a:solidFill>
                            <a:schemeClr val="tx1"/>
                          </a:solidFill>
                        </a:rPr>
                        <a:t>onefile</a:t>
                      </a:r>
                      <a:r>
                        <a:rPr lang="en-US" sz="2000" dirty="0">
                          <a:solidFill>
                            <a:schemeClr val="tx1"/>
                          </a:solidFill>
                        </a:rPr>
                        <a:t> my_script.py</a:t>
                      </a:r>
                    </a:p>
                  </a:txBody>
                  <a:tcPr anchor="ctr"/>
                </a:tc>
                <a:extLst>
                  <a:ext uri="{0D108BD9-81ED-4DB2-BD59-A6C34878D82A}">
                    <a16:rowId xmlns:a16="http://schemas.microsoft.com/office/drawing/2014/main" val="2792183219"/>
                  </a:ext>
                </a:extLst>
              </a:tr>
            </a:tbl>
          </a:graphicData>
        </a:graphic>
      </p:graphicFrame>
    </p:spTree>
    <p:extLst>
      <p:ext uri="{BB962C8B-B14F-4D97-AF65-F5344CB8AC3E}">
        <p14:creationId xmlns:p14="http://schemas.microsoft.com/office/powerpoint/2010/main" val="4289378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4B315-E6BD-1D12-E635-2EFE03291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7C8C79-2A62-9C32-D0E8-CE4F1285B039}"/>
              </a:ext>
            </a:extLst>
          </p:cNvPr>
          <p:cNvSpPr>
            <a:spLocks noGrp="1"/>
          </p:cNvSpPr>
          <p:nvPr>
            <p:ph type="title"/>
          </p:nvPr>
        </p:nvSpPr>
        <p:spPr>
          <a:xfrm>
            <a:off x="262890" y="640080"/>
            <a:ext cx="9955530" cy="925830"/>
          </a:xfrm>
        </p:spPr>
        <p:txBody>
          <a:bodyPr>
            <a:normAutofit fontScale="90000"/>
          </a:bodyPr>
          <a:lstStyle/>
          <a:p>
            <a:r>
              <a:rPr lang="en-US" dirty="0"/>
              <a:t>🔐 What's Included in a Frozen Binary?</a:t>
            </a:r>
          </a:p>
        </p:txBody>
      </p:sp>
      <p:sp>
        <p:nvSpPr>
          <p:cNvPr id="4" name="Slide Number Placeholder 3">
            <a:extLst>
              <a:ext uri="{FF2B5EF4-FFF2-40B4-BE49-F238E27FC236}">
                <a16:creationId xmlns:a16="http://schemas.microsoft.com/office/drawing/2014/main" id="{89D6212B-B5FE-E313-F57A-713422474A4E}"/>
              </a:ext>
            </a:extLst>
          </p:cNvPr>
          <p:cNvSpPr>
            <a:spLocks noGrp="1"/>
          </p:cNvSpPr>
          <p:nvPr>
            <p:ph type="sldNum" sz="quarter" idx="12"/>
          </p:nvPr>
        </p:nvSpPr>
        <p:spPr/>
        <p:txBody>
          <a:bodyPr/>
          <a:lstStyle/>
          <a:p>
            <a:fld id="{CBD12358-51D2-46B3-9BDE-DF29528B9454}" type="slidenum">
              <a:rPr lang="en-US" smtClean="0"/>
              <a:t>12</a:t>
            </a:fld>
            <a:endParaRPr lang="en-US" dirty="0"/>
          </a:p>
        </p:txBody>
      </p:sp>
      <p:pic>
        <p:nvPicPr>
          <p:cNvPr id="11" name="Picture 10">
            <a:extLst>
              <a:ext uri="{FF2B5EF4-FFF2-40B4-BE49-F238E27FC236}">
                <a16:creationId xmlns:a16="http://schemas.microsoft.com/office/drawing/2014/main" id="{34DD30D0-253F-BE8A-D7BD-8833205A2135}"/>
              </a:ext>
            </a:extLst>
          </p:cNvPr>
          <p:cNvPicPr>
            <a:picLocks noChangeAspect="1"/>
          </p:cNvPicPr>
          <p:nvPr/>
        </p:nvPicPr>
        <p:blipFill>
          <a:blip r:embed="rId2"/>
          <a:srcRect t="21308"/>
          <a:stretch>
            <a:fillRect/>
          </a:stretch>
        </p:blipFill>
        <p:spPr>
          <a:xfrm>
            <a:off x="606405" y="2162022"/>
            <a:ext cx="9120295" cy="3255798"/>
          </a:xfrm>
          <a:prstGeom prst="rect">
            <a:avLst/>
          </a:prstGeom>
        </p:spPr>
      </p:pic>
    </p:spTree>
    <p:extLst>
      <p:ext uri="{BB962C8B-B14F-4D97-AF65-F5344CB8AC3E}">
        <p14:creationId xmlns:p14="http://schemas.microsoft.com/office/powerpoint/2010/main" val="2224268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099FB-B887-C522-EB4E-FE6DA4380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D34AB-7AB7-9F47-7AB9-AC0234218D5A}"/>
              </a:ext>
            </a:extLst>
          </p:cNvPr>
          <p:cNvSpPr>
            <a:spLocks noGrp="1"/>
          </p:cNvSpPr>
          <p:nvPr>
            <p:ph type="title"/>
          </p:nvPr>
        </p:nvSpPr>
        <p:spPr>
          <a:xfrm>
            <a:off x="547714" y="1257300"/>
            <a:ext cx="9955530" cy="925830"/>
          </a:xfrm>
        </p:spPr>
        <p:txBody>
          <a:bodyPr>
            <a:normAutofit/>
          </a:bodyPr>
          <a:lstStyle/>
          <a:p>
            <a:r>
              <a:rPr lang="en-US" dirty="0"/>
              <a:t>⚠️ Limitations</a:t>
            </a:r>
          </a:p>
        </p:txBody>
      </p:sp>
      <p:sp>
        <p:nvSpPr>
          <p:cNvPr id="4" name="Slide Number Placeholder 3">
            <a:extLst>
              <a:ext uri="{FF2B5EF4-FFF2-40B4-BE49-F238E27FC236}">
                <a16:creationId xmlns:a16="http://schemas.microsoft.com/office/drawing/2014/main" id="{82D50AB3-3346-A5E0-2EBA-5C17F916E768}"/>
              </a:ext>
            </a:extLst>
          </p:cNvPr>
          <p:cNvSpPr>
            <a:spLocks noGrp="1"/>
          </p:cNvSpPr>
          <p:nvPr>
            <p:ph type="sldNum" sz="quarter" idx="12"/>
          </p:nvPr>
        </p:nvSpPr>
        <p:spPr/>
        <p:txBody>
          <a:bodyPr/>
          <a:lstStyle/>
          <a:p>
            <a:fld id="{CBD12358-51D2-46B3-9BDE-DF29528B9454}" type="slidenum">
              <a:rPr lang="en-US" smtClean="0"/>
              <a:t>13</a:t>
            </a:fld>
            <a:endParaRPr lang="en-US" dirty="0"/>
          </a:p>
        </p:txBody>
      </p:sp>
      <p:sp>
        <p:nvSpPr>
          <p:cNvPr id="12" name="TextBox 11">
            <a:extLst>
              <a:ext uri="{FF2B5EF4-FFF2-40B4-BE49-F238E27FC236}">
                <a16:creationId xmlns:a16="http://schemas.microsoft.com/office/drawing/2014/main" id="{ACD9D094-1223-A784-6FD0-0867E6EF9269}"/>
              </a:ext>
            </a:extLst>
          </p:cNvPr>
          <p:cNvSpPr txBox="1"/>
          <p:nvPr/>
        </p:nvSpPr>
        <p:spPr>
          <a:xfrm>
            <a:off x="547714" y="2926080"/>
            <a:ext cx="9670706" cy="2942344"/>
          </a:xfrm>
          <a:prstGeom prst="rect">
            <a:avLst/>
          </a:prstGeom>
        </p:spPr>
        <p:txBody>
          <a:bodyPr wrap="square" rtlCol="0">
            <a:spAutoFit/>
          </a:bodyPr>
          <a:lstStyle/>
          <a:p>
            <a:pPr lvl="0" eaLnBrk="0" fontAlgn="base" hangingPunct="0">
              <a:lnSpc>
                <a:spcPct val="200000"/>
              </a:lnSpc>
              <a:spcBef>
                <a:spcPct val="0"/>
              </a:spcBef>
              <a:spcAft>
                <a:spcPct val="0"/>
              </a:spcAft>
              <a:buFontTx/>
              <a:buChar char="•"/>
            </a:pPr>
            <a:r>
              <a:rPr lang="en-US" altLang="en-US" sz="2400" dirty="0">
                <a:solidFill>
                  <a:schemeClr val="bg1"/>
                </a:solidFill>
                <a:latin typeface="Arial" panose="020B0604020202020204" pitchFamily="34" charset="0"/>
              </a:rPr>
              <a:t>Executables are </a:t>
            </a:r>
            <a:r>
              <a:rPr lang="en-US" altLang="en-US" sz="2400" b="1" dirty="0">
                <a:solidFill>
                  <a:schemeClr val="bg1"/>
                </a:solidFill>
                <a:latin typeface="Arial" panose="020B0604020202020204" pitchFamily="34" charset="0"/>
              </a:rPr>
              <a:t>larger in size</a:t>
            </a:r>
            <a:r>
              <a:rPr lang="en-US" altLang="en-US" sz="2400" dirty="0">
                <a:solidFill>
                  <a:schemeClr val="bg1"/>
                </a:solidFill>
                <a:latin typeface="Arial" panose="020B0604020202020204" pitchFamily="34" charset="0"/>
              </a:rPr>
              <a:t> (can be 20–100MB+)</a:t>
            </a:r>
          </a:p>
          <a:p>
            <a:pPr lvl="0" eaLnBrk="0" fontAlgn="base" hangingPunct="0">
              <a:lnSpc>
                <a:spcPct val="200000"/>
              </a:lnSpc>
              <a:spcBef>
                <a:spcPct val="0"/>
              </a:spcBef>
              <a:spcAft>
                <a:spcPct val="0"/>
              </a:spcAft>
              <a:buFontTx/>
              <a:buChar char="•"/>
            </a:pPr>
            <a:r>
              <a:rPr lang="en-US" altLang="en-US" sz="2400" dirty="0">
                <a:solidFill>
                  <a:schemeClr val="bg1"/>
                </a:solidFill>
                <a:latin typeface="Arial" panose="020B0604020202020204" pitchFamily="34" charset="0"/>
              </a:rPr>
              <a:t>May require tweaking for complex apps (e.g., GUI, web servers)</a:t>
            </a:r>
          </a:p>
          <a:p>
            <a:pPr lvl="0" eaLnBrk="0" fontAlgn="base" hangingPunct="0">
              <a:lnSpc>
                <a:spcPct val="200000"/>
              </a:lnSpc>
              <a:spcBef>
                <a:spcPct val="0"/>
              </a:spcBef>
              <a:spcAft>
                <a:spcPct val="0"/>
              </a:spcAft>
              <a:buFontTx/>
              <a:buChar char="•"/>
            </a:pPr>
            <a:r>
              <a:rPr lang="en-US" altLang="en-US" sz="2400" dirty="0">
                <a:solidFill>
                  <a:schemeClr val="bg1"/>
                </a:solidFill>
                <a:latin typeface="Arial" panose="020B0604020202020204" pitchFamily="34" charset="0"/>
              </a:rPr>
              <a:t>Platform-specific (Windows </a:t>
            </a:r>
            <a:r>
              <a:rPr lang="en-US" altLang="en-US" sz="2400" dirty="0">
                <a:solidFill>
                  <a:schemeClr val="bg1"/>
                </a:solidFill>
                <a:latin typeface="Arial Unicode MS"/>
              </a:rPr>
              <a:t>.exe</a:t>
            </a:r>
            <a:r>
              <a:rPr lang="en-US" altLang="en-US" sz="2400" dirty="0">
                <a:solidFill>
                  <a:schemeClr val="bg1"/>
                </a:solidFill>
              </a:rPr>
              <a:t> won't run on Linux)</a:t>
            </a:r>
            <a:endParaRPr lang="en-US" altLang="en-US" sz="2400" dirty="0">
              <a:solidFill>
                <a:schemeClr val="bg1"/>
              </a:solidFill>
              <a:latin typeface="Arial" panose="020B0604020202020204" pitchFamily="34" charset="0"/>
            </a:endParaRPr>
          </a:p>
          <a:p>
            <a:pPr marL="0" indent="0" algn="ctr">
              <a:lnSpc>
                <a:spcPct val="200000"/>
              </a:lnSpc>
              <a:spcBef>
                <a:spcPts val="0"/>
              </a:spcBef>
              <a:buFontTx/>
              <a:buNone/>
            </a:pPr>
            <a:endParaRPr lang="en-US" sz="2400" dirty="0">
              <a:solidFill>
                <a:schemeClr val="bg1"/>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2934065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C0592-E926-5651-44BB-4B2E799F384A}"/>
              </a:ext>
            </a:extLst>
          </p:cNvPr>
          <p:cNvSpPr>
            <a:spLocks noGrp="1"/>
          </p:cNvSpPr>
          <p:nvPr>
            <p:ph type="title"/>
          </p:nvPr>
        </p:nvSpPr>
        <p:spPr/>
        <p:txBody>
          <a:bodyPr/>
          <a:lstStyle/>
          <a:p>
            <a:r>
              <a:rPr lang="en-US" dirty="0"/>
              <a:t>Memory Management in Python</a:t>
            </a:r>
          </a:p>
        </p:txBody>
      </p:sp>
    </p:spTree>
    <p:extLst>
      <p:ext uri="{BB962C8B-B14F-4D97-AF65-F5344CB8AC3E}">
        <p14:creationId xmlns:p14="http://schemas.microsoft.com/office/powerpoint/2010/main" val="4268106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23A8-B72F-B8C5-0D9B-89E07412E58C}"/>
              </a:ext>
            </a:extLst>
          </p:cNvPr>
          <p:cNvSpPr>
            <a:spLocks noGrp="1"/>
          </p:cNvSpPr>
          <p:nvPr>
            <p:ph type="title"/>
          </p:nvPr>
        </p:nvSpPr>
        <p:spPr>
          <a:xfrm>
            <a:off x="674370" y="365760"/>
            <a:ext cx="8481060" cy="1165860"/>
          </a:xfrm>
        </p:spPr>
        <p:txBody>
          <a:bodyPr/>
          <a:lstStyle/>
          <a:p>
            <a:r>
              <a:rPr lang="en-US" dirty="0"/>
              <a:t>Memory Allocation in Python</a:t>
            </a:r>
          </a:p>
        </p:txBody>
      </p:sp>
      <p:sp>
        <p:nvSpPr>
          <p:cNvPr id="3" name="Content Placeholder 2">
            <a:extLst>
              <a:ext uri="{FF2B5EF4-FFF2-40B4-BE49-F238E27FC236}">
                <a16:creationId xmlns:a16="http://schemas.microsoft.com/office/drawing/2014/main" id="{6CD8C65F-A67A-DB1E-3AD6-A607A7C8D551}"/>
              </a:ext>
            </a:extLst>
          </p:cNvPr>
          <p:cNvSpPr>
            <a:spLocks noGrp="1"/>
          </p:cNvSpPr>
          <p:nvPr>
            <p:ph idx="14"/>
          </p:nvPr>
        </p:nvSpPr>
        <p:spPr>
          <a:xfrm>
            <a:off x="457200" y="1863091"/>
            <a:ext cx="10847070" cy="4719954"/>
          </a:xfrm>
        </p:spPr>
        <p:txBody>
          <a:bodyPr>
            <a:normAutofit/>
          </a:bodyPr>
          <a:lstStyle/>
          <a:p>
            <a:pPr marL="0" indent="0" fontAlgn="base">
              <a:buNone/>
            </a:pPr>
            <a:r>
              <a:rPr lang="en-US" sz="2800" dirty="0"/>
              <a:t>There are two parts of memory:</a:t>
            </a:r>
          </a:p>
          <a:p>
            <a:pPr fontAlgn="base"/>
            <a:r>
              <a:rPr lang="en-US" sz="2800" dirty="0"/>
              <a:t>Stack Memory - contiguous blocks of memory. Its allocation happens in the function call stack and the size of memory to be allocated is known to the compiler and whenever a function is called, its variables get memory allocated on the stack. </a:t>
            </a:r>
          </a:p>
          <a:p>
            <a:pPr fontAlgn="base"/>
            <a:r>
              <a:rPr lang="en-US" sz="2800" dirty="0"/>
              <a:t>Heap Memory - allocated during the execution of instructions written by programmers. It is called heap because it is a pile of memory space available to programmers to allocated and de-allocate. The variables which are needed outside of method or function calls or are shared within multiple functions globally are stored in Heap memory.</a:t>
            </a:r>
          </a:p>
          <a:p>
            <a:pPr marL="0" indent="0">
              <a:buNone/>
            </a:pPr>
            <a:endParaRPr lang="en-US" sz="2400" dirty="0"/>
          </a:p>
        </p:txBody>
      </p:sp>
      <p:sp>
        <p:nvSpPr>
          <p:cNvPr id="4" name="Slide Number Placeholder 3">
            <a:extLst>
              <a:ext uri="{FF2B5EF4-FFF2-40B4-BE49-F238E27FC236}">
                <a16:creationId xmlns:a16="http://schemas.microsoft.com/office/drawing/2014/main" id="{05F6C015-5E01-20E9-E960-07B6663808EF}"/>
              </a:ext>
            </a:extLst>
          </p:cNvPr>
          <p:cNvSpPr>
            <a:spLocks noGrp="1"/>
          </p:cNvSpPr>
          <p:nvPr>
            <p:ph type="sldNum" sz="quarter" idx="12"/>
          </p:nvPr>
        </p:nvSpPr>
        <p:spPr/>
        <p:txBody>
          <a:bodyPr/>
          <a:lstStyle/>
          <a:p>
            <a:fld id="{CBD12358-51D2-46B3-9BDE-DF29528B9454}" type="slidenum">
              <a:rPr lang="en-US" smtClean="0"/>
              <a:t>15</a:t>
            </a:fld>
            <a:endParaRPr lang="en-US" dirty="0"/>
          </a:p>
        </p:txBody>
      </p:sp>
    </p:spTree>
    <p:extLst>
      <p:ext uri="{BB962C8B-B14F-4D97-AF65-F5344CB8AC3E}">
        <p14:creationId xmlns:p14="http://schemas.microsoft.com/office/powerpoint/2010/main" val="1569074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F063D-3BAD-9A65-2DE6-5AB557785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9F14E-F050-FC8F-4E0F-A393232A0F7D}"/>
              </a:ext>
            </a:extLst>
          </p:cNvPr>
          <p:cNvSpPr>
            <a:spLocks noGrp="1"/>
          </p:cNvSpPr>
          <p:nvPr>
            <p:ph type="title"/>
          </p:nvPr>
        </p:nvSpPr>
        <p:spPr>
          <a:xfrm>
            <a:off x="365760" y="731520"/>
            <a:ext cx="8903970" cy="1280160"/>
          </a:xfrm>
        </p:spPr>
        <p:txBody>
          <a:bodyPr>
            <a:normAutofit fontScale="90000"/>
          </a:bodyPr>
          <a:lstStyle/>
          <a:p>
            <a:r>
              <a:rPr lang="en-US" dirty="0"/>
              <a:t>🧠 1. Stack Memory </a:t>
            </a:r>
            <a:br>
              <a:rPr lang="en-US" dirty="0"/>
            </a:br>
            <a:r>
              <a:rPr lang="en-US" dirty="0"/>
              <a:t>(for function execution)</a:t>
            </a:r>
          </a:p>
        </p:txBody>
      </p:sp>
      <p:sp>
        <p:nvSpPr>
          <p:cNvPr id="3" name="Content Placeholder 2">
            <a:extLst>
              <a:ext uri="{FF2B5EF4-FFF2-40B4-BE49-F238E27FC236}">
                <a16:creationId xmlns:a16="http://schemas.microsoft.com/office/drawing/2014/main" id="{D0E42170-810D-06C9-1FA1-6BEAD94187CC}"/>
              </a:ext>
            </a:extLst>
          </p:cNvPr>
          <p:cNvSpPr>
            <a:spLocks noGrp="1"/>
          </p:cNvSpPr>
          <p:nvPr>
            <p:ph idx="14"/>
          </p:nvPr>
        </p:nvSpPr>
        <p:spPr>
          <a:xfrm>
            <a:off x="1110739" y="2297112"/>
            <a:ext cx="9816341" cy="4103370"/>
          </a:xfrm>
        </p:spPr>
        <p:txBody>
          <a:bodyPr>
            <a:noAutofit/>
          </a:bodyPr>
          <a:lstStyle/>
          <a:p>
            <a:pPr marL="0" indent="0">
              <a:buNone/>
            </a:pPr>
            <a:r>
              <a:rPr lang="en-US" sz="2800" b="1" dirty="0"/>
              <a:t>✅ What it stores:</a:t>
            </a:r>
          </a:p>
          <a:p>
            <a:r>
              <a:rPr lang="en-US" sz="2800" dirty="0"/>
              <a:t>Local variables inside functions</a:t>
            </a:r>
          </a:p>
          <a:p>
            <a:r>
              <a:rPr lang="en-US" sz="2800" dirty="0"/>
              <a:t>Function calls and their execution context</a:t>
            </a:r>
          </a:p>
          <a:p>
            <a:pPr marL="0" indent="0">
              <a:buNone/>
            </a:pPr>
            <a:r>
              <a:rPr lang="en-US" sz="2800" b="1" dirty="0"/>
              <a:t>🔄 How it works:</a:t>
            </a:r>
          </a:p>
          <a:p>
            <a:r>
              <a:rPr lang="en-US" sz="2800" b="1" dirty="0"/>
              <a:t>LIFO (Last-In-First-Out)</a:t>
            </a:r>
            <a:r>
              <a:rPr lang="en-US" sz="2800" dirty="0"/>
              <a:t> structure</a:t>
            </a:r>
          </a:p>
          <a:p>
            <a:r>
              <a:rPr lang="en-US" sz="2800" dirty="0"/>
              <a:t>When a function is called, a </a:t>
            </a:r>
            <a:r>
              <a:rPr lang="en-US" sz="2800" b="1" dirty="0"/>
              <a:t>stack frame</a:t>
            </a:r>
            <a:r>
              <a:rPr lang="en-US" sz="2800" dirty="0"/>
              <a:t> is created</a:t>
            </a:r>
          </a:p>
          <a:p>
            <a:r>
              <a:rPr lang="en-US" sz="2800" dirty="0"/>
              <a:t>When the function exits, the stack frame is </a:t>
            </a:r>
            <a:r>
              <a:rPr lang="en-US" sz="2800" b="1" dirty="0"/>
              <a:t>popped</a:t>
            </a:r>
            <a:r>
              <a:rPr lang="en-US" sz="2800" dirty="0"/>
              <a:t> (deleted)</a:t>
            </a:r>
          </a:p>
        </p:txBody>
      </p:sp>
      <p:sp>
        <p:nvSpPr>
          <p:cNvPr id="4" name="Slide Number Placeholder 3">
            <a:extLst>
              <a:ext uri="{FF2B5EF4-FFF2-40B4-BE49-F238E27FC236}">
                <a16:creationId xmlns:a16="http://schemas.microsoft.com/office/drawing/2014/main" id="{B0AA2560-5967-07C2-0931-C704AFE312E2}"/>
              </a:ext>
            </a:extLst>
          </p:cNvPr>
          <p:cNvSpPr>
            <a:spLocks noGrp="1"/>
          </p:cNvSpPr>
          <p:nvPr>
            <p:ph type="sldNum" sz="quarter" idx="12"/>
          </p:nvPr>
        </p:nvSpPr>
        <p:spPr>
          <a:xfrm>
            <a:off x="11274179" y="6217920"/>
            <a:ext cx="458592" cy="365125"/>
          </a:xfrm>
        </p:spPr>
        <p:txBody>
          <a:bodyPr/>
          <a:lstStyle/>
          <a:p>
            <a:fld id="{CBD12358-51D2-46B3-9BDE-DF29528B9454}" type="slidenum">
              <a:rPr lang="en-US" smtClean="0"/>
              <a:t>16</a:t>
            </a:fld>
            <a:endParaRPr lang="en-US" dirty="0"/>
          </a:p>
        </p:txBody>
      </p:sp>
    </p:spTree>
    <p:extLst>
      <p:ext uri="{BB962C8B-B14F-4D97-AF65-F5344CB8AC3E}">
        <p14:creationId xmlns:p14="http://schemas.microsoft.com/office/powerpoint/2010/main" val="1210834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C9F567E-231B-6E5D-1251-8B923F9452E9}"/>
              </a:ext>
            </a:extLst>
          </p:cNvPr>
          <p:cNvSpPr>
            <a:spLocks noGrp="1"/>
          </p:cNvSpPr>
          <p:nvPr>
            <p:ph type="body" sz="quarter" idx="28"/>
          </p:nvPr>
        </p:nvSpPr>
        <p:spPr>
          <a:xfrm>
            <a:off x="6096000" y="3871610"/>
            <a:ext cx="5551170" cy="2445886"/>
          </a:xfrm>
        </p:spPr>
        <p:txBody>
          <a:bodyPr>
            <a:noAutofit/>
          </a:bodyPr>
          <a:lstStyle/>
          <a:p>
            <a:endParaRPr lang="en-US" sz="2400" dirty="0"/>
          </a:p>
          <a:p>
            <a:pPr lvl="0" eaLnBrk="0" fontAlgn="base" hangingPunct="0">
              <a:spcBef>
                <a:spcPct val="0"/>
              </a:spcBef>
              <a:spcAft>
                <a:spcPct val="0"/>
              </a:spcAft>
            </a:pPr>
            <a:r>
              <a:rPr lang="en-US" altLang="en-US" sz="2400" dirty="0">
                <a:latin typeface="Arial" panose="020B0604020202020204" pitchFamily="34" charset="0"/>
              </a:rPr>
              <a:t>When </a:t>
            </a:r>
            <a:r>
              <a:rPr lang="en-US" altLang="en-US" sz="2400" dirty="0">
                <a:latin typeface="Arial Unicode MS"/>
              </a:rPr>
              <a:t>add(2, 3)</a:t>
            </a:r>
            <a:r>
              <a:rPr lang="en-US" altLang="en-US" sz="2400" dirty="0"/>
              <a:t> is called:</a:t>
            </a:r>
            <a:endParaRPr lang="en-US" altLang="en-US" sz="2400" dirty="0">
              <a:latin typeface="Arial" panose="020B0604020202020204" pitchFamily="34" charset="0"/>
            </a:endParaRPr>
          </a:p>
          <a:p>
            <a:pPr lvl="0" eaLnBrk="0" fontAlgn="base" hangingPunct="0">
              <a:spcBef>
                <a:spcPct val="0"/>
              </a:spcBef>
              <a:spcAft>
                <a:spcPct val="0"/>
              </a:spcAft>
              <a:buFontTx/>
              <a:buChar char="•"/>
            </a:pPr>
            <a:r>
              <a:rPr lang="en-US" altLang="en-US" sz="2400" dirty="0">
                <a:latin typeface="Arial" panose="020B0604020202020204" pitchFamily="34" charset="0"/>
              </a:rPr>
              <a:t>A </a:t>
            </a:r>
            <a:r>
              <a:rPr lang="en-US" altLang="en-US" sz="2400" b="1" dirty="0">
                <a:latin typeface="Arial" panose="020B0604020202020204" pitchFamily="34" charset="0"/>
              </a:rPr>
              <a:t>stack frame</a:t>
            </a:r>
            <a:r>
              <a:rPr lang="en-US" altLang="en-US" sz="2400" dirty="0">
                <a:latin typeface="Arial" panose="020B0604020202020204" pitchFamily="34" charset="0"/>
              </a:rPr>
              <a:t> is created with variables </a:t>
            </a:r>
            <a:r>
              <a:rPr lang="en-US" altLang="en-US" sz="2400" dirty="0">
                <a:latin typeface="Arial Unicode MS"/>
              </a:rPr>
              <a:t>a</a:t>
            </a:r>
            <a:r>
              <a:rPr lang="en-US" altLang="en-US" sz="2400" dirty="0"/>
              <a:t>, </a:t>
            </a:r>
            <a:r>
              <a:rPr lang="en-US" altLang="en-US" sz="2400" dirty="0">
                <a:latin typeface="Arial Unicode MS"/>
              </a:rPr>
              <a:t>b</a:t>
            </a:r>
            <a:r>
              <a:rPr lang="en-US" altLang="en-US" sz="2400" dirty="0"/>
              <a:t>, and </a:t>
            </a:r>
            <a:r>
              <a:rPr lang="en-US" altLang="en-US" sz="2400" dirty="0">
                <a:latin typeface="Arial Unicode MS"/>
              </a:rPr>
              <a:t>result</a:t>
            </a:r>
            <a:endParaRPr lang="en-US" altLang="en-US" sz="2400" dirty="0"/>
          </a:p>
          <a:p>
            <a:pPr lvl="0" eaLnBrk="0" fontAlgn="base" hangingPunct="0">
              <a:spcBef>
                <a:spcPct val="0"/>
              </a:spcBef>
              <a:spcAft>
                <a:spcPct val="0"/>
              </a:spcAft>
              <a:buFontTx/>
              <a:buChar char="•"/>
            </a:pPr>
            <a:r>
              <a:rPr lang="en-US" altLang="en-US" sz="2400" dirty="0">
                <a:latin typeface="Arial" panose="020B0604020202020204" pitchFamily="34" charset="0"/>
              </a:rPr>
              <a:t>Once </a:t>
            </a:r>
            <a:r>
              <a:rPr lang="en-US" altLang="en-US" sz="2400" dirty="0">
                <a:latin typeface="Arial Unicode MS"/>
              </a:rPr>
              <a:t>add</a:t>
            </a:r>
            <a:r>
              <a:rPr lang="en-US" altLang="en-US" sz="2400" dirty="0"/>
              <a:t> returns, this stack frame is removed</a:t>
            </a:r>
            <a:endParaRPr lang="en-US" sz="2400" dirty="0"/>
          </a:p>
        </p:txBody>
      </p:sp>
      <p:sp>
        <p:nvSpPr>
          <p:cNvPr id="6" name="Title 5">
            <a:extLst>
              <a:ext uri="{FF2B5EF4-FFF2-40B4-BE49-F238E27FC236}">
                <a16:creationId xmlns:a16="http://schemas.microsoft.com/office/drawing/2014/main" id="{290F2F3F-2D0B-C3CD-F2AB-6696583A7A6E}"/>
              </a:ext>
            </a:extLst>
          </p:cNvPr>
          <p:cNvSpPr txBox="1">
            <a:spLocks noGrp="1"/>
          </p:cNvSpPr>
          <p:nvPr>
            <p:ph type="title"/>
          </p:nvPr>
        </p:nvSpPr>
        <p:spPr>
          <a:xfrm>
            <a:off x="5909310" y="928303"/>
            <a:ext cx="5381943" cy="2751522"/>
          </a:xfrm>
          <a:prstGeom prst="rect">
            <a:avLst/>
          </a:prstGeom>
          <a:noFill/>
        </p:spPr>
        <p:txBody>
          <a:bodyPr wrap="square">
            <a:spAutoFit/>
          </a:bodyPr>
          <a:lstStyle/>
          <a:p>
            <a:br>
              <a:rPr lang="en-US" sz="2800" dirty="0">
                <a:solidFill>
                  <a:schemeClr val="bg1"/>
                </a:solidFill>
              </a:rPr>
            </a:br>
            <a:r>
              <a:rPr lang="en-US" sz="2800" dirty="0">
                <a:solidFill>
                  <a:schemeClr val="bg1"/>
                </a:solidFill>
              </a:rPr>
              <a:t>def add(a, b):</a:t>
            </a:r>
          </a:p>
          <a:p>
            <a:r>
              <a:rPr lang="en-US" sz="2800" dirty="0">
                <a:solidFill>
                  <a:schemeClr val="bg1"/>
                </a:solidFill>
              </a:rPr>
              <a:t>    result = a + b</a:t>
            </a:r>
          </a:p>
          <a:p>
            <a:r>
              <a:rPr lang="en-US" sz="2800" dirty="0">
                <a:solidFill>
                  <a:schemeClr val="bg1"/>
                </a:solidFill>
              </a:rPr>
              <a:t>    return result</a:t>
            </a:r>
          </a:p>
          <a:p>
            <a:endParaRPr lang="en-US" sz="2800" dirty="0">
              <a:solidFill>
                <a:schemeClr val="bg1"/>
              </a:solidFill>
            </a:endParaRPr>
          </a:p>
          <a:p>
            <a:r>
              <a:rPr lang="en-US" sz="2800" dirty="0">
                <a:solidFill>
                  <a:schemeClr val="bg1"/>
                </a:solidFill>
              </a:rPr>
              <a:t>sum = add(2, 3)</a:t>
            </a:r>
            <a:endParaRPr lang="en-US" sz="2400" dirty="0">
              <a:solidFill>
                <a:schemeClr val="bg1"/>
              </a:solidFill>
            </a:endParaRPr>
          </a:p>
          <a:p>
            <a:endParaRPr lang="en-US" sz="2400" dirty="0">
              <a:solidFill>
                <a:schemeClr val="bg1"/>
              </a:solidFill>
            </a:endParaRPr>
          </a:p>
        </p:txBody>
      </p:sp>
      <p:sp>
        <p:nvSpPr>
          <p:cNvPr id="5" name="TextBox 4">
            <a:extLst>
              <a:ext uri="{FF2B5EF4-FFF2-40B4-BE49-F238E27FC236}">
                <a16:creationId xmlns:a16="http://schemas.microsoft.com/office/drawing/2014/main" id="{5D4D771A-1838-5655-0F6E-80A6B35A538D}"/>
              </a:ext>
            </a:extLst>
          </p:cNvPr>
          <p:cNvSpPr txBox="1"/>
          <p:nvPr/>
        </p:nvSpPr>
        <p:spPr>
          <a:xfrm>
            <a:off x="1803083" y="2844225"/>
            <a:ext cx="1785937" cy="584775"/>
          </a:xfrm>
          <a:prstGeom prst="rect">
            <a:avLst/>
          </a:prstGeom>
          <a:noFill/>
        </p:spPr>
        <p:txBody>
          <a:bodyPr wrap="square">
            <a:spAutoFit/>
          </a:bodyPr>
          <a:lstStyle/>
          <a:p>
            <a:r>
              <a:rPr lang="en-US" sz="3200" dirty="0">
                <a:solidFill>
                  <a:schemeClr val="bg1"/>
                </a:solidFill>
              </a:rPr>
              <a:t>Example </a:t>
            </a:r>
            <a:endParaRPr lang="en-US" sz="3200" dirty="0"/>
          </a:p>
        </p:txBody>
      </p:sp>
    </p:spTree>
    <p:extLst>
      <p:ext uri="{BB962C8B-B14F-4D97-AF65-F5344CB8AC3E}">
        <p14:creationId xmlns:p14="http://schemas.microsoft.com/office/powerpoint/2010/main" val="3412185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7E2AE-48CC-A7D4-A326-EACD6FDA6032}"/>
              </a:ext>
            </a:extLst>
          </p:cNvPr>
          <p:cNvSpPr>
            <a:spLocks noGrp="1"/>
          </p:cNvSpPr>
          <p:nvPr>
            <p:ph type="title"/>
          </p:nvPr>
        </p:nvSpPr>
        <p:spPr>
          <a:xfrm>
            <a:off x="217170" y="651509"/>
            <a:ext cx="10401300" cy="1280160"/>
          </a:xfrm>
        </p:spPr>
        <p:txBody>
          <a:bodyPr>
            <a:normAutofit fontScale="90000"/>
          </a:bodyPr>
          <a:lstStyle/>
          <a:p>
            <a:r>
              <a:rPr lang="en-US" dirty="0"/>
              <a:t>🗂️ 2. Heap Memory-(for object storage)</a:t>
            </a:r>
          </a:p>
        </p:txBody>
      </p:sp>
      <p:sp>
        <p:nvSpPr>
          <p:cNvPr id="3" name="Content Placeholder 2">
            <a:extLst>
              <a:ext uri="{FF2B5EF4-FFF2-40B4-BE49-F238E27FC236}">
                <a16:creationId xmlns:a16="http://schemas.microsoft.com/office/drawing/2014/main" id="{CC00F3ED-AED3-9FD4-0BDD-41F2DE2999A0}"/>
              </a:ext>
            </a:extLst>
          </p:cNvPr>
          <p:cNvSpPr>
            <a:spLocks noGrp="1"/>
          </p:cNvSpPr>
          <p:nvPr>
            <p:ph idx="14"/>
          </p:nvPr>
        </p:nvSpPr>
        <p:spPr>
          <a:xfrm>
            <a:off x="459229" y="2205672"/>
            <a:ext cx="11382251" cy="4103370"/>
          </a:xfrm>
        </p:spPr>
        <p:txBody>
          <a:bodyPr>
            <a:noAutofit/>
          </a:bodyPr>
          <a:lstStyle/>
          <a:p>
            <a:pPr marL="0" indent="0">
              <a:buNone/>
            </a:pPr>
            <a:r>
              <a:rPr lang="en-US" sz="2800" b="1" dirty="0"/>
              <a:t>✅ What it stores:</a:t>
            </a:r>
          </a:p>
          <a:p>
            <a:pPr marL="0" indent="0">
              <a:buNone/>
            </a:pPr>
            <a:r>
              <a:rPr lang="en-US" sz="2800" dirty="0"/>
              <a:t>All Python </a:t>
            </a:r>
            <a:r>
              <a:rPr lang="en-US" sz="2800" b="1" dirty="0"/>
              <a:t>objects and data structures</a:t>
            </a:r>
            <a:endParaRPr lang="en-US" sz="2800" dirty="0"/>
          </a:p>
          <a:p>
            <a:pPr marL="384048" lvl="1" indent="0">
              <a:buNone/>
            </a:pPr>
            <a:r>
              <a:rPr lang="en-US" sz="2800" dirty="0"/>
              <a:t>Lists, dictionaries, custom class objects</a:t>
            </a:r>
          </a:p>
          <a:p>
            <a:pPr marL="384048" lvl="1" indent="0">
              <a:buNone/>
            </a:pPr>
            <a:r>
              <a:rPr lang="en-US" sz="2800" dirty="0"/>
              <a:t>Even values of variables (in some cases)</a:t>
            </a:r>
          </a:p>
          <a:p>
            <a:pPr marL="0" indent="0">
              <a:buNone/>
            </a:pPr>
            <a:r>
              <a:rPr lang="en-US" sz="2800" b="1" dirty="0"/>
              <a:t>🧠 How it works:</a:t>
            </a:r>
          </a:p>
          <a:p>
            <a:pPr marL="0" indent="0">
              <a:buNone/>
            </a:pPr>
            <a:r>
              <a:rPr lang="en-US" sz="2800" dirty="0"/>
              <a:t>Managed by the </a:t>
            </a:r>
            <a:r>
              <a:rPr lang="en-US" sz="2800" b="1" dirty="0"/>
              <a:t>Python Memory Manager</a:t>
            </a:r>
            <a:endParaRPr lang="en-US" sz="2800" dirty="0"/>
          </a:p>
          <a:p>
            <a:pPr marL="0" indent="0">
              <a:buNone/>
            </a:pPr>
            <a:r>
              <a:rPr lang="en-US" sz="2800" dirty="0"/>
              <a:t>Memory is allocated dynamically</a:t>
            </a:r>
          </a:p>
          <a:p>
            <a:pPr marL="0" indent="0">
              <a:buNone/>
            </a:pPr>
            <a:r>
              <a:rPr lang="en-US" sz="2800" dirty="0"/>
              <a:t>Cleaned up by the </a:t>
            </a:r>
            <a:r>
              <a:rPr lang="en-US" sz="2800" b="1" dirty="0"/>
              <a:t>Garbage Collector</a:t>
            </a:r>
            <a:r>
              <a:rPr lang="en-US" sz="2800" dirty="0"/>
              <a:t> when no references are left</a:t>
            </a:r>
          </a:p>
        </p:txBody>
      </p:sp>
      <p:sp>
        <p:nvSpPr>
          <p:cNvPr id="4" name="Slide Number Placeholder 3">
            <a:extLst>
              <a:ext uri="{FF2B5EF4-FFF2-40B4-BE49-F238E27FC236}">
                <a16:creationId xmlns:a16="http://schemas.microsoft.com/office/drawing/2014/main" id="{1BCBE261-6512-A1F5-1C4D-60BD3E3D41D7}"/>
              </a:ext>
            </a:extLst>
          </p:cNvPr>
          <p:cNvSpPr>
            <a:spLocks noGrp="1"/>
          </p:cNvSpPr>
          <p:nvPr>
            <p:ph type="sldNum" sz="quarter" idx="12"/>
          </p:nvPr>
        </p:nvSpPr>
        <p:spPr>
          <a:xfrm>
            <a:off x="11274179" y="6217920"/>
            <a:ext cx="458592" cy="365125"/>
          </a:xfrm>
        </p:spPr>
        <p:txBody>
          <a:bodyPr/>
          <a:lstStyle/>
          <a:p>
            <a:fld id="{CBD12358-51D2-46B3-9BDE-DF29528B9454}" type="slidenum">
              <a:rPr lang="en-US" smtClean="0"/>
              <a:t>18</a:t>
            </a:fld>
            <a:endParaRPr lang="en-US" dirty="0"/>
          </a:p>
        </p:txBody>
      </p:sp>
    </p:spTree>
    <p:extLst>
      <p:ext uri="{BB962C8B-B14F-4D97-AF65-F5344CB8AC3E}">
        <p14:creationId xmlns:p14="http://schemas.microsoft.com/office/powerpoint/2010/main" val="529508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73CD8-77D1-740D-AA7C-5C8A2E79AE9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B05148D-729A-30F1-A1FD-6B97F6948C64}"/>
              </a:ext>
            </a:extLst>
          </p:cNvPr>
          <p:cNvSpPr txBox="1">
            <a:spLocks noGrp="1"/>
          </p:cNvSpPr>
          <p:nvPr>
            <p:ph type="title"/>
          </p:nvPr>
        </p:nvSpPr>
        <p:spPr>
          <a:xfrm>
            <a:off x="5909310" y="2479496"/>
            <a:ext cx="5381943" cy="1200329"/>
          </a:xfrm>
          <a:prstGeom prst="rect">
            <a:avLst/>
          </a:prstGeom>
          <a:noFill/>
        </p:spPr>
        <p:txBody>
          <a:bodyPr wrap="square">
            <a:spAutoFit/>
          </a:bodyPr>
          <a:lstStyle/>
          <a:p>
            <a:br>
              <a:rPr lang="en-US" sz="2800" dirty="0">
                <a:solidFill>
                  <a:schemeClr val="bg1"/>
                </a:solidFill>
              </a:rPr>
            </a:br>
            <a:r>
              <a:rPr lang="en-US" sz="2800" dirty="0" err="1"/>
              <a:t>my_list</a:t>
            </a:r>
            <a:r>
              <a:rPr lang="en-US" sz="2800" dirty="0"/>
              <a:t> = [1, 2, 3]</a:t>
            </a:r>
            <a:br>
              <a:rPr lang="en-US" sz="2800" dirty="0"/>
            </a:br>
            <a:endParaRPr lang="en-US" sz="2400" dirty="0">
              <a:solidFill>
                <a:schemeClr val="bg1"/>
              </a:solidFill>
            </a:endParaRPr>
          </a:p>
        </p:txBody>
      </p:sp>
      <p:sp>
        <p:nvSpPr>
          <p:cNvPr id="5" name="TextBox 4">
            <a:extLst>
              <a:ext uri="{FF2B5EF4-FFF2-40B4-BE49-F238E27FC236}">
                <a16:creationId xmlns:a16="http://schemas.microsoft.com/office/drawing/2014/main" id="{3061D457-C9C8-EA2B-BAFB-BA27410754CB}"/>
              </a:ext>
            </a:extLst>
          </p:cNvPr>
          <p:cNvSpPr txBox="1"/>
          <p:nvPr/>
        </p:nvSpPr>
        <p:spPr>
          <a:xfrm>
            <a:off x="1803083" y="2844225"/>
            <a:ext cx="1785937" cy="584775"/>
          </a:xfrm>
          <a:prstGeom prst="rect">
            <a:avLst/>
          </a:prstGeom>
          <a:noFill/>
        </p:spPr>
        <p:txBody>
          <a:bodyPr wrap="square">
            <a:spAutoFit/>
          </a:bodyPr>
          <a:lstStyle/>
          <a:p>
            <a:r>
              <a:rPr lang="en-US" sz="3200" dirty="0">
                <a:solidFill>
                  <a:schemeClr val="bg1"/>
                </a:solidFill>
              </a:rPr>
              <a:t>Example </a:t>
            </a:r>
            <a:endParaRPr lang="en-US" sz="3200" dirty="0"/>
          </a:p>
        </p:txBody>
      </p:sp>
      <p:sp>
        <p:nvSpPr>
          <p:cNvPr id="2" name="Rectangle 1">
            <a:extLst>
              <a:ext uri="{FF2B5EF4-FFF2-40B4-BE49-F238E27FC236}">
                <a16:creationId xmlns:a16="http://schemas.microsoft.com/office/drawing/2014/main" id="{69D7A218-D1A1-F076-81DA-98F7530591F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Unicode MS"/>
              </a:rPr>
              <a:t>my_list</a:t>
            </a:r>
            <a:r>
              <a:rPr kumimoji="0" lang="en-US" altLang="en-US" sz="800" b="0" i="0" u="none" strike="noStrike" cap="none" normalizeH="0" baseline="0">
                <a:ln>
                  <a:noFill/>
                </a:ln>
                <a:solidFill>
                  <a:schemeClr val="tx1"/>
                </a:solidFill>
                <a:effectLst/>
              </a:rPr>
              <a:t> (the </a:t>
            </a:r>
            <a:r>
              <a:rPr kumimoji="0" lang="en-US" altLang="en-US" sz="1800" b="1" i="0" u="none" strike="noStrike" cap="none" normalizeH="0" baseline="0">
                <a:ln>
                  <a:noFill/>
                </a:ln>
                <a:solidFill>
                  <a:schemeClr val="tx1"/>
                </a:solidFill>
                <a:effectLst/>
                <a:latin typeface="Arial" panose="020B0604020202020204" pitchFamily="34" charset="0"/>
              </a:rPr>
              <a:t>reference</a:t>
            </a:r>
            <a:r>
              <a:rPr kumimoji="0" lang="en-US" altLang="en-US" sz="1800" b="0" i="0" u="none" strike="noStrike" cap="none" normalizeH="0" baseline="0">
                <a:ln>
                  <a:noFill/>
                </a:ln>
                <a:solidFill>
                  <a:schemeClr val="tx1"/>
                </a:solidFill>
                <a:effectLst/>
                <a:latin typeface="Arial" panose="020B0604020202020204" pitchFamily="34" charset="0"/>
              </a:rPr>
              <a:t>) lives in stack memory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actual list </a:t>
            </a:r>
            <a:r>
              <a:rPr kumimoji="0" lang="en-US" altLang="en-US" sz="1000" b="0" i="0" u="none" strike="noStrike" cap="none" normalizeH="0" baseline="0">
                <a:ln>
                  <a:noFill/>
                </a:ln>
                <a:solidFill>
                  <a:schemeClr val="tx1"/>
                </a:solidFill>
                <a:effectLst/>
                <a:latin typeface="Arial Unicode MS"/>
              </a:rPr>
              <a:t>[1, 2, 3]</a:t>
            </a:r>
            <a:r>
              <a:rPr kumimoji="0" lang="en-US" altLang="en-US" sz="800" b="0" i="0" u="none" strike="noStrike" cap="none" normalizeH="0" baseline="0">
                <a:ln>
                  <a:noFill/>
                </a:ln>
                <a:solidFill>
                  <a:schemeClr val="tx1"/>
                </a:solidFill>
                <a:effectLst/>
              </a:rPr>
              <a:t> lives in the </a:t>
            </a:r>
            <a:r>
              <a:rPr kumimoji="0" lang="en-US" altLang="en-US" sz="1800" b="1" i="0" u="none" strike="noStrike" cap="none" normalizeH="0" baseline="0">
                <a:ln>
                  <a:noFill/>
                </a:ln>
                <a:solidFill>
                  <a:schemeClr val="tx1"/>
                </a:solidFill>
                <a:effectLst/>
                <a:latin typeface="Arial" panose="020B0604020202020204" pitchFamily="34" charset="0"/>
              </a:rPr>
              <a:t>heap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C58660A8-154D-0ADC-1A6B-4CA594E6BD8D}"/>
              </a:ext>
            </a:extLst>
          </p:cNvPr>
          <p:cNvSpPr>
            <a:spLocks noGrp="1" noChangeArrowheads="1"/>
          </p:cNvSpPr>
          <p:nvPr>
            <p:ph type="body" sz="quarter" idx="28"/>
          </p:nvPr>
        </p:nvSpPr>
        <p:spPr bwMode="auto">
          <a:xfrm>
            <a:off x="6096000" y="3832811"/>
            <a:ext cx="56769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effectLst/>
                <a:latin typeface="Arial Unicode MS"/>
              </a:rPr>
              <a:t> </a:t>
            </a:r>
            <a:r>
              <a:rPr kumimoji="0" lang="en-US" altLang="en-US" sz="2800" b="0" i="0" u="none" strike="noStrike" cap="none" normalizeH="0" baseline="0" dirty="0" err="1">
                <a:ln>
                  <a:noFill/>
                </a:ln>
                <a:effectLst/>
                <a:latin typeface="Arial Unicode MS"/>
              </a:rPr>
              <a:t>my_list</a:t>
            </a:r>
            <a:r>
              <a:rPr kumimoji="0" lang="en-US" altLang="en-US" sz="2800" b="0" i="0" u="none" strike="noStrike" cap="none" normalizeH="0" baseline="0" dirty="0">
                <a:ln>
                  <a:noFill/>
                </a:ln>
                <a:effectLst/>
              </a:rPr>
              <a:t> (the </a:t>
            </a:r>
            <a:r>
              <a:rPr kumimoji="0" lang="en-US" altLang="en-US" sz="2800" b="1" i="0" u="none" strike="noStrike" cap="none" normalizeH="0" baseline="0" dirty="0">
                <a:ln>
                  <a:noFill/>
                </a:ln>
                <a:effectLst/>
                <a:latin typeface="Arial" panose="020B0604020202020204" pitchFamily="34" charset="0"/>
              </a:rPr>
              <a:t>reference</a:t>
            </a:r>
            <a:r>
              <a:rPr kumimoji="0" lang="en-US" altLang="en-US" sz="2800" b="0" i="0" u="none" strike="noStrike" cap="none" normalizeH="0" baseline="0" dirty="0">
                <a:ln>
                  <a:noFill/>
                </a:ln>
                <a:effectLst/>
                <a:latin typeface="Arial" panose="020B0604020202020204" pitchFamily="34" charset="0"/>
              </a:rPr>
              <a:t>) lives   in stack memory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effectLst/>
                <a:latin typeface="Arial" panose="020B0604020202020204" pitchFamily="34" charset="0"/>
              </a:rPr>
              <a:t> The actual list </a:t>
            </a:r>
            <a:r>
              <a:rPr kumimoji="0" lang="en-US" altLang="en-US" sz="2800" b="0" i="0" u="none" strike="noStrike" cap="none" normalizeH="0" baseline="0" dirty="0">
                <a:ln>
                  <a:noFill/>
                </a:ln>
                <a:effectLst/>
                <a:latin typeface="Arial Unicode MS"/>
              </a:rPr>
              <a:t>[1, 2, 3]</a:t>
            </a:r>
            <a:r>
              <a:rPr kumimoji="0" lang="en-US" altLang="en-US" sz="2800" b="0" i="0" u="none" strike="noStrike" cap="none" normalizeH="0" baseline="0" dirty="0">
                <a:ln>
                  <a:noFill/>
                </a:ln>
                <a:effectLst/>
              </a:rPr>
              <a:t> lives in the </a:t>
            </a:r>
            <a:r>
              <a:rPr kumimoji="0" lang="en-US" altLang="en-US" sz="2800" b="1" i="0" u="none" strike="noStrike" cap="none" normalizeH="0" baseline="0" dirty="0">
                <a:ln>
                  <a:noFill/>
                </a:ln>
                <a:effectLst/>
                <a:latin typeface="Arial" panose="020B0604020202020204" pitchFamily="34" charset="0"/>
              </a:rPr>
              <a:t>heap</a:t>
            </a:r>
            <a:endParaRPr kumimoji="0" lang="en-US" altLang="en-US" sz="2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422139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C702C-7953-4B45-442C-1E937DB0F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0BEFE-FB65-4CA5-37E1-9843F4831CA7}"/>
              </a:ext>
            </a:extLst>
          </p:cNvPr>
          <p:cNvSpPr>
            <a:spLocks noGrp="1"/>
          </p:cNvSpPr>
          <p:nvPr>
            <p:ph type="title"/>
          </p:nvPr>
        </p:nvSpPr>
        <p:spPr>
          <a:xfrm>
            <a:off x="914400" y="731520"/>
            <a:ext cx="8481060" cy="1165860"/>
          </a:xfrm>
        </p:spPr>
        <p:txBody>
          <a:bodyPr>
            <a:normAutofit fontScale="90000"/>
          </a:bodyPr>
          <a:lstStyle/>
          <a:p>
            <a:r>
              <a:rPr lang="en-US" dirty="0"/>
              <a:t>Difference between Stack and Heap Memory</a:t>
            </a:r>
          </a:p>
        </p:txBody>
      </p:sp>
      <p:sp>
        <p:nvSpPr>
          <p:cNvPr id="4" name="Slide Number Placeholder 3">
            <a:extLst>
              <a:ext uri="{FF2B5EF4-FFF2-40B4-BE49-F238E27FC236}">
                <a16:creationId xmlns:a16="http://schemas.microsoft.com/office/drawing/2014/main" id="{1F9CAE6F-A671-7F2C-8492-64C59095867A}"/>
              </a:ext>
            </a:extLst>
          </p:cNvPr>
          <p:cNvSpPr>
            <a:spLocks noGrp="1"/>
          </p:cNvSpPr>
          <p:nvPr>
            <p:ph type="sldNum" sz="quarter" idx="12"/>
          </p:nvPr>
        </p:nvSpPr>
        <p:spPr/>
        <p:txBody>
          <a:bodyPr/>
          <a:lstStyle/>
          <a:p>
            <a:fld id="{CBD12358-51D2-46B3-9BDE-DF29528B9454}" type="slidenum">
              <a:rPr lang="en-US" smtClean="0"/>
              <a:t>20</a:t>
            </a:fld>
            <a:endParaRPr lang="en-US" dirty="0"/>
          </a:p>
        </p:txBody>
      </p:sp>
      <p:graphicFrame>
        <p:nvGraphicFramePr>
          <p:cNvPr id="5" name="Table 4">
            <a:extLst>
              <a:ext uri="{FF2B5EF4-FFF2-40B4-BE49-F238E27FC236}">
                <a16:creationId xmlns:a16="http://schemas.microsoft.com/office/drawing/2014/main" id="{22D3DDD6-9328-EF38-B8E5-ECE5F1698C91}"/>
              </a:ext>
            </a:extLst>
          </p:cNvPr>
          <p:cNvGraphicFramePr>
            <a:graphicFrameLocks noGrp="1"/>
          </p:cNvGraphicFramePr>
          <p:nvPr>
            <p:extLst>
              <p:ext uri="{D42A27DB-BD31-4B8C-83A1-F6EECF244321}">
                <p14:modId xmlns:p14="http://schemas.microsoft.com/office/powerpoint/2010/main" val="478711627"/>
              </p:ext>
            </p:extLst>
          </p:nvPr>
        </p:nvGraphicFramePr>
        <p:xfrm>
          <a:off x="411481" y="2148522"/>
          <a:ext cx="11567160" cy="3474720"/>
        </p:xfrm>
        <a:graphic>
          <a:graphicData uri="http://schemas.openxmlformats.org/drawingml/2006/table">
            <a:tbl>
              <a:tblPr/>
              <a:tblGrid>
                <a:gridCol w="2214660">
                  <a:extLst>
                    <a:ext uri="{9D8B030D-6E8A-4147-A177-3AD203B41FA5}">
                      <a16:colId xmlns:a16="http://schemas.microsoft.com/office/drawing/2014/main" val="121945577"/>
                    </a:ext>
                  </a:extLst>
                </a:gridCol>
                <a:gridCol w="4488230">
                  <a:extLst>
                    <a:ext uri="{9D8B030D-6E8A-4147-A177-3AD203B41FA5}">
                      <a16:colId xmlns:a16="http://schemas.microsoft.com/office/drawing/2014/main" val="4218904477"/>
                    </a:ext>
                  </a:extLst>
                </a:gridCol>
                <a:gridCol w="4864270">
                  <a:extLst>
                    <a:ext uri="{9D8B030D-6E8A-4147-A177-3AD203B41FA5}">
                      <a16:colId xmlns:a16="http://schemas.microsoft.com/office/drawing/2014/main" val="4014647162"/>
                    </a:ext>
                  </a:extLst>
                </a:gridCol>
              </a:tblGrid>
              <a:tr h="0">
                <a:tc>
                  <a:txBody>
                    <a:bodyPr/>
                    <a:lstStyle/>
                    <a:p>
                      <a:r>
                        <a:rPr lang="en-US" sz="2400" dirty="0">
                          <a:solidFill>
                            <a:schemeClr val="bg1"/>
                          </a:solidFill>
                        </a:rPr>
                        <a:t>Feature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r>
                        <a:rPr lang="en-US" sz="2400">
                          <a:solidFill>
                            <a:schemeClr val="bg1"/>
                          </a:solidFill>
                        </a:rPr>
                        <a:t>Stack Memory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r>
                        <a:rPr lang="en-US" sz="2400" dirty="0">
                          <a:solidFill>
                            <a:schemeClr val="bg1"/>
                          </a:solidFill>
                        </a:rPr>
                        <a:t>Heap Memory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2728246359"/>
                  </a:ext>
                </a:extLst>
              </a:tr>
              <a:tr h="0">
                <a:tc>
                  <a:txBody>
                    <a:bodyPr/>
                    <a:lstStyle/>
                    <a:p>
                      <a:r>
                        <a:rPr lang="en-US" sz="2400">
                          <a:solidFill>
                            <a:schemeClr val="bg1"/>
                          </a:solidFill>
                        </a:rPr>
                        <a:t>Used For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400">
                          <a:solidFill>
                            <a:schemeClr val="bg1"/>
                          </a:solidFill>
                        </a:rPr>
                        <a:t>Function calls &amp; local variables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400">
                          <a:solidFill>
                            <a:schemeClr val="bg1"/>
                          </a:solidFill>
                        </a:rPr>
                        <a:t>Objects, data structures, dynamic 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21367402"/>
                  </a:ext>
                </a:extLst>
              </a:tr>
              <a:tr h="0">
                <a:tc>
                  <a:txBody>
                    <a:bodyPr/>
                    <a:lstStyle/>
                    <a:p>
                      <a:r>
                        <a:rPr lang="en-US" sz="2400">
                          <a:solidFill>
                            <a:schemeClr val="bg1"/>
                          </a:solidFill>
                        </a:rPr>
                        <a:t>Allocation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400">
                          <a:solidFill>
                            <a:schemeClr val="bg1"/>
                          </a:solidFill>
                        </a:rPr>
                        <a:t>Static / During function call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400">
                          <a:solidFill>
                            <a:schemeClr val="bg1"/>
                          </a:solidFill>
                        </a:rPr>
                        <a:t>Dynamic / During runtime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35910846"/>
                  </a:ext>
                </a:extLst>
              </a:tr>
              <a:tr h="0">
                <a:tc>
                  <a:txBody>
                    <a:bodyPr/>
                    <a:lstStyle/>
                    <a:p>
                      <a:r>
                        <a:rPr lang="en-US" sz="2400">
                          <a:solidFill>
                            <a:schemeClr val="bg1"/>
                          </a:solidFill>
                        </a:rPr>
                        <a:t>Access Speed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400">
                          <a:solidFill>
                            <a:schemeClr val="bg1"/>
                          </a:solidFill>
                        </a:rPr>
                        <a:t>Fast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400">
                          <a:solidFill>
                            <a:schemeClr val="bg1"/>
                          </a:solidFill>
                        </a:rPr>
                        <a:t>Slower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17781790"/>
                  </a:ext>
                </a:extLst>
              </a:tr>
              <a:tr h="0">
                <a:tc>
                  <a:txBody>
                    <a:bodyPr/>
                    <a:lstStyle/>
                    <a:p>
                      <a:r>
                        <a:rPr lang="en-US" sz="2400">
                          <a:solidFill>
                            <a:schemeClr val="bg1"/>
                          </a:solidFill>
                        </a:rPr>
                        <a:t>Lifetime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400">
                          <a:solidFill>
                            <a:schemeClr val="bg1"/>
                          </a:solidFill>
                        </a:rPr>
                        <a:t>Until function exits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400" dirty="0">
                          <a:solidFill>
                            <a:schemeClr val="bg1"/>
                          </a:solidFill>
                        </a:rPr>
                        <a:t>Until object is no longer referenced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8221153"/>
                  </a:ext>
                </a:extLst>
              </a:tr>
              <a:tr h="0">
                <a:tc>
                  <a:txBody>
                    <a:bodyPr/>
                    <a:lstStyle/>
                    <a:p>
                      <a:r>
                        <a:rPr lang="en-US" sz="2400">
                          <a:solidFill>
                            <a:schemeClr val="bg1"/>
                          </a:solidFill>
                        </a:rPr>
                        <a:t>Managed By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400" dirty="0">
                          <a:solidFill>
                            <a:schemeClr val="bg1"/>
                          </a:solidFill>
                        </a:rPr>
                        <a:t>Python Call Stack</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400" dirty="0">
                          <a:solidFill>
                            <a:schemeClr val="bg1"/>
                          </a:solidFill>
                        </a:rPr>
                        <a:t>Python Memory Manager + Garbage Collector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95643488"/>
                  </a:ext>
                </a:extLst>
              </a:tr>
            </a:tbl>
          </a:graphicData>
        </a:graphic>
      </p:graphicFrame>
    </p:spTree>
    <p:extLst>
      <p:ext uri="{BB962C8B-B14F-4D97-AF65-F5344CB8AC3E}">
        <p14:creationId xmlns:p14="http://schemas.microsoft.com/office/powerpoint/2010/main" val="1792888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87ED-EDA5-8B39-1C4A-124AB6C49FCB}"/>
              </a:ext>
            </a:extLst>
          </p:cNvPr>
          <p:cNvSpPr>
            <a:spLocks noGrp="1"/>
          </p:cNvSpPr>
          <p:nvPr>
            <p:ph type="title"/>
          </p:nvPr>
        </p:nvSpPr>
        <p:spPr>
          <a:xfrm>
            <a:off x="251460" y="731520"/>
            <a:ext cx="9761220" cy="822960"/>
          </a:xfrm>
        </p:spPr>
        <p:txBody>
          <a:bodyPr/>
          <a:lstStyle/>
          <a:p>
            <a:r>
              <a:rPr lang="en-US" dirty="0"/>
              <a:t>Memory Management Components </a:t>
            </a:r>
          </a:p>
        </p:txBody>
      </p:sp>
      <p:sp>
        <p:nvSpPr>
          <p:cNvPr id="3" name="Content Placeholder 2">
            <a:extLst>
              <a:ext uri="{FF2B5EF4-FFF2-40B4-BE49-F238E27FC236}">
                <a16:creationId xmlns:a16="http://schemas.microsoft.com/office/drawing/2014/main" id="{288391F8-E0CF-7BBE-63F0-24DDC516D718}"/>
              </a:ext>
            </a:extLst>
          </p:cNvPr>
          <p:cNvSpPr>
            <a:spLocks noGrp="1"/>
          </p:cNvSpPr>
          <p:nvPr>
            <p:ph idx="14"/>
          </p:nvPr>
        </p:nvSpPr>
        <p:spPr>
          <a:xfrm>
            <a:off x="2068830" y="1874520"/>
            <a:ext cx="5897880" cy="4297680"/>
          </a:xfrm>
        </p:spPr>
        <p:txBody>
          <a:bodyPr>
            <a:noAutofit/>
          </a:bodyPr>
          <a:lstStyle/>
          <a:p>
            <a:pPr marL="0" indent="0">
              <a:buNone/>
            </a:pPr>
            <a:r>
              <a:rPr lang="en-US" sz="2800" b="1" dirty="0"/>
              <a:t>1. Private Heap</a:t>
            </a:r>
          </a:p>
          <a:p>
            <a:pPr marL="0" indent="0">
              <a:buNone/>
            </a:pPr>
            <a:r>
              <a:rPr lang="en-US" sz="2800" b="1" dirty="0"/>
              <a:t>2. Python Memory Manager</a:t>
            </a:r>
            <a:endParaRPr lang="en-US" sz="2800" dirty="0"/>
          </a:p>
          <a:p>
            <a:pPr marL="0" indent="0">
              <a:buNone/>
            </a:pPr>
            <a:r>
              <a:rPr lang="en-US" sz="2800" b="1" dirty="0"/>
              <a:t>3. Raw Memory Allocator</a:t>
            </a:r>
            <a:endParaRPr lang="en-US" sz="2800" dirty="0"/>
          </a:p>
          <a:p>
            <a:pPr marL="0" indent="0">
              <a:buNone/>
            </a:pPr>
            <a:r>
              <a:rPr lang="en-US" sz="2800" b="1" dirty="0"/>
              <a:t>4. Object-Specific Allocators</a:t>
            </a:r>
            <a:endParaRPr lang="en-US" sz="2800" dirty="0"/>
          </a:p>
          <a:p>
            <a:pPr marL="0" indent="0">
              <a:buNone/>
            </a:pPr>
            <a:r>
              <a:rPr lang="en-US" sz="2800" b="1" dirty="0"/>
              <a:t>5. Garbage Collector (GC)</a:t>
            </a:r>
            <a:endParaRPr lang="en-US" sz="2800" dirty="0"/>
          </a:p>
          <a:p>
            <a:pPr marL="0" indent="0">
              <a:buNone/>
            </a:pPr>
            <a:r>
              <a:rPr lang="en-US" sz="2800" b="1" dirty="0"/>
              <a:t>6. Reference Counting</a:t>
            </a:r>
            <a:endParaRPr lang="en-US" sz="2800" dirty="0"/>
          </a:p>
          <a:p>
            <a:pPr marL="0" indent="0">
              <a:buNone/>
            </a:pPr>
            <a:r>
              <a:rPr lang="en-US" sz="2800" b="1" dirty="0"/>
              <a:t>7. Cyclic Garbage Collector</a:t>
            </a:r>
            <a:endParaRPr lang="en-US" sz="2800" dirty="0"/>
          </a:p>
        </p:txBody>
      </p:sp>
      <p:sp>
        <p:nvSpPr>
          <p:cNvPr id="4" name="Slide Number Placeholder 3">
            <a:extLst>
              <a:ext uri="{FF2B5EF4-FFF2-40B4-BE49-F238E27FC236}">
                <a16:creationId xmlns:a16="http://schemas.microsoft.com/office/drawing/2014/main" id="{8E3B0670-D8A9-3CDC-8993-717F59EF1B61}"/>
              </a:ext>
            </a:extLst>
          </p:cNvPr>
          <p:cNvSpPr>
            <a:spLocks noGrp="1"/>
          </p:cNvSpPr>
          <p:nvPr>
            <p:ph type="sldNum" sz="quarter" idx="12"/>
          </p:nvPr>
        </p:nvSpPr>
        <p:spPr/>
        <p:txBody>
          <a:bodyPr/>
          <a:lstStyle/>
          <a:p>
            <a:fld id="{CBD12358-51D2-46B3-9BDE-DF29528B9454}" type="slidenum">
              <a:rPr lang="en-US" smtClean="0"/>
              <a:t>21</a:t>
            </a:fld>
            <a:endParaRPr lang="en-US" dirty="0"/>
          </a:p>
        </p:txBody>
      </p:sp>
    </p:spTree>
    <p:extLst>
      <p:ext uri="{BB962C8B-B14F-4D97-AF65-F5344CB8AC3E}">
        <p14:creationId xmlns:p14="http://schemas.microsoft.com/office/powerpoint/2010/main" val="1823761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197116" y="1961388"/>
            <a:ext cx="11690084" cy="4485132"/>
          </a:xfrm>
          <a:noFill/>
        </p:spPr>
        <p:txBody>
          <a:bodyPr anchor="t" anchorCtr="0">
            <a:noAutofit/>
          </a:bodyPr>
          <a:lstStyle/>
          <a:p>
            <a:r>
              <a:rPr lang="en-US" sz="2800" dirty="0"/>
              <a:t> </a:t>
            </a:r>
            <a:r>
              <a:rPr lang="en-US" sz="2800" dirty="0">
                <a:latin typeface="+mn-lt"/>
                <a:ea typeface="+mn-ea"/>
                <a:cs typeface="+mn-cs"/>
              </a:rPr>
              <a:t>1. Private Heap - All Python objects and data structures are stored which is managed internally by Python and not accessible directly by the programmer.</a:t>
            </a:r>
            <a:br>
              <a:rPr lang="en-US" sz="2800" dirty="0">
                <a:latin typeface="+mn-lt"/>
                <a:ea typeface="+mn-ea"/>
                <a:cs typeface="+mn-cs"/>
              </a:rPr>
            </a:br>
            <a:r>
              <a:rPr lang="en-US" sz="2800" dirty="0">
                <a:latin typeface="+mn-lt"/>
                <a:ea typeface="+mn-ea"/>
                <a:cs typeface="+mn-cs"/>
              </a:rPr>
              <a:t> </a:t>
            </a:r>
            <a:br>
              <a:rPr lang="en-US" sz="2800" dirty="0">
                <a:latin typeface="+mn-lt"/>
                <a:ea typeface="+mn-ea"/>
                <a:cs typeface="+mn-cs"/>
              </a:rPr>
            </a:br>
            <a:r>
              <a:rPr lang="en-US" sz="2800" dirty="0">
                <a:latin typeface="+mn-lt"/>
                <a:ea typeface="+mn-ea"/>
                <a:cs typeface="+mn-cs"/>
              </a:rPr>
              <a:t>2. Python Memory Manager - Controls the allocation and deallocation of memory in the private heap and Automatically assigns memory to variables and releases it when no longer needed. Works closely with the garbage collector.</a:t>
            </a:r>
            <a:br>
              <a:rPr lang="en-US" sz="2800" dirty="0">
                <a:latin typeface="+mn-lt"/>
                <a:ea typeface="+mn-ea"/>
                <a:cs typeface="+mn-cs"/>
              </a:rPr>
            </a:br>
            <a:r>
              <a:rPr lang="en-US" sz="2800" dirty="0">
                <a:latin typeface="+mn-lt"/>
                <a:ea typeface="+mn-ea"/>
                <a:cs typeface="+mn-cs"/>
              </a:rPr>
              <a:t> </a:t>
            </a:r>
            <a:br>
              <a:rPr lang="en-US" sz="2800" dirty="0">
                <a:latin typeface="+mn-lt"/>
                <a:ea typeface="+mn-ea"/>
                <a:cs typeface="+mn-cs"/>
              </a:rPr>
            </a:br>
            <a:r>
              <a:rPr lang="en-US" sz="2800" dirty="0">
                <a:latin typeface="+mn-lt"/>
                <a:ea typeface="+mn-ea"/>
                <a:cs typeface="+mn-cs"/>
              </a:rPr>
              <a:t>3. Raw Memory Allocator - Interfaces directly with the Operating System. Reserves memory blocks in the private heap. It’s a low-level component ensuring enough space is available.</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22</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4A726-8D9A-9E2D-741D-60C3C01E7C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9872D9-9A46-C9A2-5206-2C687C77FCB3}"/>
              </a:ext>
            </a:extLst>
          </p:cNvPr>
          <p:cNvSpPr>
            <a:spLocks noGrp="1"/>
          </p:cNvSpPr>
          <p:nvPr>
            <p:ph idx="1"/>
          </p:nvPr>
        </p:nvSpPr>
        <p:spPr>
          <a:xfrm>
            <a:off x="377191" y="1732787"/>
            <a:ext cx="11516852" cy="4850257"/>
          </a:xfrm>
          <a:noFill/>
        </p:spPr>
        <p:txBody>
          <a:bodyPr>
            <a:noAutofit/>
          </a:bodyPr>
          <a:lstStyle/>
          <a:p>
            <a:pPr marL="0" indent="0">
              <a:buNone/>
            </a:pPr>
            <a:r>
              <a:rPr lang="en-US" sz="2800" b="1" dirty="0"/>
              <a:t> 4. Object-Specific Allocators - </a:t>
            </a:r>
            <a:r>
              <a:rPr lang="en-US" sz="2800" dirty="0"/>
              <a:t>Manage memory for </a:t>
            </a:r>
            <a:r>
              <a:rPr lang="en-US" sz="2800" b="1" dirty="0"/>
              <a:t>specific object types</a:t>
            </a:r>
            <a:r>
              <a:rPr lang="en-US" sz="2800" dirty="0"/>
              <a:t> (like lists, integers, dictionaries) and Optimize performance and memory reuse for frequently used types.</a:t>
            </a:r>
          </a:p>
          <a:p>
            <a:pPr marL="0" lvl="0" indent="0">
              <a:buNone/>
            </a:pPr>
            <a:r>
              <a:rPr lang="en-US" sz="2800" b="1" dirty="0"/>
              <a:t>5. Garbage Collector (GC) - </a:t>
            </a:r>
            <a:r>
              <a:rPr lang="en-US" sz="2800" dirty="0"/>
              <a:t>Detects and </a:t>
            </a:r>
            <a:r>
              <a:rPr lang="en-US" sz="2800" b="1" dirty="0"/>
              <a:t>frees memory</a:t>
            </a:r>
            <a:r>
              <a:rPr lang="en-US" sz="2800" dirty="0"/>
              <a:t> occupied by objects that are </a:t>
            </a:r>
            <a:r>
              <a:rPr lang="en-US" sz="2800" b="1" dirty="0"/>
              <a:t>no longer in use</a:t>
            </a:r>
            <a:r>
              <a:rPr lang="en-US" sz="2800" dirty="0"/>
              <a:t>. Uses techniques like </a:t>
            </a:r>
            <a:r>
              <a:rPr lang="en-US" sz="2800" b="1" dirty="0"/>
              <a:t>reference counting</a:t>
            </a:r>
            <a:r>
              <a:rPr lang="en-US" sz="2800" dirty="0"/>
              <a:t> and </a:t>
            </a:r>
            <a:r>
              <a:rPr lang="en-US" sz="2800" b="1" dirty="0"/>
              <a:t>cyclic garbage collection</a:t>
            </a:r>
            <a:r>
              <a:rPr lang="en-US" sz="2800" dirty="0"/>
              <a:t>.</a:t>
            </a:r>
          </a:p>
          <a:p>
            <a:pPr marL="0" indent="0">
              <a:buNone/>
            </a:pPr>
            <a:r>
              <a:rPr lang="en-US" sz="2800" b="1" dirty="0"/>
              <a:t>6. Reference Counting - </a:t>
            </a:r>
            <a:r>
              <a:rPr lang="en-US" sz="2800" dirty="0"/>
              <a:t>Each object maintains a </a:t>
            </a:r>
            <a:r>
              <a:rPr lang="en-US" sz="2800" b="1" dirty="0"/>
              <a:t>count of references</a:t>
            </a:r>
            <a:r>
              <a:rPr lang="en-US" sz="2800" dirty="0"/>
              <a:t> to it. When the reference count drops to zero, the memory is reclaimed.</a:t>
            </a:r>
          </a:p>
          <a:p>
            <a:pPr marL="0" lvl="0" indent="0">
              <a:buNone/>
            </a:pPr>
            <a:r>
              <a:rPr lang="en-US" sz="2800" b="1" dirty="0"/>
              <a:t>7. Cyclic Garbage Collector - </a:t>
            </a:r>
            <a:r>
              <a:rPr lang="en-US" sz="2800" dirty="0"/>
              <a:t>Handles </a:t>
            </a:r>
            <a:r>
              <a:rPr lang="en-US" sz="2800" b="1" dirty="0"/>
              <a:t>reference cycles</a:t>
            </a:r>
            <a:r>
              <a:rPr lang="en-US" sz="2800" dirty="0"/>
              <a:t> that reference counting alone can’t clean up. Runs periodically to find and collect cyclically linked unreferenced objects.</a:t>
            </a:r>
          </a:p>
        </p:txBody>
      </p:sp>
      <p:sp>
        <p:nvSpPr>
          <p:cNvPr id="4" name="Slide Number Placeholder 3">
            <a:extLst>
              <a:ext uri="{FF2B5EF4-FFF2-40B4-BE49-F238E27FC236}">
                <a16:creationId xmlns:a16="http://schemas.microsoft.com/office/drawing/2014/main" id="{4DB5F063-D574-F1A1-5596-DCFB6B8FC7BB}"/>
              </a:ext>
            </a:extLst>
          </p:cNvPr>
          <p:cNvSpPr>
            <a:spLocks noGrp="1"/>
          </p:cNvSpPr>
          <p:nvPr>
            <p:ph type="sldNum" sz="quarter" idx="12"/>
          </p:nvPr>
        </p:nvSpPr>
        <p:spPr/>
        <p:txBody>
          <a:bodyPr/>
          <a:lstStyle/>
          <a:p>
            <a:fld id="{69E57DC2-970A-4B3E-BB1C-7A09969E49DF}" type="slidenum">
              <a:rPr lang="en-US" smtClean="0"/>
              <a:t>23</a:t>
            </a:fld>
            <a:endParaRPr lang="en-US" dirty="0"/>
          </a:p>
        </p:txBody>
      </p:sp>
    </p:spTree>
    <p:extLst>
      <p:ext uri="{BB962C8B-B14F-4D97-AF65-F5344CB8AC3E}">
        <p14:creationId xmlns:p14="http://schemas.microsoft.com/office/powerpoint/2010/main" val="1545078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13169-FCC9-87B7-212E-BE9977385FA6}"/>
              </a:ext>
            </a:extLst>
          </p:cNvPr>
          <p:cNvSpPr>
            <a:spLocks noGrp="1"/>
          </p:cNvSpPr>
          <p:nvPr>
            <p:ph type="title"/>
          </p:nvPr>
        </p:nvSpPr>
        <p:spPr>
          <a:xfrm>
            <a:off x="914400" y="297180"/>
            <a:ext cx="8092440" cy="960120"/>
          </a:xfrm>
        </p:spPr>
        <p:txBody>
          <a:bodyPr anchor="t">
            <a:normAutofit/>
          </a:bodyPr>
          <a:lstStyle/>
          <a:p>
            <a:r>
              <a:rPr lang="fr-FR" dirty="0"/>
              <a:t>🧮 </a:t>
            </a:r>
            <a:r>
              <a:rPr lang="fr-FR" dirty="0" err="1"/>
              <a:t>Comparison</a:t>
            </a:r>
            <a:r>
              <a:rPr lang="fr-FR" dirty="0"/>
              <a:t> : Python vs C</a:t>
            </a:r>
            <a:endParaRPr lang="en-US" dirty="0"/>
          </a:p>
        </p:txBody>
      </p:sp>
      <p:sp>
        <p:nvSpPr>
          <p:cNvPr id="5" name="Slide Number Placeholder 4">
            <a:extLst>
              <a:ext uri="{FF2B5EF4-FFF2-40B4-BE49-F238E27FC236}">
                <a16:creationId xmlns:a16="http://schemas.microsoft.com/office/drawing/2014/main" id="{F795603C-05BC-920B-287E-6DBCD854AC53}"/>
              </a:ext>
            </a:extLst>
          </p:cNvPr>
          <p:cNvSpPr>
            <a:spLocks noGrp="1"/>
          </p:cNvSpPr>
          <p:nvPr>
            <p:ph type="sldNum" sz="quarter" idx="29"/>
          </p:nvPr>
        </p:nvSpPr>
        <p:spPr>
          <a:xfrm>
            <a:off x="11194169" y="6229350"/>
            <a:ext cx="458592" cy="365125"/>
          </a:xfrm>
        </p:spPr>
        <p:txBody>
          <a:bodyPr anchor="ctr">
            <a:normAutofit/>
          </a:bodyPr>
          <a:lstStyle/>
          <a:p>
            <a:pPr>
              <a:spcAft>
                <a:spcPts val="600"/>
              </a:spcAft>
            </a:pPr>
            <a:fld id="{47FEACEE-25B4-4A2D-B147-27296E36371D}" type="slidenum">
              <a:rPr lang="en-US" altLang="zh-CN" noProof="0" smtClean="0"/>
              <a:pPr>
                <a:spcAft>
                  <a:spcPts val="600"/>
                </a:spcAft>
              </a:pPr>
              <a:t>24</a:t>
            </a:fld>
            <a:endParaRPr lang="en-US" altLang="zh-CN" noProof="0"/>
          </a:p>
        </p:txBody>
      </p:sp>
      <p:graphicFrame>
        <p:nvGraphicFramePr>
          <p:cNvPr id="6" name="Table 5">
            <a:extLst>
              <a:ext uri="{FF2B5EF4-FFF2-40B4-BE49-F238E27FC236}">
                <a16:creationId xmlns:a16="http://schemas.microsoft.com/office/drawing/2014/main" id="{08CCEA16-90F8-AED3-2E44-53BD50FB12E5}"/>
              </a:ext>
            </a:extLst>
          </p:cNvPr>
          <p:cNvGraphicFramePr>
            <a:graphicFrameLocks noGrp="1"/>
          </p:cNvGraphicFramePr>
          <p:nvPr>
            <p:extLst>
              <p:ext uri="{D42A27DB-BD31-4B8C-83A1-F6EECF244321}">
                <p14:modId xmlns:p14="http://schemas.microsoft.com/office/powerpoint/2010/main" val="4212560591"/>
              </p:ext>
            </p:extLst>
          </p:nvPr>
        </p:nvGraphicFramePr>
        <p:xfrm>
          <a:off x="658367" y="1113392"/>
          <a:ext cx="9754362" cy="5121384"/>
        </p:xfrm>
        <a:graphic>
          <a:graphicData uri="http://schemas.openxmlformats.org/drawingml/2006/table">
            <a:tbl>
              <a:tblPr/>
              <a:tblGrid>
                <a:gridCol w="2473049">
                  <a:extLst>
                    <a:ext uri="{9D8B030D-6E8A-4147-A177-3AD203B41FA5}">
                      <a16:colId xmlns:a16="http://schemas.microsoft.com/office/drawing/2014/main" val="1516064784"/>
                    </a:ext>
                  </a:extLst>
                </a:gridCol>
                <a:gridCol w="3892125">
                  <a:extLst>
                    <a:ext uri="{9D8B030D-6E8A-4147-A177-3AD203B41FA5}">
                      <a16:colId xmlns:a16="http://schemas.microsoft.com/office/drawing/2014/main" val="2021756230"/>
                    </a:ext>
                  </a:extLst>
                </a:gridCol>
                <a:gridCol w="3389188">
                  <a:extLst>
                    <a:ext uri="{9D8B030D-6E8A-4147-A177-3AD203B41FA5}">
                      <a16:colId xmlns:a16="http://schemas.microsoft.com/office/drawing/2014/main" val="4136515550"/>
                    </a:ext>
                  </a:extLst>
                </a:gridCol>
              </a:tblGrid>
              <a:tr h="249778">
                <a:tc>
                  <a:txBody>
                    <a:bodyPr/>
                    <a:lstStyle/>
                    <a:p>
                      <a:r>
                        <a:rPr lang="en-US" sz="2000">
                          <a:solidFill>
                            <a:schemeClr val="bg1"/>
                          </a:solidFill>
                        </a:rPr>
                        <a:t>Feature</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 </a:t>
                      </a:r>
                      <a:r>
                        <a:rPr lang="en-US" sz="2000" b="1">
                          <a:solidFill>
                            <a:schemeClr val="bg1"/>
                          </a:solidFill>
                        </a:rPr>
                        <a:t>Python</a:t>
                      </a:r>
                      <a:endParaRPr lang="en-US" sz="2000">
                        <a:solidFill>
                          <a:schemeClr val="bg1"/>
                        </a:solidFill>
                      </a:endParaRP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 </a:t>
                      </a:r>
                      <a:r>
                        <a:rPr lang="en-US" sz="2000" b="1">
                          <a:solidFill>
                            <a:schemeClr val="bg1"/>
                          </a:solidFill>
                        </a:rPr>
                        <a:t>C</a:t>
                      </a:r>
                      <a:endParaRPr lang="en-US" sz="2000">
                        <a:solidFill>
                          <a:schemeClr val="bg1"/>
                        </a:solidFill>
                      </a:endParaRP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808270"/>
                  </a:ext>
                </a:extLst>
              </a:tr>
              <a:tr h="249778">
                <a:tc>
                  <a:txBody>
                    <a:bodyPr/>
                    <a:lstStyle/>
                    <a:p>
                      <a:r>
                        <a:rPr lang="en-US" sz="2000" b="1">
                          <a:solidFill>
                            <a:schemeClr val="bg1"/>
                          </a:solidFill>
                        </a:rPr>
                        <a:t>Type</a:t>
                      </a:r>
                      <a:endParaRPr lang="en-US" sz="2000">
                        <a:solidFill>
                          <a:schemeClr val="bg1"/>
                        </a:solidFill>
                      </a:endParaRP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High-level, interpreted language</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Low-level, compiled language</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12931982"/>
                  </a:ext>
                </a:extLst>
              </a:tr>
              <a:tr h="249778">
                <a:tc>
                  <a:txBody>
                    <a:bodyPr/>
                    <a:lstStyle/>
                    <a:p>
                      <a:r>
                        <a:rPr lang="en-US" sz="2000" b="1">
                          <a:solidFill>
                            <a:schemeClr val="bg1"/>
                          </a:solidFill>
                        </a:rPr>
                        <a:t>Speed</a:t>
                      </a:r>
                      <a:endParaRPr lang="en-US" sz="2000">
                        <a:solidFill>
                          <a:schemeClr val="bg1"/>
                        </a:solidFill>
                      </a:endParaRP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Slower due to interpretation</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Very fast due to direct machine code</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33438401"/>
                  </a:ext>
                </a:extLst>
              </a:tr>
              <a:tr h="249778">
                <a:tc>
                  <a:txBody>
                    <a:bodyPr/>
                    <a:lstStyle/>
                    <a:p>
                      <a:r>
                        <a:rPr lang="en-US" sz="2000" b="1">
                          <a:solidFill>
                            <a:schemeClr val="bg1"/>
                          </a:solidFill>
                        </a:rPr>
                        <a:t>Memory Management</a:t>
                      </a:r>
                      <a:endParaRPr lang="en-US" sz="2000">
                        <a:solidFill>
                          <a:schemeClr val="bg1"/>
                        </a:solidFill>
                      </a:endParaRP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Automatic (Garbage Collection)</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Manual (malloc/free)</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65874268"/>
                  </a:ext>
                </a:extLst>
              </a:tr>
              <a:tr h="249778">
                <a:tc>
                  <a:txBody>
                    <a:bodyPr/>
                    <a:lstStyle/>
                    <a:p>
                      <a:r>
                        <a:rPr lang="en-US" sz="2000" b="1">
                          <a:solidFill>
                            <a:schemeClr val="bg1"/>
                          </a:solidFill>
                        </a:rPr>
                        <a:t>Syntax</a:t>
                      </a:r>
                      <a:endParaRPr lang="en-US" sz="2000">
                        <a:solidFill>
                          <a:schemeClr val="bg1"/>
                        </a:solidFill>
                      </a:endParaRP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Easy, readable, beginner-friendly</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Complex, requires more code</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85248273"/>
                  </a:ext>
                </a:extLst>
              </a:tr>
              <a:tr h="249778">
                <a:tc>
                  <a:txBody>
                    <a:bodyPr/>
                    <a:lstStyle/>
                    <a:p>
                      <a:r>
                        <a:rPr lang="en-US" sz="2000" b="1">
                          <a:solidFill>
                            <a:schemeClr val="bg1"/>
                          </a:solidFill>
                        </a:rPr>
                        <a:t>Compilation</a:t>
                      </a:r>
                      <a:endParaRPr lang="en-US" sz="2000">
                        <a:solidFill>
                          <a:schemeClr val="bg1"/>
                        </a:solidFill>
                      </a:endParaRP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No compilation needed (interpreted)</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Requires compilation to run</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38586221"/>
                  </a:ext>
                </a:extLst>
              </a:tr>
              <a:tr h="249778">
                <a:tc>
                  <a:txBody>
                    <a:bodyPr/>
                    <a:lstStyle/>
                    <a:p>
                      <a:r>
                        <a:rPr lang="en-US" sz="2000" b="1">
                          <a:solidFill>
                            <a:schemeClr val="bg1"/>
                          </a:solidFill>
                        </a:rPr>
                        <a:t>Portability</a:t>
                      </a:r>
                      <a:endParaRPr lang="en-US" sz="2000">
                        <a:solidFill>
                          <a:schemeClr val="bg1"/>
                        </a:solidFill>
                      </a:endParaRP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Highly portable</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Portable but dependent on hardware</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51962115"/>
                  </a:ext>
                </a:extLst>
              </a:tr>
              <a:tr h="249778">
                <a:tc>
                  <a:txBody>
                    <a:bodyPr/>
                    <a:lstStyle/>
                    <a:p>
                      <a:r>
                        <a:rPr lang="en-US" sz="2000" b="1">
                          <a:solidFill>
                            <a:schemeClr val="bg1"/>
                          </a:solidFill>
                        </a:rPr>
                        <a:t>Use Cases</a:t>
                      </a:r>
                      <a:endParaRPr lang="en-US" sz="2000">
                        <a:solidFill>
                          <a:schemeClr val="bg1"/>
                        </a:solidFill>
                      </a:endParaRP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Scripting, automation, AI, web dev</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da-DK" sz="2000">
                          <a:solidFill>
                            <a:schemeClr val="bg1"/>
                          </a:solidFill>
                        </a:rPr>
                        <a:t>Embedded systems, OS/kernel dev, drivers</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63736794"/>
                  </a:ext>
                </a:extLst>
              </a:tr>
              <a:tr h="249778">
                <a:tc>
                  <a:txBody>
                    <a:bodyPr/>
                    <a:lstStyle/>
                    <a:p>
                      <a:r>
                        <a:rPr lang="en-US" sz="2000" b="1">
                          <a:solidFill>
                            <a:schemeClr val="bg1"/>
                          </a:solidFill>
                        </a:rPr>
                        <a:t>Pointers</a:t>
                      </a:r>
                      <a:endParaRPr lang="en-US" sz="2000">
                        <a:solidFill>
                          <a:schemeClr val="bg1"/>
                        </a:solidFill>
                      </a:endParaRP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Not supported</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Fully supported</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05535003"/>
                  </a:ext>
                </a:extLst>
              </a:tr>
              <a:tr h="249778">
                <a:tc>
                  <a:txBody>
                    <a:bodyPr/>
                    <a:lstStyle/>
                    <a:p>
                      <a:r>
                        <a:rPr lang="en-US" sz="2000" b="1">
                          <a:solidFill>
                            <a:schemeClr val="bg1"/>
                          </a:solidFill>
                        </a:rPr>
                        <a:t>Standard Libraries</a:t>
                      </a:r>
                      <a:endParaRPr lang="en-US" sz="2000">
                        <a:solidFill>
                          <a:schemeClr val="bg1"/>
                        </a:solidFill>
                      </a:endParaRP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Very rich and extensive</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Very minimal</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53278127"/>
                  </a:ext>
                </a:extLst>
              </a:tr>
              <a:tr h="249778">
                <a:tc>
                  <a:txBody>
                    <a:bodyPr/>
                    <a:lstStyle/>
                    <a:p>
                      <a:r>
                        <a:rPr lang="en-US" sz="2000" b="1">
                          <a:solidFill>
                            <a:schemeClr val="bg1"/>
                          </a:solidFill>
                        </a:rPr>
                        <a:t>Development Speed</a:t>
                      </a:r>
                      <a:endParaRPr lang="en-US" sz="2000">
                        <a:solidFill>
                          <a:schemeClr val="bg1"/>
                        </a:solidFill>
                      </a:endParaRP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a:solidFill>
                            <a:schemeClr val="bg1"/>
                          </a:solidFill>
                        </a:rPr>
                        <a:t>Fast development</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sz="2000" dirty="0">
                          <a:solidFill>
                            <a:schemeClr val="bg1"/>
                          </a:solidFill>
                        </a:rPr>
                        <a:t>Slower due to manual coding</a:t>
                      </a:r>
                    </a:p>
                  </a:txBody>
                  <a:tcPr marL="49944" marR="49944" marT="24972" marB="2497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10334303"/>
                  </a:ext>
                </a:extLst>
              </a:tr>
            </a:tbl>
          </a:graphicData>
        </a:graphic>
      </p:graphicFrame>
    </p:spTree>
    <p:extLst>
      <p:ext uri="{BB962C8B-B14F-4D97-AF65-F5344CB8AC3E}">
        <p14:creationId xmlns:p14="http://schemas.microsoft.com/office/powerpoint/2010/main" val="3771405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EBCF1-B135-9644-8F9E-1777CF478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8E1B07-58B3-5D86-5255-D134B5B045D2}"/>
              </a:ext>
            </a:extLst>
          </p:cNvPr>
          <p:cNvSpPr>
            <a:spLocks noGrp="1"/>
          </p:cNvSpPr>
          <p:nvPr>
            <p:ph type="title"/>
          </p:nvPr>
        </p:nvSpPr>
        <p:spPr>
          <a:xfrm>
            <a:off x="914400" y="297180"/>
            <a:ext cx="8092440" cy="960120"/>
          </a:xfrm>
        </p:spPr>
        <p:txBody>
          <a:bodyPr anchor="t">
            <a:normAutofit/>
          </a:bodyPr>
          <a:lstStyle/>
          <a:p>
            <a:r>
              <a:rPr lang="fr-FR" dirty="0"/>
              <a:t>🧮 </a:t>
            </a:r>
            <a:r>
              <a:rPr lang="fr-FR" dirty="0" err="1"/>
              <a:t>Comparison</a:t>
            </a:r>
            <a:r>
              <a:rPr lang="fr-FR" dirty="0"/>
              <a:t> : Python vs Java</a:t>
            </a:r>
            <a:endParaRPr lang="en-US" dirty="0"/>
          </a:p>
        </p:txBody>
      </p:sp>
      <p:sp>
        <p:nvSpPr>
          <p:cNvPr id="5" name="Slide Number Placeholder 4">
            <a:extLst>
              <a:ext uri="{FF2B5EF4-FFF2-40B4-BE49-F238E27FC236}">
                <a16:creationId xmlns:a16="http://schemas.microsoft.com/office/drawing/2014/main" id="{CACB2ED6-AE13-5EF3-0BF3-0F6B61BC6BF7}"/>
              </a:ext>
            </a:extLst>
          </p:cNvPr>
          <p:cNvSpPr>
            <a:spLocks noGrp="1"/>
          </p:cNvSpPr>
          <p:nvPr>
            <p:ph type="sldNum" sz="quarter" idx="29"/>
          </p:nvPr>
        </p:nvSpPr>
        <p:spPr>
          <a:xfrm>
            <a:off x="11194169" y="6229350"/>
            <a:ext cx="458592" cy="365125"/>
          </a:xfrm>
        </p:spPr>
        <p:txBody>
          <a:bodyPr anchor="ctr">
            <a:normAutofit/>
          </a:bodyPr>
          <a:lstStyle/>
          <a:p>
            <a:pPr>
              <a:spcAft>
                <a:spcPts val="600"/>
              </a:spcAft>
            </a:pPr>
            <a:fld id="{47FEACEE-25B4-4A2D-B147-27296E36371D}" type="slidenum">
              <a:rPr lang="en-US" altLang="zh-CN" noProof="0" smtClean="0"/>
              <a:pPr>
                <a:spcAft>
                  <a:spcPts val="600"/>
                </a:spcAft>
              </a:pPr>
              <a:t>25</a:t>
            </a:fld>
            <a:endParaRPr lang="en-US" altLang="zh-CN" noProof="0"/>
          </a:p>
        </p:txBody>
      </p:sp>
      <p:graphicFrame>
        <p:nvGraphicFramePr>
          <p:cNvPr id="6" name="Table 5">
            <a:extLst>
              <a:ext uri="{FF2B5EF4-FFF2-40B4-BE49-F238E27FC236}">
                <a16:creationId xmlns:a16="http://schemas.microsoft.com/office/drawing/2014/main" id="{0EB14911-CA2A-D86B-2852-D61086199E0A}"/>
              </a:ext>
            </a:extLst>
          </p:cNvPr>
          <p:cNvGraphicFramePr>
            <a:graphicFrameLocks noGrp="1"/>
          </p:cNvGraphicFramePr>
          <p:nvPr>
            <p:extLst>
              <p:ext uri="{D42A27DB-BD31-4B8C-83A1-F6EECF244321}">
                <p14:modId xmlns:p14="http://schemas.microsoft.com/office/powerpoint/2010/main" val="2204454968"/>
              </p:ext>
            </p:extLst>
          </p:nvPr>
        </p:nvGraphicFramePr>
        <p:xfrm>
          <a:off x="658367" y="1113392"/>
          <a:ext cx="9822943" cy="5394960"/>
        </p:xfrm>
        <a:graphic>
          <a:graphicData uri="http://schemas.openxmlformats.org/drawingml/2006/table">
            <a:tbl>
              <a:tblPr/>
              <a:tblGrid>
                <a:gridCol w="2370583">
                  <a:extLst>
                    <a:ext uri="{9D8B030D-6E8A-4147-A177-3AD203B41FA5}">
                      <a16:colId xmlns:a16="http://schemas.microsoft.com/office/drawing/2014/main" val="1516064784"/>
                    </a:ext>
                  </a:extLst>
                </a:gridCol>
                <a:gridCol w="3760470">
                  <a:extLst>
                    <a:ext uri="{9D8B030D-6E8A-4147-A177-3AD203B41FA5}">
                      <a16:colId xmlns:a16="http://schemas.microsoft.com/office/drawing/2014/main" val="2021756230"/>
                    </a:ext>
                  </a:extLst>
                </a:gridCol>
                <a:gridCol w="3691890">
                  <a:extLst>
                    <a:ext uri="{9D8B030D-6E8A-4147-A177-3AD203B41FA5}">
                      <a16:colId xmlns:a16="http://schemas.microsoft.com/office/drawing/2014/main" val="4136515550"/>
                    </a:ext>
                  </a:extLst>
                </a:gridCol>
              </a:tblGrid>
              <a:tr h="249778">
                <a:tc>
                  <a:txBody>
                    <a:bodyPr/>
                    <a:lstStyle/>
                    <a:p>
                      <a:r>
                        <a:rPr lang="en-US" dirty="0">
                          <a:solidFill>
                            <a:schemeClr val="bg1"/>
                          </a:solidFill>
                        </a:rPr>
                        <a:t>Feature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 </a:t>
                      </a:r>
                      <a:r>
                        <a:rPr lang="en-US" b="1">
                          <a:solidFill>
                            <a:schemeClr val="bg1"/>
                          </a:solidFill>
                        </a:rPr>
                        <a:t>Python</a:t>
                      </a:r>
                      <a:endParaRPr lang="en-US">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 </a:t>
                      </a:r>
                      <a:r>
                        <a:rPr lang="en-US" b="1">
                          <a:solidFill>
                            <a:schemeClr val="bg1"/>
                          </a:solidFill>
                        </a:rPr>
                        <a:t>Java</a:t>
                      </a:r>
                      <a:endParaRPr lang="en-US">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808270"/>
                  </a:ext>
                </a:extLst>
              </a:tr>
              <a:tr h="249778">
                <a:tc>
                  <a:txBody>
                    <a:bodyPr/>
                    <a:lstStyle/>
                    <a:p>
                      <a:r>
                        <a:rPr lang="en-US" b="1">
                          <a:solidFill>
                            <a:schemeClr val="bg1"/>
                          </a:solidFill>
                        </a:rPr>
                        <a:t>Type</a:t>
                      </a:r>
                      <a:endParaRPr lang="en-US">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Interpreted, dynamically typed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Compiled to bytecode, statically typed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12931982"/>
                  </a:ext>
                </a:extLst>
              </a:tr>
              <a:tr h="249778">
                <a:tc>
                  <a:txBody>
                    <a:bodyPr/>
                    <a:lstStyle/>
                    <a:p>
                      <a:r>
                        <a:rPr lang="en-US" b="1">
                          <a:solidFill>
                            <a:schemeClr val="bg1"/>
                          </a:solidFill>
                        </a:rPr>
                        <a:t>Execution</a:t>
                      </a:r>
                      <a:endParaRPr lang="en-US">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Line-by-line via interpreter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Bytecode run on JVM (Java Virtual Machine)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33438401"/>
                  </a:ext>
                </a:extLst>
              </a:tr>
              <a:tr h="249778">
                <a:tc>
                  <a:txBody>
                    <a:bodyPr/>
                    <a:lstStyle/>
                    <a:p>
                      <a:r>
                        <a:rPr lang="en-US" b="1">
                          <a:solidFill>
                            <a:schemeClr val="bg1"/>
                          </a:solidFill>
                        </a:rPr>
                        <a:t>Syntax</a:t>
                      </a:r>
                      <a:endParaRPr lang="en-US">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Simple, concise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Verbose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65874268"/>
                  </a:ext>
                </a:extLst>
              </a:tr>
              <a:tr h="249778">
                <a:tc>
                  <a:txBody>
                    <a:bodyPr/>
                    <a:lstStyle/>
                    <a:p>
                      <a:r>
                        <a:rPr lang="en-US" b="1">
                          <a:solidFill>
                            <a:schemeClr val="bg1"/>
                          </a:solidFill>
                        </a:rPr>
                        <a:t>Speed</a:t>
                      </a:r>
                      <a:endParaRPr lang="en-US">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Slower than Java in general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Faster due to JIT compilation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85248273"/>
                  </a:ext>
                </a:extLst>
              </a:tr>
              <a:tr h="249778">
                <a:tc>
                  <a:txBody>
                    <a:bodyPr/>
                    <a:lstStyle/>
                    <a:p>
                      <a:r>
                        <a:rPr lang="en-US" b="1">
                          <a:solidFill>
                            <a:schemeClr val="bg1"/>
                          </a:solidFill>
                        </a:rPr>
                        <a:t>Memory Management</a:t>
                      </a:r>
                      <a:endParaRPr lang="en-US">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Automatic (Garbage Collection)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Automatic (Garbage Collection)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38586221"/>
                  </a:ext>
                </a:extLst>
              </a:tr>
              <a:tr h="249778">
                <a:tc>
                  <a:txBody>
                    <a:bodyPr/>
                    <a:lstStyle/>
                    <a:p>
                      <a:r>
                        <a:rPr lang="en-US" b="1">
                          <a:solidFill>
                            <a:schemeClr val="bg1"/>
                          </a:solidFill>
                        </a:rPr>
                        <a:t>Error Handling</a:t>
                      </a:r>
                      <a:endParaRPr lang="en-US">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Dynamic (errors at runtime)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Compile-time error checks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51962115"/>
                  </a:ext>
                </a:extLst>
              </a:tr>
              <a:tr h="249778">
                <a:tc>
                  <a:txBody>
                    <a:bodyPr/>
                    <a:lstStyle/>
                    <a:p>
                      <a:r>
                        <a:rPr lang="en-US" b="1">
                          <a:solidFill>
                            <a:schemeClr val="bg1"/>
                          </a:solidFill>
                        </a:rPr>
                        <a:t>Use Cases</a:t>
                      </a:r>
                      <a:endParaRPr lang="en-US">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AI, scripting, automation, web dev</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Enterprise apps, Android, large-scale systems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63736794"/>
                  </a:ext>
                </a:extLst>
              </a:tr>
              <a:tr h="249778">
                <a:tc>
                  <a:txBody>
                    <a:bodyPr/>
                    <a:lstStyle/>
                    <a:p>
                      <a:r>
                        <a:rPr lang="en-US" b="1">
                          <a:solidFill>
                            <a:schemeClr val="bg1"/>
                          </a:solidFill>
                        </a:rPr>
                        <a:t>Multithreading</a:t>
                      </a:r>
                      <a:endParaRPr lang="en-US">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Not true multi-threading (due to GIL)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True multithreading support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05535003"/>
                  </a:ext>
                </a:extLst>
              </a:tr>
              <a:tr h="249778">
                <a:tc>
                  <a:txBody>
                    <a:bodyPr/>
                    <a:lstStyle/>
                    <a:p>
                      <a:r>
                        <a:rPr lang="en-US" b="1">
                          <a:solidFill>
                            <a:schemeClr val="bg1"/>
                          </a:solidFill>
                        </a:rPr>
                        <a:t>Mobile App Dev</a:t>
                      </a:r>
                      <a:endParaRPr lang="en-US">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Not commonly used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Primary language for Android development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53278127"/>
                  </a:ext>
                </a:extLst>
              </a:tr>
              <a:tr h="249778">
                <a:tc>
                  <a:txBody>
                    <a:bodyPr/>
                    <a:lstStyle/>
                    <a:p>
                      <a:r>
                        <a:rPr lang="en-US" b="1">
                          <a:solidFill>
                            <a:schemeClr val="bg1"/>
                          </a:solidFill>
                        </a:rPr>
                        <a:t>Community and Libraries</a:t>
                      </a:r>
                      <a:endParaRPr lang="en-US">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a:solidFill>
                            <a:schemeClr val="bg1"/>
                          </a:solidFill>
                        </a:rPr>
                        <a:t>Huge and growing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r>
                        <a:rPr lang="en-US" dirty="0">
                          <a:solidFill>
                            <a:schemeClr val="bg1"/>
                          </a:solidFill>
                        </a:rPr>
                        <a:t>Mature and widely used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10334303"/>
                  </a:ext>
                </a:extLst>
              </a:tr>
            </a:tbl>
          </a:graphicData>
        </a:graphic>
      </p:graphicFrame>
    </p:spTree>
    <p:extLst>
      <p:ext uri="{BB962C8B-B14F-4D97-AF65-F5344CB8AC3E}">
        <p14:creationId xmlns:p14="http://schemas.microsoft.com/office/powerpoint/2010/main" val="1974134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Installation and Writing Our First Python Program</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pPr algn="ctr"/>
            <a:endParaRPr lang="en-US" dirty="0"/>
          </a:p>
          <a:p>
            <a:pPr algn="ctr"/>
            <a:r>
              <a:rPr lang="en-US" sz="2400" dirty="0"/>
              <a:t>Session 1 – PART 2</a:t>
            </a:r>
          </a:p>
        </p:txBody>
      </p:sp>
    </p:spTree>
    <p:extLst>
      <p:ext uri="{BB962C8B-B14F-4D97-AF65-F5344CB8AC3E}">
        <p14:creationId xmlns:p14="http://schemas.microsoft.com/office/powerpoint/2010/main" val="3530111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449970" y="1437702"/>
            <a:ext cx="7280910" cy="3682938"/>
          </a:xfrm>
        </p:spPr>
        <p:txBody>
          <a:bodyPr lIns="0" anchor="t" anchorCtr="0">
            <a:noAutofit/>
          </a:bodyPr>
          <a:lstStyle/>
          <a:p>
            <a:r>
              <a:rPr lang="en-US" sz="2400" dirty="0"/>
              <a:t>Installing Python for Windows</a:t>
            </a:r>
            <a:br>
              <a:rPr lang="en-US" sz="2400" dirty="0"/>
            </a:br>
            <a:r>
              <a:rPr lang="en-US" sz="2400" dirty="0"/>
              <a:t>Testing the Installation in Windows 11</a:t>
            </a:r>
            <a:br>
              <a:rPr lang="en-US" sz="2400" dirty="0"/>
            </a:br>
            <a:r>
              <a:rPr lang="en-US" sz="2400" dirty="0"/>
              <a:t>Installing </a:t>
            </a:r>
            <a:r>
              <a:rPr lang="en-US" sz="2400" dirty="0" err="1"/>
              <a:t>pycharm</a:t>
            </a:r>
            <a:br>
              <a:rPr lang="en-US" sz="2400" dirty="0"/>
            </a:br>
            <a:r>
              <a:rPr lang="en-US" sz="2400" dirty="0"/>
              <a:t>Setting the Path to Python</a:t>
            </a:r>
            <a:br>
              <a:rPr lang="en-US" sz="2400" dirty="0"/>
            </a:br>
            <a:r>
              <a:rPr lang="en-US" sz="2400" dirty="0"/>
              <a:t>Writing Our First Python Program</a:t>
            </a:r>
            <a:br>
              <a:rPr lang="en-US" sz="2400" dirty="0"/>
            </a:br>
            <a:r>
              <a:rPr lang="en-US" sz="2400" dirty="0"/>
              <a:t>Getting Python Documentation Help</a:t>
            </a:r>
            <a:br>
              <a:rPr lang="en-US" sz="2400" dirty="0"/>
            </a:br>
            <a:r>
              <a:rPr lang="en-US" sz="2400" dirty="0"/>
              <a:t>Executing a Python Program</a:t>
            </a:r>
            <a:br>
              <a:rPr lang="en-US" sz="2400" dirty="0"/>
            </a:br>
            <a:r>
              <a:rPr lang="en-US" sz="2400" dirty="0"/>
              <a:t>Getting Help in Python</a:t>
            </a:r>
            <a:br>
              <a:rPr lang="en-US" sz="2400" dirty="0"/>
            </a:br>
            <a:r>
              <a:rPr lang="en-US" sz="2400" dirty="0"/>
              <a:t>Reopening the Python Program in IDLE</a:t>
            </a:r>
            <a:br>
              <a:rPr lang="en-US" sz="2400" dirty="0"/>
            </a:br>
            <a:endParaRPr lang="en-US" sz="2400" dirty="0"/>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t="63" r="-3" b="-3"/>
          <a:stretch>
            <a:fillRect/>
          </a:stretch>
        </p:blipFill>
        <p:spPr>
          <a:xfrm>
            <a:off x="7992948" y="529148"/>
            <a:ext cx="3749082" cy="4174612"/>
          </a:xfrm>
          <a:noFill/>
        </p:spPr>
      </p:pic>
      <p:sp>
        <p:nvSpPr>
          <p:cNvPr id="17" name="Text Placeholder 3">
            <a:extLst>
              <a:ext uri="{FF2B5EF4-FFF2-40B4-BE49-F238E27FC236}">
                <a16:creationId xmlns:a16="http://schemas.microsoft.com/office/drawing/2014/main" id="{649A7FFE-F43E-51B6-9935-A84FFD296FBA}"/>
              </a:ext>
            </a:extLst>
          </p:cNvPr>
          <p:cNvSpPr>
            <a:spLocks noGrp="1"/>
          </p:cNvSpPr>
          <p:nvPr>
            <p:ph type="body" sz="quarter" idx="28"/>
          </p:nvPr>
        </p:nvSpPr>
        <p:spPr>
          <a:xfrm>
            <a:off x="312420" y="149004"/>
            <a:ext cx="5029200" cy="760288"/>
          </a:xfrm>
        </p:spPr>
        <p:txBody>
          <a:bodyPr>
            <a:normAutofit/>
          </a:bodyPr>
          <a:lstStyle/>
          <a:p>
            <a:r>
              <a:rPr lang="en-US" sz="3200" b="1"/>
              <a:t>AGENDA</a:t>
            </a:r>
            <a:endParaRPr lang="en-US" sz="3200" b="1" dirty="0"/>
          </a:p>
        </p:txBody>
      </p:sp>
    </p:spTree>
    <p:extLst>
      <p:ext uri="{BB962C8B-B14F-4D97-AF65-F5344CB8AC3E}">
        <p14:creationId xmlns:p14="http://schemas.microsoft.com/office/powerpoint/2010/main" val="27350875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CDD75-17F4-BF13-347B-8CABA8E7FC3F}"/>
              </a:ext>
            </a:extLst>
          </p:cNvPr>
          <p:cNvSpPr>
            <a:spLocks noGrp="1"/>
          </p:cNvSpPr>
          <p:nvPr>
            <p:ph type="title"/>
          </p:nvPr>
        </p:nvSpPr>
        <p:spPr>
          <a:xfrm>
            <a:off x="240030" y="514350"/>
            <a:ext cx="8743950" cy="777240"/>
          </a:xfrm>
        </p:spPr>
        <p:txBody>
          <a:bodyPr>
            <a:normAutofit/>
          </a:bodyPr>
          <a:lstStyle/>
          <a:p>
            <a:r>
              <a:rPr lang="en-US" sz="3600" dirty="0"/>
              <a:t>https://python.land/installing-python</a:t>
            </a:r>
          </a:p>
        </p:txBody>
      </p:sp>
      <p:sp>
        <p:nvSpPr>
          <p:cNvPr id="4" name="Slide Number Placeholder 3">
            <a:extLst>
              <a:ext uri="{FF2B5EF4-FFF2-40B4-BE49-F238E27FC236}">
                <a16:creationId xmlns:a16="http://schemas.microsoft.com/office/drawing/2014/main" id="{796307F7-EBEA-EB5D-10AB-6A00F7787168}"/>
              </a:ext>
            </a:extLst>
          </p:cNvPr>
          <p:cNvSpPr>
            <a:spLocks noGrp="1"/>
          </p:cNvSpPr>
          <p:nvPr>
            <p:ph type="sldNum" sz="quarter" idx="12"/>
          </p:nvPr>
        </p:nvSpPr>
        <p:spPr/>
        <p:txBody>
          <a:bodyPr/>
          <a:lstStyle/>
          <a:p>
            <a:fld id="{CBD12358-51D2-46B3-9BDE-DF29528B9454}" type="slidenum">
              <a:rPr lang="en-US" smtClean="0"/>
              <a:t>28</a:t>
            </a:fld>
            <a:endParaRPr lang="en-US" dirty="0"/>
          </a:p>
        </p:txBody>
      </p:sp>
      <p:pic>
        <p:nvPicPr>
          <p:cNvPr id="6" name="Picture 5">
            <a:extLst>
              <a:ext uri="{FF2B5EF4-FFF2-40B4-BE49-F238E27FC236}">
                <a16:creationId xmlns:a16="http://schemas.microsoft.com/office/drawing/2014/main" id="{AE8E5CD3-CB6D-517A-AA14-C982ACCD865F}"/>
              </a:ext>
            </a:extLst>
          </p:cNvPr>
          <p:cNvPicPr>
            <a:picLocks noChangeAspect="1"/>
          </p:cNvPicPr>
          <p:nvPr/>
        </p:nvPicPr>
        <p:blipFill>
          <a:blip r:embed="rId2"/>
          <a:stretch>
            <a:fillRect/>
          </a:stretch>
        </p:blipFill>
        <p:spPr>
          <a:xfrm>
            <a:off x="434340" y="1394460"/>
            <a:ext cx="9475470" cy="5188585"/>
          </a:xfrm>
          <a:prstGeom prst="rect">
            <a:avLst/>
          </a:prstGeom>
        </p:spPr>
      </p:pic>
    </p:spTree>
    <p:extLst>
      <p:ext uri="{BB962C8B-B14F-4D97-AF65-F5344CB8AC3E}">
        <p14:creationId xmlns:p14="http://schemas.microsoft.com/office/powerpoint/2010/main" val="40381194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91D7F-6748-F0B0-8A2F-941A5A619D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42664-D858-03B6-6030-B51A63E33E7B}"/>
              </a:ext>
            </a:extLst>
          </p:cNvPr>
          <p:cNvSpPr>
            <a:spLocks noGrp="1"/>
          </p:cNvSpPr>
          <p:nvPr>
            <p:ph type="title"/>
          </p:nvPr>
        </p:nvSpPr>
        <p:spPr>
          <a:xfrm>
            <a:off x="240028" y="2179945"/>
            <a:ext cx="11412731" cy="777240"/>
          </a:xfrm>
        </p:spPr>
        <p:txBody>
          <a:bodyPr>
            <a:normAutofit/>
          </a:bodyPr>
          <a:lstStyle/>
          <a:p>
            <a:r>
              <a:rPr lang="en-US" sz="2400" dirty="0"/>
              <a:t>https://www.jetbrains.com/pycharm/download/?section=windows</a:t>
            </a:r>
          </a:p>
        </p:txBody>
      </p:sp>
      <p:sp>
        <p:nvSpPr>
          <p:cNvPr id="4" name="Slide Number Placeholder 3">
            <a:extLst>
              <a:ext uri="{FF2B5EF4-FFF2-40B4-BE49-F238E27FC236}">
                <a16:creationId xmlns:a16="http://schemas.microsoft.com/office/drawing/2014/main" id="{36350FE2-7568-2879-9AA6-899940FAC48A}"/>
              </a:ext>
            </a:extLst>
          </p:cNvPr>
          <p:cNvSpPr>
            <a:spLocks noGrp="1"/>
          </p:cNvSpPr>
          <p:nvPr>
            <p:ph type="sldNum" sz="quarter" idx="12"/>
          </p:nvPr>
        </p:nvSpPr>
        <p:spPr/>
        <p:txBody>
          <a:bodyPr/>
          <a:lstStyle/>
          <a:p>
            <a:fld id="{CBD12358-51D2-46B3-9BDE-DF29528B9454}" type="slidenum">
              <a:rPr lang="en-US" smtClean="0"/>
              <a:t>29</a:t>
            </a:fld>
            <a:endParaRPr lang="en-US" dirty="0"/>
          </a:p>
        </p:txBody>
      </p:sp>
      <p:sp>
        <p:nvSpPr>
          <p:cNvPr id="3" name="Rectangle 1">
            <a:extLst>
              <a:ext uri="{FF2B5EF4-FFF2-40B4-BE49-F238E27FC236}">
                <a16:creationId xmlns:a16="http://schemas.microsoft.com/office/drawing/2014/main" id="{875A14EB-C37E-54CC-1ABF-558114939850}"/>
              </a:ext>
            </a:extLst>
          </p:cNvPr>
          <p:cNvSpPr>
            <a:spLocks noChangeArrowheads="1"/>
          </p:cNvSpPr>
          <p:nvPr/>
        </p:nvSpPr>
        <p:spPr bwMode="auto">
          <a:xfrm>
            <a:off x="0" y="-202599"/>
            <a:ext cx="65" cy="4051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0A5A8B95-9FFC-CC34-6C7E-6EE4C8E7FE8E}"/>
              </a:ext>
            </a:extLst>
          </p:cNvPr>
          <p:cNvSpPr txBox="1"/>
          <p:nvPr/>
        </p:nvSpPr>
        <p:spPr>
          <a:xfrm>
            <a:off x="342899" y="3073659"/>
            <a:ext cx="11206990" cy="32316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3200" b="0" i="0" u="none" strike="noStrike" cap="none" normalizeH="0" baseline="0" dirty="0">
                <a:ln>
                  <a:noFill/>
                </a:ln>
                <a:solidFill>
                  <a:schemeClr val="bg1"/>
                </a:solidFill>
                <a:effectLst/>
                <a:latin typeface="Google Sans"/>
              </a:rPr>
              <a:t>Select desired installation options: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bg1"/>
              </a:solidFill>
              <a:effectLst/>
              <a:latin typeface="Google Sans"/>
            </a:endParaRPr>
          </a:p>
          <a:p>
            <a:pPr eaLnBrk="0" fontAlgn="base" hangingPunct="0">
              <a:spcBef>
                <a:spcPct val="0"/>
              </a:spcBef>
              <a:spcAft>
                <a:spcPct val="0"/>
              </a:spcAft>
              <a:buFontTx/>
              <a:buChar char="•"/>
            </a:pPr>
            <a:r>
              <a:rPr lang="en-US" altLang="en-US" sz="2800" dirty="0">
                <a:solidFill>
                  <a:schemeClr val="bg1"/>
                </a:solidFill>
                <a:latin typeface="Google Sans"/>
              </a:rPr>
              <a:t>    Create</a:t>
            </a:r>
            <a:r>
              <a:rPr kumimoji="0" lang="en-US" altLang="en-US" sz="2800" i="0" u="none" strike="noStrike" cap="none" normalizeH="0" baseline="0" dirty="0">
                <a:ln>
                  <a:noFill/>
                </a:ln>
                <a:solidFill>
                  <a:schemeClr val="bg1"/>
                </a:solidFill>
                <a:effectLst/>
                <a:latin typeface="Google Sans"/>
              </a:rPr>
              <a:t> Desktop Shortcut: </a:t>
            </a:r>
          </a:p>
          <a:p>
            <a:pPr marL="457200" marR="0" lvl="1" indent="-45720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bg1"/>
                </a:solidFill>
                <a:effectLst/>
                <a:latin typeface="Google Sans"/>
              </a:rPr>
              <a:t>Open Folder as Project: Right-click menu for opening folders in PyCharm. </a:t>
            </a:r>
          </a:p>
          <a:p>
            <a:pPr eaLnBrk="0" fontAlgn="base" hangingPunct="0">
              <a:spcBef>
                <a:spcPct val="0"/>
              </a:spcBef>
              <a:spcAft>
                <a:spcPct val="0"/>
              </a:spcAft>
              <a:buFontTx/>
              <a:buChar char="•"/>
            </a:pPr>
            <a:r>
              <a:rPr kumimoji="0" lang="en-US" altLang="en-US" sz="2800" i="0" u="none" strike="noStrike" cap="none" normalizeH="0" baseline="0" dirty="0">
                <a:ln>
                  <a:noFill/>
                </a:ln>
                <a:solidFill>
                  <a:schemeClr val="bg1"/>
                </a:solidFill>
                <a:effectLst/>
                <a:latin typeface="Google Sans"/>
              </a:rPr>
              <a:t>    Associate .</a:t>
            </a:r>
            <a:r>
              <a:rPr kumimoji="0" lang="en-US" altLang="en-US" sz="2800" i="0" u="none" strike="noStrike" cap="none" normalizeH="0" baseline="0" dirty="0" err="1">
                <a:ln>
                  <a:noFill/>
                </a:ln>
                <a:solidFill>
                  <a:schemeClr val="bg1"/>
                </a:solidFill>
                <a:effectLst/>
                <a:latin typeface="Google Sans"/>
              </a:rPr>
              <a:t>py</a:t>
            </a:r>
            <a:r>
              <a:rPr kumimoji="0" lang="en-US" altLang="en-US" sz="2800" i="0" u="none" strike="noStrike" cap="none" normalizeH="0" baseline="0" dirty="0">
                <a:ln>
                  <a:noFill/>
                </a:ln>
                <a:solidFill>
                  <a:schemeClr val="bg1"/>
                </a:solidFill>
                <a:effectLst/>
                <a:latin typeface="Google Sans"/>
              </a:rPr>
              <a:t> files: Opens Python files directly with PyCharm. </a:t>
            </a:r>
          </a:p>
          <a:p>
            <a:pPr indent="-457200" eaLnBrk="0" fontAlgn="base" hangingPunct="0">
              <a:spcBef>
                <a:spcPct val="0"/>
              </a:spcBef>
              <a:spcAft>
                <a:spcPct val="0"/>
              </a:spcAft>
              <a:buFontTx/>
              <a:buChar char="•"/>
            </a:pPr>
            <a:r>
              <a:rPr kumimoji="0" lang="en-US" altLang="en-US" sz="2800" i="0" u="none" strike="noStrike" cap="none" normalizeH="0" baseline="0" dirty="0">
                <a:ln>
                  <a:noFill/>
                </a:ln>
                <a:solidFill>
                  <a:schemeClr val="bg1"/>
                </a:solidFill>
                <a:effectLst/>
                <a:latin typeface="Google Sans"/>
              </a:rPr>
              <a:t>Add bin folder to PATH: (Requires a system restart) Allows you to run </a:t>
            </a:r>
          </a:p>
          <a:p>
            <a:pPr eaLnBrk="0" fontAlgn="base" hangingPunct="0">
              <a:spcBef>
                <a:spcPct val="0"/>
              </a:spcBef>
              <a:spcAft>
                <a:spcPct val="0"/>
              </a:spcAft>
            </a:pPr>
            <a:r>
              <a:rPr lang="en-US" altLang="en-US" sz="2800" dirty="0">
                <a:solidFill>
                  <a:schemeClr val="bg1"/>
                </a:solidFill>
                <a:latin typeface="Google Sans"/>
              </a:rPr>
              <a:t>  </a:t>
            </a:r>
            <a:r>
              <a:rPr kumimoji="0" lang="en-US" altLang="en-US" sz="2800" i="0" u="none" strike="noStrike" cap="none" normalizeH="0" baseline="0" dirty="0">
                <a:ln>
                  <a:noFill/>
                </a:ln>
                <a:solidFill>
                  <a:schemeClr val="bg1"/>
                </a:solidFill>
                <a:effectLst/>
                <a:latin typeface="Google Sans"/>
              </a:rPr>
              <a:t>   PyCharm from the command line. </a:t>
            </a:r>
            <a:endParaRPr kumimoji="0" lang="en-US" altLang="en-US" sz="2800" b="0" i="0" u="none" strike="noStrike" cap="none" normalizeH="0" baseline="0" dirty="0">
              <a:ln>
                <a:noFill/>
              </a:ln>
              <a:solidFill>
                <a:schemeClr val="bg1"/>
              </a:solidFill>
              <a:effectLst/>
              <a:latin typeface="Arial" panose="020B0604020202020204" pitchFamily="34" charset="0"/>
            </a:endParaRPr>
          </a:p>
        </p:txBody>
      </p:sp>
      <p:sp>
        <p:nvSpPr>
          <p:cNvPr id="9" name="TextBox 8">
            <a:extLst>
              <a:ext uri="{FF2B5EF4-FFF2-40B4-BE49-F238E27FC236}">
                <a16:creationId xmlns:a16="http://schemas.microsoft.com/office/drawing/2014/main" id="{B2F7D479-9FE3-EAE9-39A8-987A22E3F9D2}"/>
              </a:ext>
            </a:extLst>
          </p:cNvPr>
          <p:cNvSpPr txBox="1"/>
          <p:nvPr/>
        </p:nvSpPr>
        <p:spPr>
          <a:xfrm>
            <a:off x="342899" y="1021943"/>
            <a:ext cx="6097904" cy="584775"/>
          </a:xfrm>
          <a:prstGeom prst="rect">
            <a:avLst/>
          </a:prstGeom>
          <a:noFill/>
        </p:spPr>
        <p:txBody>
          <a:bodyPr wrap="square">
            <a:spAutoFit/>
          </a:bodyPr>
          <a:lstStyle/>
          <a:p>
            <a:r>
              <a:rPr lang="en-US" sz="3200" dirty="0">
                <a:solidFill>
                  <a:schemeClr val="bg1"/>
                </a:solidFill>
              </a:rPr>
              <a:t>Installing </a:t>
            </a:r>
            <a:r>
              <a:rPr lang="en-US" sz="3200" dirty="0" err="1">
                <a:solidFill>
                  <a:schemeClr val="bg1"/>
                </a:solidFill>
              </a:rPr>
              <a:t>pycharm</a:t>
            </a:r>
            <a:endParaRPr lang="en-US" sz="3200" dirty="0">
              <a:solidFill>
                <a:schemeClr val="bg1"/>
              </a:solidFill>
            </a:endParaRPr>
          </a:p>
        </p:txBody>
      </p:sp>
    </p:spTree>
    <p:extLst>
      <p:ext uri="{BB962C8B-B14F-4D97-AF65-F5344CB8AC3E}">
        <p14:creationId xmlns:p14="http://schemas.microsoft.com/office/powerpoint/2010/main" val="34004815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4989D-3452-B148-6E50-6184D5F0B4D1}"/>
              </a:ext>
            </a:extLst>
          </p:cNvPr>
          <p:cNvSpPr>
            <a:spLocks noGrp="1"/>
          </p:cNvSpPr>
          <p:nvPr>
            <p:ph type="title"/>
          </p:nvPr>
        </p:nvSpPr>
        <p:spPr/>
        <p:txBody>
          <a:bodyPr/>
          <a:lstStyle/>
          <a:p>
            <a:r>
              <a:rPr lang="en-US" dirty="0"/>
              <a:t>Check the python version</a:t>
            </a:r>
          </a:p>
        </p:txBody>
      </p:sp>
      <p:sp>
        <p:nvSpPr>
          <p:cNvPr id="3" name="Content Placeholder 2">
            <a:extLst>
              <a:ext uri="{FF2B5EF4-FFF2-40B4-BE49-F238E27FC236}">
                <a16:creationId xmlns:a16="http://schemas.microsoft.com/office/drawing/2014/main" id="{FC670870-989D-1FB6-E76C-FC0C7B51CFA4}"/>
              </a:ext>
            </a:extLst>
          </p:cNvPr>
          <p:cNvSpPr>
            <a:spLocks noGrp="1"/>
          </p:cNvSpPr>
          <p:nvPr>
            <p:ph idx="14"/>
          </p:nvPr>
        </p:nvSpPr>
        <p:spPr/>
        <p:txBody>
          <a:bodyPr/>
          <a:lstStyle/>
          <a:p>
            <a:pPr marL="0" indent="0">
              <a:buNone/>
            </a:pPr>
            <a:r>
              <a:rPr lang="en-US" sz="2400" dirty="0"/>
              <a:t>On terminal </a:t>
            </a:r>
          </a:p>
          <a:p>
            <a:pPr marL="0" indent="0">
              <a:buNone/>
            </a:pPr>
            <a:endParaRPr lang="en-US" dirty="0"/>
          </a:p>
          <a:p>
            <a:pPr marL="0" indent="0">
              <a:buNone/>
            </a:pPr>
            <a:r>
              <a:rPr lang="en-US" dirty="0"/>
              <a:t>Python –version</a:t>
            </a:r>
          </a:p>
          <a:p>
            <a:pPr marL="0" indent="0">
              <a:buNone/>
            </a:pPr>
            <a:endParaRPr lang="en-US" sz="2400" dirty="0"/>
          </a:p>
          <a:p>
            <a:pPr marL="0" indent="0">
              <a:buNone/>
            </a:pPr>
            <a:r>
              <a:rPr lang="en-US" sz="2400" dirty="0"/>
              <a:t>Google </a:t>
            </a:r>
            <a:r>
              <a:rPr lang="en-US" sz="2400" dirty="0" err="1"/>
              <a:t>Colab</a:t>
            </a:r>
            <a:r>
              <a:rPr lang="en-US" sz="2400" dirty="0"/>
              <a:t> / </a:t>
            </a:r>
            <a:r>
              <a:rPr lang="en-US" sz="2400" dirty="0" err="1"/>
              <a:t>Jupyter</a:t>
            </a:r>
            <a:r>
              <a:rPr lang="en-US" sz="2400" dirty="0"/>
              <a:t> Notebook</a:t>
            </a:r>
          </a:p>
          <a:p>
            <a:pPr marL="0" indent="0">
              <a:buNone/>
            </a:pPr>
            <a:r>
              <a:rPr lang="en-US" dirty="0"/>
              <a:t>!python --version</a:t>
            </a:r>
          </a:p>
        </p:txBody>
      </p:sp>
      <p:sp>
        <p:nvSpPr>
          <p:cNvPr id="4" name="Slide Number Placeholder 3">
            <a:extLst>
              <a:ext uri="{FF2B5EF4-FFF2-40B4-BE49-F238E27FC236}">
                <a16:creationId xmlns:a16="http://schemas.microsoft.com/office/drawing/2014/main" id="{E2C1F85A-B390-0712-BDE0-89FB19A0A8ED}"/>
              </a:ext>
            </a:extLst>
          </p:cNvPr>
          <p:cNvSpPr>
            <a:spLocks noGrp="1"/>
          </p:cNvSpPr>
          <p:nvPr>
            <p:ph type="sldNum" sz="quarter" idx="12"/>
          </p:nvPr>
        </p:nvSpPr>
        <p:spPr/>
        <p:txBody>
          <a:bodyPr/>
          <a:lstStyle/>
          <a:p>
            <a:fld id="{CBD12358-51D2-46B3-9BDE-DF29528B9454}" type="slidenum">
              <a:rPr lang="en-US" smtClean="0"/>
              <a:t>30</a:t>
            </a:fld>
            <a:endParaRPr lang="en-US" dirty="0"/>
          </a:p>
        </p:txBody>
      </p:sp>
    </p:spTree>
    <p:extLst>
      <p:ext uri="{BB962C8B-B14F-4D97-AF65-F5344CB8AC3E}">
        <p14:creationId xmlns:p14="http://schemas.microsoft.com/office/powerpoint/2010/main" val="4257505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73C0F-A5E2-12D5-79D5-771B03A156E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C69F72-9929-5D5B-7819-4522BDAD4853}"/>
              </a:ext>
            </a:extLst>
          </p:cNvPr>
          <p:cNvSpPr>
            <a:spLocks noGrp="1"/>
          </p:cNvSpPr>
          <p:nvPr>
            <p:ph type="sldNum" sz="quarter" idx="12"/>
          </p:nvPr>
        </p:nvSpPr>
        <p:spPr/>
        <p:txBody>
          <a:bodyPr/>
          <a:lstStyle/>
          <a:p>
            <a:fld id="{CBD12358-51D2-46B3-9BDE-DF29528B9454}" type="slidenum">
              <a:rPr lang="en-US" smtClean="0"/>
              <a:t>31</a:t>
            </a:fld>
            <a:endParaRPr lang="en-US" dirty="0"/>
          </a:p>
        </p:txBody>
      </p:sp>
      <p:sp>
        <p:nvSpPr>
          <p:cNvPr id="3" name="Rectangle 1">
            <a:extLst>
              <a:ext uri="{FF2B5EF4-FFF2-40B4-BE49-F238E27FC236}">
                <a16:creationId xmlns:a16="http://schemas.microsoft.com/office/drawing/2014/main" id="{DAC89169-B2F8-A841-28C8-DFF584866A4D}"/>
              </a:ext>
            </a:extLst>
          </p:cNvPr>
          <p:cNvSpPr>
            <a:spLocks noChangeArrowheads="1"/>
          </p:cNvSpPr>
          <p:nvPr/>
        </p:nvSpPr>
        <p:spPr bwMode="auto">
          <a:xfrm>
            <a:off x="0" y="-202599"/>
            <a:ext cx="65" cy="4051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9B5B4E0F-AD32-1D15-B66D-2C0C09749668}"/>
              </a:ext>
            </a:extLst>
          </p:cNvPr>
          <p:cNvSpPr txBox="1"/>
          <p:nvPr/>
        </p:nvSpPr>
        <p:spPr>
          <a:xfrm>
            <a:off x="108284" y="1240404"/>
            <a:ext cx="11790947" cy="5293757"/>
          </a:xfrm>
          <a:prstGeom prst="rect">
            <a:avLst/>
          </a:prstGeom>
          <a:noFill/>
        </p:spPr>
        <p:txBody>
          <a:bodyPr wrap="square">
            <a:spAutoFit/>
          </a:bodyPr>
          <a:lstStyle/>
          <a:p>
            <a:pPr lvl="0" eaLnBrk="0" fontAlgn="base" hangingPunct="0">
              <a:spcBef>
                <a:spcPts val="600"/>
              </a:spcBef>
              <a:spcAft>
                <a:spcPct val="0"/>
              </a:spcAft>
              <a:buFontTx/>
              <a:buChar char="•"/>
            </a:pPr>
            <a:r>
              <a:rPr lang="en-US" altLang="en-US" sz="2800" dirty="0">
                <a:solidFill>
                  <a:schemeClr val="bg1"/>
                </a:solidFill>
                <a:latin typeface="Google Sans"/>
              </a:rPr>
              <a:t> Using the </a:t>
            </a:r>
            <a:r>
              <a:rPr lang="en-US" altLang="en-US" sz="2800" dirty="0">
                <a:solidFill>
                  <a:schemeClr val="bg1"/>
                </a:solidFill>
                <a:latin typeface="Courier New" panose="02070309020205020404" pitchFamily="49" charset="0"/>
                <a:cs typeface="Courier New" panose="02070309020205020404" pitchFamily="49" charset="0"/>
              </a:rPr>
              <a:t>help()</a:t>
            </a:r>
            <a:r>
              <a:rPr lang="en-US" altLang="en-US" sz="2800" dirty="0">
                <a:solidFill>
                  <a:schemeClr val="bg1"/>
                </a:solidFill>
                <a:latin typeface="Google Sans"/>
              </a:rPr>
              <a:t> function:</a:t>
            </a:r>
          </a:p>
          <a:p>
            <a:pPr lvl="1" eaLnBrk="0" fontAlgn="base" hangingPunct="0">
              <a:spcBef>
                <a:spcPts val="600"/>
              </a:spcBef>
              <a:spcAft>
                <a:spcPct val="0"/>
              </a:spcAft>
              <a:buFontTx/>
              <a:buChar char="•"/>
            </a:pPr>
            <a:r>
              <a:rPr lang="en-US" altLang="en-US" sz="2800" b="1" dirty="0">
                <a:solidFill>
                  <a:schemeClr val="bg1"/>
                </a:solidFill>
                <a:latin typeface="Google Sans"/>
              </a:rPr>
              <a:t> Interactive Help</a:t>
            </a:r>
            <a:r>
              <a:rPr lang="en-US" altLang="en-US" sz="2800" dirty="0">
                <a:solidFill>
                  <a:schemeClr val="bg1"/>
                </a:solidFill>
                <a:latin typeface="Google Sans"/>
              </a:rPr>
              <a:t>: Calling </a:t>
            </a:r>
            <a:r>
              <a:rPr lang="en-US" altLang="en-US" sz="2800" dirty="0">
                <a:solidFill>
                  <a:schemeClr val="bg1"/>
                </a:solidFill>
                <a:latin typeface="Courier New" panose="02070309020205020404" pitchFamily="49" charset="0"/>
                <a:cs typeface="Courier New" panose="02070309020205020404" pitchFamily="49" charset="0"/>
              </a:rPr>
              <a:t>help()</a:t>
            </a:r>
            <a:r>
              <a:rPr lang="en-US" altLang="en-US" sz="2800" dirty="0">
                <a:solidFill>
                  <a:schemeClr val="bg1"/>
                </a:solidFill>
                <a:latin typeface="Google Sans"/>
              </a:rPr>
              <a:t>. To exit, type </a:t>
            </a:r>
            <a:r>
              <a:rPr lang="en-US" altLang="en-US" sz="2800" dirty="0">
                <a:solidFill>
                  <a:schemeClr val="bg1"/>
                </a:solidFill>
                <a:latin typeface="Courier New" panose="02070309020205020404" pitchFamily="49" charset="0"/>
                <a:cs typeface="Courier New" panose="02070309020205020404" pitchFamily="49" charset="0"/>
              </a:rPr>
              <a:t>quit</a:t>
            </a:r>
            <a:r>
              <a:rPr lang="en-US" altLang="en-US" sz="2800" dirty="0">
                <a:solidFill>
                  <a:schemeClr val="bg1"/>
                </a:solidFill>
                <a:latin typeface="Google Sans"/>
              </a:rPr>
              <a:t>.</a:t>
            </a:r>
          </a:p>
          <a:p>
            <a:pPr lvl="1" eaLnBrk="0" fontAlgn="base" hangingPunct="0">
              <a:spcBef>
                <a:spcPts val="600"/>
              </a:spcBef>
              <a:spcAft>
                <a:spcPct val="0"/>
              </a:spcAft>
              <a:buFontTx/>
              <a:buChar char="•"/>
            </a:pPr>
            <a:r>
              <a:rPr lang="en-US" altLang="en-US" sz="2800" b="1" dirty="0">
                <a:solidFill>
                  <a:schemeClr val="bg1"/>
                </a:solidFill>
                <a:latin typeface="Google Sans"/>
              </a:rPr>
              <a:t> Specific Object Help</a:t>
            </a:r>
            <a:r>
              <a:rPr lang="en-US" altLang="en-US" sz="2800" dirty="0">
                <a:solidFill>
                  <a:schemeClr val="bg1"/>
                </a:solidFill>
                <a:latin typeface="Google Sans"/>
              </a:rPr>
              <a:t>: It provides direct access to its documentation (docstrings). For example, </a:t>
            </a:r>
            <a:r>
              <a:rPr lang="en-US" altLang="en-US" sz="2800" dirty="0">
                <a:solidFill>
                  <a:schemeClr val="bg1"/>
                </a:solidFill>
                <a:latin typeface="Courier New" panose="02070309020205020404" pitchFamily="49" charset="0"/>
                <a:cs typeface="Courier New" panose="02070309020205020404" pitchFamily="49" charset="0"/>
              </a:rPr>
              <a:t>help(print)</a:t>
            </a:r>
            <a:r>
              <a:rPr lang="en-US" altLang="en-US" sz="2800" dirty="0">
                <a:solidFill>
                  <a:schemeClr val="bg1"/>
                </a:solidFill>
                <a:latin typeface="Google Sans"/>
              </a:rPr>
              <a:t> or </a:t>
            </a:r>
            <a:r>
              <a:rPr lang="en-US" altLang="en-US" sz="2800" dirty="0">
                <a:solidFill>
                  <a:schemeClr val="bg1"/>
                </a:solidFill>
                <a:latin typeface="Courier New" panose="02070309020205020404" pitchFamily="49" charset="0"/>
                <a:cs typeface="Courier New" panose="02070309020205020404" pitchFamily="49" charset="0"/>
              </a:rPr>
              <a:t>help(list)</a:t>
            </a:r>
            <a:r>
              <a:rPr lang="en-US" altLang="en-US" sz="2800" dirty="0">
                <a:solidFill>
                  <a:schemeClr val="bg1"/>
                </a:solidFill>
                <a:latin typeface="Google Sans"/>
              </a:rPr>
              <a:t>.</a:t>
            </a:r>
          </a:p>
          <a:p>
            <a:pPr lvl="0" eaLnBrk="0" fontAlgn="base" hangingPunct="0">
              <a:spcBef>
                <a:spcPts val="600"/>
              </a:spcBef>
              <a:spcAft>
                <a:spcPct val="0"/>
              </a:spcAft>
              <a:buFontTx/>
              <a:buChar char="•"/>
            </a:pPr>
            <a:r>
              <a:rPr lang="en-US" altLang="en-US" sz="2800" b="1" dirty="0">
                <a:solidFill>
                  <a:schemeClr val="bg1"/>
                </a:solidFill>
                <a:latin typeface="Google Sans"/>
              </a:rPr>
              <a:t> Accessing Docstrings Directly</a:t>
            </a:r>
            <a:r>
              <a:rPr lang="en-US" altLang="en-US" sz="2800" dirty="0">
                <a:solidFill>
                  <a:schemeClr val="bg1"/>
                </a:solidFill>
                <a:latin typeface="Google Sans"/>
              </a:rPr>
              <a:t>:  using the </a:t>
            </a:r>
            <a:r>
              <a:rPr lang="en-US" altLang="en-US" sz="2800" dirty="0">
                <a:solidFill>
                  <a:schemeClr val="bg1"/>
                </a:solidFill>
                <a:latin typeface="Courier New" panose="02070309020205020404" pitchFamily="49" charset="0"/>
                <a:cs typeface="Courier New" panose="02070309020205020404" pitchFamily="49" charset="0"/>
              </a:rPr>
              <a:t>__doc__</a:t>
            </a:r>
            <a:r>
              <a:rPr lang="en-US" altLang="en-US" sz="2800" dirty="0">
                <a:solidFill>
                  <a:schemeClr val="bg1"/>
                </a:solidFill>
                <a:latin typeface="Google Sans"/>
              </a:rPr>
              <a:t> attribute of an object. For example, </a:t>
            </a:r>
            <a:r>
              <a:rPr lang="en-US" altLang="en-US" sz="2800" dirty="0" err="1">
                <a:solidFill>
                  <a:schemeClr val="bg1"/>
                </a:solidFill>
                <a:latin typeface="Courier New" panose="02070309020205020404" pitchFamily="49" charset="0"/>
                <a:cs typeface="Courier New" panose="02070309020205020404" pitchFamily="49" charset="0"/>
              </a:rPr>
              <a:t>print.__doc</a:t>
            </a:r>
            <a:r>
              <a:rPr lang="en-US" altLang="en-US" sz="2800" dirty="0">
                <a:solidFill>
                  <a:schemeClr val="bg1"/>
                </a:solidFill>
                <a:latin typeface="Courier New" panose="02070309020205020404" pitchFamily="49" charset="0"/>
                <a:cs typeface="Courier New" panose="02070309020205020404" pitchFamily="49" charset="0"/>
              </a:rPr>
              <a:t>__</a:t>
            </a:r>
            <a:r>
              <a:rPr lang="en-US" altLang="en-US" sz="2800" dirty="0">
                <a:solidFill>
                  <a:schemeClr val="bg1"/>
                </a:solidFill>
                <a:latin typeface="Google Sans"/>
              </a:rPr>
              <a:t> or </a:t>
            </a:r>
            <a:r>
              <a:rPr lang="en-US" altLang="en-US" sz="2800" dirty="0" err="1">
                <a:solidFill>
                  <a:schemeClr val="bg1"/>
                </a:solidFill>
                <a:latin typeface="Courier New" panose="02070309020205020404" pitchFamily="49" charset="0"/>
                <a:cs typeface="Courier New" panose="02070309020205020404" pitchFamily="49" charset="0"/>
              </a:rPr>
              <a:t>my_function.__doc</a:t>
            </a:r>
            <a:r>
              <a:rPr lang="en-US" altLang="en-US" sz="2800" dirty="0">
                <a:solidFill>
                  <a:schemeClr val="bg1"/>
                </a:solidFill>
                <a:latin typeface="Courier New" panose="02070309020205020404" pitchFamily="49" charset="0"/>
                <a:cs typeface="Courier New" panose="02070309020205020404" pitchFamily="49" charset="0"/>
              </a:rPr>
              <a:t>__</a:t>
            </a:r>
            <a:r>
              <a:rPr lang="en-US" altLang="en-US" sz="2800" dirty="0">
                <a:solidFill>
                  <a:schemeClr val="bg1"/>
                </a:solidFill>
                <a:latin typeface="Google Sans"/>
              </a:rPr>
              <a:t>.</a:t>
            </a:r>
          </a:p>
          <a:p>
            <a:pPr lvl="1" eaLnBrk="0" fontAlgn="base" hangingPunct="0">
              <a:spcBef>
                <a:spcPts val="600"/>
              </a:spcBef>
              <a:spcAft>
                <a:spcPct val="0"/>
              </a:spcAft>
              <a:buFontTx/>
              <a:buChar char="•"/>
            </a:pPr>
            <a:r>
              <a:rPr lang="en-US" altLang="en-US" sz="2800" b="1" dirty="0">
                <a:solidFill>
                  <a:schemeClr val="bg1"/>
                </a:solidFill>
                <a:latin typeface="Google Sans"/>
              </a:rPr>
              <a:t>Community Forums and Websites</a:t>
            </a:r>
            <a:r>
              <a:rPr lang="en-US" altLang="en-US" sz="2800" dirty="0">
                <a:solidFill>
                  <a:schemeClr val="bg1"/>
                </a:solidFill>
                <a:latin typeface="Google Sans"/>
              </a:rPr>
              <a:t>: like Stack Overflow, Python-specific mailing lists, and subreddits (e.g., </a:t>
            </a:r>
            <a:r>
              <a:rPr lang="en-US" altLang="en-US" sz="2800" dirty="0">
                <a:solidFill>
                  <a:schemeClr val="bg1"/>
                </a:solidFill>
                <a:latin typeface="Courier New" panose="02070309020205020404" pitchFamily="49" charset="0"/>
                <a:cs typeface="Courier New" panose="02070309020205020404" pitchFamily="49" charset="0"/>
              </a:rPr>
              <a:t>r/</a:t>
            </a:r>
            <a:r>
              <a:rPr lang="en-US" altLang="en-US" sz="2800" dirty="0" err="1">
                <a:solidFill>
                  <a:schemeClr val="bg1"/>
                </a:solidFill>
                <a:latin typeface="Courier New" panose="02070309020205020404" pitchFamily="49" charset="0"/>
                <a:cs typeface="Courier New" panose="02070309020205020404" pitchFamily="49" charset="0"/>
              </a:rPr>
              <a:t>LearnPython</a:t>
            </a:r>
            <a:endParaRPr lang="en-US" altLang="en-US" sz="2800" dirty="0">
              <a:solidFill>
                <a:schemeClr val="bg1"/>
              </a:solidFill>
              <a:latin typeface="Google Sans"/>
            </a:endParaRPr>
          </a:p>
          <a:p>
            <a:pPr lvl="1" eaLnBrk="0" fontAlgn="base" hangingPunct="0">
              <a:spcBef>
                <a:spcPts val="600"/>
              </a:spcBef>
              <a:spcAft>
                <a:spcPct val="0"/>
              </a:spcAft>
              <a:buFontTx/>
              <a:buChar char="•"/>
            </a:pPr>
            <a:r>
              <a:rPr lang="en-US" altLang="en-US" sz="2800" b="1" dirty="0">
                <a:solidFill>
                  <a:schemeClr val="bg1"/>
                </a:solidFill>
                <a:latin typeface="Google Sans"/>
              </a:rPr>
              <a:t>Python Package Index (</a:t>
            </a:r>
            <a:r>
              <a:rPr lang="en-US" altLang="en-US" sz="2800" b="1" dirty="0" err="1">
                <a:solidFill>
                  <a:schemeClr val="bg1"/>
                </a:solidFill>
                <a:latin typeface="Google Sans"/>
              </a:rPr>
              <a:t>PyPI</a:t>
            </a:r>
            <a:r>
              <a:rPr lang="en-US" altLang="en-US" sz="2800" b="1" dirty="0">
                <a:solidFill>
                  <a:schemeClr val="bg1"/>
                </a:solidFill>
                <a:latin typeface="Google Sans"/>
              </a:rPr>
              <a:t>)</a:t>
            </a:r>
            <a:r>
              <a:rPr lang="en-US" altLang="en-US" sz="2800" dirty="0">
                <a:solidFill>
                  <a:schemeClr val="bg1"/>
                </a:solidFill>
                <a:latin typeface="Google Sans"/>
              </a:rPr>
              <a:t>: 3</a:t>
            </a:r>
            <a:r>
              <a:rPr lang="en-US" altLang="en-US" sz="2800" baseline="30000" dirty="0">
                <a:solidFill>
                  <a:schemeClr val="bg1"/>
                </a:solidFill>
                <a:latin typeface="Google Sans"/>
              </a:rPr>
              <a:t>rd</a:t>
            </a:r>
            <a:r>
              <a:rPr lang="en-US" altLang="en-US" sz="2800" dirty="0">
                <a:solidFill>
                  <a:schemeClr val="bg1"/>
                </a:solidFill>
                <a:latin typeface="Google Sans"/>
              </a:rPr>
              <a:t> party packages, </a:t>
            </a:r>
            <a:r>
              <a:rPr lang="en-US" altLang="en-US" sz="2800" dirty="0" err="1">
                <a:solidFill>
                  <a:schemeClr val="bg1"/>
                </a:solidFill>
                <a:latin typeface="Google Sans"/>
              </a:rPr>
              <a:t>PyPI</a:t>
            </a:r>
            <a:r>
              <a:rPr lang="en-US" altLang="en-US" sz="2800" dirty="0">
                <a:solidFill>
                  <a:schemeClr val="bg1"/>
                </a:solidFill>
                <a:latin typeface="Google Sans"/>
              </a:rPr>
              <a:t> is a valuable resource.</a:t>
            </a:r>
          </a:p>
          <a:p>
            <a:pPr lvl="0" eaLnBrk="0" fontAlgn="base" hangingPunct="0">
              <a:spcBef>
                <a:spcPts val="600"/>
              </a:spcBef>
              <a:spcAft>
                <a:spcPct val="0"/>
              </a:spcAft>
              <a:buFontTx/>
              <a:buChar char="•"/>
            </a:pPr>
            <a:r>
              <a:rPr lang="en-US" altLang="en-US" sz="2800" b="1" dirty="0">
                <a:solidFill>
                  <a:schemeClr val="bg1"/>
                </a:solidFill>
                <a:latin typeface="Google Sans"/>
              </a:rPr>
              <a:t>Debugging Tools</a:t>
            </a:r>
            <a:r>
              <a:rPr lang="en-US" altLang="en-US" sz="2800" dirty="0">
                <a:solidFill>
                  <a:schemeClr val="bg1"/>
                </a:solidFill>
                <a:latin typeface="Google Sans"/>
              </a:rPr>
              <a:t>: using a debugger (like </a:t>
            </a:r>
            <a:r>
              <a:rPr lang="en-US" altLang="en-US" sz="2800" dirty="0" err="1">
                <a:solidFill>
                  <a:schemeClr val="bg1"/>
                </a:solidFill>
                <a:latin typeface="Courier New" panose="02070309020205020404" pitchFamily="49" charset="0"/>
                <a:cs typeface="Courier New" panose="02070309020205020404" pitchFamily="49" charset="0"/>
              </a:rPr>
              <a:t>pdb</a:t>
            </a:r>
            <a:r>
              <a:rPr lang="en-US" altLang="en-US" sz="2800" dirty="0">
                <a:solidFill>
                  <a:schemeClr val="bg1"/>
                </a:solidFill>
                <a:latin typeface="Google Sans"/>
              </a:rPr>
              <a:t> or integrated debuggers in IDEs)</a:t>
            </a:r>
          </a:p>
        </p:txBody>
      </p:sp>
      <p:sp>
        <p:nvSpPr>
          <p:cNvPr id="9" name="TextBox 8">
            <a:extLst>
              <a:ext uri="{FF2B5EF4-FFF2-40B4-BE49-F238E27FC236}">
                <a16:creationId xmlns:a16="http://schemas.microsoft.com/office/drawing/2014/main" id="{7C614CC6-C9B1-1AAA-39AF-876032C6D909}"/>
              </a:ext>
            </a:extLst>
          </p:cNvPr>
          <p:cNvSpPr txBox="1"/>
          <p:nvPr/>
        </p:nvSpPr>
        <p:spPr>
          <a:xfrm>
            <a:off x="246646" y="600838"/>
            <a:ext cx="6097904" cy="584775"/>
          </a:xfrm>
          <a:prstGeom prst="rect">
            <a:avLst/>
          </a:prstGeom>
          <a:noFill/>
        </p:spPr>
        <p:txBody>
          <a:bodyPr wrap="square">
            <a:spAutoFit/>
          </a:bodyPr>
          <a:lstStyle/>
          <a:p>
            <a:r>
              <a:rPr lang="en-US" sz="3200" dirty="0">
                <a:solidFill>
                  <a:schemeClr val="bg1"/>
                </a:solidFill>
              </a:rPr>
              <a:t>Getting Help </a:t>
            </a:r>
          </a:p>
        </p:txBody>
      </p:sp>
      <p:sp>
        <p:nvSpPr>
          <p:cNvPr id="6" name="Rectangle 2">
            <a:extLst>
              <a:ext uri="{FF2B5EF4-FFF2-40B4-BE49-F238E27FC236}">
                <a16:creationId xmlns:a16="http://schemas.microsoft.com/office/drawing/2014/main" id="{FDDFC804-4697-E230-AB9F-FA2B0D76B87E}"/>
              </a:ext>
            </a:extLst>
          </p:cNvPr>
          <p:cNvSpPr>
            <a:spLocks noChangeArrowheads="1"/>
          </p:cNvSpPr>
          <p:nvPr/>
        </p:nvSpPr>
        <p:spPr bwMode="auto">
          <a:xfrm>
            <a:off x="0" y="-228239"/>
            <a:ext cx="65" cy="4564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0784"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5523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43C30-42F0-94F5-0E60-B9BD754B92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03FEE77-2FE6-F37F-A88B-A63A2A7E11A1}"/>
              </a:ext>
            </a:extLst>
          </p:cNvPr>
          <p:cNvSpPr>
            <a:spLocks noGrp="1"/>
          </p:cNvSpPr>
          <p:nvPr>
            <p:ph type="sldNum" sz="quarter" idx="12"/>
          </p:nvPr>
        </p:nvSpPr>
        <p:spPr/>
        <p:txBody>
          <a:bodyPr/>
          <a:lstStyle/>
          <a:p>
            <a:fld id="{CBD12358-51D2-46B3-9BDE-DF29528B9454}" type="slidenum">
              <a:rPr lang="en-US" smtClean="0"/>
              <a:t>32</a:t>
            </a:fld>
            <a:endParaRPr lang="en-US" dirty="0"/>
          </a:p>
        </p:txBody>
      </p:sp>
      <p:sp>
        <p:nvSpPr>
          <p:cNvPr id="3" name="Rectangle 1">
            <a:extLst>
              <a:ext uri="{FF2B5EF4-FFF2-40B4-BE49-F238E27FC236}">
                <a16:creationId xmlns:a16="http://schemas.microsoft.com/office/drawing/2014/main" id="{92BE13E7-6FDA-CF7B-34CE-F91CF5A54978}"/>
              </a:ext>
            </a:extLst>
          </p:cNvPr>
          <p:cNvSpPr>
            <a:spLocks noChangeArrowheads="1"/>
          </p:cNvSpPr>
          <p:nvPr/>
        </p:nvSpPr>
        <p:spPr bwMode="auto">
          <a:xfrm>
            <a:off x="0" y="-202599"/>
            <a:ext cx="65" cy="4051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F5BE4823-E11C-12FF-3B52-7CB9A4E916E9}"/>
              </a:ext>
            </a:extLst>
          </p:cNvPr>
          <p:cNvSpPr txBox="1"/>
          <p:nvPr/>
        </p:nvSpPr>
        <p:spPr>
          <a:xfrm>
            <a:off x="720089" y="2155091"/>
            <a:ext cx="10367611" cy="3970318"/>
          </a:xfrm>
          <a:prstGeom prst="rect">
            <a:avLst/>
          </a:prstGeom>
          <a:noFill/>
        </p:spPr>
        <p:txBody>
          <a:bodyPr wrap="square">
            <a:spAutoFit/>
          </a:bodyPr>
          <a:lstStyle/>
          <a:p>
            <a:pPr lvl="0" eaLnBrk="0" fontAlgn="base" hangingPunct="0">
              <a:spcBef>
                <a:spcPct val="0"/>
              </a:spcBef>
              <a:spcAft>
                <a:spcPct val="0"/>
              </a:spcAft>
              <a:buFontTx/>
              <a:buChar char="•"/>
            </a:pPr>
            <a:r>
              <a:rPr lang="en-US" altLang="en-US" sz="2800" b="1" dirty="0">
                <a:solidFill>
                  <a:schemeClr val="bg1"/>
                </a:solidFill>
                <a:latin typeface="Google Sans"/>
              </a:rPr>
              <a:t> </a:t>
            </a:r>
            <a:r>
              <a:rPr lang="en-US" altLang="en-US" sz="3600" b="1" dirty="0">
                <a:solidFill>
                  <a:schemeClr val="bg1"/>
                </a:solidFill>
                <a:latin typeface="Google Sans"/>
              </a:rPr>
              <a:t>Locate Python Installation: </a:t>
            </a:r>
            <a:r>
              <a:rPr lang="en-US" altLang="en-US" sz="3600" dirty="0">
                <a:solidFill>
                  <a:schemeClr val="bg1"/>
                </a:solidFill>
                <a:latin typeface="Google Sans"/>
              </a:rPr>
              <a:t>Find the directory  for  </a:t>
            </a:r>
            <a:r>
              <a:rPr lang="en-US" altLang="en-US" sz="3600" dirty="0">
                <a:solidFill>
                  <a:schemeClr val="bg1"/>
                </a:solidFill>
                <a:latin typeface="Courier New" panose="02070309020205020404" pitchFamily="49" charset="0"/>
                <a:cs typeface="Courier New" panose="02070309020205020404" pitchFamily="49" charset="0"/>
              </a:rPr>
              <a:t>python.exe</a:t>
            </a:r>
            <a:r>
              <a:rPr lang="en-US" altLang="en-US" sz="3600" dirty="0">
                <a:solidFill>
                  <a:schemeClr val="bg1"/>
                </a:solidFill>
                <a:latin typeface="Google Sans"/>
              </a:rPr>
              <a:t> file. </a:t>
            </a:r>
          </a:p>
          <a:p>
            <a:pPr lvl="0" eaLnBrk="0" fontAlgn="base" hangingPunct="0">
              <a:spcBef>
                <a:spcPct val="0"/>
              </a:spcBef>
              <a:spcAft>
                <a:spcPct val="0"/>
              </a:spcAft>
              <a:buFontTx/>
              <a:buChar char="•"/>
            </a:pPr>
            <a:r>
              <a:rPr lang="en-US" altLang="en-US" sz="3600" b="1" dirty="0">
                <a:solidFill>
                  <a:schemeClr val="bg1"/>
                </a:solidFill>
                <a:latin typeface="Google Sans"/>
              </a:rPr>
              <a:t> </a:t>
            </a:r>
            <a:r>
              <a:rPr lang="en-US" altLang="en-US" sz="3600" dirty="0">
                <a:solidFill>
                  <a:schemeClr val="bg1"/>
                </a:solidFill>
                <a:latin typeface="Arial" panose="020B0604020202020204" pitchFamily="34" charset="0"/>
              </a:rPr>
              <a:t>Edit the system environment variables – </a:t>
            </a:r>
          </a:p>
          <a:p>
            <a:pPr lvl="0" eaLnBrk="0" fontAlgn="base" hangingPunct="0">
              <a:spcBef>
                <a:spcPct val="0"/>
              </a:spcBef>
              <a:spcAft>
                <a:spcPct val="0"/>
              </a:spcAft>
            </a:pPr>
            <a:r>
              <a:rPr lang="en-US" altLang="en-US" sz="3600" dirty="0">
                <a:solidFill>
                  <a:schemeClr val="bg1"/>
                </a:solidFill>
                <a:latin typeface="Courier New" panose="02070309020205020404" pitchFamily="49" charset="0"/>
                <a:cs typeface="Courier New" panose="02070309020205020404" pitchFamily="49" charset="0"/>
              </a:rPr>
              <a:t> C:\Python39</a:t>
            </a:r>
            <a:r>
              <a:rPr lang="en-US" altLang="en-US" sz="3600" dirty="0">
                <a:solidFill>
                  <a:schemeClr val="bg1"/>
                </a:solidFill>
              </a:rPr>
              <a:t>.</a:t>
            </a:r>
            <a:r>
              <a:rPr lang="en-US" altLang="en-US" sz="3600" dirty="0">
                <a:solidFill>
                  <a:schemeClr val="bg1"/>
                </a:solidFill>
                <a:latin typeface="Arial" panose="020B0604020202020204" pitchFamily="34" charset="0"/>
              </a:rPr>
              <a:t> </a:t>
            </a:r>
          </a:p>
          <a:p>
            <a:pPr lvl="0" eaLnBrk="0" fontAlgn="base" hangingPunct="0">
              <a:spcBef>
                <a:spcPct val="0"/>
              </a:spcBef>
              <a:spcAft>
                <a:spcPct val="0"/>
              </a:spcAft>
            </a:pPr>
            <a:r>
              <a:rPr lang="en-US" altLang="en-US" sz="3600" b="1" dirty="0">
                <a:solidFill>
                  <a:schemeClr val="bg1"/>
                </a:solidFill>
                <a:latin typeface="Arial" panose="020B0604020202020204" pitchFamily="34" charset="0"/>
              </a:rPr>
              <a:t>  </a:t>
            </a:r>
            <a:r>
              <a:rPr lang="en-US" altLang="en-US" sz="3600" dirty="0">
                <a:solidFill>
                  <a:schemeClr val="bg1"/>
                </a:solidFill>
                <a:latin typeface="Courier New" panose="02070309020205020404" pitchFamily="49" charset="0"/>
                <a:cs typeface="Courier New" panose="02070309020205020404" pitchFamily="49" charset="0"/>
              </a:rPr>
              <a:t>C:\Python39\Scripts</a:t>
            </a:r>
            <a:endParaRPr lang="en-US" altLang="en-US" sz="3600"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altLang="en-US" sz="3600" b="1" dirty="0">
                <a:solidFill>
                  <a:schemeClr val="bg1"/>
                </a:solidFill>
                <a:latin typeface="Arial" panose="020B0604020202020204" pitchFamily="34" charset="0"/>
              </a:rPr>
              <a:t>Verify: On </a:t>
            </a:r>
            <a:r>
              <a:rPr lang="en-US" altLang="en-US" sz="3600" dirty="0">
                <a:solidFill>
                  <a:schemeClr val="bg1"/>
                </a:solidFill>
                <a:latin typeface="Arial" panose="020B0604020202020204" pitchFamily="34" charset="0"/>
              </a:rPr>
              <a:t>Command Prompt or PowerShell by </a:t>
            </a:r>
          </a:p>
          <a:p>
            <a:pPr lvl="0" eaLnBrk="0" fontAlgn="base" hangingPunct="0">
              <a:spcBef>
                <a:spcPct val="0"/>
              </a:spcBef>
              <a:spcAft>
                <a:spcPct val="0"/>
              </a:spcAft>
            </a:pPr>
            <a:r>
              <a:rPr lang="en-US" altLang="en-US" sz="3600" dirty="0">
                <a:solidFill>
                  <a:schemeClr val="bg1"/>
                </a:solidFill>
                <a:latin typeface="Courier New" panose="02070309020205020404" pitchFamily="49" charset="0"/>
                <a:cs typeface="Courier New" panose="02070309020205020404" pitchFamily="49" charset="0"/>
              </a:rPr>
              <a:t> python --version</a:t>
            </a:r>
            <a:endParaRPr lang="en-US" altLang="en-US" sz="3600" dirty="0">
              <a:solidFill>
                <a:schemeClr val="bg1"/>
              </a:solidFill>
              <a:latin typeface="Arial" panose="020B0604020202020204" pitchFamily="34" charset="0"/>
            </a:endParaRPr>
          </a:p>
        </p:txBody>
      </p:sp>
      <p:sp>
        <p:nvSpPr>
          <p:cNvPr id="9" name="TextBox 8">
            <a:extLst>
              <a:ext uri="{FF2B5EF4-FFF2-40B4-BE49-F238E27FC236}">
                <a16:creationId xmlns:a16="http://schemas.microsoft.com/office/drawing/2014/main" id="{8E2FC2D2-A36A-EFEE-1424-DF8D4C96772B}"/>
              </a:ext>
            </a:extLst>
          </p:cNvPr>
          <p:cNvSpPr txBox="1"/>
          <p:nvPr/>
        </p:nvSpPr>
        <p:spPr>
          <a:xfrm>
            <a:off x="388621" y="1091900"/>
            <a:ext cx="8526780" cy="646331"/>
          </a:xfrm>
          <a:prstGeom prst="rect">
            <a:avLst/>
          </a:prstGeom>
          <a:noFill/>
        </p:spPr>
        <p:txBody>
          <a:bodyPr wrap="square">
            <a:spAutoFit/>
          </a:bodyPr>
          <a:lstStyle/>
          <a:p>
            <a:r>
              <a:rPr lang="en-US" sz="3600" dirty="0">
                <a:solidFill>
                  <a:schemeClr val="bg1"/>
                </a:solidFill>
              </a:rPr>
              <a:t>Setting the Path to Python – on Windows</a:t>
            </a:r>
          </a:p>
        </p:txBody>
      </p:sp>
      <p:sp>
        <p:nvSpPr>
          <p:cNvPr id="6" name="Rectangle 2">
            <a:extLst>
              <a:ext uri="{FF2B5EF4-FFF2-40B4-BE49-F238E27FC236}">
                <a16:creationId xmlns:a16="http://schemas.microsoft.com/office/drawing/2014/main" id="{3D2C6747-37E5-13C2-EDC9-D1A570A80003}"/>
              </a:ext>
            </a:extLst>
          </p:cNvPr>
          <p:cNvSpPr>
            <a:spLocks noChangeArrowheads="1"/>
          </p:cNvSpPr>
          <p:nvPr/>
        </p:nvSpPr>
        <p:spPr bwMode="auto">
          <a:xfrm>
            <a:off x="0" y="-228239"/>
            <a:ext cx="65" cy="4564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0784"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368BDC63-CC89-C6CA-363A-5858A78CCE60}"/>
              </a:ext>
            </a:extLst>
          </p:cNvPr>
          <p:cNvSpPr>
            <a:spLocks noChangeArrowheads="1"/>
          </p:cNvSpPr>
          <p:nvPr/>
        </p:nvSpPr>
        <p:spPr bwMode="auto">
          <a:xfrm>
            <a:off x="0" y="-234649"/>
            <a:ext cx="65" cy="4692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8197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E9962-2FCD-9031-F857-2C1F5475472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BE463C-9714-E9FF-3758-2235459B964C}"/>
              </a:ext>
            </a:extLst>
          </p:cNvPr>
          <p:cNvSpPr>
            <a:spLocks noGrp="1"/>
          </p:cNvSpPr>
          <p:nvPr>
            <p:ph type="sldNum" sz="quarter" idx="12"/>
          </p:nvPr>
        </p:nvSpPr>
        <p:spPr/>
        <p:txBody>
          <a:bodyPr/>
          <a:lstStyle/>
          <a:p>
            <a:fld id="{CBD12358-51D2-46B3-9BDE-DF29528B9454}" type="slidenum">
              <a:rPr lang="en-US" smtClean="0"/>
              <a:t>33</a:t>
            </a:fld>
            <a:endParaRPr lang="en-US" dirty="0"/>
          </a:p>
        </p:txBody>
      </p:sp>
      <p:sp>
        <p:nvSpPr>
          <p:cNvPr id="3" name="Rectangle 1">
            <a:extLst>
              <a:ext uri="{FF2B5EF4-FFF2-40B4-BE49-F238E27FC236}">
                <a16:creationId xmlns:a16="http://schemas.microsoft.com/office/drawing/2014/main" id="{B27805BC-732C-F6DA-60B8-159A2E915199}"/>
              </a:ext>
            </a:extLst>
          </p:cNvPr>
          <p:cNvSpPr>
            <a:spLocks noChangeArrowheads="1"/>
          </p:cNvSpPr>
          <p:nvPr/>
        </p:nvSpPr>
        <p:spPr bwMode="auto">
          <a:xfrm>
            <a:off x="0" y="-202599"/>
            <a:ext cx="65" cy="4051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3054B19D-15C7-54D8-6760-45048E79282F}"/>
              </a:ext>
            </a:extLst>
          </p:cNvPr>
          <p:cNvSpPr txBox="1"/>
          <p:nvPr/>
        </p:nvSpPr>
        <p:spPr>
          <a:xfrm>
            <a:off x="891541" y="2432268"/>
            <a:ext cx="10200456" cy="3785652"/>
          </a:xfrm>
          <a:prstGeom prst="rect">
            <a:avLst/>
          </a:prstGeom>
          <a:noFill/>
        </p:spPr>
        <p:txBody>
          <a:bodyPr wrap="square">
            <a:spAutoFit/>
          </a:bodyPr>
          <a:lstStyle/>
          <a:p>
            <a:pPr lvl="0" eaLnBrk="0" fontAlgn="base" hangingPunct="0">
              <a:spcBef>
                <a:spcPct val="0"/>
              </a:spcBef>
              <a:spcAft>
                <a:spcPct val="0"/>
              </a:spcAft>
              <a:buFontTx/>
              <a:buChar char="•"/>
            </a:pPr>
            <a:r>
              <a:rPr lang="en-US" altLang="en-US" sz="2400" b="1" dirty="0">
                <a:solidFill>
                  <a:schemeClr val="bg1"/>
                </a:solidFill>
                <a:latin typeface="Google Sans"/>
              </a:rPr>
              <a:t>Locate Python Installation:  </a:t>
            </a:r>
            <a:r>
              <a:rPr lang="en-US" altLang="en-US" sz="2400" dirty="0">
                <a:solidFill>
                  <a:schemeClr val="bg1"/>
                </a:solidFill>
                <a:latin typeface="Google Sans"/>
              </a:rPr>
              <a:t>Standard locations include </a:t>
            </a:r>
            <a:r>
              <a:rPr lang="en-US" altLang="en-US" sz="2400" dirty="0">
                <a:solidFill>
                  <a:schemeClr val="bg1"/>
                </a:solidFill>
                <a:latin typeface="Courier New" panose="02070309020205020404" pitchFamily="49" charset="0"/>
                <a:cs typeface="Courier New" panose="02070309020205020404" pitchFamily="49" charset="0"/>
              </a:rPr>
              <a:t>/</a:t>
            </a:r>
            <a:r>
              <a:rPr lang="en-US" altLang="en-US" sz="2400" dirty="0" err="1">
                <a:solidFill>
                  <a:schemeClr val="bg1"/>
                </a:solidFill>
                <a:latin typeface="Courier New" panose="02070309020205020404" pitchFamily="49" charset="0"/>
                <a:cs typeface="Courier New" panose="02070309020205020404" pitchFamily="49" charset="0"/>
              </a:rPr>
              <a:t>usr</a:t>
            </a:r>
            <a:r>
              <a:rPr lang="en-US" altLang="en-US" sz="2400" dirty="0">
                <a:solidFill>
                  <a:schemeClr val="bg1"/>
                </a:solidFill>
                <a:latin typeface="Courier New" panose="02070309020205020404" pitchFamily="49" charset="0"/>
                <a:cs typeface="Courier New" panose="02070309020205020404" pitchFamily="49" charset="0"/>
              </a:rPr>
              <a:t>/local/bin</a:t>
            </a:r>
            <a:r>
              <a:rPr lang="en-US" altLang="en-US" sz="2400" dirty="0">
                <a:solidFill>
                  <a:schemeClr val="bg1"/>
                </a:solidFill>
                <a:latin typeface="Google Sans"/>
              </a:rPr>
              <a:t> </a:t>
            </a:r>
          </a:p>
          <a:p>
            <a:pPr lvl="0" eaLnBrk="0" fontAlgn="base" hangingPunct="0">
              <a:spcBef>
                <a:spcPct val="0"/>
              </a:spcBef>
              <a:spcAft>
                <a:spcPct val="0"/>
              </a:spcAft>
              <a:buFontTx/>
              <a:buChar char="•"/>
            </a:pPr>
            <a:r>
              <a:rPr lang="en-US" altLang="en-US" sz="2400" b="1" dirty="0">
                <a:solidFill>
                  <a:schemeClr val="bg1"/>
                </a:solidFill>
                <a:latin typeface="Google Sans"/>
              </a:rPr>
              <a:t>Edit Shell Configuration File:  </a:t>
            </a:r>
            <a:r>
              <a:rPr lang="en-US" altLang="en-US" sz="2400" dirty="0">
                <a:solidFill>
                  <a:schemeClr val="bg1"/>
                </a:solidFill>
                <a:latin typeface="Google Sans"/>
              </a:rPr>
              <a:t>(e.g., </a:t>
            </a:r>
            <a:r>
              <a:rPr lang="en-US" altLang="en-US" sz="2400" dirty="0">
                <a:solidFill>
                  <a:schemeClr val="bg1"/>
                </a:solidFill>
                <a:latin typeface="Courier New" panose="02070309020205020404" pitchFamily="49" charset="0"/>
                <a:cs typeface="Courier New" panose="02070309020205020404" pitchFamily="49" charset="0"/>
              </a:rPr>
              <a:t>.</a:t>
            </a:r>
            <a:r>
              <a:rPr lang="en-US" altLang="en-US" sz="2400" dirty="0" err="1">
                <a:solidFill>
                  <a:schemeClr val="bg1"/>
                </a:solidFill>
                <a:latin typeface="Courier New" panose="02070309020205020404" pitchFamily="49" charset="0"/>
                <a:cs typeface="Courier New" panose="02070309020205020404" pitchFamily="49" charset="0"/>
              </a:rPr>
              <a:t>bashrc</a:t>
            </a:r>
            <a:r>
              <a:rPr lang="en-US" altLang="en-US" sz="2400" dirty="0">
                <a:solidFill>
                  <a:schemeClr val="bg1"/>
                </a:solidFill>
                <a:latin typeface="Google Sans"/>
              </a:rPr>
              <a:t>, </a:t>
            </a:r>
            <a:r>
              <a:rPr lang="en-US" altLang="en-US" sz="2400" dirty="0">
                <a:solidFill>
                  <a:schemeClr val="bg1"/>
                </a:solidFill>
                <a:latin typeface="Courier New" panose="02070309020205020404" pitchFamily="49" charset="0"/>
                <a:cs typeface="Courier New" panose="02070309020205020404" pitchFamily="49" charset="0"/>
              </a:rPr>
              <a:t>.</a:t>
            </a:r>
            <a:r>
              <a:rPr lang="en-US" altLang="en-US" sz="2400" dirty="0" err="1">
                <a:solidFill>
                  <a:schemeClr val="bg1"/>
                </a:solidFill>
                <a:latin typeface="Courier New" panose="02070309020205020404" pitchFamily="49" charset="0"/>
                <a:cs typeface="Courier New" panose="02070309020205020404" pitchFamily="49" charset="0"/>
              </a:rPr>
              <a:t>zshrc</a:t>
            </a:r>
            <a:r>
              <a:rPr lang="en-US" altLang="en-US" sz="2400" dirty="0">
                <a:solidFill>
                  <a:schemeClr val="bg1"/>
                </a:solidFill>
                <a:latin typeface="Google Sans"/>
              </a:rPr>
              <a:t>, or </a:t>
            </a:r>
            <a:r>
              <a:rPr lang="en-US" altLang="en-US" sz="2400" dirty="0">
                <a:solidFill>
                  <a:schemeClr val="bg1"/>
                </a:solidFill>
                <a:latin typeface="Courier New" panose="02070309020205020404" pitchFamily="49" charset="0"/>
                <a:cs typeface="Courier New" panose="02070309020205020404" pitchFamily="49" charset="0"/>
              </a:rPr>
              <a:t>.profile</a:t>
            </a:r>
            <a:r>
              <a:rPr lang="en-US" altLang="en-US" sz="2400" dirty="0">
                <a:solidFill>
                  <a:schemeClr val="bg1"/>
                </a:solidFill>
                <a:latin typeface="Google Sans"/>
              </a:rPr>
              <a:t>) in a text editor. And add the file path  replacing </a:t>
            </a:r>
            <a:r>
              <a:rPr lang="en-US" altLang="en-US" sz="2400" dirty="0">
                <a:solidFill>
                  <a:schemeClr val="bg1"/>
                </a:solidFill>
                <a:latin typeface="Courier New" panose="02070309020205020404" pitchFamily="49" charset="0"/>
                <a:cs typeface="Courier New" panose="02070309020205020404" pitchFamily="49" charset="0"/>
              </a:rPr>
              <a:t>/path/to/python</a:t>
            </a:r>
            <a:r>
              <a:rPr lang="en-US" altLang="en-US" sz="2400" dirty="0">
                <a:solidFill>
                  <a:schemeClr val="bg1"/>
                </a:solidFill>
                <a:latin typeface="Google Sans"/>
              </a:rPr>
              <a:t> with your actual Python installation path:</a:t>
            </a:r>
          </a:p>
          <a:p>
            <a:pPr lvl="0" eaLnBrk="0" fontAlgn="base" hangingPunct="0">
              <a:spcBef>
                <a:spcPct val="0"/>
              </a:spcBef>
              <a:spcAft>
                <a:spcPct val="0"/>
              </a:spcAft>
            </a:pPr>
            <a:endParaRPr lang="en-US" altLang="en-US" sz="2400" dirty="0">
              <a:solidFill>
                <a:schemeClr val="bg1"/>
              </a:solidFill>
              <a:latin typeface="Google Sans"/>
            </a:endParaRPr>
          </a:p>
          <a:p>
            <a:pPr lvl="0" eaLnBrk="0" fontAlgn="base" hangingPunct="0">
              <a:spcBef>
                <a:spcPct val="0"/>
              </a:spcBef>
              <a:spcAft>
                <a:spcPct val="0"/>
              </a:spcAft>
            </a:pPr>
            <a:r>
              <a:rPr lang="en-US" altLang="en-US" sz="2400" dirty="0">
                <a:solidFill>
                  <a:schemeClr val="bg1"/>
                </a:solidFill>
                <a:latin typeface="Courier New" panose="02070309020205020404" pitchFamily="49" charset="0"/>
                <a:cs typeface="Courier New" panose="02070309020205020404" pitchFamily="49" charset="0"/>
              </a:rPr>
              <a:t>export PATH="/path/to/python:$PATH“</a:t>
            </a:r>
          </a:p>
          <a:p>
            <a:pPr lvl="0" eaLnBrk="0" fontAlgn="base" hangingPunct="0">
              <a:spcBef>
                <a:spcPct val="0"/>
              </a:spcBef>
              <a:spcAft>
                <a:spcPct val="0"/>
              </a:spcAft>
            </a:pPr>
            <a:endParaRPr lang="en-US" altLang="en-US" sz="2400" dirty="0">
              <a:solidFill>
                <a:schemeClr val="bg1"/>
              </a:solidFill>
            </a:endParaRPr>
          </a:p>
          <a:p>
            <a:pPr lvl="0" eaLnBrk="0" fontAlgn="base" hangingPunct="0">
              <a:spcBef>
                <a:spcPct val="0"/>
              </a:spcBef>
              <a:spcAft>
                <a:spcPct val="0"/>
              </a:spcAft>
              <a:buFontTx/>
              <a:buChar char="•"/>
            </a:pPr>
            <a:r>
              <a:rPr lang="en-US" altLang="en-US" sz="2400" b="1" dirty="0">
                <a:solidFill>
                  <a:schemeClr val="bg1"/>
                </a:solidFill>
                <a:latin typeface="Google Sans"/>
              </a:rPr>
              <a:t>Save file </a:t>
            </a:r>
          </a:p>
          <a:p>
            <a:pPr lvl="0" eaLnBrk="0" fontAlgn="base" hangingPunct="0">
              <a:spcBef>
                <a:spcPct val="0"/>
              </a:spcBef>
              <a:spcAft>
                <a:spcPct val="0"/>
              </a:spcAft>
              <a:buFontTx/>
              <a:buChar char="•"/>
            </a:pPr>
            <a:r>
              <a:rPr lang="en-US" altLang="en-US" sz="2400" b="1" dirty="0">
                <a:solidFill>
                  <a:schemeClr val="bg1"/>
                </a:solidFill>
              </a:rPr>
              <a:t>Verify:</a:t>
            </a:r>
            <a:r>
              <a:rPr lang="en-US" altLang="en-US" sz="2400" b="1" dirty="0">
                <a:solidFill>
                  <a:schemeClr val="bg1"/>
                </a:solidFill>
                <a:latin typeface="Arial" panose="020B0604020202020204" pitchFamily="34" charset="0"/>
              </a:rPr>
              <a:t> </a:t>
            </a:r>
            <a:r>
              <a:rPr lang="en-US" altLang="en-US" sz="2400" dirty="0">
                <a:solidFill>
                  <a:schemeClr val="bg1"/>
                </a:solidFill>
                <a:latin typeface="Arial" panose="020B0604020202020204" pitchFamily="34" charset="0"/>
              </a:rPr>
              <a:t>Type </a:t>
            </a:r>
            <a:r>
              <a:rPr lang="en-US" altLang="en-US" sz="2400" dirty="0">
                <a:solidFill>
                  <a:schemeClr val="bg1"/>
                </a:solidFill>
                <a:latin typeface="Courier New" panose="02070309020205020404" pitchFamily="49" charset="0"/>
                <a:cs typeface="Courier New" panose="02070309020205020404" pitchFamily="49" charset="0"/>
              </a:rPr>
              <a:t>python --version</a:t>
            </a:r>
            <a:r>
              <a:rPr lang="en-US" altLang="en-US" sz="2400" dirty="0">
                <a:solidFill>
                  <a:schemeClr val="bg1"/>
                </a:solidFill>
              </a:rPr>
              <a:t> </a:t>
            </a:r>
            <a:r>
              <a:rPr lang="en-US" altLang="en-US" sz="2400" dirty="0">
                <a:solidFill>
                  <a:schemeClr val="bg1"/>
                </a:solidFill>
                <a:latin typeface="Arial" panose="020B0604020202020204" pitchFamily="34" charset="0"/>
              </a:rPr>
              <a:t>in the terminal to confirm Python is accessible. </a:t>
            </a:r>
          </a:p>
        </p:txBody>
      </p:sp>
      <p:sp>
        <p:nvSpPr>
          <p:cNvPr id="9" name="TextBox 8">
            <a:extLst>
              <a:ext uri="{FF2B5EF4-FFF2-40B4-BE49-F238E27FC236}">
                <a16:creationId xmlns:a16="http://schemas.microsoft.com/office/drawing/2014/main" id="{533EA0EB-D5C1-D09E-29BE-27633FD02D45}"/>
              </a:ext>
            </a:extLst>
          </p:cNvPr>
          <p:cNvSpPr txBox="1"/>
          <p:nvPr/>
        </p:nvSpPr>
        <p:spPr>
          <a:xfrm>
            <a:off x="891541" y="737592"/>
            <a:ext cx="6183629" cy="1200329"/>
          </a:xfrm>
          <a:prstGeom prst="rect">
            <a:avLst/>
          </a:prstGeom>
          <a:noFill/>
        </p:spPr>
        <p:txBody>
          <a:bodyPr wrap="square">
            <a:spAutoFit/>
          </a:bodyPr>
          <a:lstStyle/>
          <a:p>
            <a:r>
              <a:rPr lang="en-US" sz="3600" dirty="0">
                <a:solidFill>
                  <a:schemeClr val="bg1"/>
                </a:solidFill>
              </a:rPr>
              <a:t>Setting the Path to Python – on MacOS or Linux</a:t>
            </a:r>
          </a:p>
        </p:txBody>
      </p:sp>
      <p:sp>
        <p:nvSpPr>
          <p:cNvPr id="6" name="Rectangle 2">
            <a:extLst>
              <a:ext uri="{FF2B5EF4-FFF2-40B4-BE49-F238E27FC236}">
                <a16:creationId xmlns:a16="http://schemas.microsoft.com/office/drawing/2014/main" id="{0506D1FB-ADA0-0447-FF9B-E2C76A62F276}"/>
              </a:ext>
            </a:extLst>
          </p:cNvPr>
          <p:cNvSpPr>
            <a:spLocks noChangeArrowheads="1"/>
          </p:cNvSpPr>
          <p:nvPr/>
        </p:nvSpPr>
        <p:spPr bwMode="auto">
          <a:xfrm>
            <a:off x="0" y="-228239"/>
            <a:ext cx="65" cy="4564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0784"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5CF168F4-23B6-22EA-D2EA-EEE068EB8CCE}"/>
              </a:ext>
            </a:extLst>
          </p:cNvPr>
          <p:cNvSpPr>
            <a:spLocks noChangeArrowheads="1"/>
          </p:cNvSpPr>
          <p:nvPr/>
        </p:nvSpPr>
        <p:spPr bwMode="auto">
          <a:xfrm>
            <a:off x="0" y="-234649"/>
            <a:ext cx="65" cy="4692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48FB8308-4D47-33FC-5D3C-AD0BB44E96BC}"/>
              </a:ext>
            </a:extLst>
          </p:cNvPr>
          <p:cNvSpPr>
            <a:spLocks noChangeArrowheads="1"/>
          </p:cNvSpPr>
          <p:nvPr/>
        </p:nvSpPr>
        <p:spPr bwMode="auto">
          <a:xfrm>
            <a:off x="0" y="-234649"/>
            <a:ext cx="65" cy="4692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6848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9E875-0401-BE7C-81B1-93AB3B0AD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AC68A-97D8-A88D-280B-28F772D0E835}"/>
              </a:ext>
            </a:extLst>
          </p:cNvPr>
          <p:cNvSpPr>
            <a:spLocks noGrp="1"/>
          </p:cNvSpPr>
          <p:nvPr>
            <p:ph type="title"/>
          </p:nvPr>
        </p:nvSpPr>
        <p:spPr>
          <a:xfrm>
            <a:off x="5998464" y="731520"/>
            <a:ext cx="5029200" cy="3291840"/>
          </a:xfrm>
        </p:spPr>
        <p:txBody>
          <a:bodyPr lIns="0" anchor="b" anchorCtr="0"/>
          <a:lstStyle/>
          <a:p>
            <a:r>
              <a:rPr lang="en-US" dirty="0"/>
              <a:t>Data Types</a:t>
            </a:r>
          </a:p>
        </p:txBody>
      </p:sp>
      <p:sp>
        <p:nvSpPr>
          <p:cNvPr id="3" name="Text Placeholder 2">
            <a:extLst>
              <a:ext uri="{FF2B5EF4-FFF2-40B4-BE49-F238E27FC236}">
                <a16:creationId xmlns:a16="http://schemas.microsoft.com/office/drawing/2014/main" id="{0E4DD23F-4EDF-9525-F60E-C9D696CAB5CF}"/>
              </a:ext>
            </a:extLst>
          </p:cNvPr>
          <p:cNvSpPr>
            <a:spLocks noGrp="1"/>
          </p:cNvSpPr>
          <p:nvPr>
            <p:ph type="body" sz="quarter" idx="28"/>
          </p:nvPr>
        </p:nvSpPr>
        <p:spPr>
          <a:xfrm>
            <a:off x="6117336" y="4172084"/>
            <a:ext cx="4910328" cy="1005840"/>
          </a:xfrm>
        </p:spPr>
        <p:txBody>
          <a:bodyPr/>
          <a:lstStyle/>
          <a:p>
            <a:pPr algn="ctr"/>
            <a:endParaRPr lang="en-US" dirty="0"/>
          </a:p>
          <a:p>
            <a:pPr algn="ctr"/>
            <a:r>
              <a:rPr lang="en-US" sz="2400" dirty="0"/>
              <a:t>Session 1 – PART 3</a:t>
            </a:r>
          </a:p>
        </p:txBody>
      </p:sp>
    </p:spTree>
    <p:extLst>
      <p:ext uri="{BB962C8B-B14F-4D97-AF65-F5344CB8AC3E}">
        <p14:creationId xmlns:p14="http://schemas.microsoft.com/office/powerpoint/2010/main" val="16113026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BE38A-103F-A674-BD89-7DFF06925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6706B-C895-17D3-481F-AC9681E4C88D}"/>
              </a:ext>
            </a:extLst>
          </p:cNvPr>
          <p:cNvSpPr>
            <a:spLocks noGrp="1"/>
          </p:cNvSpPr>
          <p:nvPr>
            <p:ph type="title"/>
          </p:nvPr>
        </p:nvSpPr>
        <p:spPr>
          <a:xfrm>
            <a:off x="914400" y="3429000"/>
            <a:ext cx="4206240" cy="1005840"/>
          </a:xfrm>
        </p:spPr>
        <p:txBody>
          <a:bodyPr anchor="t" anchorCtr="0"/>
          <a:lstStyle/>
          <a:p>
            <a:r>
              <a:rPr lang="en-US" dirty="0"/>
              <a:t>Agenda </a:t>
            </a:r>
          </a:p>
        </p:txBody>
      </p:sp>
      <p:sp>
        <p:nvSpPr>
          <p:cNvPr id="4" name="Slide Number Placeholder 3">
            <a:extLst>
              <a:ext uri="{FF2B5EF4-FFF2-40B4-BE49-F238E27FC236}">
                <a16:creationId xmlns:a16="http://schemas.microsoft.com/office/drawing/2014/main" id="{857A5095-4EE9-2E3E-252E-E78E025989D8}"/>
              </a:ext>
            </a:extLst>
          </p:cNvPr>
          <p:cNvSpPr>
            <a:spLocks noGrp="1"/>
          </p:cNvSpPr>
          <p:nvPr>
            <p:ph type="sldNum" sz="quarter" idx="34"/>
          </p:nvPr>
        </p:nvSpPr>
        <p:spPr/>
        <p:txBody>
          <a:bodyPr/>
          <a:lstStyle/>
          <a:p>
            <a:fld id="{47FEACEE-25B4-4A2D-B147-27296E36371D}" type="slidenum">
              <a:rPr lang="en-US" altLang="zh-CN" noProof="0" smtClean="0"/>
              <a:pPr/>
              <a:t>35</a:t>
            </a:fld>
            <a:endParaRPr lang="en-US" altLang="zh-CN" noProof="0" dirty="0"/>
          </a:p>
        </p:txBody>
      </p:sp>
      <p:graphicFrame>
        <p:nvGraphicFramePr>
          <p:cNvPr id="5" name="Table 4">
            <a:extLst>
              <a:ext uri="{FF2B5EF4-FFF2-40B4-BE49-F238E27FC236}">
                <a16:creationId xmlns:a16="http://schemas.microsoft.com/office/drawing/2014/main" id="{A9836764-2802-085E-D681-63999063E14A}"/>
              </a:ext>
            </a:extLst>
          </p:cNvPr>
          <p:cNvGraphicFramePr>
            <a:graphicFrameLocks noGrp="1"/>
          </p:cNvGraphicFramePr>
          <p:nvPr>
            <p:extLst>
              <p:ext uri="{D42A27DB-BD31-4B8C-83A1-F6EECF244321}">
                <p14:modId xmlns:p14="http://schemas.microsoft.com/office/powerpoint/2010/main" val="531769554"/>
              </p:ext>
            </p:extLst>
          </p:nvPr>
        </p:nvGraphicFramePr>
        <p:xfrm>
          <a:off x="3661410" y="2875280"/>
          <a:ext cx="4127500" cy="3342640"/>
        </p:xfrm>
        <a:graphic>
          <a:graphicData uri="http://schemas.openxmlformats.org/drawingml/2006/table">
            <a:tbl>
              <a:tblPr/>
              <a:tblGrid>
                <a:gridCol w="4127500">
                  <a:extLst>
                    <a:ext uri="{9D8B030D-6E8A-4147-A177-3AD203B41FA5}">
                      <a16:colId xmlns:a16="http://schemas.microsoft.com/office/drawing/2014/main" val="3862371876"/>
                    </a:ext>
                  </a:extLst>
                </a:gridCol>
              </a:tblGrid>
              <a:tr h="209550">
                <a:tc>
                  <a:txBody>
                    <a:bodyPr/>
                    <a:lstStyle/>
                    <a:p>
                      <a:pPr algn="l" fontAlgn="ctr"/>
                      <a:r>
                        <a:rPr lang="en-US" sz="2400" b="0" i="0" u="none" strike="noStrike" dirty="0">
                          <a:solidFill>
                            <a:schemeClr val="bg1"/>
                          </a:solidFill>
                          <a:effectLst/>
                          <a:latin typeface="Aptos Narrow" panose="020B0004020202020204" pitchFamily="34" charset="0"/>
                        </a:rPr>
                        <a:t>Python Syntax</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313574"/>
                  </a:ext>
                </a:extLst>
              </a:tr>
              <a:tr h="209550">
                <a:tc>
                  <a:txBody>
                    <a:bodyPr/>
                    <a:lstStyle/>
                    <a:p>
                      <a:pPr algn="l" fontAlgn="ctr"/>
                      <a:r>
                        <a:rPr lang="en-US" sz="2400" b="0" i="0" u="none" strike="noStrike">
                          <a:solidFill>
                            <a:schemeClr val="bg1"/>
                          </a:solidFill>
                          <a:effectLst/>
                          <a:latin typeface="Aptos Narrow" panose="020B0004020202020204" pitchFamily="34" charset="0"/>
                        </a:rPr>
                        <a:t>Python Comments</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564512"/>
                  </a:ext>
                </a:extLst>
              </a:tr>
              <a:tr h="209550">
                <a:tc>
                  <a:txBody>
                    <a:bodyPr/>
                    <a:lstStyle/>
                    <a:p>
                      <a:pPr algn="l" fontAlgn="ctr"/>
                      <a:r>
                        <a:rPr lang="en-US" sz="2400" b="0" i="0" u="none" strike="noStrike" dirty="0">
                          <a:solidFill>
                            <a:schemeClr val="bg1"/>
                          </a:solidFill>
                          <a:effectLst/>
                          <a:latin typeface="Aptos Narrow" panose="020B0004020202020204" pitchFamily="34" charset="0"/>
                        </a:rPr>
                        <a:t>Datatypes &amp; Variables</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8294737"/>
                  </a:ext>
                </a:extLst>
              </a:tr>
              <a:tr h="209550">
                <a:tc>
                  <a:txBody>
                    <a:bodyPr/>
                    <a:lstStyle/>
                    <a:p>
                      <a:pPr algn="l" fontAlgn="ctr"/>
                      <a:r>
                        <a:rPr lang="en-US" sz="2400" b="0" i="0" u="none" strike="noStrike" dirty="0">
                          <a:solidFill>
                            <a:schemeClr val="bg1"/>
                          </a:solidFill>
                          <a:effectLst/>
                          <a:latin typeface="Aptos Narrow" panose="020B0004020202020204" pitchFamily="34" charset="0"/>
                        </a:rPr>
                        <a:t>Type Casting</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402339"/>
                  </a:ext>
                </a:extLst>
              </a:tr>
              <a:tr h="209550">
                <a:tc>
                  <a:txBody>
                    <a:bodyPr/>
                    <a:lstStyle/>
                    <a:p>
                      <a:pPr algn="l" fontAlgn="ctr"/>
                      <a:r>
                        <a:rPr lang="en-US" sz="2400" b="0" i="0" u="none" strike="noStrike" dirty="0">
                          <a:solidFill>
                            <a:schemeClr val="bg1"/>
                          </a:solidFill>
                          <a:effectLst/>
                          <a:latin typeface="Aptos Narrow" panose="020B0004020202020204" pitchFamily="34" charset="0"/>
                        </a:rPr>
                        <a:t>Operators</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6048501"/>
                  </a:ext>
                </a:extLst>
              </a:tr>
              <a:tr h="209550">
                <a:tc>
                  <a:txBody>
                    <a:bodyPr/>
                    <a:lstStyle/>
                    <a:p>
                      <a:pPr algn="l" fontAlgn="ctr"/>
                      <a:r>
                        <a:rPr lang="en-US" sz="2400" b="0" i="0" u="none" strike="noStrike" dirty="0">
                          <a:solidFill>
                            <a:schemeClr val="bg1"/>
                          </a:solidFill>
                          <a:effectLst/>
                          <a:latin typeface="Aptos Narrow" panose="020B0004020202020204" pitchFamily="34" charset="0"/>
                        </a:rPr>
                        <a:t>Numbers</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4023583"/>
                  </a:ext>
                </a:extLst>
              </a:tr>
              <a:tr h="209550">
                <a:tc>
                  <a:txBody>
                    <a:bodyPr/>
                    <a:lstStyle/>
                    <a:p>
                      <a:pPr algn="l" fontAlgn="ctr"/>
                      <a:r>
                        <a:rPr lang="en-US" sz="2400" b="0" i="0" u="none" strike="noStrike">
                          <a:solidFill>
                            <a:schemeClr val="bg1"/>
                          </a:solidFill>
                          <a:effectLst/>
                          <a:latin typeface="Aptos Narrow" panose="020B0004020202020204" pitchFamily="34" charset="0"/>
                        </a:rPr>
                        <a:t>Booleans</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8065466"/>
                  </a:ext>
                </a:extLst>
              </a:tr>
              <a:tr h="209550">
                <a:tc>
                  <a:txBody>
                    <a:bodyPr/>
                    <a:lstStyle/>
                    <a:p>
                      <a:pPr algn="l" fontAlgn="ctr"/>
                      <a:r>
                        <a:rPr lang="en-US" sz="2400" b="0" i="0" u="none" strike="noStrike" dirty="0">
                          <a:solidFill>
                            <a:schemeClr val="bg1"/>
                          </a:solidFill>
                          <a:effectLst/>
                          <a:latin typeface="Aptos Narrow" panose="020B0004020202020204" pitchFamily="34" charset="0"/>
                        </a:rPr>
                        <a:t>Strings</a:t>
                      </a:r>
                    </a:p>
                  </a:txBody>
                  <a:tcPr marL="6350" marR="6350" marT="635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358865"/>
                  </a:ext>
                </a:extLst>
              </a:tr>
            </a:tbl>
          </a:graphicData>
        </a:graphic>
      </p:graphicFrame>
    </p:spTree>
    <p:extLst>
      <p:ext uri="{BB962C8B-B14F-4D97-AF65-F5344CB8AC3E}">
        <p14:creationId xmlns:p14="http://schemas.microsoft.com/office/powerpoint/2010/main" val="144158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39FE0-1E7A-ADBF-1C6B-28499E9B7578}"/>
              </a:ext>
            </a:extLst>
          </p:cNvPr>
          <p:cNvSpPr>
            <a:spLocks noGrp="1"/>
          </p:cNvSpPr>
          <p:nvPr>
            <p:ph type="title"/>
          </p:nvPr>
        </p:nvSpPr>
        <p:spPr>
          <a:xfrm>
            <a:off x="914400" y="731520"/>
            <a:ext cx="7671816" cy="1040130"/>
          </a:xfrm>
        </p:spPr>
        <p:txBody>
          <a:bodyPr/>
          <a:lstStyle/>
          <a:p>
            <a:r>
              <a:rPr lang="en-US" dirty="0"/>
              <a:t>Python Program Syntax</a:t>
            </a:r>
          </a:p>
        </p:txBody>
      </p:sp>
      <p:sp>
        <p:nvSpPr>
          <p:cNvPr id="3" name="Content Placeholder 2">
            <a:extLst>
              <a:ext uri="{FF2B5EF4-FFF2-40B4-BE49-F238E27FC236}">
                <a16:creationId xmlns:a16="http://schemas.microsoft.com/office/drawing/2014/main" id="{06CFE1EB-0098-5DF5-A8E1-D6B574B7D810}"/>
              </a:ext>
            </a:extLst>
          </p:cNvPr>
          <p:cNvSpPr>
            <a:spLocks noGrp="1"/>
          </p:cNvSpPr>
          <p:nvPr>
            <p:ph idx="14"/>
          </p:nvPr>
        </p:nvSpPr>
        <p:spPr>
          <a:xfrm>
            <a:off x="994410" y="2343150"/>
            <a:ext cx="5314950" cy="2548890"/>
          </a:xfrm>
        </p:spPr>
        <p:txBody>
          <a:bodyPr>
            <a:normAutofit/>
          </a:bodyPr>
          <a:lstStyle/>
          <a:p>
            <a:r>
              <a:rPr lang="en-US" sz="2800" b="1" dirty="0"/>
              <a:t>Indentation in Python</a:t>
            </a:r>
          </a:p>
          <a:p>
            <a:r>
              <a:rPr lang="en-US" sz="2800" b="1" dirty="0"/>
              <a:t>Python Variables </a:t>
            </a:r>
          </a:p>
          <a:p>
            <a:r>
              <a:rPr lang="en-US" sz="2800" b="1" dirty="0"/>
              <a:t>Python Identifiers</a:t>
            </a:r>
          </a:p>
          <a:p>
            <a:r>
              <a:rPr lang="en-US" sz="2800" b="1" dirty="0"/>
              <a:t>Python keywords</a:t>
            </a:r>
          </a:p>
          <a:p>
            <a:endParaRPr lang="en-US" sz="2800" b="1" dirty="0"/>
          </a:p>
          <a:p>
            <a:pPr lvl="1"/>
            <a:endParaRPr lang="en-US" sz="2800" dirty="0"/>
          </a:p>
        </p:txBody>
      </p:sp>
      <p:sp>
        <p:nvSpPr>
          <p:cNvPr id="4" name="Slide Number Placeholder 3">
            <a:extLst>
              <a:ext uri="{FF2B5EF4-FFF2-40B4-BE49-F238E27FC236}">
                <a16:creationId xmlns:a16="http://schemas.microsoft.com/office/drawing/2014/main" id="{6851CE47-22C8-D5AD-7550-C4B2FE4858F9}"/>
              </a:ext>
            </a:extLst>
          </p:cNvPr>
          <p:cNvSpPr>
            <a:spLocks noGrp="1"/>
          </p:cNvSpPr>
          <p:nvPr>
            <p:ph type="sldNum" sz="quarter" idx="12"/>
          </p:nvPr>
        </p:nvSpPr>
        <p:spPr/>
        <p:txBody>
          <a:bodyPr/>
          <a:lstStyle/>
          <a:p>
            <a:fld id="{CBD12358-51D2-46B3-9BDE-DF29528B9454}" type="slidenum">
              <a:rPr lang="en-US" smtClean="0"/>
              <a:t>36</a:t>
            </a:fld>
            <a:endParaRPr lang="en-US" dirty="0"/>
          </a:p>
        </p:txBody>
      </p:sp>
    </p:spTree>
    <p:extLst>
      <p:ext uri="{BB962C8B-B14F-4D97-AF65-F5344CB8AC3E}">
        <p14:creationId xmlns:p14="http://schemas.microsoft.com/office/powerpoint/2010/main" val="5942181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5330D-E18E-F898-566C-CBA5648F5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DB354-9F1C-1E15-2878-80A1286ABB51}"/>
              </a:ext>
            </a:extLst>
          </p:cNvPr>
          <p:cNvSpPr>
            <a:spLocks noGrp="1"/>
          </p:cNvSpPr>
          <p:nvPr>
            <p:ph type="title"/>
          </p:nvPr>
        </p:nvSpPr>
        <p:spPr>
          <a:xfrm>
            <a:off x="822960" y="400050"/>
            <a:ext cx="7671816" cy="1040130"/>
          </a:xfrm>
        </p:spPr>
        <p:txBody>
          <a:bodyPr/>
          <a:lstStyle/>
          <a:p>
            <a:r>
              <a:rPr lang="en-US" dirty="0"/>
              <a:t>Python Comments</a:t>
            </a:r>
          </a:p>
        </p:txBody>
      </p:sp>
      <p:sp>
        <p:nvSpPr>
          <p:cNvPr id="3" name="Content Placeholder 2">
            <a:extLst>
              <a:ext uri="{FF2B5EF4-FFF2-40B4-BE49-F238E27FC236}">
                <a16:creationId xmlns:a16="http://schemas.microsoft.com/office/drawing/2014/main" id="{9D9D3C66-EA3A-630F-4DA1-0AA447DE96C1}"/>
              </a:ext>
            </a:extLst>
          </p:cNvPr>
          <p:cNvSpPr>
            <a:spLocks noGrp="1"/>
          </p:cNvSpPr>
          <p:nvPr>
            <p:ph idx="14"/>
          </p:nvPr>
        </p:nvSpPr>
        <p:spPr>
          <a:xfrm>
            <a:off x="895350" y="1623060"/>
            <a:ext cx="10401300" cy="5234940"/>
          </a:xfrm>
        </p:spPr>
        <p:txBody>
          <a:bodyPr>
            <a:noAutofit/>
          </a:bodyPr>
          <a:lstStyle/>
          <a:p>
            <a:r>
              <a:rPr lang="en-US" sz="2400" b="1" dirty="0"/>
              <a:t>Single line - #</a:t>
            </a:r>
          </a:p>
          <a:p>
            <a:r>
              <a:rPr lang="en-US" sz="2400" b="1" dirty="0"/>
              <a:t>Multi-line comments - Triple quotes (either ''' or """) </a:t>
            </a:r>
          </a:p>
          <a:p>
            <a:r>
              <a:rPr lang="en-US" sz="2400" b="1" dirty="0"/>
              <a:t>Break statement into multiple lines - Using Backslashes(\) – for example</a:t>
            </a:r>
          </a:p>
          <a:p>
            <a:pPr marL="0" indent="0">
              <a:buNone/>
            </a:pPr>
            <a:r>
              <a:rPr lang="en-US" sz="2400" b="1" dirty="0"/>
              <a:t>    sentence = "This is a very long sentence that we want to " \</a:t>
            </a:r>
          </a:p>
          <a:p>
            <a:pPr marL="0" indent="0">
              <a:buNone/>
            </a:pPr>
            <a:r>
              <a:rPr lang="en-US" sz="2400" b="1" dirty="0"/>
              <a:t>           "split over multiple lines for better readability.“</a:t>
            </a:r>
          </a:p>
          <a:p>
            <a:pPr marL="0" indent="0">
              <a:buNone/>
            </a:pPr>
            <a:r>
              <a:rPr lang="en-US" sz="2400" b="1" dirty="0"/>
              <a:t># For mathematical operations</a:t>
            </a:r>
          </a:p>
          <a:p>
            <a:pPr marL="0" indent="0">
              <a:buNone/>
            </a:pPr>
            <a:r>
              <a:rPr lang="en-US" sz="2400" b="1" dirty="0"/>
              <a:t>total = 1 + 2 + 3 + \</a:t>
            </a:r>
          </a:p>
          <a:p>
            <a:pPr marL="0" indent="0">
              <a:buNone/>
            </a:pPr>
            <a:r>
              <a:rPr lang="en-US" sz="2400" b="1" dirty="0"/>
              <a:t>        4 + 5 + 6 + \</a:t>
            </a:r>
          </a:p>
          <a:p>
            <a:pPr marL="0" indent="0">
              <a:buNone/>
            </a:pPr>
            <a:r>
              <a:rPr lang="en-US" sz="2400" b="1" dirty="0"/>
              <a:t>        7 + 8 + 9</a:t>
            </a:r>
          </a:p>
          <a:p>
            <a:pPr marL="0" indent="0">
              <a:buNone/>
            </a:pPr>
            <a:r>
              <a:rPr lang="en-US" sz="2400" b="1" dirty="0"/>
              <a:t>print(total)</a:t>
            </a:r>
          </a:p>
        </p:txBody>
      </p:sp>
      <p:sp>
        <p:nvSpPr>
          <p:cNvPr id="4" name="Slide Number Placeholder 3">
            <a:extLst>
              <a:ext uri="{FF2B5EF4-FFF2-40B4-BE49-F238E27FC236}">
                <a16:creationId xmlns:a16="http://schemas.microsoft.com/office/drawing/2014/main" id="{8B1E28F9-56C5-5B8A-1633-F8605CD1A5CB}"/>
              </a:ext>
            </a:extLst>
          </p:cNvPr>
          <p:cNvSpPr>
            <a:spLocks noGrp="1"/>
          </p:cNvSpPr>
          <p:nvPr>
            <p:ph type="sldNum" sz="quarter" idx="12"/>
          </p:nvPr>
        </p:nvSpPr>
        <p:spPr/>
        <p:txBody>
          <a:bodyPr/>
          <a:lstStyle/>
          <a:p>
            <a:fld id="{CBD12358-51D2-46B3-9BDE-DF29528B9454}" type="slidenum">
              <a:rPr lang="en-US" smtClean="0"/>
              <a:t>37</a:t>
            </a:fld>
            <a:endParaRPr lang="en-US" dirty="0"/>
          </a:p>
        </p:txBody>
      </p:sp>
    </p:spTree>
    <p:extLst>
      <p:ext uri="{BB962C8B-B14F-4D97-AF65-F5344CB8AC3E}">
        <p14:creationId xmlns:p14="http://schemas.microsoft.com/office/powerpoint/2010/main" val="8246197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902F9-D4DC-2796-9A9E-A4AE2FF0E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4B2383-EFD3-D79F-7722-791624FD34BC}"/>
              </a:ext>
            </a:extLst>
          </p:cNvPr>
          <p:cNvSpPr>
            <a:spLocks noGrp="1"/>
          </p:cNvSpPr>
          <p:nvPr>
            <p:ph type="title"/>
          </p:nvPr>
        </p:nvSpPr>
        <p:spPr>
          <a:xfrm>
            <a:off x="822960" y="400050"/>
            <a:ext cx="7671816" cy="1040130"/>
          </a:xfrm>
        </p:spPr>
        <p:txBody>
          <a:bodyPr/>
          <a:lstStyle/>
          <a:p>
            <a:r>
              <a:rPr lang="en-US" dirty="0"/>
              <a:t>Continuation of Statements</a:t>
            </a:r>
          </a:p>
        </p:txBody>
      </p:sp>
      <p:sp>
        <p:nvSpPr>
          <p:cNvPr id="3" name="Content Placeholder 2">
            <a:extLst>
              <a:ext uri="{FF2B5EF4-FFF2-40B4-BE49-F238E27FC236}">
                <a16:creationId xmlns:a16="http://schemas.microsoft.com/office/drawing/2014/main" id="{232F3B95-74B6-F36F-6F02-CAF48D86DEE0}"/>
              </a:ext>
            </a:extLst>
          </p:cNvPr>
          <p:cNvSpPr>
            <a:spLocks noGrp="1"/>
          </p:cNvSpPr>
          <p:nvPr>
            <p:ph idx="14"/>
          </p:nvPr>
        </p:nvSpPr>
        <p:spPr>
          <a:xfrm>
            <a:off x="895350" y="1623060"/>
            <a:ext cx="10401300" cy="4834890"/>
          </a:xfrm>
        </p:spPr>
        <p:txBody>
          <a:bodyPr>
            <a:noAutofit/>
          </a:bodyPr>
          <a:lstStyle/>
          <a:p>
            <a:r>
              <a:rPr lang="en-US" sz="2400" b="1" dirty="0"/>
              <a:t>Implicit Continuation – content between (), [], {} </a:t>
            </a:r>
          </a:p>
          <a:p>
            <a:endParaRPr lang="en-US" sz="2400" b="1" dirty="0"/>
          </a:p>
          <a:p>
            <a:endParaRPr lang="en-US" sz="2400" b="1" dirty="0"/>
          </a:p>
          <a:p>
            <a:endParaRPr lang="en-US" sz="2400" b="1" dirty="0"/>
          </a:p>
          <a:p>
            <a:endParaRPr lang="en-US" sz="2400" b="1" dirty="0"/>
          </a:p>
          <a:p>
            <a:r>
              <a:rPr lang="en-US" sz="2400" b="1" dirty="0"/>
              <a:t>Explicit Continuation</a:t>
            </a:r>
          </a:p>
        </p:txBody>
      </p:sp>
      <p:sp>
        <p:nvSpPr>
          <p:cNvPr id="4" name="Slide Number Placeholder 3">
            <a:extLst>
              <a:ext uri="{FF2B5EF4-FFF2-40B4-BE49-F238E27FC236}">
                <a16:creationId xmlns:a16="http://schemas.microsoft.com/office/drawing/2014/main" id="{A122A9C8-C411-A555-7E50-B8E462E0CFAB}"/>
              </a:ext>
            </a:extLst>
          </p:cNvPr>
          <p:cNvSpPr>
            <a:spLocks noGrp="1"/>
          </p:cNvSpPr>
          <p:nvPr>
            <p:ph type="sldNum" sz="quarter" idx="12"/>
          </p:nvPr>
        </p:nvSpPr>
        <p:spPr/>
        <p:txBody>
          <a:bodyPr/>
          <a:lstStyle/>
          <a:p>
            <a:fld id="{CBD12358-51D2-46B3-9BDE-DF29528B9454}" type="slidenum">
              <a:rPr lang="en-US" smtClean="0"/>
              <a:t>38</a:t>
            </a:fld>
            <a:endParaRPr lang="en-US" dirty="0"/>
          </a:p>
        </p:txBody>
      </p:sp>
      <p:pic>
        <p:nvPicPr>
          <p:cNvPr id="6" name="Picture 5">
            <a:extLst>
              <a:ext uri="{FF2B5EF4-FFF2-40B4-BE49-F238E27FC236}">
                <a16:creationId xmlns:a16="http://schemas.microsoft.com/office/drawing/2014/main" id="{A4C75943-4BFF-7736-75FB-8F5A868CAD2F}"/>
              </a:ext>
            </a:extLst>
          </p:cNvPr>
          <p:cNvPicPr>
            <a:picLocks noChangeAspect="1"/>
          </p:cNvPicPr>
          <p:nvPr/>
        </p:nvPicPr>
        <p:blipFill>
          <a:blip r:embed="rId2"/>
          <a:stretch>
            <a:fillRect/>
          </a:stretch>
        </p:blipFill>
        <p:spPr>
          <a:xfrm>
            <a:off x="1626870" y="2076269"/>
            <a:ext cx="5242560" cy="2173745"/>
          </a:xfrm>
          <a:prstGeom prst="rect">
            <a:avLst/>
          </a:prstGeom>
        </p:spPr>
      </p:pic>
      <p:pic>
        <p:nvPicPr>
          <p:cNvPr id="8" name="Picture 7">
            <a:extLst>
              <a:ext uri="{FF2B5EF4-FFF2-40B4-BE49-F238E27FC236}">
                <a16:creationId xmlns:a16="http://schemas.microsoft.com/office/drawing/2014/main" id="{115B2D16-9AF0-7A3B-E86E-A6F5A9E18946}"/>
              </a:ext>
            </a:extLst>
          </p:cNvPr>
          <p:cNvPicPr>
            <a:picLocks noChangeAspect="1"/>
          </p:cNvPicPr>
          <p:nvPr/>
        </p:nvPicPr>
        <p:blipFill>
          <a:blip r:embed="rId3"/>
          <a:srcRect r="18483"/>
          <a:stretch>
            <a:fillRect/>
          </a:stretch>
        </p:blipFill>
        <p:spPr>
          <a:xfrm>
            <a:off x="1626870" y="4733684"/>
            <a:ext cx="5242560" cy="1724266"/>
          </a:xfrm>
          <a:prstGeom prst="rect">
            <a:avLst/>
          </a:prstGeom>
        </p:spPr>
      </p:pic>
    </p:spTree>
    <p:extLst>
      <p:ext uri="{BB962C8B-B14F-4D97-AF65-F5344CB8AC3E}">
        <p14:creationId xmlns:p14="http://schemas.microsoft.com/office/powerpoint/2010/main" val="1036963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B808A-F341-13A9-CA36-F99C1768D2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4AAF1-9498-EDF3-11D5-D031A68C3830}"/>
              </a:ext>
            </a:extLst>
          </p:cNvPr>
          <p:cNvSpPr>
            <a:spLocks noGrp="1"/>
          </p:cNvSpPr>
          <p:nvPr>
            <p:ph type="title"/>
          </p:nvPr>
        </p:nvSpPr>
        <p:spPr>
          <a:xfrm>
            <a:off x="822960" y="400050"/>
            <a:ext cx="7671816" cy="1040130"/>
          </a:xfrm>
        </p:spPr>
        <p:txBody>
          <a:bodyPr/>
          <a:lstStyle/>
          <a:p>
            <a:r>
              <a:rPr lang="en-US" dirty="0"/>
              <a:t>Data Types &amp; Variables </a:t>
            </a:r>
          </a:p>
        </p:txBody>
      </p:sp>
      <p:sp>
        <p:nvSpPr>
          <p:cNvPr id="4" name="Slide Number Placeholder 3">
            <a:extLst>
              <a:ext uri="{FF2B5EF4-FFF2-40B4-BE49-F238E27FC236}">
                <a16:creationId xmlns:a16="http://schemas.microsoft.com/office/drawing/2014/main" id="{0A873BFD-588F-59F4-C995-2B3D54C4E669}"/>
              </a:ext>
            </a:extLst>
          </p:cNvPr>
          <p:cNvSpPr>
            <a:spLocks noGrp="1"/>
          </p:cNvSpPr>
          <p:nvPr>
            <p:ph type="sldNum" sz="quarter" idx="12"/>
          </p:nvPr>
        </p:nvSpPr>
        <p:spPr/>
        <p:txBody>
          <a:bodyPr/>
          <a:lstStyle/>
          <a:p>
            <a:fld id="{CBD12358-51D2-46B3-9BDE-DF29528B9454}" type="slidenum">
              <a:rPr lang="en-US" smtClean="0"/>
              <a:t>39</a:t>
            </a:fld>
            <a:endParaRPr lang="en-US" dirty="0"/>
          </a:p>
        </p:txBody>
      </p:sp>
      <p:pic>
        <p:nvPicPr>
          <p:cNvPr id="6" name="Picture 5">
            <a:extLst>
              <a:ext uri="{FF2B5EF4-FFF2-40B4-BE49-F238E27FC236}">
                <a16:creationId xmlns:a16="http://schemas.microsoft.com/office/drawing/2014/main" id="{677ABBFA-5663-5C3C-4F22-63C0CF35809A}"/>
              </a:ext>
            </a:extLst>
          </p:cNvPr>
          <p:cNvPicPr>
            <a:picLocks noChangeAspect="1"/>
          </p:cNvPicPr>
          <p:nvPr/>
        </p:nvPicPr>
        <p:blipFill>
          <a:blip r:embed="rId2"/>
          <a:stretch>
            <a:fillRect/>
          </a:stretch>
        </p:blipFill>
        <p:spPr>
          <a:xfrm>
            <a:off x="1024313" y="2136358"/>
            <a:ext cx="8268854" cy="1419423"/>
          </a:xfrm>
          <a:prstGeom prst="rect">
            <a:avLst/>
          </a:prstGeom>
        </p:spPr>
      </p:pic>
      <p:pic>
        <p:nvPicPr>
          <p:cNvPr id="8" name="Picture 7">
            <a:extLst>
              <a:ext uri="{FF2B5EF4-FFF2-40B4-BE49-F238E27FC236}">
                <a16:creationId xmlns:a16="http://schemas.microsoft.com/office/drawing/2014/main" id="{93A41F72-B2A8-963C-A6F6-8254D6C3F8D8}"/>
              </a:ext>
            </a:extLst>
          </p:cNvPr>
          <p:cNvPicPr>
            <a:picLocks noChangeAspect="1"/>
          </p:cNvPicPr>
          <p:nvPr/>
        </p:nvPicPr>
        <p:blipFill>
          <a:blip r:embed="rId3"/>
          <a:stretch>
            <a:fillRect/>
          </a:stretch>
        </p:blipFill>
        <p:spPr>
          <a:xfrm>
            <a:off x="1160732" y="3962347"/>
            <a:ext cx="5229955" cy="762106"/>
          </a:xfrm>
          <a:prstGeom prst="rect">
            <a:avLst/>
          </a:prstGeom>
        </p:spPr>
      </p:pic>
      <p:pic>
        <p:nvPicPr>
          <p:cNvPr id="10" name="Picture 9">
            <a:extLst>
              <a:ext uri="{FF2B5EF4-FFF2-40B4-BE49-F238E27FC236}">
                <a16:creationId xmlns:a16="http://schemas.microsoft.com/office/drawing/2014/main" id="{F79DA377-9975-4EB4-958A-51C69E90AD3F}"/>
              </a:ext>
            </a:extLst>
          </p:cNvPr>
          <p:cNvPicPr>
            <a:picLocks noChangeAspect="1"/>
          </p:cNvPicPr>
          <p:nvPr/>
        </p:nvPicPr>
        <p:blipFill>
          <a:blip r:embed="rId4"/>
          <a:stretch>
            <a:fillRect/>
          </a:stretch>
        </p:blipFill>
        <p:spPr>
          <a:xfrm>
            <a:off x="1160732" y="5009119"/>
            <a:ext cx="4486901" cy="1114581"/>
          </a:xfrm>
          <a:prstGeom prst="rect">
            <a:avLst/>
          </a:prstGeom>
        </p:spPr>
      </p:pic>
    </p:spTree>
    <p:extLst>
      <p:ext uri="{BB962C8B-B14F-4D97-AF65-F5344CB8AC3E}">
        <p14:creationId xmlns:p14="http://schemas.microsoft.com/office/powerpoint/2010/main" val="17508211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B65AA-BDE2-61AA-E747-D4BBA9122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F10A4-AE7E-EA65-786E-58F3B2E3997B}"/>
              </a:ext>
            </a:extLst>
          </p:cNvPr>
          <p:cNvSpPr>
            <a:spLocks noGrp="1"/>
          </p:cNvSpPr>
          <p:nvPr>
            <p:ph type="title"/>
          </p:nvPr>
        </p:nvSpPr>
        <p:spPr>
          <a:xfrm>
            <a:off x="468630" y="1783080"/>
            <a:ext cx="7820406" cy="1040130"/>
          </a:xfrm>
        </p:spPr>
        <p:txBody>
          <a:bodyPr>
            <a:normAutofit/>
          </a:bodyPr>
          <a:lstStyle/>
          <a:p>
            <a:r>
              <a:rPr lang="en-US" sz="3100" dirty="0"/>
              <a:t>- Getting Type of Variable – type()</a:t>
            </a:r>
            <a:br>
              <a:rPr lang="en-US" sz="3100" dirty="0"/>
            </a:br>
            <a:r>
              <a:rPr lang="en-US" sz="3100" dirty="0"/>
              <a:t>- Typecasting </a:t>
            </a:r>
            <a:endParaRPr lang="en-US" sz="2800" dirty="0"/>
          </a:p>
        </p:txBody>
      </p:sp>
      <p:sp>
        <p:nvSpPr>
          <p:cNvPr id="4" name="Slide Number Placeholder 3">
            <a:extLst>
              <a:ext uri="{FF2B5EF4-FFF2-40B4-BE49-F238E27FC236}">
                <a16:creationId xmlns:a16="http://schemas.microsoft.com/office/drawing/2014/main" id="{E2290A4D-40D8-109F-E77C-88D71334DE2B}"/>
              </a:ext>
            </a:extLst>
          </p:cNvPr>
          <p:cNvSpPr>
            <a:spLocks noGrp="1"/>
          </p:cNvSpPr>
          <p:nvPr>
            <p:ph type="sldNum" sz="quarter" idx="12"/>
          </p:nvPr>
        </p:nvSpPr>
        <p:spPr/>
        <p:txBody>
          <a:bodyPr/>
          <a:lstStyle/>
          <a:p>
            <a:fld id="{CBD12358-51D2-46B3-9BDE-DF29528B9454}" type="slidenum">
              <a:rPr lang="en-US" smtClean="0"/>
              <a:t>40</a:t>
            </a:fld>
            <a:endParaRPr lang="en-US" dirty="0"/>
          </a:p>
        </p:txBody>
      </p:sp>
      <p:sp>
        <p:nvSpPr>
          <p:cNvPr id="5" name="TextBox 4">
            <a:extLst>
              <a:ext uri="{FF2B5EF4-FFF2-40B4-BE49-F238E27FC236}">
                <a16:creationId xmlns:a16="http://schemas.microsoft.com/office/drawing/2014/main" id="{3F752065-2EDE-3954-CC33-15E7EDCB3C3A}"/>
              </a:ext>
            </a:extLst>
          </p:cNvPr>
          <p:cNvSpPr txBox="1"/>
          <p:nvPr/>
        </p:nvSpPr>
        <p:spPr>
          <a:xfrm>
            <a:off x="1151573" y="2704445"/>
            <a:ext cx="6097904" cy="1200329"/>
          </a:xfrm>
          <a:prstGeom prst="rect">
            <a:avLst/>
          </a:prstGeom>
          <a:noFill/>
        </p:spPr>
        <p:txBody>
          <a:bodyPr wrap="square">
            <a:spAutoFit/>
          </a:bodyPr>
          <a:lstStyle/>
          <a:p>
            <a:r>
              <a:rPr lang="en-US" sz="2400" dirty="0">
                <a:solidFill>
                  <a:schemeClr val="bg1"/>
                </a:solidFill>
              </a:rPr>
              <a:t>x=str(10)</a:t>
            </a:r>
            <a:br>
              <a:rPr lang="en-US" sz="2400" dirty="0">
                <a:solidFill>
                  <a:schemeClr val="bg1"/>
                </a:solidFill>
              </a:rPr>
            </a:br>
            <a:r>
              <a:rPr lang="en-US" sz="2400" dirty="0">
                <a:solidFill>
                  <a:schemeClr val="bg1"/>
                </a:solidFill>
              </a:rPr>
              <a:t>v=int(10)</a:t>
            </a:r>
            <a:br>
              <a:rPr lang="en-US" sz="2400" dirty="0">
                <a:solidFill>
                  <a:schemeClr val="bg1"/>
                </a:solidFill>
              </a:rPr>
            </a:br>
            <a:r>
              <a:rPr lang="en-US" sz="2400" dirty="0">
                <a:solidFill>
                  <a:schemeClr val="bg1"/>
                </a:solidFill>
              </a:rPr>
              <a:t>z=float(15.5)</a:t>
            </a:r>
          </a:p>
        </p:txBody>
      </p:sp>
      <p:sp>
        <p:nvSpPr>
          <p:cNvPr id="7" name="Title 1">
            <a:extLst>
              <a:ext uri="{FF2B5EF4-FFF2-40B4-BE49-F238E27FC236}">
                <a16:creationId xmlns:a16="http://schemas.microsoft.com/office/drawing/2014/main" id="{D6DB7BA9-A523-1521-4755-5A5CA808C736}"/>
              </a:ext>
            </a:extLst>
          </p:cNvPr>
          <p:cNvSpPr txBox="1">
            <a:spLocks/>
          </p:cNvSpPr>
          <p:nvPr/>
        </p:nvSpPr>
        <p:spPr>
          <a:xfrm>
            <a:off x="476639" y="4179094"/>
            <a:ext cx="10717530" cy="1638776"/>
          </a:xfrm>
          <a:prstGeom prst="rect">
            <a:avLst/>
          </a:prstGeom>
        </p:spPr>
        <p:txBody>
          <a:bodyPr vert="horz" lIns="91440" tIns="45720" rIns="91440" bIns="45720" rtlCol="0" anchor="b" anchorCtr="0">
            <a:normAutofit lnSpcReduction="10000"/>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marL="457200" indent="-457200">
              <a:buFontTx/>
              <a:buChar char="-"/>
            </a:pPr>
            <a:r>
              <a:rPr lang="en-US" sz="3100" dirty="0"/>
              <a:t>Python is case sensitive [Age and age are different]</a:t>
            </a:r>
          </a:p>
          <a:p>
            <a:pPr marL="457200" indent="-457200">
              <a:buFontTx/>
              <a:buChar char="-"/>
            </a:pPr>
            <a:r>
              <a:rPr lang="en-US" sz="3100" dirty="0"/>
              <a:t>Multiple Assignment – a=b=c=10</a:t>
            </a:r>
          </a:p>
          <a:p>
            <a:pPr marL="457200" indent="-457200">
              <a:buFontTx/>
              <a:buChar char="-"/>
            </a:pPr>
            <a:r>
              <a:rPr lang="en-US" sz="3100" dirty="0"/>
              <a:t>type() – to display the class of an object</a:t>
            </a:r>
          </a:p>
          <a:p>
            <a:pPr marL="457200" indent="-457200">
              <a:buFontTx/>
              <a:buChar char="-"/>
            </a:pPr>
            <a:r>
              <a:rPr lang="en-US" sz="3100" dirty="0"/>
              <a:t>Id() – to display the id of that object</a:t>
            </a:r>
          </a:p>
        </p:txBody>
      </p:sp>
    </p:spTree>
    <p:extLst>
      <p:ext uri="{BB962C8B-B14F-4D97-AF65-F5344CB8AC3E}">
        <p14:creationId xmlns:p14="http://schemas.microsoft.com/office/powerpoint/2010/main" val="32842796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33591-6CA4-A170-C48C-1C9359F7BDAF}"/>
              </a:ext>
            </a:extLst>
          </p:cNvPr>
          <p:cNvSpPr>
            <a:spLocks noGrp="1"/>
          </p:cNvSpPr>
          <p:nvPr>
            <p:ph type="title"/>
          </p:nvPr>
        </p:nvSpPr>
        <p:spPr>
          <a:xfrm>
            <a:off x="891540" y="639882"/>
            <a:ext cx="7671816" cy="765810"/>
          </a:xfrm>
        </p:spPr>
        <p:txBody>
          <a:bodyPr/>
          <a:lstStyle/>
          <a:p>
            <a:r>
              <a:rPr lang="en-US" b="0" dirty="0"/>
              <a:t>Python vs C/C++ Variables</a:t>
            </a:r>
            <a:endParaRPr lang="en-US" dirty="0"/>
          </a:p>
        </p:txBody>
      </p:sp>
      <p:sp>
        <p:nvSpPr>
          <p:cNvPr id="4" name="Slide Number Placeholder 3">
            <a:extLst>
              <a:ext uri="{FF2B5EF4-FFF2-40B4-BE49-F238E27FC236}">
                <a16:creationId xmlns:a16="http://schemas.microsoft.com/office/drawing/2014/main" id="{3FB27194-A987-E038-3FF8-BC7DBEF97321}"/>
              </a:ext>
            </a:extLst>
          </p:cNvPr>
          <p:cNvSpPr>
            <a:spLocks noGrp="1"/>
          </p:cNvSpPr>
          <p:nvPr>
            <p:ph type="sldNum" sz="quarter" idx="12"/>
          </p:nvPr>
        </p:nvSpPr>
        <p:spPr/>
        <p:txBody>
          <a:bodyPr/>
          <a:lstStyle/>
          <a:p>
            <a:fld id="{CBD12358-51D2-46B3-9BDE-DF29528B9454}" type="slidenum">
              <a:rPr lang="en-US" smtClean="0"/>
              <a:t>41</a:t>
            </a:fld>
            <a:endParaRPr lang="en-US" dirty="0"/>
          </a:p>
        </p:txBody>
      </p:sp>
      <p:pic>
        <p:nvPicPr>
          <p:cNvPr id="6" name="Picture 5">
            <a:extLst>
              <a:ext uri="{FF2B5EF4-FFF2-40B4-BE49-F238E27FC236}">
                <a16:creationId xmlns:a16="http://schemas.microsoft.com/office/drawing/2014/main" id="{C6386EEF-7A42-BB81-742D-C5BEC6441A8D}"/>
              </a:ext>
            </a:extLst>
          </p:cNvPr>
          <p:cNvPicPr>
            <a:picLocks noChangeAspect="1"/>
          </p:cNvPicPr>
          <p:nvPr/>
        </p:nvPicPr>
        <p:blipFill>
          <a:blip r:embed="rId2"/>
          <a:stretch>
            <a:fillRect/>
          </a:stretch>
        </p:blipFill>
        <p:spPr>
          <a:xfrm>
            <a:off x="395695" y="2855972"/>
            <a:ext cx="4679225" cy="1247398"/>
          </a:xfrm>
          <a:prstGeom prst="rect">
            <a:avLst/>
          </a:prstGeom>
        </p:spPr>
      </p:pic>
      <p:pic>
        <p:nvPicPr>
          <p:cNvPr id="8" name="Picture 7">
            <a:extLst>
              <a:ext uri="{FF2B5EF4-FFF2-40B4-BE49-F238E27FC236}">
                <a16:creationId xmlns:a16="http://schemas.microsoft.com/office/drawing/2014/main" id="{A8845848-9031-4F21-A0EA-BD3510EBB21F}"/>
              </a:ext>
            </a:extLst>
          </p:cNvPr>
          <p:cNvPicPr>
            <a:picLocks noChangeAspect="1"/>
          </p:cNvPicPr>
          <p:nvPr/>
        </p:nvPicPr>
        <p:blipFill>
          <a:blip r:embed="rId3"/>
          <a:stretch>
            <a:fillRect/>
          </a:stretch>
        </p:blipFill>
        <p:spPr>
          <a:xfrm>
            <a:off x="395695" y="5335646"/>
            <a:ext cx="4884965" cy="1062830"/>
          </a:xfrm>
          <a:prstGeom prst="rect">
            <a:avLst/>
          </a:prstGeom>
        </p:spPr>
      </p:pic>
      <p:sp>
        <p:nvSpPr>
          <p:cNvPr id="9" name="TextBox 8">
            <a:extLst>
              <a:ext uri="{FF2B5EF4-FFF2-40B4-BE49-F238E27FC236}">
                <a16:creationId xmlns:a16="http://schemas.microsoft.com/office/drawing/2014/main" id="{B9BD47FC-8013-9E47-0FBA-99821E8BAE32}"/>
              </a:ext>
            </a:extLst>
          </p:cNvPr>
          <p:cNvSpPr txBox="1"/>
          <p:nvPr/>
        </p:nvSpPr>
        <p:spPr>
          <a:xfrm>
            <a:off x="395695" y="4457898"/>
            <a:ext cx="1074333" cy="523220"/>
          </a:xfrm>
          <a:prstGeom prst="rect">
            <a:avLst/>
          </a:prstGeom>
        </p:spPr>
        <p:txBody>
          <a:bodyPr wrap="none" rtlCol="0">
            <a:spAutoFit/>
          </a:bodyPr>
          <a:lstStyle/>
          <a:p>
            <a:pPr marL="0" indent="0" algn="ctr">
              <a:lnSpc>
                <a:spcPct val="100000"/>
              </a:lnSpc>
              <a:spcBef>
                <a:spcPts val="0"/>
              </a:spcBef>
              <a:buFontTx/>
              <a:buNone/>
            </a:pPr>
            <a:r>
              <a:rPr lang="en-US" sz="2800" dirty="0">
                <a:solidFill>
                  <a:prstClr val="white"/>
                </a:solidFill>
                <a:latin typeface="Posterama" panose="020B0504020200020000" pitchFamily="34" charset="0"/>
                <a:ea typeface="微软雅黑"/>
                <a:cs typeface="Posterama" panose="020B0504020200020000" pitchFamily="34" charset="0"/>
              </a:rPr>
              <a:t>a=50</a:t>
            </a:r>
          </a:p>
        </p:txBody>
      </p:sp>
      <p:sp>
        <p:nvSpPr>
          <p:cNvPr id="11" name="TextBox 10">
            <a:extLst>
              <a:ext uri="{FF2B5EF4-FFF2-40B4-BE49-F238E27FC236}">
                <a16:creationId xmlns:a16="http://schemas.microsoft.com/office/drawing/2014/main" id="{C39B4E4C-2CDE-BE9E-100E-433366B143D7}"/>
              </a:ext>
            </a:extLst>
          </p:cNvPr>
          <p:cNvSpPr txBox="1"/>
          <p:nvPr/>
        </p:nvSpPr>
        <p:spPr>
          <a:xfrm>
            <a:off x="356833" y="1984808"/>
            <a:ext cx="5239295" cy="584775"/>
          </a:xfrm>
          <a:prstGeom prst="rect">
            <a:avLst/>
          </a:prstGeom>
          <a:noFill/>
        </p:spPr>
        <p:txBody>
          <a:bodyPr wrap="square">
            <a:spAutoFit/>
          </a:bodyPr>
          <a:lstStyle/>
          <a:p>
            <a:r>
              <a:rPr lang="en-US" sz="3200" b="0" dirty="0">
                <a:solidFill>
                  <a:schemeClr val="bg1"/>
                </a:solidFill>
              </a:rPr>
              <a:t>C/C++ Variables</a:t>
            </a:r>
            <a:endParaRPr lang="en-US" sz="3200" dirty="0">
              <a:solidFill>
                <a:schemeClr val="bg1"/>
              </a:solidFill>
            </a:endParaRPr>
          </a:p>
        </p:txBody>
      </p:sp>
      <p:sp>
        <p:nvSpPr>
          <p:cNvPr id="12" name="TextBox 11">
            <a:extLst>
              <a:ext uri="{FF2B5EF4-FFF2-40B4-BE49-F238E27FC236}">
                <a16:creationId xmlns:a16="http://schemas.microsoft.com/office/drawing/2014/main" id="{E85497B3-3677-269B-9996-AE66535C5E70}"/>
              </a:ext>
            </a:extLst>
          </p:cNvPr>
          <p:cNvSpPr txBox="1"/>
          <p:nvPr/>
        </p:nvSpPr>
        <p:spPr>
          <a:xfrm>
            <a:off x="5954874" y="1459699"/>
            <a:ext cx="5239295" cy="584775"/>
          </a:xfrm>
          <a:prstGeom prst="rect">
            <a:avLst/>
          </a:prstGeom>
          <a:noFill/>
        </p:spPr>
        <p:txBody>
          <a:bodyPr wrap="square">
            <a:spAutoFit/>
          </a:bodyPr>
          <a:lstStyle/>
          <a:p>
            <a:r>
              <a:rPr lang="en-US" sz="3200" b="0" dirty="0">
                <a:solidFill>
                  <a:schemeClr val="bg1"/>
                </a:solidFill>
              </a:rPr>
              <a:t>Python Variables</a:t>
            </a:r>
            <a:endParaRPr lang="en-US" sz="3200" dirty="0">
              <a:solidFill>
                <a:schemeClr val="bg1"/>
              </a:solidFill>
            </a:endParaRPr>
          </a:p>
        </p:txBody>
      </p:sp>
      <p:pic>
        <p:nvPicPr>
          <p:cNvPr id="14" name="Picture 13">
            <a:extLst>
              <a:ext uri="{FF2B5EF4-FFF2-40B4-BE49-F238E27FC236}">
                <a16:creationId xmlns:a16="http://schemas.microsoft.com/office/drawing/2014/main" id="{3C0DA3D1-A4BA-609E-8652-FB1F8367B2AA}"/>
              </a:ext>
            </a:extLst>
          </p:cNvPr>
          <p:cNvPicPr>
            <a:picLocks noChangeAspect="1"/>
          </p:cNvPicPr>
          <p:nvPr/>
        </p:nvPicPr>
        <p:blipFill>
          <a:blip r:embed="rId4"/>
          <a:stretch>
            <a:fillRect/>
          </a:stretch>
        </p:blipFill>
        <p:spPr>
          <a:xfrm>
            <a:off x="6066794" y="2025886"/>
            <a:ext cx="4168140" cy="1247398"/>
          </a:xfrm>
          <a:prstGeom prst="rect">
            <a:avLst/>
          </a:prstGeom>
        </p:spPr>
      </p:pic>
      <p:sp>
        <p:nvSpPr>
          <p:cNvPr id="15" name="TextBox 14">
            <a:extLst>
              <a:ext uri="{FF2B5EF4-FFF2-40B4-BE49-F238E27FC236}">
                <a16:creationId xmlns:a16="http://schemas.microsoft.com/office/drawing/2014/main" id="{A1E4FE34-BFD0-1AAD-9852-CF918A202BE0}"/>
              </a:ext>
            </a:extLst>
          </p:cNvPr>
          <p:cNvSpPr txBox="1"/>
          <p:nvPr/>
        </p:nvSpPr>
        <p:spPr>
          <a:xfrm>
            <a:off x="6066794" y="3285473"/>
            <a:ext cx="1074333" cy="523220"/>
          </a:xfrm>
          <a:prstGeom prst="rect">
            <a:avLst/>
          </a:prstGeom>
        </p:spPr>
        <p:txBody>
          <a:bodyPr wrap="none" rtlCol="0">
            <a:spAutoFit/>
          </a:bodyPr>
          <a:lstStyle/>
          <a:p>
            <a:pPr marL="0" indent="0" algn="ctr">
              <a:lnSpc>
                <a:spcPct val="100000"/>
              </a:lnSpc>
              <a:spcBef>
                <a:spcPts val="0"/>
              </a:spcBef>
              <a:buFontTx/>
              <a:buNone/>
            </a:pPr>
            <a:r>
              <a:rPr lang="en-US" sz="2800" dirty="0">
                <a:solidFill>
                  <a:prstClr val="white"/>
                </a:solidFill>
                <a:latin typeface="Posterama" panose="020B0504020200020000" pitchFamily="34" charset="0"/>
                <a:ea typeface="微软雅黑"/>
                <a:cs typeface="Posterama" panose="020B0504020200020000" pitchFamily="34" charset="0"/>
              </a:rPr>
              <a:t>a=50</a:t>
            </a:r>
          </a:p>
        </p:txBody>
      </p:sp>
      <p:pic>
        <p:nvPicPr>
          <p:cNvPr id="17" name="Picture 16">
            <a:extLst>
              <a:ext uri="{FF2B5EF4-FFF2-40B4-BE49-F238E27FC236}">
                <a16:creationId xmlns:a16="http://schemas.microsoft.com/office/drawing/2014/main" id="{5B23F672-97F9-21A4-708D-0B4CD4C3F5DB}"/>
              </a:ext>
            </a:extLst>
          </p:cNvPr>
          <p:cNvPicPr>
            <a:picLocks noChangeAspect="1"/>
          </p:cNvPicPr>
          <p:nvPr/>
        </p:nvPicPr>
        <p:blipFill>
          <a:blip r:embed="rId5"/>
          <a:stretch>
            <a:fillRect/>
          </a:stretch>
        </p:blipFill>
        <p:spPr>
          <a:xfrm>
            <a:off x="6132038" y="3732971"/>
            <a:ext cx="4884965" cy="1098388"/>
          </a:xfrm>
          <a:prstGeom prst="rect">
            <a:avLst/>
          </a:prstGeom>
        </p:spPr>
      </p:pic>
      <p:sp>
        <p:nvSpPr>
          <p:cNvPr id="18" name="TextBox 17">
            <a:extLst>
              <a:ext uri="{FF2B5EF4-FFF2-40B4-BE49-F238E27FC236}">
                <a16:creationId xmlns:a16="http://schemas.microsoft.com/office/drawing/2014/main" id="{F6420607-4447-AE5E-AD7A-985CBFAB146C}"/>
              </a:ext>
            </a:extLst>
          </p:cNvPr>
          <p:cNvSpPr txBox="1"/>
          <p:nvPr/>
        </p:nvSpPr>
        <p:spPr>
          <a:xfrm>
            <a:off x="6066794" y="4981118"/>
            <a:ext cx="1050288" cy="523220"/>
          </a:xfrm>
          <a:prstGeom prst="rect">
            <a:avLst/>
          </a:prstGeom>
        </p:spPr>
        <p:txBody>
          <a:bodyPr wrap="none" rtlCol="0">
            <a:spAutoFit/>
          </a:bodyPr>
          <a:lstStyle/>
          <a:p>
            <a:pPr marL="0" indent="0" algn="ctr">
              <a:lnSpc>
                <a:spcPct val="100000"/>
              </a:lnSpc>
              <a:spcBef>
                <a:spcPts val="0"/>
              </a:spcBef>
              <a:buFontTx/>
              <a:buNone/>
            </a:pPr>
            <a:r>
              <a:rPr lang="en-US" sz="2800" dirty="0">
                <a:solidFill>
                  <a:prstClr val="white"/>
                </a:solidFill>
                <a:latin typeface="Posterama" panose="020B0504020200020000" pitchFamily="34" charset="0"/>
                <a:ea typeface="微软雅黑"/>
                <a:cs typeface="Posterama" panose="020B0504020200020000" pitchFamily="34" charset="0"/>
              </a:rPr>
              <a:t>b=25</a:t>
            </a:r>
          </a:p>
        </p:txBody>
      </p:sp>
      <p:pic>
        <p:nvPicPr>
          <p:cNvPr id="20" name="Picture 19">
            <a:extLst>
              <a:ext uri="{FF2B5EF4-FFF2-40B4-BE49-F238E27FC236}">
                <a16:creationId xmlns:a16="http://schemas.microsoft.com/office/drawing/2014/main" id="{BE98ABCC-02C1-BCF7-BCA0-4568ACCD5F62}"/>
              </a:ext>
            </a:extLst>
          </p:cNvPr>
          <p:cNvPicPr>
            <a:picLocks noChangeAspect="1"/>
          </p:cNvPicPr>
          <p:nvPr/>
        </p:nvPicPr>
        <p:blipFill>
          <a:blip r:embed="rId6"/>
          <a:stretch>
            <a:fillRect/>
          </a:stretch>
        </p:blipFill>
        <p:spPr>
          <a:xfrm>
            <a:off x="6132038" y="5504338"/>
            <a:ext cx="4335409" cy="1099955"/>
          </a:xfrm>
          <a:prstGeom prst="rect">
            <a:avLst/>
          </a:prstGeom>
        </p:spPr>
      </p:pic>
    </p:spTree>
    <p:extLst>
      <p:ext uri="{BB962C8B-B14F-4D97-AF65-F5344CB8AC3E}">
        <p14:creationId xmlns:p14="http://schemas.microsoft.com/office/powerpoint/2010/main" val="2316207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C0B29-9074-A6E7-6A78-2C12CEBC0112}"/>
              </a:ext>
            </a:extLst>
          </p:cNvPr>
          <p:cNvSpPr>
            <a:spLocks noGrp="1"/>
          </p:cNvSpPr>
          <p:nvPr>
            <p:ph type="title"/>
          </p:nvPr>
        </p:nvSpPr>
        <p:spPr>
          <a:xfrm>
            <a:off x="914400" y="731520"/>
            <a:ext cx="7671816" cy="571500"/>
          </a:xfrm>
        </p:spPr>
        <p:txBody>
          <a:bodyPr>
            <a:normAutofit fontScale="90000"/>
          </a:bodyPr>
          <a:lstStyle/>
          <a:p>
            <a:r>
              <a:rPr lang="en-US" dirty="0"/>
              <a:t>Object Reference in python</a:t>
            </a:r>
          </a:p>
        </p:txBody>
      </p:sp>
      <p:sp>
        <p:nvSpPr>
          <p:cNvPr id="4" name="Slide Number Placeholder 3">
            <a:extLst>
              <a:ext uri="{FF2B5EF4-FFF2-40B4-BE49-F238E27FC236}">
                <a16:creationId xmlns:a16="http://schemas.microsoft.com/office/drawing/2014/main" id="{54949F1C-1964-CF1E-7C5D-6038F27AD313}"/>
              </a:ext>
            </a:extLst>
          </p:cNvPr>
          <p:cNvSpPr>
            <a:spLocks noGrp="1"/>
          </p:cNvSpPr>
          <p:nvPr>
            <p:ph type="sldNum" sz="quarter" idx="12"/>
          </p:nvPr>
        </p:nvSpPr>
        <p:spPr/>
        <p:txBody>
          <a:bodyPr/>
          <a:lstStyle/>
          <a:p>
            <a:fld id="{CBD12358-51D2-46B3-9BDE-DF29528B9454}" type="slidenum">
              <a:rPr lang="en-US" smtClean="0"/>
              <a:t>42</a:t>
            </a:fld>
            <a:endParaRPr lang="en-US" dirty="0"/>
          </a:p>
        </p:txBody>
      </p:sp>
      <p:pic>
        <p:nvPicPr>
          <p:cNvPr id="16" name="Picture 15">
            <a:extLst>
              <a:ext uri="{FF2B5EF4-FFF2-40B4-BE49-F238E27FC236}">
                <a16:creationId xmlns:a16="http://schemas.microsoft.com/office/drawing/2014/main" id="{F81D4129-03CD-5545-14D2-BACD5DD64E75}"/>
              </a:ext>
            </a:extLst>
          </p:cNvPr>
          <p:cNvPicPr>
            <a:picLocks noChangeAspect="1"/>
          </p:cNvPicPr>
          <p:nvPr/>
        </p:nvPicPr>
        <p:blipFill>
          <a:blip r:embed="rId2"/>
          <a:stretch>
            <a:fillRect/>
          </a:stretch>
        </p:blipFill>
        <p:spPr>
          <a:xfrm>
            <a:off x="1087158" y="1405890"/>
            <a:ext cx="8554644" cy="5048955"/>
          </a:xfrm>
          <a:prstGeom prst="rect">
            <a:avLst/>
          </a:prstGeom>
        </p:spPr>
      </p:pic>
    </p:spTree>
    <p:extLst>
      <p:ext uri="{BB962C8B-B14F-4D97-AF65-F5344CB8AC3E}">
        <p14:creationId xmlns:p14="http://schemas.microsoft.com/office/powerpoint/2010/main" val="2407342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1BB9-86AB-52F2-289D-B8D740B30E86}"/>
              </a:ext>
            </a:extLst>
          </p:cNvPr>
          <p:cNvSpPr>
            <a:spLocks noGrp="1"/>
          </p:cNvSpPr>
          <p:nvPr>
            <p:ph type="title"/>
          </p:nvPr>
        </p:nvSpPr>
        <p:spPr>
          <a:xfrm>
            <a:off x="914400" y="731520"/>
            <a:ext cx="7671816" cy="1005840"/>
          </a:xfrm>
        </p:spPr>
        <p:txBody>
          <a:bodyPr/>
          <a:lstStyle/>
          <a:p>
            <a:r>
              <a:rPr lang="en-US" dirty="0"/>
              <a:t>Operators</a:t>
            </a:r>
          </a:p>
        </p:txBody>
      </p:sp>
      <p:sp>
        <p:nvSpPr>
          <p:cNvPr id="3" name="Content Placeholder 2">
            <a:extLst>
              <a:ext uri="{FF2B5EF4-FFF2-40B4-BE49-F238E27FC236}">
                <a16:creationId xmlns:a16="http://schemas.microsoft.com/office/drawing/2014/main" id="{22B966B2-E926-9A46-1832-7F7C3ED172CA}"/>
              </a:ext>
            </a:extLst>
          </p:cNvPr>
          <p:cNvSpPr>
            <a:spLocks noGrp="1"/>
          </p:cNvSpPr>
          <p:nvPr>
            <p:ph idx="14"/>
          </p:nvPr>
        </p:nvSpPr>
        <p:spPr>
          <a:xfrm>
            <a:off x="914400" y="2148840"/>
            <a:ext cx="10149840" cy="3886200"/>
          </a:xfrm>
        </p:spPr>
        <p:txBody>
          <a:bodyPr>
            <a:normAutofit/>
          </a:bodyPr>
          <a:lstStyle/>
          <a:p>
            <a:r>
              <a:rPr lang="en-US" sz="2400" dirty="0"/>
              <a:t>Arithmetic operators - +,-,*,/,%,**,//</a:t>
            </a:r>
          </a:p>
          <a:p>
            <a:r>
              <a:rPr lang="en-US" sz="2400" dirty="0"/>
              <a:t>Assignment operators - =,+=,-=, /=,*=,%=</a:t>
            </a:r>
          </a:p>
          <a:p>
            <a:r>
              <a:rPr lang="en-US" sz="2400" dirty="0"/>
              <a:t>Comparison operators - &gt;,&lt;,&gt;=,&lt;=,!=</a:t>
            </a:r>
          </a:p>
          <a:p>
            <a:r>
              <a:rPr lang="en-US" sz="2400" dirty="0"/>
              <a:t>Logical operators – and, or, not</a:t>
            </a:r>
          </a:p>
          <a:p>
            <a:r>
              <a:rPr lang="en-US" sz="2400" dirty="0"/>
              <a:t>Identity operators – is, is not</a:t>
            </a:r>
          </a:p>
          <a:p>
            <a:r>
              <a:rPr lang="en-US" sz="2400" dirty="0"/>
              <a:t>Membership operators – in, not in</a:t>
            </a:r>
          </a:p>
          <a:p>
            <a:r>
              <a:rPr lang="en-US" sz="2400" dirty="0"/>
              <a:t>Bitwise operators - &lt;&lt;, &gt;&gt; , ~</a:t>
            </a:r>
          </a:p>
          <a:p>
            <a:endParaRPr lang="en-US" sz="2400" dirty="0"/>
          </a:p>
        </p:txBody>
      </p:sp>
      <p:sp>
        <p:nvSpPr>
          <p:cNvPr id="4" name="Slide Number Placeholder 3">
            <a:extLst>
              <a:ext uri="{FF2B5EF4-FFF2-40B4-BE49-F238E27FC236}">
                <a16:creationId xmlns:a16="http://schemas.microsoft.com/office/drawing/2014/main" id="{021422F0-76D1-BA47-27DB-6EC9C1A0D9F8}"/>
              </a:ext>
            </a:extLst>
          </p:cNvPr>
          <p:cNvSpPr>
            <a:spLocks noGrp="1"/>
          </p:cNvSpPr>
          <p:nvPr>
            <p:ph type="sldNum" sz="quarter" idx="12"/>
          </p:nvPr>
        </p:nvSpPr>
        <p:spPr/>
        <p:txBody>
          <a:bodyPr/>
          <a:lstStyle/>
          <a:p>
            <a:fld id="{CBD12358-51D2-46B3-9BDE-DF29528B9454}" type="slidenum">
              <a:rPr lang="en-US" smtClean="0"/>
              <a:t>43</a:t>
            </a:fld>
            <a:endParaRPr lang="en-US" dirty="0"/>
          </a:p>
        </p:txBody>
      </p:sp>
    </p:spTree>
    <p:extLst>
      <p:ext uri="{BB962C8B-B14F-4D97-AF65-F5344CB8AC3E}">
        <p14:creationId xmlns:p14="http://schemas.microsoft.com/office/powerpoint/2010/main" val="27912472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388FB-D6C5-DF24-A8C7-1FF49D3353F2}"/>
              </a:ext>
            </a:extLst>
          </p:cNvPr>
          <p:cNvSpPr>
            <a:spLocks noGrp="1"/>
          </p:cNvSpPr>
          <p:nvPr>
            <p:ph type="title"/>
          </p:nvPr>
        </p:nvSpPr>
        <p:spPr/>
        <p:txBody>
          <a:bodyPr/>
          <a:lstStyle/>
          <a:p>
            <a:r>
              <a:rPr lang="en-US" dirty="0"/>
              <a:t>Python Numbers</a:t>
            </a:r>
          </a:p>
        </p:txBody>
      </p:sp>
      <p:sp>
        <p:nvSpPr>
          <p:cNvPr id="3" name="Content Placeholder 2">
            <a:extLst>
              <a:ext uri="{FF2B5EF4-FFF2-40B4-BE49-F238E27FC236}">
                <a16:creationId xmlns:a16="http://schemas.microsoft.com/office/drawing/2014/main" id="{E86E5B00-CB5E-764C-B819-6CF7127F0E9F}"/>
              </a:ext>
            </a:extLst>
          </p:cNvPr>
          <p:cNvSpPr>
            <a:spLocks noGrp="1"/>
          </p:cNvSpPr>
          <p:nvPr>
            <p:ph idx="14"/>
          </p:nvPr>
        </p:nvSpPr>
        <p:spPr/>
        <p:txBody>
          <a:bodyPr>
            <a:normAutofit/>
          </a:bodyPr>
          <a:lstStyle/>
          <a:p>
            <a:pPr marL="0" indent="0">
              <a:buNone/>
            </a:pPr>
            <a:r>
              <a:rPr lang="en-US" sz="2800" dirty="0"/>
              <a:t>int</a:t>
            </a:r>
          </a:p>
          <a:p>
            <a:pPr marL="0" indent="0">
              <a:buNone/>
            </a:pPr>
            <a:r>
              <a:rPr lang="en-US" sz="2800" dirty="0"/>
              <a:t>float</a:t>
            </a:r>
          </a:p>
          <a:p>
            <a:pPr marL="0" indent="0">
              <a:buNone/>
            </a:pPr>
            <a:r>
              <a:rPr lang="en-US" sz="2800" dirty="0"/>
              <a:t>complex</a:t>
            </a:r>
          </a:p>
        </p:txBody>
      </p:sp>
      <p:sp>
        <p:nvSpPr>
          <p:cNvPr id="4" name="Slide Number Placeholder 3">
            <a:extLst>
              <a:ext uri="{FF2B5EF4-FFF2-40B4-BE49-F238E27FC236}">
                <a16:creationId xmlns:a16="http://schemas.microsoft.com/office/drawing/2014/main" id="{46EC28D4-2558-E8CE-965A-3B28C1405873}"/>
              </a:ext>
            </a:extLst>
          </p:cNvPr>
          <p:cNvSpPr>
            <a:spLocks noGrp="1"/>
          </p:cNvSpPr>
          <p:nvPr>
            <p:ph type="sldNum" sz="quarter" idx="12"/>
          </p:nvPr>
        </p:nvSpPr>
        <p:spPr/>
        <p:txBody>
          <a:bodyPr/>
          <a:lstStyle/>
          <a:p>
            <a:fld id="{CBD12358-51D2-46B3-9BDE-DF29528B9454}" type="slidenum">
              <a:rPr lang="en-US" smtClean="0"/>
              <a:t>44</a:t>
            </a:fld>
            <a:endParaRPr lang="en-US" dirty="0"/>
          </a:p>
        </p:txBody>
      </p:sp>
    </p:spTree>
    <p:extLst>
      <p:ext uri="{BB962C8B-B14F-4D97-AF65-F5344CB8AC3E}">
        <p14:creationId xmlns:p14="http://schemas.microsoft.com/office/powerpoint/2010/main" val="16267416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2D1B5-D4CC-0615-7EE1-F73645C2490B}"/>
              </a:ext>
            </a:extLst>
          </p:cNvPr>
          <p:cNvSpPr>
            <a:spLocks noGrp="1"/>
          </p:cNvSpPr>
          <p:nvPr>
            <p:ph type="title"/>
          </p:nvPr>
        </p:nvSpPr>
        <p:spPr/>
        <p:txBody>
          <a:bodyPr/>
          <a:lstStyle/>
          <a:p>
            <a:r>
              <a:rPr lang="en-US" dirty="0"/>
              <a:t>Python Boolean</a:t>
            </a:r>
          </a:p>
        </p:txBody>
      </p:sp>
      <p:sp>
        <p:nvSpPr>
          <p:cNvPr id="3" name="Content Placeholder 2">
            <a:extLst>
              <a:ext uri="{FF2B5EF4-FFF2-40B4-BE49-F238E27FC236}">
                <a16:creationId xmlns:a16="http://schemas.microsoft.com/office/drawing/2014/main" id="{F6AC0A93-507D-153E-51BE-B6467C4C3FE4}"/>
              </a:ext>
            </a:extLst>
          </p:cNvPr>
          <p:cNvSpPr>
            <a:spLocks noGrp="1"/>
          </p:cNvSpPr>
          <p:nvPr>
            <p:ph idx="14"/>
          </p:nvPr>
        </p:nvSpPr>
        <p:spPr/>
        <p:txBody>
          <a:bodyPr>
            <a:normAutofit/>
          </a:bodyPr>
          <a:lstStyle/>
          <a:p>
            <a:pPr marL="0" indent="0">
              <a:buNone/>
            </a:pPr>
            <a:r>
              <a:rPr lang="en-US" sz="3200" dirty="0"/>
              <a:t>print(10 &gt; 9)</a:t>
            </a:r>
            <a:br>
              <a:rPr lang="en-US" sz="3200" dirty="0"/>
            </a:br>
            <a:r>
              <a:rPr lang="en-US" sz="3200" dirty="0"/>
              <a:t>print(10 == 9)</a:t>
            </a:r>
            <a:br>
              <a:rPr lang="en-US" sz="3200" dirty="0"/>
            </a:br>
            <a:r>
              <a:rPr lang="en-US" sz="3200" dirty="0"/>
              <a:t>print(10 &lt; 9)</a:t>
            </a:r>
          </a:p>
        </p:txBody>
      </p:sp>
      <p:sp>
        <p:nvSpPr>
          <p:cNvPr id="4" name="Slide Number Placeholder 3">
            <a:extLst>
              <a:ext uri="{FF2B5EF4-FFF2-40B4-BE49-F238E27FC236}">
                <a16:creationId xmlns:a16="http://schemas.microsoft.com/office/drawing/2014/main" id="{9677D8C2-DA0B-0F0E-F3D1-2ABF07F05177}"/>
              </a:ext>
            </a:extLst>
          </p:cNvPr>
          <p:cNvSpPr>
            <a:spLocks noGrp="1"/>
          </p:cNvSpPr>
          <p:nvPr>
            <p:ph type="sldNum" sz="quarter" idx="12"/>
          </p:nvPr>
        </p:nvSpPr>
        <p:spPr/>
        <p:txBody>
          <a:bodyPr/>
          <a:lstStyle/>
          <a:p>
            <a:fld id="{CBD12358-51D2-46B3-9BDE-DF29528B9454}" type="slidenum">
              <a:rPr lang="en-US" smtClean="0"/>
              <a:t>45</a:t>
            </a:fld>
            <a:endParaRPr lang="en-US" dirty="0"/>
          </a:p>
        </p:txBody>
      </p:sp>
    </p:spTree>
    <p:extLst>
      <p:ext uri="{BB962C8B-B14F-4D97-AF65-F5344CB8AC3E}">
        <p14:creationId xmlns:p14="http://schemas.microsoft.com/office/powerpoint/2010/main" val="40462804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C07EF-FCA1-2BA5-0FA9-A2AC478CB2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F8E314-62AE-1E4C-AA27-36C1A7AB814F}"/>
              </a:ext>
            </a:extLst>
          </p:cNvPr>
          <p:cNvSpPr>
            <a:spLocks noGrp="1"/>
          </p:cNvSpPr>
          <p:nvPr>
            <p:ph idx="14"/>
          </p:nvPr>
        </p:nvSpPr>
        <p:spPr/>
        <p:txBody>
          <a:bodyPr/>
          <a:lstStyle/>
          <a:p>
            <a:endParaRPr lang="en-US"/>
          </a:p>
        </p:txBody>
      </p:sp>
      <p:sp>
        <p:nvSpPr>
          <p:cNvPr id="4" name="Slide Number Placeholder 3">
            <a:extLst>
              <a:ext uri="{FF2B5EF4-FFF2-40B4-BE49-F238E27FC236}">
                <a16:creationId xmlns:a16="http://schemas.microsoft.com/office/drawing/2014/main" id="{9AB7D7AE-66D6-92EE-4C36-21CA254C0E29}"/>
              </a:ext>
            </a:extLst>
          </p:cNvPr>
          <p:cNvSpPr>
            <a:spLocks noGrp="1"/>
          </p:cNvSpPr>
          <p:nvPr>
            <p:ph type="sldNum" sz="quarter" idx="12"/>
          </p:nvPr>
        </p:nvSpPr>
        <p:spPr/>
        <p:txBody>
          <a:bodyPr/>
          <a:lstStyle/>
          <a:p>
            <a:fld id="{CBD12358-51D2-46B3-9BDE-DF29528B9454}" type="slidenum">
              <a:rPr lang="en-US" smtClean="0"/>
              <a:t>46</a:t>
            </a:fld>
            <a:endParaRPr lang="en-US" dirty="0"/>
          </a:p>
        </p:txBody>
      </p:sp>
    </p:spTree>
    <p:extLst>
      <p:ext uri="{BB962C8B-B14F-4D97-AF65-F5344CB8AC3E}">
        <p14:creationId xmlns:p14="http://schemas.microsoft.com/office/powerpoint/2010/main" val="2683869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Dr. Rakhee Chhibber</a:t>
            </a:r>
          </a:p>
          <a:p>
            <a:r>
              <a:rPr lang="en-US" dirty="0"/>
              <a:t>Rakhee.chhibber@hcltech.com</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3467</TotalTime>
  <Words>2463</Words>
  <Application>Microsoft Office PowerPoint</Application>
  <PresentationFormat>Widescreen</PresentationFormat>
  <Paragraphs>433</Paragraphs>
  <Slides>47</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47</vt:i4>
      </vt:variant>
    </vt:vector>
  </HeadingPairs>
  <TitlesOfParts>
    <vt:vector size="59" baseType="lpstr">
      <vt:lpstr>等线</vt:lpstr>
      <vt:lpstr>Abadi</vt:lpstr>
      <vt:lpstr>Aptos</vt:lpstr>
      <vt:lpstr>Aptos Narrow</vt:lpstr>
      <vt:lpstr>Arial</vt:lpstr>
      <vt:lpstr>Arial Unicode MS</vt:lpstr>
      <vt:lpstr>Calibri</vt:lpstr>
      <vt:lpstr>Courier New</vt:lpstr>
      <vt:lpstr>Google Sans</vt:lpstr>
      <vt:lpstr>Posterama</vt:lpstr>
      <vt:lpstr>Posterama Text SemiBold</vt:lpstr>
      <vt:lpstr>Custom</vt:lpstr>
      <vt:lpstr>Introduction To Python  Session 1-PART 1</vt:lpstr>
      <vt:lpstr>Agenda </vt:lpstr>
      <vt:lpstr>What is Python?</vt:lpstr>
      <vt:lpstr>PowerPoint Presentation</vt:lpstr>
      <vt:lpstr>History of Python</vt:lpstr>
      <vt:lpstr>Flavors of Python</vt:lpstr>
      <vt:lpstr>PowerPoint Presentation</vt:lpstr>
      <vt:lpstr>Python Virtual Machine</vt:lpstr>
      <vt:lpstr>Execution of Python Program</vt:lpstr>
      <vt:lpstr>Viewing The Bytecode</vt:lpstr>
      <vt:lpstr>Frozen Binaries</vt:lpstr>
      <vt:lpstr>🔐 What's Included in a Frozen Binary?</vt:lpstr>
      <vt:lpstr>⚠️ Limitations</vt:lpstr>
      <vt:lpstr>Memory Management in Python</vt:lpstr>
      <vt:lpstr>Memory Allocation in Python</vt:lpstr>
      <vt:lpstr>🧠 1. Stack Memory  (for function execution)</vt:lpstr>
      <vt:lpstr> def add(a, b):     result = a + b     return result  sum = add(2, 3) </vt:lpstr>
      <vt:lpstr>🗂️ 2. Heap Memory-(for object storage)</vt:lpstr>
      <vt:lpstr> my_list = [1, 2, 3] </vt:lpstr>
      <vt:lpstr>Difference between Stack and Heap Memory</vt:lpstr>
      <vt:lpstr>Memory Management Components </vt:lpstr>
      <vt:lpstr> 1. Private Heap - All Python objects and data structures are stored which is managed internally by Python and not accessible directly by the programmer.   2. Python Memory Manager - Controls the allocation and deallocation of memory in the private heap and Automatically assigns memory to variables and releases it when no longer needed. Works closely with the garbage collector.   3. Raw Memory Allocator - Interfaces directly with the Operating System. Reserves memory blocks in the private heap. It’s a low-level component ensuring enough space is available.</vt:lpstr>
      <vt:lpstr>PowerPoint Presentation</vt:lpstr>
      <vt:lpstr>🧮 Comparison : Python vs C</vt:lpstr>
      <vt:lpstr>🧮 Comparison : Python vs Java</vt:lpstr>
      <vt:lpstr>Installation and Writing Our First Python Program</vt:lpstr>
      <vt:lpstr>Installing Python for Windows Testing the Installation in Windows 11 Installing pycharm Setting the Path to Python Writing Our First Python Program Getting Python Documentation Help Executing a Python Program Getting Help in Python Reopening the Python Program in IDLE </vt:lpstr>
      <vt:lpstr>https://python.land/installing-python</vt:lpstr>
      <vt:lpstr>https://www.jetbrains.com/pycharm/download/?section=windows</vt:lpstr>
      <vt:lpstr>Check the python version</vt:lpstr>
      <vt:lpstr>PowerPoint Presentation</vt:lpstr>
      <vt:lpstr>PowerPoint Presentation</vt:lpstr>
      <vt:lpstr>PowerPoint Presentation</vt:lpstr>
      <vt:lpstr>Data Types</vt:lpstr>
      <vt:lpstr>Agenda </vt:lpstr>
      <vt:lpstr>Python Program Syntax</vt:lpstr>
      <vt:lpstr>Python Comments</vt:lpstr>
      <vt:lpstr>Continuation of Statements</vt:lpstr>
      <vt:lpstr>Data Types &amp; Variables </vt:lpstr>
      <vt:lpstr>- Getting Type of Variable – type() - Typecasting </vt:lpstr>
      <vt:lpstr>Python vs C/C++ Variables</vt:lpstr>
      <vt:lpstr>Object Reference in python</vt:lpstr>
      <vt:lpstr>Operators</vt:lpstr>
      <vt:lpstr>Python Numbers</vt:lpstr>
      <vt:lpstr>Python Boolean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13</cp:revision>
  <dcterms:created xsi:type="dcterms:W3CDTF">2025-08-08T14:20:17Z</dcterms:created>
  <dcterms:modified xsi:type="dcterms:W3CDTF">2025-08-11T07:03:41Z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