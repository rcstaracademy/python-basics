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handoutMasterIdLst>
    <p:handoutMasterId r:id="rId72"/>
  </p:handoutMasterIdLst>
  <p:sldIdLst>
    <p:sldId id="256" r:id="rId2"/>
    <p:sldId id="277" r:id="rId3"/>
    <p:sldId id="265" r:id="rId4"/>
    <p:sldId id="276" r:id="rId5"/>
    <p:sldId id="280" r:id="rId6"/>
    <p:sldId id="281" r:id="rId7"/>
    <p:sldId id="282" r:id="rId8"/>
    <p:sldId id="283" r:id="rId9"/>
    <p:sldId id="284" r:id="rId10"/>
    <p:sldId id="285" r:id="rId11"/>
    <p:sldId id="286" r:id="rId12"/>
    <p:sldId id="287" r:id="rId13"/>
    <p:sldId id="288" r:id="rId14"/>
    <p:sldId id="289" r:id="rId15"/>
    <p:sldId id="292" r:id="rId16"/>
    <p:sldId id="293" r:id="rId17"/>
    <p:sldId id="294" r:id="rId18"/>
    <p:sldId id="295" r:id="rId19"/>
    <p:sldId id="296" r:id="rId20"/>
    <p:sldId id="297" r:id="rId21"/>
    <p:sldId id="304" r:id="rId22"/>
    <p:sldId id="298" r:id="rId23"/>
    <p:sldId id="299" r:id="rId24"/>
    <p:sldId id="300" r:id="rId25"/>
    <p:sldId id="305" r:id="rId26"/>
    <p:sldId id="301" r:id="rId27"/>
    <p:sldId id="302" r:id="rId28"/>
    <p:sldId id="303" r:id="rId29"/>
    <p:sldId id="306" r:id="rId30"/>
    <p:sldId id="307" r:id="rId31"/>
    <p:sldId id="308" r:id="rId32"/>
    <p:sldId id="309" r:id="rId33"/>
    <p:sldId id="310" r:id="rId34"/>
    <p:sldId id="290" r:id="rId35"/>
    <p:sldId id="291" r:id="rId36"/>
    <p:sldId id="278" r:id="rId37"/>
    <p:sldId id="279" r:id="rId38"/>
    <p:sldId id="311" r:id="rId39"/>
    <p:sldId id="312" r:id="rId40"/>
    <p:sldId id="313" r:id="rId41"/>
    <p:sldId id="314" r:id="rId42"/>
    <p:sldId id="315" r:id="rId43"/>
    <p:sldId id="316" r:id="rId44"/>
    <p:sldId id="317" r:id="rId45"/>
    <p:sldId id="318" r:id="rId46"/>
    <p:sldId id="320" r:id="rId47"/>
    <p:sldId id="321" r:id="rId48"/>
    <p:sldId id="322" r:id="rId49"/>
    <p:sldId id="323" r:id="rId50"/>
    <p:sldId id="324" r:id="rId51"/>
    <p:sldId id="325" r:id="rId52"/>
    <p:sldId id="326" r:id="rId53"/>
    <p:sldId id="327" r:id="rId54"/>
    <p:sldId id="328" r:id="rId55"/>
    <p:sldId id="329" r:id="rId56"/>
    <p:sldId id="330" r:id="rId57"/>
    <p:sldId id="331"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0" d="100"/>
          <a:sy n="60" d="100"/>
        </p:scale>
        <p:origin x="840" y="44"/>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8/21/2025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8/21/2025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9886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8/21/2025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8/21/2025</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t>8/21/2025</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t>8/21/2025</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t>8/21/2025</a:t>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14681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endParaRPr lang="en-US" dirty="0"/>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8/21/2025</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a:t>Click to edit Master title style</a:t>
            </a:r>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8/21/2025</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9772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8/21/2025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8/21/2025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dirty="0"/>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pPr/>
              <a:t>8/21/2025</a:t>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python/python-lists/" TargetMode="External"/><Relationship Id="rId2" Type="http://schemas.openxmlformats.org/officeDocument/2006/relationships/hyperlink" Target="https://www.geeksforgeeks.org/dsa/hashing-data-structur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cs.python.org/3/library/stdtypes.html#set" TargetMode="External"/><Relationship Id="rId2" Type="http://schemas.openxmlformats.org/officeDocument/2006/relationships/hyperlink" Target="https://realpython.com/ref/glossary/literal/" TargetMode="External"/><Relationship Id="rId1" Type="http://schemas.openxmlformats.org/officeDocument/2006/relationships/slideLayout" Target="../slideLayouts/slideLayout2.xml"/><Relationship Id="rId4" Type="http://schemas.openxmlformats.org/officeDocument/2006/relationships/hyperlink" Target="https://realpython.com/python-set-comprehens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realpython.com/python-list/" TargetMode="External"/><Relationship Id="rId7" Type="http://schemas.openxmlformats.org/officeDocument/2006/relationships/hyperlink" Target="https://realpython.com/python-set-comprehension/#filtering-items-from-sets" TargetMode="External"/><Relationship Id="rId2" Type="http://schemas.openxmlformats.org/officeDocument/2006/relationships/hyperlink" Target="https://realpython.com/list-comprehension-python/" TargetMode="External"/><Relationship Id="rId1" Type="http://schemas.openxmlformats.org/officeDocument/2006/relationships/slideLayout" Target="../slideLayouts/slideLayout2.xml"/><Relationship Id="rId6" Type="http://schemas.openxmlformats.org/officeDocument/2006/relationships/hyperlink" Target="https://realpython.com/introduction-to-python-generators/" TargetMode="External"/><Relationship Id="rId5" Type="http://schemas.openxmlformats.org/officeDocument/2006/relationships/hyperlink" Target="https://realpython.com/python-sets/" TargetMode="External"/><Relationship Id="rId4" Type="http://schemas.openxmlformats.org/officeDocument/2006/relationships/hyperlink" Target="https://realpython.com/python-tupl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docs.python.org/3/library/stdtypes.html#frozenset.issubset"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docs.python.org/3/library/stdtypes.html#frozenset.issuperset"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realpython.com/python-hash-table/" TargetMode="External"/><Relationship Id="rId2" Type="http://schemas.openxmlformats.org/officeDocument/2006/relationships/hyperlink" Target="https://en.wikipedia.org/wiki/In-place_algorithm" TargetMode="External"/><Relationship Id="rId1" Type="http://schemas.openxmlformats.org/officeDocument/2006/relationships/slideLayout" Target="../slideLayouts/slideLayout2.xml"/><Relationship Id="rId5" Type="http://schemas.openxmlformats.org/officeDocument/2006/relationships/hyperlink" Target="https://realpython.com/python37-new-features/#the-order-of-dictionaries-is-guaranteed" TargetMode="External"/><Relationship Id="rId4" Type="http://schemas.openxmlformats.org/officeDocument/2006/relationships/hyperlink" Target="https://realpython.com/python37-new-feature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geeksforgeeks.org/python/python-dictionary-pop-method/" TargetMode="External"/><Relationship Id="rId2" Type="http://schemas.openxmlformats.org/officeDocument/2006/relationships/hyperlink" Target="https://www.geeksforgeeks.org/python/python-del-to-delete-objects/" TargetMode="External"/><Relationship Id="rId1" Type="http://schemas.openxmlformats.org/officeDocument/2006/relationships/slideLayout" Target="../slideLayouts/slideLayout2.xml"/><Relationship Id="rId5" Type="http://schemas.openxmlformats.org/officeDocument/2006/relationships/hyperlink" Target="https://www.geeksforgeeks.org/python/python-dictionary-popitem-method/" TargetMode="External"/><Relationship Id="rId4" Type="http://schemas.openxmlformats.org/officeDocument/2006/relationships/hyperlink" Target="https://www.geeksforgeeks.org/python/python-dictionary-clear/"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Sets and Dictionaries</a:t>
            </a:r>
            <a:endParaRPr dirty="0"/>
          </a:p>
        </p:txBody>
      </p:sp>
      <p:sp>
        <p:nvSpPr>
          <p:cNvPr id="3" name="Subtitle 2"/>
          <p:cNvSpPr>
            <a:spLocks noGrp="1"/>
          </p:cNvSpPr>
          <p:nvPr>
            <p:ph type="subTitle" idx="1"/>
          </p:nvPr>
        </p:nvSpPr>
        <p:spPr/>
        <p:txBody>
          <a:bodyPr/>
          <a:lstStyle/>
          <a:p>
            <a:r>
              <a:rPr lang="en-US" dirty="0"/>
              <a:t>Dr. Rakhee Chhibber</a:t>
            </a:r>
            <a:endParaRPr dirty="0"/>
          </a:p>
        </p:txBody>
      </p:sp>
    </p:spTree>
    <p:extLst>
      <p:ext uri="{BB962C8B-B14F-4D97-AF65-F5344CB8AC3E}">
        <p14:creationId xmlns:p14="http://schemas.microsoft.com/office/powerpoint/2010/main" val="24245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58B91-8A6A-0BCE-0C93-35AF91DC3EA7}"/>
              </a:ext>
            </a:extLst>
          </p:cNvPr>
          <p:cNvSpPr>
            <a:spLocks noGrp="1"/>
          </p:cNvSpPr>
          <p:nvPr>
            <p:ph type="ctrTitle"/>
          </p:nvPr>
        </p:nvSpPr>
        <p:spPr/>
        <p:txBody>
          <a:bodyPr/>
          <a:lstStyle/>
          <a:p>
            <a:r>
              <a:rPr lang="en-US" dirty="0"/>
              <a:t>Sets – part 1</a:t>
            </a:r>
          </a:p>
        </p:txBody>
      </p:sp>
    </p:spTree>
    <p:extLst>
      <p:ext uri="{BB962C8B-B14F-4D97-AF65-F5344CB8AC3E}">
        <p14:creationId xmlns:p14="http://schemas.microsoft.com/office/powerpoint/2010/main" val="2222203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04507" y="228600"/>
            <a:ext cx="9144000" cy="762000"/>
          </a:xfrm>
        </p:spPr>
        <p:txBody>
          <a:bodyPr/>
          <a:lstStyle/>
          <a:p>
            <a:r>
              <a:rPr lang="en-US" dirty="0"/>
              <a:t>Agenda</a:t>
            </a:r>
            <a:endParaRPr dirty="0"/>
          </a:p>
        </p:txBody>
      </p:sp>
      <p:sp>
        <p:nvSpPr>
          <p:cNvPr id="14" name="Content Placeholder 13"/>
          <p:cNvSpPr>
            <a:spLocks noGrp="1"/>
          </p:cNvSpPr>
          <p:nvPr>
            <p:ph idx="1"/>
          </p:nvPr>
        </p:nvSpPr>
        <p:spPr>
          <a:xfrm>
            <a:off x="1524000" y="1219200"/>
            <a:ext cx="9144000" cy="4876800"/>
          </a:xfrm>
        </p:spPr>
        <p:txBody>
          <a:bodyPr>
            <a:noAutofit/>
          </a:bodyPr>
          <a:lstStyle/>
          <a:p>
            <a:pPr fontAlgn="ctr">
              <a:lnSpc>
                <a:spcPct val="100000"/>
              </a:lnSpc>
              <a:spcBef>
                <a:spcPts val="0"/>
              </a:spcBef>
            </a:pPr>
            <a:r>
              <a:rPr lang="en-US" sz="2800" dirty="0"/>
              <a:t>What is set?</a:t>
            </a:r>
          </a:p>
          <a:p>
            <a:pPr fontAlgn="ctr">
              <a:lnSpc>
                <a:spcPct val="100000"/>
              </a:lnSpc>
              <a:spcBef>
                <a:spcPts val="0"/>
              </a:spcBef>
            </a:pPr>
            <a:r>
              <a:rPr lang="en-US" sz="2800" dirty="0"/>
              <a:t>Different ways of creating set</a:t>
            </a:r>
          </a:p>
          <a:p>
            <a:pPr fontAlgn="ctr">
              <a:lnSpc>
                <a:spcPct val="100000"/>
              </a:lnSpc>
              <a:spcBef>
                <a:spcPts val="0"/>
              </a:spcBef>
            </a:pPr>
            <a:r>
              <a:rPr lang="en-US" sz="2800" dirty="0"/>
              <a:t>Difference between list and set</a:t>
            </a:r>
          </a:p>
          <a:p>
            <a:pPr fontAlgn="ctr">
              <a:lnSpc>
                <a:spcPct val="100000"/>
              </a:lnSpc>
              <a:spcBef>
                <a:spcPts val="0"/>
              </a:spcBef>
            </a:pPr>
            <a:r>
              <a:rPr lang="en-US" sz="2800" dirty="0"/>
              <a:t>Iteration Over Sets</a:t>
            </a:r>
          </a:p>
          <a:p>
            <a:pPr fontAlgn="ctr">
              <a:lnSpc>
                <a:spcPct val="100000"/>
              </a:lnSpc>
              <a:spcBef>
                <a:spcPts val="0"/>
              </a:spcBef>
            </a:pPr>
            <a:r>
              <a:rPr lang="en-US" sz="2800" dirty="0"/>
              <a:t>Accessing elements of set</a:t>
            </a:r>
          </a:p>
          <a:p>
            <a:pPr fontAlgn="ctr">
              <a:lnSpc>
                <a:spcPct val="100000"/>
              </a:lnSpc>
              <a:spcBef>
                <a:spcPts val="0"/>
              </a:spcBef>
            </a:pPr>
            <a:r>
              <a:rPr lang="en-US" sz="2800" dirty="0"/>
              <a:t>Python Set Methods</a:t>
            </a:r>
          </a:p>
          <a:p>
            <a:pPr fontAlgn="ctr">
              <a:lnSpc>
                <a:spcPct val="100000"/>
              </a:lnSpc>
              <a:spcBef>
                <a:spcPts val="0"/>
              </a:spcBef>
            </a:pPr>
            <a:r>
              <a:rPr lang="en-US" sz="2800" dirty="0"/>
              <a:t>Python Set Operations</a:t>
            </a:r>
          </a:p>
          <a:p>
            <a:pPr fontAlgn="ctr">
              <a:lnSpc>
                <a:spcPct val="100000"/>
              </a:lnSpc>
              <a:spcBef>
                <a:spcPts val="0"/>
              </a:spcBef>
            </a:pPr>
            <a:r>
              <a:rPr lang="en-US" sz="2800" dirty="0"/>
              <a:t>Union of sets</a:t>
            </a:r>
          </a:p>
          <a:p>
            <a:pPr fontAlgn="ctr">
              <a:lnSpc>
                <a:spcPct val="100000"/>
              </a:lnSpc>
              <a:spcBef>
                <a:spcPts val="0"/>
              </a:spcBef>
            </a:pPr>
            <a:r>
              <a:rPr lang="en-US" sz="2800" dirty="0"/>
              <a:t>functions and methods of set</a:t>
            </a:r>
          </a:p>
          <a:p>
            <a:pPr fontAlgn="ctr">
              <a:lnSpc>
                <a:spcPct val="100000"/>
              </a:lnSpc>
              <a:spcBef>
                <a:spcPts val="0"/>
              </a:spcBef>
            </a:pPr>
            <a:r>
              <a:rPr lang="en-US" sz="2800" dirty="0"/>
              <a:t>Python Frozen set</a:t>
            </a:r>
          </a:p>
          <a:p>
            <a:pPr fontAlgn="ctr">
              <a:lnSpc>
                <a:spcPct val="100000"/>
              </a:lnSpc>
              <a:spcBef>
                <a:spcPts val="0"/>
              </a:spcBef>
            </a:pPr>
            <a:r>
              <a:rPr lang="en-US" sz="2800" dirty="0"/>
              <a:t>Difference between set and </a:t>
            </a:r>
            <a:r>
              <a:rPr lang="en-US" sz="2800" dirty="0" err="1"/>
              <a:t>frozenset</a:t>
            </a:r>
            <a:r>
              <a:rPr lang="en-US" sz="2800" dirty="0"/>
              <a:t> ?</a:t>
            </a:r>
          </a:p>
          <a:p>
            <a:pPr fontAlgn="ctr">
              <a:lnSpc>
                <a:spcPct val="100000"/>
              </a:lnSpc>
              <a:spcBef>
                <a:spcPts val="0"/>
              </a:spcBef>
            </a:pPr>
            <a:r>
              <a:rPr lang="en-US" sz="2800" dirty="0"/>
              <a:t>Set Comprehension</a:t>
            </a:r>
          </a:p>
        </p:txBody>
      </p:sp>
    </p:spTree>
    <p:extLst>
      <p:ext uri="{BB962C8B-B14F-4D97-AF65-F5344CB8AC3E}">
        <p14:creationId xmlns:p14="http://schemas.microsoft.com/office/powerpoint/2010/main" val="3042826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CDF19-9A88-685F-E536-1B84CC7BA9A1}"/>
              </a:ext>
            </a:extLst>
          </p:cNvPr>
          <p:cNvSpPr>
            <a:spLocks noGrp="1"/>
          </p:cNvSpPr>
          <p:nvPr>
            <p:ph type="title"/>
          </p:nvPr>
        </p:nvSpPr>
        <p:spPr>
          <a:xfrm>
            <a:off x="1506279" y="0"/>
            <a:ext cx="9144000" cy="1066800"/>
          </a:xfrm>
        </p:spPr>
        <p:txBody>
          <a:bodyPr>
            <a:normAutofit/>
          </a:bodyPr>
          <a:lstStyle/>
          <a:p>
            <a:r>
              <a:rPr lang="en-US" sz="4000" dirty="0"/>
              <a:t>What is Set?</a:t>
            </a:r>
          </a:p>
        </p:txBody>
      </p:sp>
      <p:sp>
        <p:nvSpPr>
          <p:cNvPr id="3" name="Content Placeholder 2">
            <a:extLst>
              <a:ext uri="{FF2B5EF4-FFF2-40B4-BE49-F238E27FC236}">
                <a16:creationId xmlns:a16="http://schemas.microsoft.com/office/drawing/2014/main" id="{DECBD6D5-C595-7196-026F-76E7679A4801}"/>
              </a:ext>
            </a:extLst>
          </p:cNvPr>
          <p:cNvSpPr>
            <a:spLocks noGrp="1"/>
          </p:cNvSpPr>
          <p:nvPr>
            <p:ph idx="1"/>
          </p:nvPr>
        </p:nvSpPr>
        <p:spPr>
          <a:xfrm>
            <a:off x="990600" y="1295400"/>
            <a:ext cx="10058400" cy="5029200"/>
          </a:xfrm>
        </p:spPr>
        <p:txBody>
          <a:bodyPr>
            <a:normAutofit/>
          </a:bodyPr>
          <a:lstStyle/>
          <a:p>
            <a:pPr marL="0" indent="0" fontAlgn="base">
              <a:buNone/>
            </a:pPr>
            <a:r>
              <a:rPr lang="en-US" sz="2400" dirty="0"/>
              <a:t>A Set in Python is used to store a collection of items with the following properties.</a:t>
            </a:r>
          </a:p>
          <a:p>
            <a:pPr lvl="1" fontAlgn="base"/>
            <a:r>
              <a:rPr lang="en-US" sz="2400" dirty="0"/>
              <a:t>No duplicate elements. If try to insert the same item again, it overwrites previous one.</a:t>
            </a:r>
          </a:p>
          <a:p>
            <a:pPr lvl="1" fontAlgn="base"/>
            <a:r>
              <a:rPr lang="en-US" sz="2400" dirty="0"/>
              <a:t>An unordered collection. When we access all items, they are accessed without any specific order and we cannot access items using indexes as we do in lists.</a:t>
            </a:r>
          </a:p>
          <a:p>
            <a:pPr lvl="1" fontAlgn="base"/>
            <a:r>
              <a:rPr lang="en-US" sz="2400" dirty="0"/>
              <a:t>Internally use </a:t>
            </a:r>
            <a:r>
              <a:rPr lang="en-US" sz="2400" u="sng" dirty="0">
                <a:hlinkClick r:id="rId2"/>
              </a:rPr>
              <a:t>hashing</a:t>
            </a:r>
            <a:r>
              <a:rPr lang="en-US" sz="2400" dirty="0"/>
              <a:t> that makes set efficient for search, insert and delete operations. It gives a major advantage over a </a:t>
            </a:r>
            <a:r>
              <a:rPr lang="en-US" sz="2400" u="sng" dirty="0">
                <a:hlinkClick r:id="rId3"/>
              </a:rPr>
              <a:t>list</a:t>
            </a:r>
            <a:r>
              <a:rPr lang="en-US" sz="2400" dirty="0"/>
              <a:t> for problems with these operations.</a:t>
            </a:r>
          </a:p>
          <a:p>
            <a:pPr lvl="1" fontAlgn="base"/>
            <a:r>
              <a:rPr lang="en-US" sz="2400" dirty="0"/>
              <a:t>Mutable, meaning we can add or remove elements after their creation, the individual elements within the set cannot be changed directly</a:t>
            </a:r>
          </a:p>
          <a:p>
            <a:endParaRPr lang="en-US" sz="2400" dirty="0"/>
          </a:p>
        </p:txBody>
      </p:sp>
    </p:spTree>
    <p:extLst>
      <p:ext uri="{BB962C8B-B14F-4D97-AF65-F5344CB8AC3E}">
        <p14:creationId xmlns:p14="http://schemas.microsoft.com/office/powerpoint/2010/main" val="4031174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CBC6C-CF08-27C8-EF30-E9567278E317}"/>
              </a:ext>
            </a:extLst>
          </p:cNvPr>
          <p:cNvSpPr>
            <a:spLocks noGrp="1"/>
          </p:cNvSpPr>
          <p:nvPr>
            <p:ph type="title"/>
          </p:nvPr>
        </p:nvSpPr>
        <p:spPr/>
        <p:txBody>
          <a:bodyPr/>
          <a:lstStyle/>
          <a:p>
            <a:r>
              <a:rPr lang="en-US" dirty="0"/>
              <a:t>Creation of Sets</a:t>
            </a:r>
          </a:p>
        </p:txBody>
      </p:sp>
      <p:sp>
        <p:nvSpPr>
          <p:cNvPr id="3" name="Content Placeholder 2">
            <a:extLst>
              <a:ext uri="{FF2B5EF4-FFF2-40B4-BE49-F238E27FC236}">
                <a16:creationId xmlns:a16="http://schemas.microsoft.com/office/drawing/2014/main" id="{DE6A2457-E175-4EED-188B-9C2FE1AD772B}"/>
              </a:ext>
            </a:extLst>
          </p:cNvPr>
          <p:cNvSpPr>
            <a:spLocks noGrp="1"/>
          </p:cNvSpPr>
          <p:nvPr>
            <p:ph idx="1"/>
          </p:nvPr>
        </p:nvSpPr>
        <p:spPr/>
        <p:txBody>
          <a:bodyPr/>
          <a:lstStyle/>
          <a:p>
            <a:pPr eaLnBrk="0" fontAlgn="base" hangingPunct="0">
              <a:lnSpc>
                <a:spcPct val="100000"/>
              </a:lnSpc>
              <a:spcBef>
                <a:spcPct val="0"/>
              </a:spcBef>
              <a:spcAft>
                <a:spcPct val="0"/>
              </a:spcAft>
              <a:buClrTx/>
            </a:pPr>
            <a:endParaRPr lang="en-US" altLang="en-US" sz="2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FontTx/>
              <a:buChar char="•"/>
            </a:pPr>
            <a:r>
              <a:rPr lang="en-US" altLang="en-US" sz="2800" dirty="0">
                <a:solidFill>
                  <a:schemeClr val="tx1"/>
                </a:solidFill>
                <a:latin typeface="Source Sans Pro" panose="020B0503030403020204" pitchFamily="34" charset="0"/>
              </a:rPr>
              <a:t>Set </a:t>
            </a:r>
            <a:r>
              <a:rPr lang="en-US" altLang="en-US" sz="2800" dirty="0">
                <a:solidFill>
                  <a:schemeClr val="tx1"/>
                </a:solidFill>
                <a:latin typeface="Source Sans Pro" panose="020B0503030403020204" pitchFamily="34" charset="0"/>
                <a:hlinkClick r:id="rId2">
                  <a:extLst>
                    <a:ext uri="{A12FA001-AC4F-418D-AE19-62706E023703}">
                      <ahyp:hlinkClr xmlns:ahyp="http://schemas.microsoft.com/office/drawing/2018/hyperlinkcolor" val="tx"/>
                    </a:ext>
                  </a:extLst>
                </a:hlinkClick>
              </a:rPr>
              <a:t>literals</a:t>
            </a:r>
            <a:endParaRPr lang="en-US" altLang="en-US" sz="2800" dirty="0">
              <a:solidFill>
                <a:schemeClr val="tx1"/>
              </a:solidFill>
              <a:latin typeface="Source Sans Pro" panose="020B0503030403020204" pitchFamily="34" charset="0"/>
            </a:endParaRPr>
          </a:p>
          <a:p>
            <a:pPr marL="0" lvl="0" indent="0" eaLnBrk="0" fontAlgn="base" hangingPunct="0">
              <a:lnSpc>
                <a:spcPct val="100000"/>
              </a:lnSpc>
              <a:spcBef>
                <a:spcPct val="0"/>
              </a:spcBef>
              <a:spcAft>
                <a:spcPct val="0"/>
              </a:spcAft>
              <a:buClrTx/>
              <a:buFontTx/>
              <a:buChar char="•"/>
            </a:pPr>
            <a:r>
              <a:rPr lang="en-US" altLang="en-US" sz="2800" dirty="0">
                <a:solidFill>
                  <a:schemeClr val="tx1"/>
                </a:solidFill>
                <a:latin typeface="Source Sans Pro" panose="020B0503030403020204" pitchFamily="34" charset="0"/>
              </a:rPr>
              <a:t>The </a:t>
            </a:r>
            <a:r>
              <a:rPr lang="en-US" altLang="en-US" sz="2800" dirty="0">
                <a:solidFill>
                  <a:schemeClr val="tx1"/>
                </a:solidFill>
                <a:latin typeface="SFMono-Regular"/>
                <a:hlinkClick r:id="rId3">
                  <a:extLst>
                    <a:ext uri="{A12FA001-AC4F-418D-AE19-62706E023703}">
                      <ahyp:hlinkClr xmlns:ahyp="http://schemas.microsoft.com/office/drawing/2018/hyperlinkcolor" val="tx"/>
                    </a:ext>
                  </a:extLst>
                </a:hlinkClick>
              </a:rPr>
              <a:t>set()</a:t>
            </a:r>
            <a:r>
              <a:rPr lang="en-US" altLang="en-US" sz="2800" dirty="0">
                <a:solidFill>
                  <a:schemeClr val="tx1"/>
                </a:solidFill>
                <a:latin typeface="Source Sans Pro" panose="020B0503030403020204" pitchFamily="34" charset="0"/>
              </a:rPr>
              <a:t> constructor</a:t>
            </a:r>
          </a:p>
          <a:p>
            <a:pPr marL="0" lvl="0" indent="0" eaLnBrk="0" fontAlgn="base" hangingPunct="0">
              <a:lnSpc>
                <a:spcPct val="100000"/>
              </a:lnSpc>
              <a:spcBef>
                <a:spcPct val="0"/>
              </a:spcBef>
              <a:spcAft>
                <a:spcPct val="0"/>
              </a:spcAft>
              <a:buClrTx/>
              <a:buFontTx/>
              <a:buChar char="•"/>
            </a:pPr>
            <a:r>
              <a:rPr lang="en-US" altLang="en-US" sz="2800" dirty="0">
                <a:solidFill>
                  <a:schemeClr val="tx1"/>
                </a:solidFill>
                <a:latin typeface="Source Sans Pro" panose="020B0503030403020204" pitchFamily="34" charset="0"/>
              </a:rPr>
              <a:t>A </a:t>
            </a:r>
            <a:r>
              <a:rPr lang="en-US" altLang="en-US" sz="2800" dirty="0">
                <a:solidFill>
                  <a:schemeClr val="tx1"/>
                </a:solidFill>
                <a:latin typeface="Source Sans Pro" panose="020B0503030403020204" pitchFamily="34" charset="0"/>
                <a:hlinkClick r:id="rId4">
                  <a:extLst>
                    <a:ext uri="{A12FA001-AC4F-418D-AE19-62706E023703}">
                      <ahyp:hlinkClr xmlns:ahyp="http://schemas.microsoft.com/office/drawing/2018/hyperlinkcolor" val="tx"/>
                    </a:ext>
                  </a:extLst>
                </a:hlinkClick>
              </a:rPr>
              <a:t>set comprehension</a:t>
            </a:r>
            <a:endParaRPr lang="en-US" altLang="en-US" sz="2800" dirty="0">
              <a:solidFill>
                <a:schemeClr val="tx1"/>
              </a:solidFill>
              <a:latin typeface="Source Sans Pro" panose="020B0503030403020204" pitchFamily="34" charset="0"/>
            </a:endParaRPr>
          </a:p>
          <a:p>
            <a:pPr marL="0" lvl="0" indent="0" eaLnBrk="0" fontAlgn="base" hangingPunct="0">
              <a:lnSpc>
                <a:spcPct val="100000"/>
              </a:lnSpc>
              <a:spcBef>
                <a:spcPct val="0"/>
              </a:spcBef>
              <a:spcAft>
                <a:spcPct val="0"/>
              </a:spcAft>
              <a:buClrTx/>
              <a:buNone/>
            </a:pPr>
            <a:endParaRPr lang="en-US" altLang="en-US" sz="2800" dirty="0">
              <a:solidFill>
                <a:schemeClr val="tx1"/>
              </a:solidFill>
              <a:latin typeface="Arial" panose="020B0604020202020204" pitchFamily="34" charset="0"/>
            </a:endParaRPr>
          </a:p>
        </p:txBody>
      </p:sp>
      <p:sp>
        <p:nvSpPr>
          <p:cNvPr id="4" name="Rectangle 1">
            <a:extLst>
              <a:ext uri="{FF2B5EF4-FFF2-40B4-BE49-F238E27FC236}">
                <a16:creationId xmlns:a16="http://schemas.microsoft.com/office/drawing/2014/main" id="{A9777687-65E9-AE72-AC27-38A7D5F7FEAB}"/>
              </a:ext>
            </a:extLst>
          </p:cNvPr>
          <p:cNvSpPr>
            <a:spLocks noChangeArrowheads="1"/>
          </p:cNvSpPr>
          <p:nvPr/>
        </p:nvSpPr>
        <p:spPr bwMode="auto">
          <a:xfrm>
            <a:off x="0" y="-161582"/>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7493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69A60-A9CB-3CD8-48CC-616CD262ACFF}"/>
              </a:ext>
            </a:extLst>
          </p:cNvPr>
          <p:cNvSpPr>
            <a:spLocks noGrp="1"/>
          </p:cNvSpPr>
          <p:nvPr>
            <p:ph type="title"/>
          </p:nvPr>
        </p:nvSpPr>
        <p:spPr>
          <a:xfrm>
            <a:off x="1516912" y="228600"/>
            <a:ext cx="9144000" cy="685800"/>
          </a:xfrm>
        </p:spPr>
        <p:txBody>
          <a:bodyPr/>
          <a:lstStyle/>
          <a:p>
            <a:r>
              <a:rPr lang="en-US" dirty="0"/>
              <a:t>Creating Sets Through Literals</a:t>
            </a:r>
          </a:p>
        </p:txBody>
      </p:sp>
      <p:sp>
        <p:nvSpPr>
          <p:cNvPr id="3" name="Content Placeholder 2">
            <a:extLst>
              <a:ext uri="{FF2B5EF4-FFF2-40B4-BE49-F238E27FC236}">
                <a16:creationId xmlns:a16="http://schemas.microsoft.com/office/drawing/2014/main" id="{E625E318-A312-AD11-5AFC-25FED092E107}"/>
              </a:ext>
            </a:extLst>
          </p:cNvPr>
          <p:cNvSpPr>
            <a:spLocks noGrp="1"/>
          </p:cNvSpPr>
          <p:nvPr>
            <p:ph idx="1"/>
          </p:nvPr>
        </p:nvSpPr>
        <p:spPr>
          <a:xfrm>
            <a:off x="1524000" y="1143000"/>
            <a:ext cx="9144000" cy="4953000"/>
          </a:xfrm>
        </p:spPr>
        <p:txBody>
          <a:bodyPr>
            <a:normAutofit fontScale="77500" lnSpcReduction="20000"/>
          </a:bodyPr>
          <a:lstStyle/>
          <a:p>
            <a:r>
              <a:rPr lang="en-US" sz="3600" dirty="0"/>
              <a:t>s = {10, 50, 20}</a:t>
            </a:r>
          </a:p>
          <a:p>
            <a:pPr marL="0" indent="0">
              <a:buNone/>
            </a:pPr>
            <a:r>
              <a:rPr lang="en-US" sz="3600" dirty="0"/>
              <a:t>print(s)</a:t>
            </a:r>
          </a:p>
          <a:p>
            <a:pPr marL="0" indent="0">
              <a:buNone/>
            </a:pPr>
            <a:r>
              <a:rPr lang="en-US" sz="3600" dirty="0"/>
              <a:t>print(type(s))</a:t>
            </a:r>
          </a:p>
          <a:p>
            <a:r>
              <a:rPr lang="en-US" sz="3600" dirty="0"/>
              <a:t> s1 = {2, 4, 6, 8, 10, 8, 2}</a:t>
            </a:r>
          </a:p>
          <a:p>
            <a:pPr marL="0" indent="0">
              <a:buNone/>
            </a:pPr>
            <a:r>
              <a:rPr lang="en-US" sz="3600" dirty="0"/>
              <a:t>    print(S1)</a:t>
            </a:r>
          </a:p>
          <a:p>
            <a:r>
              <a:rPr lang="en-US" sz="3600" dirty="0"/>
              <a:t>Name ={"Smith", "McArthur", "Wilson", "Johansson", "Smith"}</a:t>
            </a:r>
          </a:p>
          <a:p>
            <a:r>
              <a:rPr lang="en-US" sz="3600" dirty="0" err="1"/>
              <a:t>Lname</a:t>
            </a:r>
            <a:r>
              <a:rPr lang="en-US" sz="3600" dirty="0"/>
              <a:t>={'Johansson', 'McArthur', 'Wilson', 'Smith’}</a:t>
            </a:r>
          </a:p>
          <a:p>
            <a:r>
              <a:rPr lang="en-US" sz="3600" dirty="0"/>
              <a:t>Address={42, "Hi!", 3.14159, None, "Python"}</a:t>
            </a:r>
          </a:p>
          <a:p>
            <a:pPr marL="0" indent="0">
              <a:buNone/>
            </a:pPr>
            <a:r>
              <a:rPr lang="en-US" sz="3600" dirty="0"/>
              <a:t>Print(Address)</a:t>
            </a:r>
          </a:p>
        </p:txBody>
      </p:sp>
    </p:spTree>
    <p:extLst>
      <p:ext uri="{BB962C8B-B14F-4D97-AF65-F5344CB8AC3E}">
        <p14:creationId xmlns:p14="http://schemas.microsoft.com/office/powerpoint/2010/main" val="4139005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A11EA-ADFC-6B2F-5983-E893983E51DD}"/>
              </a:ext>
            </a:extLst>
          </p:cNvPr>
          <p:cNvSpPr>
            <a:spLocks noGrp="1"/>
          </p:cNvSpPr>
          <p:nvPr>
            <p:ph type="title"/>
          </p:nvPr>
        </p:nvSpPr>
        <p:spPr/>
        <p:txBody>
          <a:bodyPr/>
          <a:lstStyle/>
          <a:p>
            <a:r>
              <a:rPr lang="en-US" dirty="0"/>
              <a:t>Set() Constructor</a:t>
            </a:r>
          </a:p>
        </p:txBody>
      </p:sp>
      <p:sp>
        <p:nvSpPr>
          <p:cNvPr id="3" name="Content Placeholder 2">
            <a:extLst>
              <a:ext uri="{FF2B5EF4-FFF2-40B4-BE49-F238E27FC236}">
                <a16:creationId xmlns:a16="http://schemas.microsoft.com/office/drawing/2014/main" id="{0BFBD1A7-F8D9-1342-3127-3A47DD7989B3}"/>
              </a:ext>
            </a:extLst>
          </p:cNvPr>
          <p:cNvSpPr>
            <a:spLocks noGrp="1"/>
          </p:cNvSpPr>
          <p:nvPr>
            <p:ph idx="1"/>
          </p:nvPr>
        </p:nvSpPr>
        <p:spPr/>
        <p:txBody>
          <a:bodyPr>
            <a:normAutofit/>
          </a:bodyPr>
          <a:lstStyle/>
          <a:p>
            <a:pPr marL="0" indent="0">
              <a:buNone/>
            </a:pPr>
            <a:r>
              <a:rPr lang="en-US" dirty="0"/>
              <a:t>Example -1 </a:t>
            </a:r>
          </a:p>
          <a:p>
            <a:pPr marL="365760" lvl="1" indent="0">
              <a:buNone/>
            </a:pPr>
            <a:r>
              <a:rPr lang="en-US" dirty="0"/>
              <a:t>empty = set()</a:t>
            </a:r>
          </a:p>
          <a:p>
            <a:pPr marL="365760" lvl="1" indent="0">
              <a:buNone/>
            </a:pPr>
            <a:r>
              <a:rPr lang="en-US" dirty="0"/>
              <a:t>Print(empty)</a:t>
            </a:r>
          </a:p>
          <a:p>
            <a:pPr marL="0" indent="0">
              <a:buNone/>
            </a:pPr>
            <a:r>
              <a:rPr lang="en-US" dirty="0"/>
              <a:t>Example -2 </a:t>
            </a:r>
          </a:p>
          <a:p>
            <a:pPr marL="365760" lvl="1" indent="0">
              <a:buNone/>
            </a:pPr>
            <a:r>
              <a:rPr lang="da-DK" dirty="0"/>
              <a:t>S1= set([1, 2, 2, 3, 4, 4, 5])</a:t>
            </a:r>
          </a:p>
          <a:p>
            <a:pPr marL="365760" lvl="1" indent="0">
              <a:buNone/>
            </a:pPr>
            <a:r>
              <a:rPr lang="da-DK" dirty="0"/>
              <a:t>Print(S1)</a:t>
            </a:r>
          </a:p>
          <a:p>
            <a:pPr marL="0" indent="0">
              <a:buNone/>
            </a:pPr>
            <a:r>
              <a:rPr lang="da-DK" dirty="0"/>
              <a:t>Example -3 </a:t>
            </a:r>
          </a:p>
          <a:p>
            <a:pPr marL="365760" lvl="1" indent="0">
              <a:buNone/>
            </a:pPr>
            <a:r>
              <a:rPr lang="en-US" dirty="0"/>
              <a:t> language = "Python"</a:t>
            </a:r>
          </a:p>
          <a:p>
            <a:pPr marL="365760" lvl="1" indent="0">
              <a:buNone/>
            </a:pPr>
            <a:r>
              <a:rPr lang="en-US" dirty="0"/>
              <a:t> set(language)</a:t>
            </a:r>
          </a:p>
        </p:txBody>
      </p:sp>
    </p:spTree>
    <p:extLst>
      <p:ext uri="{BB962C8B-B14F-4D97-AF65-F5344CB8AC3E}">
        <p14:creationId xmlns:p14="http://schemas.microsoft.com/office/powerpoint/2010/main" val="42435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B0244-C838-17A1-56D2-BBDE4BE7F55E}"/>
              </a:ext>
            </a:extLst>
          </p:cNvPr>
          <p:cNvSpPr>
            <a:spLocks noGrp="1"/>
          </p:cNvSpPr>
          <p:nvPr>
            <p:ph type="title"/>
          </p:nvPr>
        </p:nvSpPr>
        <p:spPr>
          <a:xfrm>
            <a:off x="1600200" y="161583"/>
            <a:ext cx="9144000" cy="685800"/>
          </a:xfrm>
        </p:spPr>
        <p:txBody>
          <a:bodyPr/>
          <a:lstStyle/>
          <a:p>
            <a:r>
              <a:rPr lang="en-US" dirty="0"/>
              <a:t>Using Set Comprehensions</a:t>
            </a:r>
          </a:p>
        </p:txBody>
      </p:sp>
      <p:sp>
        <p:nvSpPr>
          <p:cNvPr id="3" name="Content Placeholder 2">
            <a:extLst>
              <a:ext uri="{FF2B5EF4-FFF2-40B4-BE49-F238E27FC236}">
                <a16:creationId xmlns:a16="http://schemas.microsoft.com/office/drawing/2014/main" id="{BE457A2F-B923-D67C-7631-1B3AB0D4F37C}"/>
              </a:ext>
            </a:extLst>
          </p:cNvPr>
          <p:cNvSpPr>
            <a:spLocks noGrp="1"/>
          </p:cNvSpPr>
          <p:nvPr>
            <p:ph idx="1"/>
          </p:nvPr>
        </p:nvSpPr>
        <p:spPr>
          <a:xfrm>
            <a:off x="533400" y="1143000"/>
            <a:ext cx="10972800" cy="4953000"/>
          </a:xfrm>
        </p:spPr>
        <p:txBody>
          <a:bodyPr>
            <a:normAutofit/>
          </a:bodyPr>
          <a:lstStyle/>
          <a:p>
            <a:pPr marL="0" indent="0">
              <a:buNone/>
            </a:pPr>
            <a:r>
              <a:rPr lang="en-US" dirty="0">
                <a:solidFill>
                  <a:schemeClr val="tx1"/>
                </a:solidFill>
              </a:rPr>
              <a:t>A </a:t>
            </a:r>
            <a:r>
              <a:rPr lang="en-US" b="1" dirty="0">
                <a:solidFill>
                  <a:schemeClr val="tx1"/>
                </a:solidFill>
              </a:rPr>
              <a:t>set comprehension</a:t>
            </a:r>
            <a:r>
              <a:rPr lang="en-US" dirty="0">
                <a:solidFill>
                  <a:schemeClr val="tx1"/>
                </a:solidFill>
              </a:rPr>
              <a:t> is a concise way to create a set by evaluating an expression over an </a:t>
            </a:r>
            <a:r>
              <a:rPr lang="en-US" dirty="0" err="1">
                <a:solidFill>
                  <a:schemeClr val="tx1"/>
                </a:solidFill>
              </a:rPr>
              <a:t>iterable</a:t>
            </a:r>
            <a:r>
              <a:rPr lang="en-US" dirty="0">
                <a:solidFill>
                  <a:schemeClr val="tx1"/>
                </a:solidFill>
              </a:rPr>
              <a:t>. It works similarly to </a:t>
            </a:r>
            <a:r>
              <a:rPr lang="en-US" dirty="0">
                <a:solidFill>
                  <a:schemeClr val="tx1"/>
                </a:solidFill>
                <a:hlinkClick r:id="rId2">
                  <a:extLst>
                    <a:ext uri="{A12FA001-AC4F-418D-AE19-62706E023703}">
                      <ahyp:hlinkClr xmlns:ahyp="http://schemas.microsoft.com/office/drawing/2018/hyperlinkcolor" val="tx"/>
                    </a:ext>
                  </a:extLst>
                </a:hlinkClick>
              </a:rPr>
              <a:t>list comprehensions</a:t>
            </a:r>
            <a:r>
              <a:rPr lang="en-US" dirty="0">
                <a:solidFill>
                  <a:schemeClr val="tx1"/>
                </a:solidFill>
              </a:rPr>
              <a:t> but automatically removes duplicates.</a:t>
            </a:r>
          </a:p>
          <a:p>
            <a:pPr marL="0" indent="0">
              <a:buNone/>
            </a:pPr>
            <a:r>
              <a:rPr lang="en-US" dirty="0">
                <a:solidFill>
                  <a:schemeClr val="tx1"/>
                </a:solidFill>
              </a:rPr>
              <a:t>Syntax</a:t>
            </a:r>
          </a:p>
          <a:p>
            <a:pPr marL="0" indent="0">
              <a:buNone/>
            </a:pPr>
            <a:r>
              <a:rPr lang="en-US" dirty="0">
                <a:solidFill>
                  <a:schemeClr val="tx1"/>
                </a:solidFill>
              </a:rPr>
              <a:t>{expression for member in </a:t>
            </a:r>
            <a:r>
              <a:rPr lang="en-US" dirty="0" err="1">
                <a:solidFill>
                  <a:schemeClr val="tx1"/>
                </a:solidFill>
              </a:rPr>
              <a:t>iterable</a:t>
            </a:r>
            <a:r>
              <a:rPr lang="en-US" dirty="0">
                <a:solidFill>
                  <a:schemeClr val="tx1"/>
                </a:solidFill>
              </a:rPr>
              <a:t> [if condition]}</a:t>
            </a:r>
          </a:p>
          <a:p>
            <a:pPr marL="0" lvl="0" indent="0" eaLnBrk="0" fontAlgn="base" hangingPunct="0">
              <a:lnSpc>
                <a:spcPct val="100000"/>
              </a:lnSpc>
              <a:spcBef>
                <a:spcPct val="0"/>
              </a:spcBef>
              <a:spcAft>
                <a:spcPct val="0"/>
              </a:spcAft>
              <a:buClrTx/>
              <a:buNone/>
            </a:pPr>
            <a:endParaRPr lang="en-US" altLang="en-US" sz="2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FontTx/>
              <a:buChar char="•"/>
            </a:pPr>
            <a:r>
              <a:rPr lang="en-US" altLang="en-US" sz="2400" dirty="0">
                <a:solidFill>
                  <a:schemeClr val="tx1"/>
                </a:solidFill>
                <a:latin typeface="Source Sans Pro" panose="020B0503030403020204" pitchFamily="34" charset="0"/>
              </a:rPr>
              <a:t>The </a:t>
            </a:r>
            <a:r>
              <a:rPr lang="en-US" altLang="en-US" sz="2400" b="1" dirty="0">
                <a:solidFill>
                  <a:schemeClr val="tx1"/>
                </a:solidFill>
                <a:latin typeface="Source Sans Pro" panose="020B0503030403020204" pitchFamily="34" charset="0"/>
              </a:rPr>
              <a:t>enclosing brackets</a:t>
            </a:r>
            <a:r>
              <a:rPr lang="en-US" altLang="en-US" sz="2400" dirty="0">
                <a:solidFill>
                  <a:schemeClr val="tx1"/>
                </a:solidFill>
                <a:latin typeface="Source Sans Pro" panose="020B0503030403020204" pitchFamily="34" charset="0"/>
              </a:rPr>
              <a:t> (</a:t>
            </a:r>
            <a:r>
              <a:rPr lang="en-US" altLang="en-US" sz="2400" dirty="0">
                <a:solidFill>
                  <a:schemeClr val="tx1"/>
                </a:solidFill>
                <a:latin typeface="SFMono-Regular"/>
              </a:rPr>
              <a:t>{}</a:t>
            </a:r>
            <a:r>
              <a:rPr lang="en-US" altLang="en-US" sz="2400" dirty="0">
                <a:solidFill>
                  <a:schemeClr val="tx1"/>
                </a:solidFill>
                <a:latin typeface="Source Sans Pro" panose="020B0503030403020204" pitchFamily="34" charset="0"/>
              </a:rPr>
              <a:t>) define the set comprehension.</a:t>
            </a:r>
          </a:p>
          <a:p>
            <a:pPr marL="0" lvl="0" indent="0" eaLnBrk="0" fontAlgn="base" hangingPunct="0">
              <a:lnSpc>
                <a:spcPct val="100000"/>
              </a:lnSpc>
              <a:spcBef>
                <a:spcPct val="0"/>
              </a:spcBef>
              <a:spcAft>
                <a:spcPct val="0"/>
              </a:spcAft>
              <a:buClrTx/>
              <a:buFontTx/>
              <a:buChar char="•"/>
            </a:pPr>
            <a:r>
              <a:rPr lang="en-US" altLang="en-US" sz="2400" dirty="0">
                <a:solidFill>
                  <a:schemeClr val="tx1"/>
                </a:solidFill>
                <a:latin typeface="Source Sans Pro" panose="020B0503030403020204" pitchFamily="34" charset="0"/>
              </a:rPr>
              <a:t>The comprehension </a:t>
            </a:r>
            <a:r>
              <a:rPr lang="en-US" altLang="en-US" sz="2400" b="1" dirty="0">
                <a:solidFill>
                  <a:schemeClr val="tx1"/>
                </a:solidFill>
                <a:latin typeface="SFMono-Regular"/>
              </a:rPr>
              <a:t>expression</a:t>
            </a:r>
            <a:r>
              <a:rPr lang="en-US" altLang="en-US" sz="2400" dirty="0">
                <a:solidFill>
                  <a:schemeClr val="tx1"/>
                </a:solidFill>
                <a:latin typeface="Source Sans Pro" panose="020B0503030403020204" pitchFamily="34" charset="0"/>
              </a:rPr>
              <a:t> provides an element in each iteration.</a:t>
            </a:r>
          </a:p>
          <a:p>
            <a:pPr marL="0" lvl="0" indent="0" eaLnBrk="0" fontAlgn="base" hangingPunct="0">
              <a:lnSpc>
                <a:spcPct val="100000"/>
              </a:lnSpc>
              <a:spcBef>
                <a:spcPct val="0"/>
              </a:spcBef>
              <a:spcAft>
                <a:spcPct val="0"/>
              </a:spcAft>
              <a:buClrTx/>
              <a:buFontTx/>
              <a:buChar char="•"/>
            </a:pPr>
            <a:r>
              <a:rPr lang="en-US" altLang="en-US" sz="2400" dirty="0">
                <a:solidFill>
                  <a:schemeClr val="tx1"/>
                </a:solidFill>
                <a:latin typeface="Source Sans Pro" panose="020B0503030403020204" pitchFamily="34" charset="0"/>
              </a:rPr>
              <a:t>The current </a:t>
            </a:r>
            <a:r>
              <a:rPr lang="en-US" altLang="en-US" sz="2400" b="1" dirty="0">
                <a:solidFill>
                  <a:schemeClr val="tx1"/>
                </a:solidFill>
                <a:latin typeface="SFMono-Regular"/>
              </a:rPr>
              <a:t>member</a:t>
            </a:r>
            <a:r>
              <a:rPr lang="en-US" altLang="en-US" sz="2400" dirty="0">
                <a:solidFill>
                  <a:schemeClr val="tx1"/>
                </a:solidFill>
                <a:latin typeface="Source Sans Pro" panose="020B0503030403020204" pitchFamily="34" charset="0"/>
              </a:rPr>
              <a:t> represents the current item or value in the </a:t>
            </a:r>
            <a:r>
              <a:rPr lang="en-US" altLang="en-US" sz="2400" dirty="0" err="1">
                <a:solidFill>
                  <a:schemeClr val="tx1"/>
                </a:solidFill>
                <a:latin typeface="Source Sans Pro" panose="020B0503030403020204" pitchFamily="34" charset="0"/>
              </a:rPr>
              <a:t>iterable</a:t>
            </a:r>
            <a:r>
              <a:rPr lang="en-US" altLang="en-US" sz="2400" dirty="0">
                <a:solidFill>
                  <a:schemeClr val="tx1"/>
                </a:solidFill>
                <a:latin typeface="Source Sans Pro" panose="020B0503030403020204" pitchFamily="34" charset="0"/>
              </a:rPr>
              <a:t>.</a:t>
            </a:r>
          </a:p>
          <a:p>
            <a:pPr marL="0" lvl="0" indent="0" eaLnBrk="0" fontAlgn="base" hangingPunct="0">
              <a:lnSpc>
                <a:spcPct val="100000"/>
              </a:lnSpc>
              <a:spcBef>
                <a:spcPct val="0"/>
              </a:spcBef>
              <a:spcAft>
                <a:spcPct val="0"/>
              </a:spcAft>
              <a:buClrTx/>
              <a:buFontTx/>
              <a:buChar char="•"/>
            </a:pPr>
            <a:r>
              <a:rPr lang="en-US" altLang="en-US" sz="2400" dirty="0">
                <a:solidFill>
                  <a:schemeClr val="tx1"/>
                </a:solidFill>
                <a:latin typeface="Source Sans Pro" panose="020B0503030403020204" pitchFamily="34" charset="0"/>
              </a:rPr>
              <a:t>The </a:t>
            </a:r>
            <a:r>
              <a:rPr lang="en-US" altLang="en-US" sz="2400" b="1" dirty="0" err="1">
                <a:solidFill>
                  <a:schemeClr val="tx1"/>
                </a:solidFill>
                <a:latin typeface="SFMono-Regular"/>
              </a:rPr>
              <a:t>iterable</a:t>
            </a:r>
            <a:r>
              <a:rPr lang="en-US" altLang="en-US" sz="2400" dirty="0">
                <a:solidFill>
                  <a:schemeClr val="tx1"/>
                </a:solidFill>
                <a:latin typeface="Source Sans Pro" panose="020B0503030403020204" pitchFamily="34" charset="0"/>
              </a:rPr>
              <a:t> can be any </a:t>
            </a:r>
            <a:r>
              <a:rPr lang="en-US" altLang="en-US" sz="2400" dirty="0" err="1">
                <a:solidFill>
                  <a:schemeClr val="tx1"/>
                </a:solidFill>
                <a:latin typeface="Source Sans Pro" panose="020B0503030403020204" pitchFamily="34" charset="0"/>
              </a:rPr>
              <a:t>iterable</a:t>
            </a:r>
            <a:r>
              <a:rPr lang="en-US" altLang="en-US" sz="2400" dirty="0">
                <a:solidFill>
                  <a:schemeClr val="tx1"/>
                </a:solidFill>
                <a:latin typeface="Source Sans Pro" panose="020B0503030403020204" pitchFamily="34" charset="0"/>
              </a:rPr>
              <a:t> object, including a </a:t>
            </a:r>
            <a:r>
              <a:rPr lang="en-US" altLang="en-US" sz="2400" dirty="0">
                <a:solidFill>
                  <a:schemeClr val="tx1"/>
                </a:solidFill>
                <a:latin typeface="Source Sans Pro" panose="020B0503030403020204" pitchFamily="34" charset="0"/>
                <a:hlinkClick r:id="rId3">
                  <a:extLst>
                    <a:ext uri="{A12FA001-AC4F-418D-AE19-62706E023703}">
                      <ahyp:hlinkClr xmlns:ahyp="http://schemas.microsoft.com/office/drawing/2018/hyperlinkcolor" val="tx"/>
                    </a:ext>
                  </a:extLst>
                </a:hlinkClick>
              </a:rPr>
              <a:t>list</a:t>
            </a:r>
            <a:r>
              <a:rPr lang="en-US" altLang="en-US" sz="2400" dirty="0">
                <a:solidFill>
                  <a:schemeClr val="tx1"/>
                </a:solidFill>
                <a:latin typeface="Source Sans Pro" panose="020B0503030403020204" pitchFamily="34" charset="0"/>
              </a:rPr>
              <a:t>, </a:t>
            </a:r>
            <a:r>
              <a:rPr lang="en-US" altLang="en-US" sz="2400" dirty="0">
                <a:solidFill>
                  <a:schemeClr val="tx1"/>
                </a:solidFill>
                <a:latin typeface="Source Sans Pro" panose="020B0503030403020204" pitchFamily="34" charset="0"/>
                <a:hlinkClick r:id="rId4">
                  <a:extLst>
                    <a:ext uri="{A12FA001-AC4F-418D-AE19-62706E023703}">
                      <ahyp:hlinkClr xmlns:ahyp="http://schemas.microsoft.com/office/drawing/2018/hyperlinkcolor" val="tx"/>
                    </a:ext>
                  </a:extLst>
                </a:hlinkClick>
              </a:rPr>
              <a:t>tuple</a:t>
            </a:r>
            <a:r>
              <a:rPr lang="en-US" altLang="en-US" sz="2400" dirty="0">
                <a:solidFill>
                  <a:schemeClr val="tx1"/>
                </a:solidFill>
                <a:latin typeface="Source Sans Pro" panose="020B0503030403020204" pitchFamily="34" charset="0"/>
              </a:rPr>
              <a:t>, </a:t>
            </a:r>
            <a:r>
              <a:rPr lang="en-US" altLang="en-US" sz="2400" dirty="0">
                <a:solidFill>
                  <a:schemeClr val="tx1"/>
                </a:solidFill>
                <a:latin typeface="Source Sans Pro" panose="020B0503030403020204" pitchFamily="34" charset="0"/>
                <a:hlinkClick r:id="rId5">
                  <a:extLst>
                    <a:ext uri="{A12FA001-AC4F-418D-AE19-62706E023703}">
                      <ahyp:hlinkClr xmlns:ahyp="http://schemas.microsoft.com/office/drawing/2018/hyperlinkcolor" val="tx"/>
                    </a:ext>
                  </a:extLst>
                </a:hlinkClick>
              </a:rPr>
              <a:t>set</a:t>
            </a:r>
            <a:r>
              <a:rPr lang="en-US" altLang="en-US" sz="2400" dirty="0">
                <a:solidFill>
                  <a:schemeClr val="tx1"/>
                </a:solidFill>
                <a:latin typeface="Source Sans Pro" panose="020B0503030403020204" pitchFamily="34" charset="0"/>
              </a:rPr>
              <a:t>, </a:t>
            </a:r>
            <a:r>
              <a:rPr lang="en-US" altLang="en-US" sz="2400" dirty="0">
                <a:solidFill>
                  <a:schemeClr val="tx1"/>
                </a:solidFill>
                <a:latin typeface="Source Sans Pro" panose="020B0503030403020204" pitchFamily="34" charset="0"/>
                <a:hlinkClick r:id="rId6">
                  <a:extLst>
                    <a:ext uri="{A12FA001-AC4F-418D-AE19-62706E023703}">
                      <ahyp:hlinkClr xmlns:ahyp="http://schemas.microsoft.com/office/drawing/2018/hyperlinkcolor" val="tx"/>
                    </a:ext>
                  </a:extLst>
                </a:hlinkClick>
              </a:rPr>
              <a:t>generator</a:t>
            </a:r>
            <a:r>
              <a:rPr lang="en-US" altLang="en-US" sz="2400" dirty="0">
                <a:solidFill>
                  <a:schemeClr val="tx1"/>
                </a:solidFill>
                <a:latin typeface="Source Sans Pro" panose="020B0503030403020204" pitchFamily="34" charset="0"/>
              </a:rPr>
              <a:t>, or similar type.</a:t>
            </a:r>
          </a:p>
          <a:p>
            <a:pPr marL="0" lvl="0" indent="0" eaLnBrk="0" fontAlgn="base" hangingPunct="0">
              <a:lnSpc>
                <a:spcPct val="100000"/>
              </a:lnSpc>
              <a:spcBef>
                <a:spcPct val="0"/>
              </a:spcBef>
              <a:spcAft>
                <a:spcPct val="0"/>
              </a:spcAft>
              <a:buClrTx/>
              <a:buFontTx/>
              <a:buChar char="•"/>
            </a:pPr>
            <a:r>
              <a:rPr lang="en-US" altLang="en-US" sz="2400" dirty="0">
                <a:solidFill>
                  <a:schemeClr val="tx1"/>
                </a:solidFill>
                <a:latin typeface="Source Sans Pro" panose="020B0503030403020204" pitchFamily="34" charset="0"/>
              </a:rPr>
              <a:t>The </a:t>
            </a:r>
            <a:r>
              <a:rPr lang="en-US" altLang="en-US" sz="2400" b="1" dirty="0">
                <a:solidFill>
                  <a:schemeClr val="tx1"/>
                </a:solidFill>
                <a:latin typeface="SFMono-Regular"/>
              </a:rPr>
              <a:t>[if condition]</a:t>
            </a:r>
            <a:r>
              <a:rPr lang="en-US" altLang="en-US" sz="2400" dirty="0">
                <a:solidFill>
                  <a:schemeClr val="tx1"/>
                </a:solidFill>
                <a:latin typeface="Source Sans Pro" panose="020B0503030403020204" pitchFamily="34" charset="0"/>
              </a:rPr>
              <a:t> part is an optional conditional that you can use to </a:t>
            </a:r>
            <a:r>
              <a:rPr lang="en-US" altLang="en-US" sz="2400" dirty="0">
                <a:solidFill>
                  <a:schemeClr val="tx1"/>
                </a:solidFill>
                <a:latin typeface="Source Sans Pro" panose="020B0503030403020204" pitchFamily="34" charset="0"/>
                <a:hlinkClick r:id="rId7">
                  <a:extLst>
                    <a:ext uri="{A12FA001-AC4F-418D-AE19-62706E023703}">
                      <ahyp:hlinkClr xmlns:ahyp="http://schemas.microsoft.com/office/drawing/2018/hyperlinkcolor" val="tx"/>
                    </a:ext>
                  </a:extLst>
                </a:hlinkClick>
              </a:rPr>
              <a:t>filter</a:t>
            </a:r>
            <a:r>
              <a:rPr lang="en-US" altLang="en-US" sz="2400" dirty="0">
                <a:solidFill>
                  <a:schemeClr val="tx1"/>
                </a:solidFill>
                <a:latin typeface="Source Sans Pro" panose="020B0503030403020204" pitchFamily="34" charset="0"/>
              </a:rPr>
              <a:t> existing collections or generate elements conditionally.</a:t>
            </a:r>
          </a:p>
          <a:p>
            <a:pPr marL="0" lvl="0" indent="0" eaLnBrk="0" fontAlgn="base" hangingPunct="0">
              <a:lnSpc>
                <a:spcPct val="100000"/>
              </a:lnSpc>
              <a:spcBef>
                <a:spcPct val="0"/>
              </a:spcBef>
              <a:spcAft>
                <a:spcPct val="0"/>
              </a:spcAft>
              <a:buClrTx/>
              <a:buNone/>
            </a:pPr>
            <a:endParaRPr lang="en-US" altLang="en-US" sz="2800" dirty="0">
              <a:solidFill>
                <a:schemeClr val="tx1"/>
              </a:solidFill>
              <a:latin typeface="Arial" panose="020B0604020202020204" pitchFamily="34" charset="0"/>
            </a:endParaRPr>
          </a:p>
          <a:p>
            <a:endParaRPr lang="en-US" dirty="0">
              <a:solidFill>
                <a:schemeClr val="tx1"/>
              </a:solidFill>
            </a:endParaRPr>
          </a:p>
          <a:p>
            <a:endParaRPr lang="en-US" dirty="0">
              <a:solidFill>
                <a:schemeClr val="tx1"/>
              </a:solidFill>
            </a:endParaRPr>
          </a:p>
        </p:txBody>
      </p:sp>
      <p:sp>
        <p:nvSpPr>
          <p:cNvPr id="4" name="Rectangle 1">
            <a:extLst>
              <a:ext uri="{FF2B5EF4-FFF2-40B4-BE49-F238E27FC236}">
                <a16:creationId xmlns:a16="http://schemas.microsoft.com/office/drawing/2014/main" id="{A5B46B5A-D32E-5450-9BCB-47B8BD64EA28}"/>
              </a:ext>
            </a:extLst>
          </p:cNvPr>
          <p:cNvSpPr>
            <a:spLocks noChangeArrowheads="1"/>
          </p:cNvSpPr>
          <p:nvPr/>
        </p:nvSpPr>
        <p:spPr bwMode="auto">
          <a:xfrm>
            <a:off x="0" y="-161582"/>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81853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19EB-6BFC-CFAD-9FAB-4E1F97DCD2B6}"/>
              </a:ext>
            </a:extLst>
          </p:cNvPr>
          <p:cNvSpPr>
            <a:spLocks noGrp="1"/>
          </p:cNvSpPr>
          <p:nvPr>
            <p:ph type="title"/>
          </p:nvPr>
        </p:nvSpPr>
        <p:spPr>
          <a:xfrm>
            <a:off x="1524000" y="457200"/>
            <a:ext cx="9144000" cy="609600"/>
          </a:xfrm>
        </p:spPr>
        <p:txBody>
          <a:bodyPr/>
          <a:lstStyle/>
          <a:p>
            <a:r>
              <a:rPr lang="en-US" dirty="0"/>
              <a:t>Example</a:t>
            </a:r>
          </a:p>
        </p:txBody>
      </p:sp>
      <p:sp>
        <p:nvSpPr>
          <p:cNvPr id="3" name="Content Placeholder 2">
            <a:extLst>
              <a:ext uri="{FF2B5EF4-FFF2-40B4-BE49-F238E27FC236}">
                <a16:creationId xmlns:a16="http://schemas.microsoft.com/office/drawing/2014/main" id="{864B4CCB-5E52-A5F2-7CFB-B08437B1A8F7}"/>
              </a:ext>
            </a:extLst>
          </p:cNvPr>
          <p:cNvSpPr>
            <a:spLocks noGrp="1"/>
          </p:cNvSpPr>
          <p:nvPr>
            <p:ph idx="1"/>
          </p:nvPr>
        </p:nvSpPr>
        <p:spPr>
          <a:xfrm>
            <a:off x="914400" y="1600200"/>
            <a:ext cx="10668000" cy="4495800"/>
          </a:xfrm>
        </p:spPr>
        <p:txBody>
          <a:bodyPr>
            <a:noAutofit/>
          </a:bodyPr>
          <a:lstStyle/>
          <a:p>
            <a:pPr marL="0" indent="0">
              <a:buNone/>
            </a:pPr>
            <a:r>
              <a:rPr lang="en-US" sz="2400" dirty="0"/>
              <a:t>usernames = [ "Alice",  " bob", "ALICE    ", "Bob", "</a:t>
            </a:r>
            <a:r>
              <a:rPr lang="en-US" sz="2400" dirty="0" err="1"/>
              <a:t>charlie</a:t>
            </a:r>
            <a:r>
              <a:rPr lang="en-US" sz="2400" dirty="0"/>
              <a:t>", "Charlie",   "JOHN"]</a:t>
            </a:r>
          </a:p>
          <a:p>
            <a:pPr marL="0" indent="0">
              <a:buNone/>
            </a:pPr>
            <a:r>
              <a:rPr lang="en-US" sz="2400" dirty="0"/>
              <a:t>S1= {</a:t>
            </a:r>
            <a:r>
              <a:rPr lang="en-US" sz="2400" dirty="0" err="1"/>
              <a:t>name.lower</a:t>
            </a:r>
            <a:r>
              <a:rPr lang="en-US" sz="2400" dirty="0"/>
              <a:t>().strip() for name in usernames}</a:t>
            </a:r>
          </a:p>
          <a:p>
            <a:pPr marL="0" indent="0">
              <a:buNone/>
            </a:pPr>
            <a:r>
              <a:rPr lang="en-US" sz="2400" dirty="0"/>
              <a:t>Print(S1)</a:t>
            </a:r>
          </a:p>
        </p:txBody>
      </p:sp>
    </p:spTree>
    <p:extLst>
      <p:ext uri="{BB962C8B-B14F-4D97-AF65-F5344CB8AC3E}">
        <p14:creationId xmlns:p14="http://schemas.microsoft.com/office/powerpoint/2010/main" val="2581783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E770D-341B-B281-BF74-E2AB82336527}"/>
              </a:ext>
            </a:extLst>
          </p:cNvPr>
          <p:cNvSpPr>
            <a:spLocks noGrp="1"/>
          </p:cNvSpPr>
          <p:nvPr>
            <p:ph type="title"/>
          </p:nvPr>
        </p:nvSpPr>
        <p:spPr/>
        <p:txBody>
          <a:bodyPr>
            <a:normAutofit/>
          </a:bodyPr>
          <a:lstStyle/>
          <a:p>
            <a:r>
              <a:rPr lang="en-US" b="1" dirty="0"/>
              <a:t>Check unique and  Immutable with Python Set</a:t>
            </a:r>
            <a:endParaRPr lang="en-US" dirty="0"/>
          </a:p>
        </p:txBody>
      </p:sp>
      <p:sp>
        <p:nvSpPr>
          <p:cNvPr id="3" name="Content Placeholder 2">
            <a:extLst>
              <a:ext uri="{FF2B5EF4-FFF2-40B4-BE49-F238E27FC236}">
                <a16:creationId xmlns:a16="http://schemas.microsoft.com/office/drawing/2014/main" id="{7857BA7A-87F4-74A5-0E28-0CBD1178FBA4}"/>
              </a:ext>
            </a:extLst>
          </p:cNvPr>
          <p:cNvSpPr>
            <a:spLocks noGrp="1"/>
          </p:cNvSpPr>
          <p:nvPr>
            <p:ph idx="1"/>
          </p:nvPr>
        </p:nvSpPr>
        <p:spPr/>
        <p:txBody>
          <a:bodyPr>
            <a:normAutofit/>
          </a:bodyPr>
          <a:lstStyle/>
          <a:p>
            <a:pPr marL="0" indent="0">
              <a:buNone/>
            </a:pPr>
            <a:r>
              <a:rPr lang="en-US" sz="2400" dirty="0"/>
              <a:t># Python program to demonstrate that  a set cannot have duplicate values   and we cannot change its items</a:t>
            </a:r>
          </a:p>
          <a:p>
            <a:pPr marL="0" indent="0">
              <a:buNone/>
            </a:pPr>
            <a:r>
              <a:rPr lang="en-US" sz="2400" dirty="0"/>
              <a:t># a set cannot have duplicate values</a:t>
            </a:r>
          </a:p>
          <a:p>
            <a:pPr marL="0" indent="0">
              <a:buNone/>
            </a:pPr>
            <a:r>
              <a:rPr lang="en-US" sz="2400" dirty="0"/>
              <a:t>s = {"Geeks", "for", "Geeks"}</a:t>
            </a:r>
          </a:p>
          <a:p>
            <a:pPr marL="0" indent="0">
              <a:buNone/>
            </a:pPr>
            <a:r>
              <a:rPr lang="en-US" sz="2400" dirty="0"/>
              <a:t>print(s)</a:t>
            </a:r>
          </a:p>
          <a:p>
            <a:pPr marL="0" indent="0">
              <a:buNone/>
            </a:pPr>
            <a:r>
              <a:rPr lang="en-US" sz="2400" dirty="0"/>
              <a:t># values of a set cannot be changed</a:t>
            </a:r>
          </a:p>
          <a:p>
            <a:pPr marL="0" indent="0">
              <a:buNone/>
            </a:pPr>
            <a:r>
              <a:rPr lang="en-US" sz="2400" dirty="0"/>
              <a:t>s[1] = "Hello"</a:t>
            </a:r>
          </a:p>
          <a:p>
            <a:pPr marL="0" indent="0">
              <a:buNone/>
            </a:pPr>
            <a:r>
              <a:rPr lang="en-US" sz="2400" dirty="0"/>
              <a:t>print(s)</a:t>
            </a:r>
          </a:p>
        </p:txBody>
      </p:sp>
    </p:spTree>
    <p:extLst>
      <p:ext uri="{BB962C8B-B14F-4D97-AF65-F5344CB8AC3E}">
        <p14:creationId xmlns:p14="http://schemas.microsoft.com/office/powerpoint/2010/main" val="4124762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5830F-1E3D-D92E-6DCB-B1451C81EFDB}"/>
              </a:ext>
            </a:extLst>
          </p:cNvPr>
          <p:cNvSpPr>
            <a:spLocks noGrp="1"/>
          </p:cNvSpPr>
          <p:nvPr>
            <p:ph type="title"/>
          </p:nvPr>
        </p:nvSpPr>
        <p:spPr/>
        <p:txBody>
          <a:bodyPr/>
          <a:lstStyle/>
          <a:p>
            <a:r>
              <a:rPr lang="en-US" b="1" dirty="0"/>
              <a:t>Heterogeneous Element with Python Set</a:t>
            </a:r>
            <a:endParaRPr lang="en-US" dirty="0"/>
          </a:p>
        </p:txBody>
      </p:sp>
      <p:sp>
        <p:nvSpPr>
          <p:cNvPr id="3" name="Content Placeholder 2">
            <a:extLst>
              <a:ext uri="{FF2B5EF4-FFF2-40B4-BE49-F238E27FC236}">
                <a16:creationId xmlns:a16="http://schemas.microsoft.com/office/drawing/2014/main" id="{09F72B96-5695-1CF9-7CAB-3F0060BC261E}"/>
              </a:ext>
            </a:extLst>
          </p:cNvPr>
          <p:cNvSpPr>
            <a:spLocks noGrp="1"/>
          </p:cNvSpPr>
          <p:nvPr>
            <p:ph idx="1"/>
          </p:nvPr>
        </p:nvSpPr>
        <p:spPr/>
        <p:txBody>
          <a:bodyPr/>
          <a:lstStyle/>
          <a:p>
            <a:pPr marL="0" indent="0">
              <a:buNone/>
            </a:pPr>
            <a:r>
              <a:rPr lang="en-US" dirty="0"/>
              <a:t># Python example demonstrate that a set  can store heterogeneous elements</a:t>
            </a:r>
          </a:p>
          <a:p>
            <a:pPr marL="0" indent="0">
              <a:buNone/>
            </a:pPr>
            <a:r>
              <a:rPr lang="en-US" dirty="0"/>
              <a:t>s = {"Geeks", "for", 10, 52.7, True}</a:t>
            </a:r>
          </a:p>
          <a:p>
            <a:pPr marL="0" indent="0">
              <a:buNone/>
            </a:pPr>
            <a:r>
              <a:rPr lang="en-US" dirty="0"/>
              <a:t>print(s)</a:t>
            </a:r>
          </a:p>
        </p:txBody>
      </p:sp>
    </p:spTree>
    <p:extLst>
      <p:ext uri="{BB962C8B-B14F-4D97-AF65-F5344CB8AC3E}">
        <p14:creationId xmlns:p14="http://schemas.microsoft.com/office/powerpoint/2010/main" val="1761751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67138-2E11-4669-DA54-85D8D6E8C859}"/>
              </a:ext>
            </a:extLst>
          </p:cNvPr>
          <p:cNvSpPr>
            <a:spLocks noGrp="1"/>
          </p:cNvSpPr>
          <p:nvPr>
            <p:ph type="title"/>
          </p:nvPr>
        </p:nvSpPr>
        <p:spPr/>
        <p:txBody>
          <a:bodyPr>
            <a:normAutofit/>
          </a:bodyPr>
          <a:lstStyle/>
          <a:p>
            <a:r>
              <a:rPr lang="en-US" dirty="0"/>
              <a:t>Methods for sets</a:t>
            </a:r>
            <a:br>
              <a:rPr lang="en-US" dirty="0"/>
            </a:br>
            <a:r>
              <a:rPr lang="en-US" dirty="0"/>
              <a:t>1. </a:t>
            </a:r>
            <a:r>
              <a:rPr lang="en-US" b="1" dirty="0"/>
              <a:t>Adding elements to Python Sets</a:t>
            </a:r>
            <a:endParaRPr lang="en-US" dirty="0"/>
          </a:p>
        </p:txBody>
      </p:sp>
      <p:sp>
        <p:nvSpPr>
          <p:cNvPr id="3" name="Content Placeholder 2">
            <a:extLst>
              <a:ext uri="{FF2B5EF4-FFF2-40B4-BE49-F238E27FC236}">
                <a16:creationId xmlns:a16="http://schemas.microsoft.com/office/drawing/2014/main" id="{BAD5ADF4-D127-45AB-BFE0-A4B8B0E40D75}"/>
              </a:ext>
            </a:extLst>
          </p:cNvPr>
          <p:cNvSpPr>
            <a:spLocks noGrp="1"/>
          </p:cNvSpPr>
          <p:nvPr>
            <p:ph idx="1"/>
          </p:nvPr>
        </p:nvSpPr>
        <p:spPr/>
        <p:txBody>
          <a:bodyPr>
            <a:noAutofit/>
          </a:bodyPr>
          <a:lstStyle/>
          <a:p>
            <a:pPr marL="0" indent="0">
              <a:buNone/>
            </a:pPr>
            <a:r>
              <a:rPr lang="en-US" sz="1200" dirty="0"/>
              <a:t># </a:t>
            </a:r>
            <a:r>
              <a:rPr lang="en-US" sz="2400" dirty="0"/>
              <a:t>A Python program to  demonstrate adding elements   in a set</a:t>
            </a:r>
          </a:p>
          <a:p>
            <a:pPr marL="0" indent="0">
              <a:buNone/>
            </a:pPr>
            <a:r>
              <a:rPr lang="en-US" sz="2400" dirty="0"/>
              <a:t># Creating a Set</a:t>
            </a:r>
          </a:p>
          <a:p>
            <a:pPr marL="0" indent="0">
              <a:buNone/>
            </a:pPr>
            <a:r>
              <a:rPr lang="en-US" sz="2400" dirty="0"/>
              <a:t>people = {"Jay", "</a:t>
            </a:r>
            <a:r>
              <a:rPr lang="en-US" sz="2400" dirty="0" err="1"/>
              <a:t>Idrish</a:t>
            </a:r>
            <a:r>
              <a:rPr lang="en-US" sz="2400" dirty="0"/>
              <a:t>", "Archi"}</a:t>
            </a:r>
          </a:p>
          <a:p>
            <a:pPr marL="0" indent="0">
              <a:buNone/>
            </a:pPr>
            <a:r>
              <a:rPr lang="en-US" sz="2400" dirty="0"/>
              <a:t>print("People:", end = " ")</a:t>
            </a:r>
          </a:p>
          <a:p>
            <a:pPr marL="0" indent="0">
              <a:buNone/>
            </a:pPr>
            <a:r>
              <a:rPr lang="en-US" sz="2400" dirty="0"/>
              <a:t>print(people)</a:t>
            </a:r>
          </a:p>
          <a:p>
            <a:pPr marL="0" indent="0">
              <a:buNone/>
            </a:pPr>
            <a:r>
              <a:rPr lang="en-US" sz="2400" dirty="0"/>
              <a:t># This will add </a:t>
            </a:r>
            <a:r>
              <a:rPr lang="en-US" sz="2400" dirty="0" err="1"/>
              <a:t>Daxit</a:t>
            </a:r>
            <a:r>
              <a:rPr lang="en-US" sz="2400" dirty="0"/>
              <a:t>   in the set  </a:t>
            </a:r>
          </a:p>
          <a:p>
            <a:pPr marL="0" indent="0">
              <a:buNone/>
            </a:pPr>
            <a:r>
              <a:rPr lang="en-US" sz="2400" dirty="0" err="1"/>
              <a:t>people.add</a:t>
            </a:r>
            <a:r>
              <a:rPr lang="en-US" sz="2400" dirty="0"/>
              <a:t>("</a:t>
            </a:r>
            <a:r>
              <a:rPr lang="en-US" sz="2400" dirty="0" err="1"/>
              <a:t>Daxit</a:t>
            </a:r>
            <a:r>
              <a:rPr lang="en-US" sz="2400" dirty="0"/>
              <a:t>")</a:t>
            </a:r>
          </a:p>
        </p:txBody>
      </p:sp>
    </p:spTree>
    <p:extLst>
      <p:ext uri="{BB962C8B-B14F-4D97-AF65-F5344CB8AC3E}">
        <p14:creationId xmlns:p14="http://schemas.microsoft.com/office/powerpoint/2010/main" val="3563981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EBD86-C75B-7230-8474-8A8D7E4A0CE8}"/>
              </a:ext>
            </a:extLst>
          </p:cNvPr>
          <p:cNvSpPr>
            <a:spLocks noGrp="1"/>
          </p:cNvSpPr>
          <p:nvPr>
            <p:ph type="title"/>
          </p:nvPr>
        </p:nvSpPr>
        <p:spPr/>
        <p:txBody>
          <a:bodyPr>
            <a:normAutofit/>
          </a:bodyPr>
          <a:lstStyle/>
          <a:p>
            <a:r>
              <a:rPr lang="en-US" dirty="0"/>
              <a:t>Adding elements to the   set using iterator</a:t>
            </a:r>
          </a:p>
        </p:txBody>
      </p:sp>
      <p:sp>
        <p:nvSpPr>
          <p:cNvPr id="3" name="Content Placeholder 2">
            <a:extLst>
              <a:ext uri="{FF2B5EF4-FFF2-40B4-BE49-F238E27FC236}">
                <a16:creationId xmlns:a16="http://schemas.microsoft.com/office/drawing/2014/main" id="{55E736F8-2F52-B8B6-DF52-74CEFC2BC6BE}"/>
              </a:ext>
            </a:extLst>
          </p:cNvPr>
          <p:cNvSpPr>
            <a:spLocks noGrp="1"/>
          </p:cNvSpPr>
          <p:nvPr>
            <p:ph idx="1"/>
          </p:nvPr>
        </p:nvSpPr>
        <p:spPr/>
        <p:txBody>
          <a:bodyPr/>
          <a:lstStyle/>
          <a:p>
            <a:pPr marL="0" indent="0">
              <a:buNone/>
            </a:pPr>
            <a:r>
              <a:rPr lang="en-US" sz="2400" dirty="0"/>
              <a:t># Adding elements to the   set using iterator</a:t>
            </a:r>
          </a:p>
          <a:p>
            <a:pPr marL="0" indent="0">
              <a:buNone/>
            </a:pPr>
            <a:r>
              <a:rPr lang="en-US" sz="2400" dirty="0"/>
              <a:t>for </a:t>
            </a:r>
            <a:r>
              <a:rPr lang="en-US" sz="2400" dirty="0" err="1"/>
              <a:t>i</a:t>
            </a:r>
            <a:r>
              <a:rPr lang="en-US" sz="2400" dirty="0"/>
              <a:t> in range(1, 6):</a:t>
            </a:r>
          </a:p>
          <a:p>
            <a:pPr marL="0" indent="0">
              <a:buNone/>
            </a:pPr>
            <a:r>
              <a:rPr lang="en-US" sz="2400" dirty="0"/>
              <a:t>    </a:t>
            </a:r>
            <a:r>
              <a:rPr lang="en-US" sz="2400" dirty="0" err="1"/>
              <a:t>people.add</a:t>
            </a:r>
            <a:r>
              <a:rPr lang="en-US" sz="2400" dirty="0"/>
              <a:t>(</a:t>
            </a:r>
            <a:r>
              <a:rPr lang="en-US" sz="2400" dirty="0" err="1"/>
              <a:t>i</a:t>
            </a:r>
            <a:r>
              <a:rPr lang="en-US" sz="2400" dirty="0"/>
              <a:t>)</a:t>
            </a:r>
          </a:p>
          <a:p>
            <a:pPr marL="0" indent="0">
              <a:buNone/>
            </a:pPr>
            <a:r>
              <a:rPr lang="en-US" sz="2400" dirty="0"/>
              <a:t>print("\</a:t>
            </a:r>
            <a:r>
              <a:rPr lang="en-US" sz="2400" dirty="0" err="1"/>
              <a:t>nSet</a:t>
            </a:r>
            <a:r>
              <a:rPr lang="en-US" sz="2400" dirty="0"/>
              <a:t> after adding element:", end = " ")</a:t>
            </a:r>
          </a:p>
          <a:p>
            <a:pPr marL="0" indent="0">
              <a:buNone/>
            </a:pPr>
            <a:r>
              <a:rPr lang="en-US" sz="2400" dirty="0"/>
              <a:t>print(people)</a:t>
            </a:r>
          </a:p>
          <a:p>
            <a:endParaRPr lang="en-US" dirty="0"/>
          </a:p>
        </p:txBody>
      </p:sp>
    </p:spTree>
    <p:extLst>
      <p:ext uri="{BB962C8B-B14F-4D97-AF65-F5344CB8AC3E}">
        <p14:creationId xmlns:p14="http://schemas.microsoft.com/office/powerpoint/2010/main" val="2068009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598BD-32AD-284E-6EB4-B3924F56248B}"/>
              </a:ext>
            </a:extLst>
          </p:cNvPr>
          <p:cNvSpPr>
            <a:spLocks noGrp="1"/>
          </p:cNvSpPr>
          <p:nvPr>
            <p:ph type="title"/>
          </p:nvPr>
        </p:nvSpPr>
        <p:spPr>
          <a:xfrm>
            <a:off x="1532860" y="76200"/>
            <a:ext cx="9144000" cy="990600"/>
          </a:xfrm>
        </p:spPr>
        <p:txBody>
          <a:bodyPr>
            <a:normAutofit fontScale="90000"/>
          </a:bodyPr>
          <a:lstStyle/>
          <a:p>
            <a:r>
              <a:rPr lang="en-US" b="1" dirty="0"/>
              <a:t>Union operation on Python Sets</a:t>
            </a:r>
            <a:br>
              <a:rPr lang="en-US" b="1" dirty="0"/>
            </a:br>
            <a:endParaRPr lang="en-US" dirty="0"/>
          </a:p>
        </p:txBody>
      </p:sp>
      <p:sp>
        <p:nvSpPr>
          <p:cNvPr id="3" name="Content Placeholder 2">
            <a:extLst>
              <a:ext uri="{FF2B5EF4-FFF2-40B4-BE49-F238E27FC236}">
                <a16:creationId xmlns:a16="http://schemas.microsoft.com/office/drawing/2014/main" id="{8F16883B-A25D-B0EF-7913-DC8765B7C5BA}"/>
              </a:ext>
            </a:extLst>
          </p:cNvPr>
          <p:cNvSpPr>
            <a:spLocks noGrp="1"/>
          </p:cNvSpPr>
          <p:nvPr>
            <p:ph idx="1"/>
          </p:nvPr>
        </p:nvSpPr>
        <p:spPr>
          <a:xfrm>
            <a:off x="838200" y="914400"/>
            <a:ext cx="10591800" cy="5867400"/>
          </a:xfrm>
        </p:spPr>
        <p:txBody>
          <a:bodyPr>
            <a:noAutofit/>
          </a:bodyPr>
          <a:lstStyle/>
          <a:p>
            <a:pPr marL="0" indent="0">
              <a:spcBef>
                <a:spcPts val="0"/>
              </a:spcBef>
              <a:buNone/>
            </a:pPr>
            <a:r>
              <a:rPr lang="en-US" sz="3200" dirty="0"/>
              <a:t># Python Program to   # demonstrate union of   # two sets</a:t>
            </a:r>
          </a:p>
          <a:p>
            <a:pPr marL="0" indent="0">
              <a:spcBef>
                <a:spcPts val="0"/>
              </a:spcBef>
              <a:buNone/>
            </a:pPr>
            <a:r>
              <a:rPr lang="en-US" sz="3200" dirty="0"/>
              <a:t>people = {"Jay", "</a:t>
            </a:r>
            <a:r>
              <a:rPr lang="en-US" sz="3200" dirty="0" err="1"/>
              <a:t>Idrish</a:t>
            </a:r>
            <a:r>
              <a:rPr lang="en-US" sz="3200" dirty="0"/>
              <a:t>", "Archil"}</a:t>
            </a:r>
          </a:p>
          <a:p>
            <a:pPr marL="0" indent="0">
              <a:spcBef>
                <a:spcPts val="0"/>
              </a:spcBef>
              <a:buNone/>
            </a:pPr>
            <a:r>
              <a:rPr lang="en-US" sz="3200" dirty="0"/>
              <a:t>vampires = {"Karan", "Arjun"}</a:t>
            </a:r>
          </a:p>
          <a:p>
            <a:pPr marL="0" indent="0">
              <a:spcBef>
                <a:spcPts val="0"/>
              </a:spcBef>
              <a:buNone/>
            </a:pPr>
            <a:r>
              <a:rPr lang="en-US" sz="3200" dirty="0" err="1"/>
              <a:t>dracula</a:t>
            </a:r>
            <a:r>
              <a:rPr lang="en-US" sz="3200" dirty="0"/>
              <a:t> = {"Deepanshu", "Raju"}</a:t>
            </a:r>
          </a:p>
          <a:p>
            <a:pPr marL="0" indent="0">
              <a:spcBef>
                <a:spcPts val="0"/>
              </a:spcBef>
              <a:buNone/>
            </a:pPr>
            <a:r>
              <a:rPr lang="en-US" sz="3200" dirty="0"/>
              <a:t># Union using union() # function</a:t>
            </a:r>
          </a:p>
          <a:p>
            <a:pPr marL="0" indent="0">
              <a:spcBef>
                <a:spcPts val="0"/>
              </a:spcBef>
              <a:buNone/>
            </a:pPr>
            <a:r>
              <a:rPr lang="en-US" sz="3200" dirty="0"/>
              <a:t>population = </a:t>
            </a:r>
            <a:r>
              <a:rPr lang="en-US" sz="3200" dirty="0" err="1"/>
              <a:t>people.union</a:t>
            </a:r>
            <a:r>
              <a:rPr lang="en-US" sz="3200" dirty="0"/>
              <a:t>(vampires)</a:t>
            </a:r>
          </a:p>
          <a:p>
            <a:pPr marL="0" indent="0">
              <a:spcBef>
                <a:spcPts val="0"/>
              </a:spcBef>
              <a:buNone/>
            </a:pPr>
            <a:r>
              <a:rPr lang="en-US" sz="3200" dirty="0"/>
              <a:t>print("Union using union() function")</a:t>
            </a:r>
          </a:p>
          <a:p>
            <a:pPr marL="0" indent="0">
              <a:spcBef>
                <a:spcPts val="0"/>
              </a:spcBef>
              <a:buNone/>
            </a:pPr>
            <a:r>
              <a:rPr lang="en-US" sz="3200" dirty="0"/>
              <a:t>print(population)</a:t>
            </a:r>
          </a:p>
          <a:p>
            <a:pPr marL="0" indent="0">
              <a:spcBef>
                <a:spcPts val="0"/>
              </a:spcBef>
              <a:buNone/>
            </a:pPr>
            <a:r>
              <a:rPr lang="en-US" sz="3200" dirty="0"/>
              <a:t># Union using "|“ # operator</a:t>
            </a:r>
          </a:p>
          <a:p>
            <a:pPr marL="0" indent="0">
              <a:spcBef>
                <a:spcPts val="0"/>
              </a:spcBef>
              <a:buNone/>
            </a:pPr>
            <a:r>
              <a:rPr lang="en-US" sz="3200" dirty="0"/>
              <a:t>population = </a:t>
            </a:r>
            <a:r>
              <a:rPr lang="en-US" sz="3200" dirty="0" err="1"/>
              <a:t>people|dracula</a:t>
            </a:r>
            <a:endParaRPr lang="en-US" sz="3200" dirty="0"/>
          </a:p>
          <a:p>
            <a:pPr marL="0" indent="0">
              <a:spcBef>
                <a:spcPts val="0"/>
              </a:spcBef>
              <a:buNone/>
            </a:pPr>
            <a:r>
              <a:rPr lang="en-US" sz="3200" dirty="0"/>
              <a:t>print("\</a:t>
            </a:r>
            <a:r>
              <a:rPr lang="en-US" sz="3200" dirty="0" err="1"/>
              <a:t>nUnion</a:t>
            </a:r>
            <a:r>
              <a:rPr lang="en-US" sz="3200" dirty="0"/>
              <a:t> using '|' operator")</a:t>
            </a:r>
          </a:p>
          <a:p>
            <a:pPr marL="0" indent="0">
              <a:spcBef>
                <a:spcPts val="0"/>
              </a:spcBef>
              <a:buNone/>
            </a:pPr>
            <a:r>
              <a:rPr lang="en-US" sz="3200" dirty="0"/>
              <a:t>print(population)</a:t>
            </a:r>
          </a:p>
        </p:txBody>
      </p:sp>
    </p:spTree>
    <p:extLst>
      <p:ext uri="{BB962C8B-B14F-4D97-AF65-F5344CB8AC3E}">
        <p14:creationId xmlns:p14="http://schemas.microsoft.com/office/powerpoint/2010/main" val="2744744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CE09A-BD5B-8712-D28E-3C8CBF2FBAE6}"/>
              </a:ext>
            </a:extLst>
          </p:cNvPr>
          <p:cNvSpPr>
            <a:spLocks noGrp="1"/>
          </p:cNvSpPr>
          <p:nvPr>
            <p:ph type="title"/>
          </p:nvPr>
        </p:nvSpPr>
        <p:spPr>
          <a:xfrm>
            <a:off x="1295400" y="0"/>
            <a:ext cx="9144000" cy="1143000"/>
          </a:xfrm>
        </p:spPr>
        <p:txBody>
          <a:bodyPr/>
          <a:lstStyle/>
          <a:p>
            <a:r>
              <a:rPr lang="en-US" dirty="0"/>
              <a:t>output</a:t>
            </a:r>
          </a:p>
        </p:txBody>
      </p:sp>
      <p:pic>
        <p:nvPicPr>
          <p:cNvPr id="6" name="Picture 5">
            <a:extLst>
              <a:ext uri="{FF2B5EF4-FFF2-40B4-BE49-F238E27FC236}">
                <a16:creationId xmlns:a16="http://schemas.microsoft.com/office/drawing/2014/main" id="{F711278F-1B51-3B19-6284-2F3B6E98F8E5}"/>
              </a:ext>
            </a:extLst>
          </p:cNvPr>
          <p:cNvPicPr>
            <a:picLocks noChangeAspect="1"/>
          </p:cNvPicPr>
          <p:nvPr/>
        </p:nvPicPr>
        <p:blipFill>
          <a:blip r:embed="rId2"/>
          <a:stretch>
            <a:fillRect/>
          </a:stretch>
        </p:blipFill>
        <p:spPr>
          <a:xfrm>
            <a:off x="838200" y="1178442"/>
            <a:ext cx="9289516" cy="2552844"/>
          </a:xfrm>
          <a:prstGeom prst="rect">
            <a:avLst/>
          </a:prstGeom>
        </p:spPr>
      </p:pic>
      <p:pic>
        <p:nvPicPr>
          <p:cNvPr id="8" name="Picture 7">
            <a:extLst>
              <a:ext uri="{FF2B5EF4-FFF2-40B4-BE49-F238E27FC236}">
                <a16:creationId xmlns:a16="http://schemas.microsoft.com/office/drawing/2014/main" id="{2E038A31-7F7A-BD50-D517-4F70DEDEF5B3}"/>
              </a:ext>
            </a:extLst>
          </p:cNvPr>
          <p:cNvPicPr>
            <a:picLocks noChangeAspect="1"/>
          </p:cNvPicPr>
          <p:nvPr/>
        </p:nvPicPr>
        <p:blipFill>
          <a:blip r:embed="rId3"/>
          <a:stretch>
            <a:fillRect/>
          </a:stretch>
        </p:blipFill>
        <p:spPr>
          <a:xfrm>
            <a:off x="6224536" y="3766728"/>
            <a:ext cx="4055579" cy="2895874"/>
          </a:xfrm>
          <a:prstGeom prst="rect">
            <a:avLst/>
          </a:prstGeom>
        </p:spPr>
      </p:pic>
    </p:spTree>
    <p:extLst>
      <p:ext uri="{BB962C8B-B14F-4D97-AF65-F5344CB8AC3E}">
        <p14:creationId xmlns:p14="http://schemas.microsoft.com/office/powerpoint/2010/main" val="1833239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68C34-9102-0088-5FA5-1286E52853B2}"/>
              </a:ext>
            </a:extLst>
          </p:cNvPr>
          <p:cNvSpPr>
            <a:spLocks noGrp="1"/>
          </p:cNvSpPr>
          <p:nvPr>
            <p:ph type="title"/>
          </p:nvPr>
        </p:nvSpPr>
        <p:spPr>
          <a:xfrm>
            <a:off x="1524000" y="271130"/>
            <a:ext cx="9144000" cy="457200"/>
          </a:xfrm>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6966CEBF-5685-B063-D549-AF24E184613D}"/>
              </a:ext>
            </a:extLst>
          </p:cNvPr>
          <p:cNvSpPr>
            <a:spLocks noGrp="1"/>
          </p:cNvSpPr>
          <p:nvPr>
            <p:ph idx="1"/>
          </p:nvPr>
        </p:nvSpPr>
        <p:spPr>
          <a:xfrm>
            <a:off x="1524000" y="990600"/>
            <a:ext cx="9144000" cy="5105400"/>
          </a:xfrm>
        </p:spPr>
        <p:txBody>
          <a:bodyPr>
            <a:normAutofit/>
          </a:bodyPr>
          <a:lstStyle/>
          <a:p>
            <a:r>
              <a:rPr lang="en-US" sz="2800" dirty="0" err="1"/>
              <a:t>pet_animals</a:t>
            </a:r>
            <a:r>
              <a:rPr lang="en-US" sz="2800" dirty="0"/>
              <a:t> = {"dog", "cat", "hamster", "parrot"}</a:t>
            </a:r>
          </a:p>
          <a:p>
            <a:r>
              <a:rPr lang="en-US" sz="2800" dirty="0"/>
              <a:t> </a:t>
            </a:r>
            <a:r>
              <a:rPr lang="en-US" sz="2800" dirty="0" err="1"/>
              <a:t>farm_animals</a:t>
            </a:r>
            <a:r>
              <a:rPr lang="en-US" sz="2800" dirty="0"/>
              <a:t> = {"cow", "chicken", "goat", "dog", "cat"}</a:t>
            </a:r>
          </a:p>
          <a:p>
            <a:r>
              <a:rPr lang="en-US" sz="2800" dirty="0"/>
              <a:t> </a:t>
            </a:r>
            <a:r>
              <a:rPr lang="en-US" sz="2800" dirty="0" err="1"/>
              <a:t>pet_animals</a:t>
            </a:r>
            <a:r>
              <a:rPr lang="en-US" sz="2800" dirty="0"/>
              <a:t> | </a:t>
            </a:r>
            <a:r>
              <a:rPr lang="en-US" sz="2800" dirty="0" err="1"/>
              <a:t>farm_animals</a:t>
            </a:r>
            <a:endParaRPr lang="en-US" sz="2800" dirty="0"/>
          </a:p>
          <a:p>
            <a:r>
              <a:rPr lang="en-US" sz="2800" dirty="0"/>
              <a:t> </a:t>
            </a:r>
            <a:r>
              <a:rPr lang="en-US" sz="2800" dirty="0" err="1"/>
              <a:t>farm_animals</a:t>
            </a:r>
            <a:r>
              <a:rPr lang="en-US" sz="2800" dirty="0"/>
              <a:t> | </a:t>
            </a:r>
            <a:r>
              <a:rPr lang="en-US" sz="2800" dirty="0" err="1"/>
              <a:t>pet_animals</a:t>
            </a:r>
            <a:endParaRPr lang="en-US" sz="2800" dirty="0"/>
          </a:p>
          <a:p>
            <a:r>
              <a:rPr lang="en-US" sz="2800" dirty="0" err="1"/>
              <a:t>pet_animals.union</a:t>
            </a:r>
            <a:r>
              <a:rPr lang="en-US" sz="2800" dirty="0"/>
              <a:t>(</a:t>
            </a:r>
            <a:r>
              <a:rPr lang="en-US" sz="2800" dirty="0" err="1"/>
              <a:t>farm_animals</a:t>
            </a:r>
            <a:r>
              <a:rPr lang="en-US" sz="2800" dirty="0"/>
              <a:t>)</a:t>
            </a:r>
          </a:p>
          <a:p>
            <a:r>
              <a:rPr lang="en-US" sz="2800" dirty="0" err="1"/>
              <a:t>farm_animals.union</a:t>
            </a:r>
            <a:r>
              <a:rPr lang="en-US" sz="2800" dirty="0"/>
              <a:t>(</a:t>
            </a:r>
            <a:r>
              <a:rPr lang="en-US" sz="2800" dirty="0" err="1"/>
              <a:t>pet_animals</a:t>
            </a:r>
            <a:r>
              <a:rPr lang="en-US" sz="2800" dirty="0"/>
              <a:t>)</a:t>
            </a:r>
          </a:p>
        </p:txBody>
      </p:sp>
    </p:spTree>
    <p:extLst>
      <p:ext uri="{BB962C8B-B14F-4D97-AF65-F5344CB8AC3E}">
        <p14:creationId xmlns:p14="http://schemas.microsoft.com/office/powerpoint/2010/main" val="3475197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708A-4A4F-C127-C456-B6D423778BE4}"/>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E6CBADAE-CA52-3CC0-3A2F-03A9BD4DE567}"/>
              </a:ext>
            </a:extLst>
          </p:cNvPr>
          <p:cNvSpPr>
            <a:spLocks noGrp="1"/>
          </p:cNvSpPr>
          <p:nvPr>
            <p:ph idx="1"/>
          </p:nvPr>
        </p:nvSpPr>
        <p:spPr/>
        <p:txBody>
          <a:bodyPr>
            <a:normAutofit/>
          </a:bodyPr>
          <a:lstStyle/>
          <a:p>
            <a:r>
              <a:rPr lang="en-US" sz="2400" dirty="0"/>
              <a:t>a = {1, 2, 3, 4}</a:t>
            </a:r>
          </a:p>
          <a:p>
            <a:r>
              <a:rPr lang="en-US" sz="2400" dirty="0"/>
              <a:t>b = {2, 3, 4, 5}</a:t>
            </a:r>
          </a:p>
          <a:p>
            <a:r>
              <a:rPr lang="en-US" sz="2400" dirty="0"/>
              <a:t>c = {3, 4, 5, 6}</a:t>
            </a:r>
          </a:p>
          <a:p>
            <a:r>
              <a:rPr lang="en-US" sz="2400" dirty="0"/>
              <a:t> d = {4, 5, 6, 7}</a:t>
            </a:r>
          </a:p>
          <a:p>
            <a:r>
              <a:rPr lang="en-US" sz="2400" dirty="0" err="1"/>
              <a:t>a.union</a:t>
            </a:r>
            <a:r>
              <a:rPr lang="en-US" sz="2400" dirty="0"/>
              <a:t>(b, c, d)</a:t>
            </a:r>
          </a:p>
          <a:p>
            <a:pPr marL="0" indent="0">
              <a:buNone/>
            </a:pPr>
            <a:r>
              <a:rPr lang="en-US" sz="2400" dirty="0"/>
              <a:t>         or</a:t>
            </a:r>
          </a:p>
          <a:p>
            <a:r>
              <a:rPr lang="en-US" sz="2400" dirty="0"/>
              <a:t> a | b | c | d</a:t>
            </a:r>
          </a:p>
          <a:p>
            <a:endParaRPr lang="en-US" sz="2400" dirty="0"/>
          </a:p>
        </p:txBody>
      </p:sp>
    </p:spTree>
    <p:extLst>
      <p:ext uri="{BB962C8B-B14F-4D97-AF65-F5344CB8AC3E}">
        <p14:creationId xmlns:p14="http://schemas.microsoft.com/office/powerpoint/2010/main" val="1374660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A1300-C35F-1CE5-9F6C-27149C4D481B}"/>
              </a:ext>
            </a:extLst>
          </p:cNvPr>
          <p:cNvSpPr>
            <a:spLocks noGrp="1"/>
          </p:cNvSpPr>
          <p:nvPr>
            <p:ph type="title"/>
          </p:nvPr>
        </p:nvSpPr>
        <p:spPr/>
        <p:txBody>
          <a:bodyPr/>
          <a:lstStyle/>
          <a:p>
            <a:r>
              <a:rPr lang="en-US" dirty="0"/>
              <a:t>Intersection </a:t>
            </a:r>
          </a:p>
        </p:txBody>
      </p:sp>
      <p:pic>
        <p:nvPicPr>
          <p:cNvPr id="9218" name="Picture 2" descr="Set Intersection Operation">
            <a:extLst>
              <a:ext uri="{FF2B5EF4-FFF2-40B4-BE49-F238E27FC236}">
                <a16:creationId xmlns:a16="http://schemas.microsoft.com/office/drawing/2014/main" id="{DBED944D-912E-726C-A947-7A6473B181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286000"/>
            <a:ext cx="396240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1916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71142-704A-B00E-9C88-E0995DB5080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DC243E4F-D230-975F-E508-EECA5928818F}"/>
              </a:ext>
            </a:extLst>
          </p:cNvPr>
          <p:cNvSpPr>
            <a:spLocks noGrp="1"/>
          </p:cNvSpPr>
          <p:nvPr>
            <p:ph idx="1"/>
          </p:nvPr>
        </p:nvSpPr>
        <p:spPr/>
        <p:txBody>
          <a:bodyPr/>
          <a:lstStyle/>
          <a:p>
            <a:r>
              <a:rPr lang="en-US" dirty="0"/>
              <a:t> </a:t>
            </a:r>
            <a:r>
              <a:rPr lang="en-US" dirty="0" err="1"/>
              <a:t>john_friends</a:t>
            </a:r>
            <a:r>
              <a:rPr lang="en-US" dirty="0"/>
              <a:t> = {"Linda", "Mathew", "Carlos", "Laura"}</a:t>
            </a:r>
          </a:p>
          <a:p>
            <a:r>
              <a:rPr lang="en-US" dirty="0"/>
              <a:t> </a:t>
            </a:r>
            <a:r>
              <a:rPr lang="en-US" dirty="0" err="1"/>
              <a:t>jane_friends</a:t>
            </a:r>
            <a:r>
              <a:rPr lang="en-US" dirty="0"/>
              <a:t> = {"Alice", "Bob", "Laura", "Mathew"}</a:t>
            </a:r>
          </a:p>
          <a:p>
            <a:endParaRPr lang="en-US" dirty="0"/>
          </a:p>
          <a:p>
            <a:r>
              <a:rPr lang="en-US" dirty="0"/>
              <a:t> </a:t>
            </a:r>
            <a:r>
              <a:rPr lang="en-US" dirty="0" err="1"/>
              <a:t>john_friends</a:t>
            </a:r>
            <a:r>
              <a:rPr lang="en-US" dirty="0"/>
              <a:t> &amp; </a:t>
            </a:r>
            <a:r>
              <a:rPr lang="en-US" dirty="0" err="1"/>
              <a:t>jane_friends</a:t>
            </a:r>
            <a:endParaRPr lang="en-US" dirty="0"/>
          </a:p>
          <a:p>
            <a:r>
              <a:rPr lang="en-US" dirty="0"/>
              <a:t> </a:t>
            </a:r>
            <a:r>
              <a:rPr lang="en-US" dirty="0" err="1"/>
              <a:t>john_friends.intersection</a:t>
            </a:r>
            <a:r>
              <a:rPr lang="en-US" dirty="0"/>
              <a:t>(</a:t>
            </a:r>
            <a:r>
              <a:rPr lang="en-US" dirty="0" err="1"/>
              <a:t>jane_friends</a:t>
            </a:r>
            <a:r>
              <a:rPr lang="en-US" dirty="0"/>
              <a:t>)</a:t>
            </a:r>
          </a:p>
        </p:txBody>
      </p:sp>
    </p:spTree>
    <p:extLst>
      <p:ext uri="{BB962C8B-B14F-4D97-AF65-F5344CB8AC3E}">
        <p14:creationId xmlns:p14="http://schemas.microsoft.com/office/powerpoint/2010/main" val="4011079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CF28D-9E00-8678-3341-EF63385FC6DC}"/>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1FEBEB8A-681D-B372-271C-5174B085AAFE}"/>
              </a:ext>
            </a:extLst>
          </p:cNvPr>
          <p:cNvSpPr>
            <a:spLocks noGrp="1"/>
          </p:cNvSpPr>
          <p:nvPr>
            <p:ph idx="1"/>
          </p:nvPr>
        </p:nvSpPr>
        <p:spPr/>
        <p:txBody>
          <a:bodyPr>
            <a:normAutofit/>
          </a:bodyPr>
          <a:lstStyle/>
          <a:p>
            <a:r>
              <a:rPr lang="en-US" dirty="0"/>
              <a:t> a = {1, 2, 3, 4}</a:t>
            </a:r>
          </a:p>
          <a:p>
            <a:r>
              <a:rPr lang="en-US" dirty="0"/>
              <a:t> b = {2, 3, 4, 5}</a:t>
            </a:r>
          </a:p>
          <a:p>
            <a:r>
              <a:rPr lang="en-US" dirty="0"/>
              <a:t> c = {3, 4, 5, 6}</a:t>
            </a:r>
          </a:p>
          <a:p>
            <a:r>
              <a:rPr lang="en-US" dirty="0"/>
              <a:t> d = {4, 5, 6, 7}</a:t>
            </a:r>
          </a:p>
          <a:p>
            <a:endParaRPr lang="en-US" dirty="0"/>
          </a:p>
          <a:p>
            <a:r>
              <a:rPr lang="en-US" dirty="0"/>
              <a:t>a &amp; b &amp; c &amp; d</a:t>
            </a:r>
          </a:p>
          <a:p>
            <a:r>
              <a:rPr lang="en-US" dirty="0"/>
              <a:t> </a:t>
            </a:r>
            <a:r>
              <a:rPr lang="en-US" dirty="0" err="1"/>
              <a:t>a.intersection</a:t>
            </a:r>
            <a:r>
              <a:rPr lang="en-US" dirty="0"/>
              <a:t>(b, c, d)</a:t>
            </a:r>
          </a:p>
        </p:txBody>
      </p:sp>
    </p:spTree>
    <p:extLst>
      <p:ext uri="{BB962C8B-B14F-4D97-AF65-F5344CB8AC3E}">
        <p14:creationId xmlns:p14="http://schemas.microsoft.com/office/powerpoint/2010/main" val="2619114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BA7540-4756-8A98-C4AA-795E73FF3FD7}"/>
              </a:ext>
            </a:extLst>
          </p:cNvPr>
          <p:cNvSpPr>
            <a:spLocks noGrp="1"/>
          </p:cNvSpPr>
          <p:nvPr>
            <p:ph idx="1"/>
          </p:nvPr>
        </p:nvSpPr>
        <p:spPr>
          <a:xfrm>
            <a:off x="838200" y="685800"/>
            <a:ext cx="9829800" cy="5867400"/>
          </a:xfrm>
        </p:spPr>
        <p:txBody>
          <a:bodyPr>
            <a:normAutofit fontScale="92500" lnSpcReduction="10000"/>
          </a:bodyPr>
          <a:lstStyle/>
          <a:p>
            <a:pPr marL="0" indent="0">
              <a:spcBef>
                <a:spcPts val="0"/>
              </a:spcBef>
              <a:buNone/>
            </a:pPr>
            <a:r>
              <a:rPr lang="en-US" dirty="0"/>
              <a:t># Python program to  demonstrate intersection  of two sets</a:t>
            </a:r>
          </a:p>
          <a:p>
            <a:pPr marL="0" indent="0">
              <a:spcBef>
                <a:spcPts val="0"/>
              </a:spcBef>
              <a:buNone/>
            </a:pPr>
            <a:endParaRPr lang="en-US" dirty="0"/>
          </a:p>
          <a:p>
            <a:pPr marL="0" indent="0">
              <a:spcBef>
                <a:spcPts val="0"/>
              </a:spcBef>
              <a:buNone/>
            </a:pPr>
            <a:r>
              <a:rPr lang="en-US" dirty="0"/>
              <a:t>set1 = set()</a:t>
            </a:r>
          </a:p>
          <a:p>
            <a:pPr marL="0" indent="0">
              <a:spcBef>
                <a:spcPts val="0"/>
              </a:spcBef>
              <a:buNone/>
            </a:pPr>
            <a:r>
              <a:rPr lang="en-US" dirty="0"/>
              <a:t>set2 = set()</a:t>
            </a:r>
          </a:p>
          <a:p>
            <a:pPr marL="0" indent="0">
              <a:spcBef>
                <a:spcPts val="0"/>
              </a:spcBef>
              <a:buNone/>
            </a:pPr>
            <a:endParaRPr lang="en-US" dirty="0"/>
          </a:p>
          <a:p>
            <a:pPr marL="0" indent="0">
              <a:spcBef>
                <a:spcPts val="0"/>
              </a:spcBef>
              <a:buNone/>
            </a:pPr>
            <a:r>
              <a:rPr lang="en-US" dirty="0"/>
              <a:t>for </a:t>
            </a:r>
            <a:r>
              <a:rPr lang="en-US" dirty="0" err="1"/>
              <a:t>i</a:t>
            </a:r>
            <a:r>
              <a:rPr lang="en-US" dirty="0"/>
              <a:t> in range(5):</a:t>
            </a:r>
          </a:p>
          <a:p>
            <a:pPr marL="0" indent="0">
              <a:spcBef>
                <a:spcPts val="0"/>
              </a:spcBef>
              <a:buNone/>
            </a:pPr>
            <a:r>
              <a:rPr lang="en-US" dirty="0"/>
              <a:t>    set1.add(</a:t>
            </a:r>
            <a:r>
              <a:rPr lang="en-US" dirty="0" err="1"/>
              <a:t>i</a:t>
            </a:r>
            <a:r>
              <a:rPr lang="en-US" dirty="0"/>
              <a:t>)</a:t>
            </a:r>
          </a:p>
          <a:p>
            <a:pPr marL="0" indent="0">
              <a:spcBef>
                <a:spcPts val="0"/>
              </a:spcBef>
              <a:buNone/>
            </a:pPr>
            <a:endParaRPr lang="en-US" dirty="0"/>
          </a:p>
          <a:p>
            <a:pPr marL="0" indent="0">
              <a:spcBef>
                <a:spcPts val="0"/>
              </a:spcBef>
              <a:buNone/>
            </a:pPr>
            <a:r>
              <a:rPr lang="en-US" dirty="0"/>
              <a:t>for </a:t>
            </a:r>
            <a:r>
              <a:rPr lang="en-US" dirty="0" err="1"/>
              <a:t>i</a:t>
            </a:r>
            <a:r>
              <a:rPr lang="en-US" dirty="0"/>
              <a:t> in range(3,9):</a:t>
            </a:r>
          </a:p>
          <a:p>
            <a:pPr marL="0" indent="0">
              <a:spcBef>
                <a:spcPts val="0"/>
              </a:spcBef>
              <a:buNone/>
            </a:pPr>
            <a:r>
              <a:rPr lang="en-US" dirty="0"/>
              <a:t>    set2.add(</a:t>
            </a:r>
            <a:r>
              <a:rPr lang="en-US" dirty="0" err="1"/>
              <a:t>i</a:t>
            </a:r>
            <a:r>
              <a:rPr lang="en-US" dirty="0"/>
              <a:t>)</a:t>
            </a:r>
          </a:p>
          <a:p>
            <a:pPr marL="0" indent="0">
              <a:spcBef>
                <a:spcPts val="0"/>
              </a:spcBef>
              <a:buNone/>
            </a:pPr>
            <a:endParaRPr lang="en-US" dirty="0"/>
          </a:p>
          <a:p>
            <a:pPr marL="0" indent="0">
              <a:spcBef>
                <a:spcPts val="0"/>
              </a:spcBef>
              <a:buNone/>
            </a:pPr>
            <a:r>
              <a:rPr lang="en-US" dirty="0"/>
              <a:t># Intersection using # intersection() function</a:t>
            </a:r>
          </a:p>
          <a:p>
            <a:pPr marL="0" indent="0">
              <a:spcBef>
                <a:spcPts val="0"/>
              </a:spcBef>
              <a:buNone/>
            </a:pPr>
            <a:endParaRPr lang="en-US" dirty="0"/>
          </a:p>
          <a:p>
            <a:pPr marL="0" indent="0">
              <a:spcBef>
                <a:spcPts val="0"/>
              </a:spcBef>
              <a:buNone/>
            </a:pPr>
            <a:r>
              <a:rPr lang="en-US" dirty="0"/>
              <a:t>set3 = set1.intersection(set2)</a:t>
            </a:r>
          </a:p>
          <a:p>
            <a:pPr marL="0" indent="0">
              <a:spcBef>
                <a:spcPts val="0"/>
              </a:spcBef>
              <a:buNone/>
            </a:pPr>
            <a:endParaRPr lang="en-US" dirty="0"/>
          </a:p>
          <a:p>
            <a:pPr marL="0" indent="0">
              <a:spcBef>
                <a:spcPts val="0"/>
              </a:spcBef>
              <a:buNone/>
            </a:pPr>
            <a:r>
              <a:rPr lang="en-US" dirty="0"/>
              <a:t>print("Intersection using intersection() function")</a:t>
            </a:r>
          </a:p>
          <a:p>
            <a:pPr marL="0" indent="0">
              <a:spcBef>
                <a:spcPts val="0"/>
              </a:spcBef>
              <a:buNone/>
            </a:pPr>
            <a:r>
              <a:rPr lang="en-US" dirty="0"/>
              <a:t>print(set3)</a:t>
            </a:r>
          </a:p>
          <a:p>
            <a:pPr marL="0" indent="0">
              <a:spcBef>
                <a:spcPts val="0"/>
              </a:spcBef>
              <a:buNone/>
            </a:pPr>
            <a:endParaRPr lang="en-US" dirty="0"/>
          </a:p>
          <a:p>
            <a:pPr marL="0" indent="0">
              <a:spcBef>
                <a:spcPts val="0"/>
              </a:spcBef>
              <a:buNone/>
            </a:pPr>
            <a:r>
              <a:rPr lang="en-US" dirty="0"/>
              <a:t># Intersection using # "&amp;" operator</a:t>
            </a:r>
          </a:p>
          <a:p>
            <a:pPr marL="0" indent="0">
              <a:spcBef>
                <a:spcPts val="0"/>
              </a:spcBef>
              <a:buNone/>
            </a:pPr>
            <a:endParaRPr lang="en-US" dirty="0"/>
          </a:p>
          <a:p>
            <a:pPr marL="0" indent="0">
              <a:spcBef>
                <a:spcPts val="0"/>
              </a:spcBef>
              <a:buNone/>
            </a:pPr>
            <a:r>
              <a:rPr lang="en-US" dirty="0"/>
              <a:t>set3 = set1 &amp; set2</a:t>
            </a:r>
          </a:p>
          <a:p>
            <a:pPr marL="0" indent="0">
              <a:spcBef>
                <a:spcPts val="0"/>
              </a:spcBef>
              <a:buNone/>
            </a:pPr>
            <a:endParaRPr lang="en-US" dirty="0"/>
          </a:p>
          <a:p>
            <a:pPr marL="0" indent="0">
              <a:spcBef>
                <a:spcPts val="0"/>
              </a:spcBef>
              <a:buNone/>
            </a:pPr>
            <a:r>
              <a:rPr lang="en-US" dirty="0"/>
              <a:t>print("\</a:t>
            </a:r>
            <a:r>
              <a:rPr lang="en-US" dirty="0" err="1"/>
              <a:t>nIntersection</a:t>
            </a:r>
            <a:r>
              <a:rPr lang="en-US" dirty="0"/>
              <a:t> using '&amp;' operator")</a:t>
            </a:r>
          </a:p>
          <a:p>
            <a:pPr marL="0" indent="0">
              <a:spcBef>
                <a:spcPts val="0"/>
              </a:spcBef>
              <a:buNone/>
            </a:pPr>
            <a:r>
              <a:rPr lang="en-US" dirty="0"/>
              <a:t>print(set3)</a:t>
            </a:r>
          </a:p>
        </p:txBody>
      </p:sp>
    </p:spTree>
    <p:extLst>
      <p:ext uri="{BB962C8B-B14F-4D97-AF65-F5344CB8AC3E}">
        <p14:creationId xmlns:p14="http://schemas.microsoft.com/office/powerpoint/2010/main" val="3912771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192D6-F0E9-F7AB-B2D0-0AA94F11D122}"/>
              </a:ext>
            </a:extLst>
          </p:cNvPr>
          <p:cNvSpPr>
            <a:spLocks noGrp="1"/>
          </p:cNvSpPr>
          <p:nvPr>
            <p:ph type="title"/>
          </p:nvPr>
        </p:nvSpPr>
        <p:spPr>
          <a:xfrm>
            <a:off x="1524000" y="457200"/>
            <a:ext cx="9144000" cy="1143000"/>
          </a:xfrm>
        </p:spPr>
        <p:txBody>
          <a:bodyPr anchor="b">
            <a:normAutofit/>
          </a:bodyPr>
          <a:lstStyle/>
          <a:p>
            <a:r>
              <a:rPr lang="en-US" dirty="0"/>
              <a:t>Difference</a:t>
            </a:r>
          </a:p>
        </p:txBody>
      </p:sp>
      <p:pic>
        <p:nvPicPr>
          <p:cNvPr id="10242" name="Picture 2" descr="Set Difference Operation">
            <a:extLst>
              <a:ext uri="{FF2B5EF4-FFF2-40B4-BE49-F238E27FC236}">
                <a16:creationId xmlns:a16="http://schemas.microsoft.com/office/drawing/2014/main" id="{3A6A49C4-9BB1-DBA4-E58D-A2059169B03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754702" y="1828800"/>
            <a:ext cx="6682596" cy="4267200"/>
          </a:xfrm>
          <a:prstGeom prst="rect">
            <a:avLst/>
          </a:prstGeom>
          <a:solidFill>
            <a:srgbClr val="FFFFFF"/>
          </a:solidFill>
        </p:spPr>
      </p:pic>
    </p:spTree>
    <p:extLst>
      <p:ext uri="{BB962C8B-B14F-4D97-AF65-F5344CB8AC3E}">
        <p14:creationId xmlns:p14="http://schemas.microsoft.com/office/powerpoint/2010/main" val="977175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28469-7DB2-11A5-BBC5-7DB4EEA9B9C7}"/>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5183F820-142A-1987-530E-C7435922D776}"/>
              </a:ext>
            </a:extLst>
          </p:cNvPr>
          <p:cNvSpPr>
            <a:spLocks noGrp="1"/>
          </p:cNvSpPr>
          <p:nvPr>
            <p:ph idx="1"/>
          </p:nvPr>
        </p:nvSpPr>
        <p:spPr/>
        <p:txBody>
          <a:bodyPr/>
          <a:lstStyle/>
          <a:p>
            <a:r>
              <a:rPr lang="en-US" dirty="0"/>
              <a:t> </a:t>
            </a:r>
            <a:r>
              <a:rPr lang="en-US" dirty="0" err="1"/>
              <a:t>registered_users</a:t>
            </a:r>
            <a:r>
              <a:rPr lang="en-US" dirty="0"/>
              <a:t> = {"Alice", "Bob", "Charlie", "Diana", "Linda"}</a:t>
            </a:r>
          </a:p>
          <a:p>
            <a:r>
              <a:rPr lang="en-US" dirty="0"/>
              <a:t> </a:t>
            </a:r>
            <a:r>
              <a:rPr lang="en-US" dirty="0" err="1"/>
              <a:t>checked_in_users</a:t>
            </a:r>
            <a:r>
              <a:rPr lang="en-US" dirty="0"/>
              <a:t> = {"Alice", "Charlie", "Linda"}</a:t>
            </a:r>
          </a:p>
          <a:p>
            <a:endParaRPr lang="en-US" dirty="0"/>
          </a:p>
          <a:p>
            <a:r>
              <a:rPr lang="en-US" dirty="0"/>
              <a:t> </a:t>
            </a:r>
            <a:r>
              <a:rPr lang="en-US" dirty="0" err="1"/>
              <a:t>registered_users</a:t>
            </a:r>
            <a:r>
              <a:rPr lang="en-US" dirty="0"/>
              <a:t> - </a:t>
            </a:r>
            <a:r>
              <a:rPr lang="en-US" dirty="0" err="1"/>
              <a:t>checked_in_users</a:t>
            </a:r>
            <a:endParaRPr lang="en-US" dirty="0"/>
          </a:p>
          <a:p>
            <a:r>
              <a:rPr lang="en-US" dirty="0"/>
              <a:t>{'Bob', 'Diana'}</a:t>
            </a:r>
          </a:p>
        </p:txBody>
      </p:sp>
    </p:spTree>
    <p:extLst>
      <p:ext uri="{BB962C8B-B14F-4D97-AF65-F5344CB8AC3E}">
        <p14:creationId xmlns:p14="http://schemas.microsoft.com/office/powerpoint/2010/main" val="41514589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6C1DA-2D05-FACA-1984-85907A3A7A47}"/>
              </a:ext>
            </a:extLst>
          </p:cNvPr>
          <p:cNvSpPr>
            <a:spLocks noGrp="1"/>
          </p:cNvSpPr>
          <p:nvPr>
            <p:ph type="title"/>
          </p:nvPr>
        </p:nvSpPr>
        <p:spPr>
          <a:xfrm>
            <a:off x="1524000" y="457200"/>
            <a:ext cx="9144000" cy="1143000"/>
          </a:xfrm>
        </p:spPr>
        <p:txBody>
          <a:bodyPr anchor="b">
            <a:normAutofit/>
          </a:bodyPr>
          <a:lstStyle/>
          <a:p>
            <a:r>
              <a:rPr lang="en-US" dirty="0"/>
              <a:t>Example	</a:t>
            </a:r>
          </a:p>
        </p:txBody>
      </p:sp>
      <p:sp>
        <p:nvSpPr>
          <p:cNvPr id="3" name="Content Placeholder 2">
            <a:extLst>
              <a:ext uri="{FF2B5EF4-FFF2-40B4-BE49-F238E27FC236}">
                <a16:creationId xmlns:a16="http://schemas.microsoft.com/office/drawing/2014/main" id="{D863BFF4-C395-68D4-D218-B8F0223AB96A}"/>
              </a:ext>
            </a:extLst>
          </p:cNvPr>
          <p:cNvSpPr>
            <a:spLocks noGrp="1"/>
          </p:cNvSpPr>
          <p:nvPr>
            <p:ph sz="half" idx="1"/>
          </p:nvPr>
        </p:nvSpPr>
        <p:spPr>
          <a:xfrm>
            <a:off x="1524000" y="1825625"/>
            <a:ext cx="4343400" cy="4270375"/>
          </a:xfrm>
        </p:spPr>
        <p:txBody>
          <a:bodyPr>
            <a:normAutofit/>
          </a:bodyPr>
          <a:lstStyle/>
          <a:p>
            <a:r>
              <a:rPr lang="en-US"/>
              <a:t> a = {1, 2, 3, 30, 300}</a:t>
            </a:r>
          </a:p>
          <a:p>
            <a:r>
              <a:rPr lang="en-US"/>
              <a:t> b = {10, 20, 30, 40}</a:t>
            </a:r>
          </a:p>
          <a:p>
            <a:r>
              <a:rPr lang="en-US"/>
              <a:t> c = {100, 200, 300, 400}</a:t>
            </a:r>
          </a:p>
          <a:p>
            <a:endParaRPr lang="en-US"/>
          </a:p>
          <a:p>
            <a:r>
              <a:rPr lang="en-US"/>
              <a:t>a - b - c</a:t>
            </a:r>
          </a:p>
          <a:p>
            <a:pPr marL="0" indent="0">
              <a:buNone/>
            </a:pPr>
            <a:endParaRPr lang="en-US"/>
          </a:p>
          <a:p>
            <a:r>
              <a:rPr lang="en-US" err="1"/>
              <a:t>a.difference</a:t>
            </a:r>
            <a:r>
              <a:rPr lang="en-US"/>
              <a:t>(b, c)</a:t>
            </a:r>
          </a:p>
          <a:p>
            <a:pPr marL="0" indent="0">
              <a:buNone/>
            </a:pPr>
            <a:endParaRPr lang="en-US"/>
          </a:p>
        </p:txBody>
      </p:sp>
      <p:pic>
        <p:nvPicPr>
          <p:cNvPr id="5" name="Picture 4">
            <a:extLst>
              <a:ext uri="{FF2B5EF4-FFF2-40B4-BE49-F238E27FC236}">
                <a16:creationId xmlns:a16="http://schemas.microsoft.com/office/drawing/2014/main" id="{498E677C-CD8B-631F-6486-74AC274FA6B0}"/>
              </a:ext>
            </a:extLst>
          </p:cNvPr>
          <p:cNvPicPr>
            <a:picLocks noChangeAspect="1"/>
          </p:cNvPicPr>
          <p:nvPr/>
        </p:nvPicPr>
        <p:blipFill>
          <a:blip r:embed="rId2"/>
          <a:stretch>
            <a:fillRect/>
          </a:stretch>
        </p:blipFill>
        <p:spPr>
          <a:xfrm>
            <a:off x="5334000" y="1844210"/>
            <a:ext cx="6275954" cy="3337390"/>
          </a:xfrm>
          <a:prstGeom prst="rect">
            <a:avLst/>
          </a:prstGeom>
          <a:noFill/>
        </p:spPr>
      </p:pic>
    </p:spTree>
    <p:extLst>
      <p:ext uri="{BB962C8B-B14F-4D97-AF65-F5344CB8AC3E}">
        <p14:creationId xmlns:p14="http://schemas.microsoft.com/office/powerpoint/2010/main" val="766929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DA8F71-F10E-92F8-1CF2-2AD5AA332881}"/>
              </a:ext>
            </a:extLst>
          </p:cNvPr>
          <p:cNvSpPr>
            <a:spLocks noGrp="1"/>
          </p:cNvSpPr>
          <p:nvPr>
            <p:ph idx="1"/>
          </p:nvPr>
        </p:nvSpPr>
        <p:spPr>
          <a:xfrm>
            <a:off x="1371600" y="381000"/>
            <a:ext cx="9525000" cy="6248400"/>
          </a:xfrm>
        </p:spPr>
        <p:txBody>
          <a:bodyPr>
            <a:noAutofit/>
          </a:bodyPr>
          <a:lstStyle/>
          <a:p>
            <a:pPr marL="0" indent="0">
              <a:lnSpc>
                <a:spcPct val="100000"/>
              </a:lnSpc>
              <a:spcBef>
                <a:spcPts val="0"/>
              </a:spcBef>
              <a:buNone/>
            </a:pPr>
            <a:r>
              <a:rPr lang="en-US" dirty="0"/>
              <a:t># Python program to # demonstrate difference # of two sets</a:t>
            </a:r>
          </a:p>
          <a:p>
            <a:pPr marL="0" indent="0">
              <a:lnSpc>
                <a:spcPct val="100000"/>
              </a:lnSpc>
              <a:spcBef>
                <a:spcPts val="0"/>
              </a:spcBef>
              <a:buNone/>
            </a:pPr>
            <a:endParaRPr lang="en-US" dirty="0"/>
          </a:p>
          <a:p>
            <a:pPr marL="0" indent="0">
              <a:lnSpc>
                <a:spcPct val="100000"/>
              </a:lnSpc>
              <a:spcBef>
                <a:spcPts val="0"/>
              </a:spcBef>
              <a:buNone/>
            </a:pPr>
            <a:r>
              <a:rPr lang="en-US" dirty="0"/>
              <a:t>set1 = set()</a:t>
            </a:r>
          </a:p>
          <a:p>
            <a:pPr marL="0" indent="0">
              <a:lnSpc>
                <a:spcPct val="100000"/>
              </a:lnSpc>
              <a:spcBef>
                <a:spcPts val="0"/>
              </a:spcBef>
              <a:buNone/>
            </a:pPr>
            <a:r>
              <a:rPr lang="en-US" dirty="0"/>
              <a:t>set2 = set()</a:t>
            </a:r>
          </a:p>
          <a:p>
            <a:pPr marL="0" indent="0">
              <a:lnSpc>
                <a:spcPct val="100000"/>
              </a:lnSpc>
              <a:spcBef>
                <a:spcPts val="0"/>
              </a:spcBef>
              <a:buNone/>
            </a:pPr>
            <a:endParaRPr lang="en-US" dirty="0"/>
          </a:p>
          <a:p>
            <a:pPr marL="0" indent="0">
              <a:lnSpc>
                <a:spcPct val="100000"/>
              </a:lnSpc>
              <a:spcBef>
                <a:spcPts val="0"/>
              </a:spcBef>
              <a:buNone/>
            </a:pPr>
            <a:r>
              <a:rPr lang="en-US" dirty="0"/>
              <a:t>for </a:t>
            </a:r>
            <a:r>
              <a:rPr lang="en-US" dirty="0" err="1"/>
              <a:t>i</a:t>
            </a:r>
            <a:r>
              <a:rPr lang="en-US" dirty="0"/>
              <a:t> in range(5):</a:t>
            </a:r>
          </a:p>
          <a:p>
            <a:pPr marL="0" indent="0">
              <a:lnSpc>
                <a:spcPct val="100000"/>
              </a:lnSpc>
              <a:spcBef>
                <a:spcPts val="0"/>
              </a:spcBef>
              <a:buNone/>
            </a:pPr>
            <a:r>
              <a:rPr lang="en-US" dirty="0"/>
              <a:t>    set1.add(</a:t>
            </a:r>
            <a:r>
              <a:rPr lang="en-US" dirty="0" err="1"/>
              <a:t>i</a:t>
            </a:r>
            <a:r>
              <a:rPr lang="en-US" dirty="0"/>
              <a:t>)</a:t>
            </a:r>
          </a:p>
          <a:p>
            <a:pPr marL="0" indent="0">
              <a:lnSpc>
                <a:spcPct val="100000"/>
              </a:lnSpc>
              <a:spcBef>
                <a:spcPts val="0"/>
              </a:spcBef>
              <a:buNone/>
            </a:pPr>
            <a:endParaRPr lang="en-US" dirty="0"/>
          </a:p>
          <a:p>
            <a:pPr marL="0" indent="0">
              <a:lnSpc>
                <a:spcPct val="100000"/>
              </a:lnSpc>
              <a:spcBef>
                <a:spcPts val="0"/>
              </a:spcBef>
              <a:buNone/>
            </a:pPr>
            <a:r>
              <a:rPr lang="en-US" dirty="0"/>
              <a:t>for </a:t>
            </a:r>
            <a:r>
              <a:rPr lang="en-US" dirty="0" err="1"/>
              <a:t>i</a:t>
            </a:r>
            <a:r>
              <a:rPr lang="en-US" dirty="0"/>
              <a:t> in range(3,9):</a:t>
            </a:r>
          </a:p>
          <a:p>
            <a:pPr marL="0" indent="0">
              <a:lnSpc>
                <a:spcPct val="100000"/>
              </a:lnSpc>
              <a:spcBef>
                <a:spcPts val="0"/>
              </a:spcBef>
              <a:buNone/>
            </a:pPr>
            <a:r>
              <a:rPr lang="en-US" dirty="0"/>
              <a:t>    set2.add(</a:t>
            </a:r>
            <a:r>
              <a:rPr lang="en-US" dirty="0" err="1"/>
              <a:t>i</a:t>
            </a:r>
            <a:r>
              <a:rPr lang="en-US" dirty="0"/>
              <a:t>)</a:t>
            </a:r>
          </a:p>
          <a:p>
            <a:pPr marL="0" indent="0">
              <a:lnSpc>
                <a:spcPct val="100000"/>
              </a:lnSpc>
              <a:spcBef>
                <a:spcPts val="0"/>
              </a:spcBef>
              <a:buNone/>
            </a:pPr>
            <a:endParaRPr lang="en-US" dirty="0"/>
          </a:p>
          <a:p>
            <a:pPr marL="0" indent="0">
              <a:lnSpc>
                <a:spcPct val="100000"/>
              </a:lnSpc>
              <a:spcBef>
                <a:spcPts val="0"/>
              </a:spcBef>
              <a:buNone/>
            </a:pPr>
            <a:r>
              <a:rPr lang="en-US" dirty="0"/>
              <a:t># Difference of two sets  # using difference() function </a:t>
            </a:r>
          </a:p>
          <a:p>
            <a:pPr marL="0" indent="0">
              <a:lnSpc>
                <a:spcPct val="100000"/>
              </a:lnSpc>
              <a:spcBef>
                <a:spcPts val="0"/>
              </a:spcBef>
              <a:buNone/>
            </a:pPr>
            <a:r>
              <a:rPr lang="en-US" dirty="0"/>
              <a:t>set3 = set1.difference(set2)</a:t>
            </a:r>
          </a:p>
          <a:p>
            <a:pPr marL="0" indent="0">
              <a:lnSpc>
                <a:spcPct val="100000"/>
              </a:lnSpc>
              <a:spcBef>
                <a:spcPts val="0"/>
              </a:spcBef>
              <a:buNone/>
            </a:pPr>
            <a:r>
              <a:rPr lang="en-US" dirty="0"/>
              <a:t>print(" Difference of two sets using difference() function")</a:t>
            </a:r>
          </a:p>
          <a:p>
            <a:pPr marL="0" indent="0">
              <a:lnSpc>
                <a:spcPct val="100000"/>
              </a:lnSpc>
              <a:spcBef>
                <a:spcPts val="0"/>
              </a:spcBef>
              <a:buNone/>
            </a:pPr>
            <a:r>
              <a:rPr lang="en-US" dirty="0"/>
              <a:t>print(set3)</a:t>
            </a:r>
          </a:p>
          <a:p>
            <a:pPr marL="0" indent="0">
              <a:lnSpc>
                <a:spcPct val="100000"/>
              </a:lnSpc>
              <a:spcBef>
                <a:spcPts val="0"/>
              </a:spcBef>
              <a:buNone/>
            </a:pPr>
            <a:endParaRPr lang="en-US" dirty="0"/>
          </a:p>
          <a:p>
            <a:pPr marL="0" indent="0">
              <a:lnSpc>
                <a:spcPct val="100000"/>
              </a:lnSpc>
              <a:spcBef>
                <a:spcPts val="0"/>
              </a:spcBef>
              <a:buNone/>
            </a:pPr>
            <a:r>
              <a:rPr lang="en-US" dirty="0"/>
              <a:t># Difference of two sets  # using '-' operator set3 = set1 - set2</a:t>
            </a:r>
          </a:p>
          <a:p>
            <a:pPr marL="0" indent="0">
              <a:lnSpc>
                <a:spcPct val="100000"/>
              </a:lnSpc>
              <a:spcBef>
                <a:spcPts val="0"/>
              </a:spcBef>
              <a:buNone/>
            </a:pPr>
            <a:endParaRPr lang="en-US" dirty="0"/>
          </a:p>
          <a:p>
            <a:pPr marL="0" indent="0">
              <a:lnSpc>
                <a:spcPct val="100000"/>
              </a:lnSpc>
              <a:spcBef>
                <a:spcPts val="0"/>
              </a:spcBef>
              <a:buNone/>
            </a:pPr>
            <a:r>
              <a:rPr lang="en-US" dirty="0"/>
              <a:t>print("\</a:t>
            </a:r>
            <a:r>
              <a:rPr lang="en-US" dirty="0" err="1"/>
              <a:t>nDifference</a:t>
            </a:r>
            <a:r>
              <a:rPr lang="en-US" dirty="0"/>
              <a:t> of two sets using '-' operator")</a:t>
            </a:r>
          </a:p>
          <a:p>
            <a:pPr marL="0" indent="0">
              <a:lnSpc>
                <a:spcPct val="100000"/>
              </a:lnSpc>
              <a:spcBef>
                <a:spcPts val="0"/>
              </a:spcBef>
              <a:buNone/>
            </a:pPr>
            <a:r>
              <a:rPr lang="en-US" dirty="0"/>
              <a:t>print(set3)</a:t>
            </a:r>
          </a:p>
        </p:txBody>
      </p:sp>
    </p:spTree>
    <p:extLst>
      <p:ext uri="{BB962C8B-B14F-4D97-AF65-F5344CB8AC3E}">
        <p14:creationId xmlns:p14="http://schemas.microsoft.com/office/powerpoint/2010/main" val="1072422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FA462-7597-45A3-E8CA-F41CDCCDB1AE}"/>
              </a:ext>
            </a:extLst>
          </p:cNvPr>
          <p:cNvSpPr>
            <a:spLocks noGrp="1"/>
          </p:cNvSpPr>
          <p:nvPr>
            <p:ph type="title"/>
          </p:nvPr>
        </p:nvSpPr>
        <p:spPr>
          <a:xfrm>
            <a:off x="1524000" y="457200"/>
            <a:ext cx="9144000" cy="1143000"/>
          </a:xfrm>
        </p:spPr>
        <p:txBody>
          <a:bodyPr anchor="b">
            <a:normAutofit/>
          </a:bodyPr>
          <a:lstStyle/>
          <a:p>
            <a:r>
              <a:rPr lang="en-US" dirty="0"/>
              <a:t>Symmetric Difference</a:t>
            </a:r>
          </a:p>
        </p:txBody>
      </p:sp>
      <p:pic>
        <p:nvPicPr>
          <p:cNvPr id="11266" name="Picture 2" descr="Set Symmetric Difference Operation">
            <a:extLst>
              <a:ext uri="{FF2B5EF4-FFF2-40B4-BE49-F238E27FC236}">
                <a16:creationId xmlns:a16="http://schemas.microsoft.com/office/drawing/2014/main" id="{646E4A90-3F79-6AB7-69D7-141645CB7F4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447800" y="2122449"/>
            <a:ext cx="6682596" cy="4267200"/>
          </a:xfrm>
          <a:prstGeom prst="rect">
            <a:avLst/>
          </a:prstGeom>
          <a:solidFill>
            <a:srgbClr val="FFFFFF"/>
          </a:solidFill>
        </p:spPr>
      </p:pic>
    </p:spTree>
    <p:extLst>
      <p:ext uri="{BB962C8B-B14F-4D97-AF65-F5344CB8AC3E}">
        <p14:creationId xmlns:p14="http://schemas.microsoft.com/office/powerpoint/2010/main" val="1100032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9219-77AF-659A-AC84-65216DEF89AD}"/>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0933EBBC-DF18-5481-1C98-3B6C51A19B8F}"/>
              </a:ext>
            </a:extLst>
          </p:cNvPr>
          <p:cNvSpPr>
            <a:spLocks noGrp="1"/>
          </p:cNvSpPr>
          <p:nvPr>
            <p:ph idx="1"/>
          </p:nvPr>
        </p:nvSpPr>
        <p:spPr/>
        <p:txBody>
          <a:bodyPr/>
          <a:lstStyle/>
          <a:p>
            <a:r>
              <a:rPr lang="en-US" dirty="0" err="1"/>
              <a:t>morning_attendees</a:t>
            </a:r>
            <a:r>
              <a:rPr lang="en-US" dirty="0"/>
              <a:t> = {"Alice", "Charlie", "Linda", "John", "Jane"}</a:t>
            </a:r>
          </a:p>
          <a:p>
            <a:r>
              <a:rPr lang="en-US" dirty="0" err="1"/>
              <a:t>afternoon_attendees</a:t>
            </a:r>
            <a:r>
              <a:rPr lang="en-US" dirty="0"/>
              <a:t> = {"Charlie", "Linda", "Bob", "Jane"}</a:t>
            </a:r>
          </a:p>
          <a:p>
            <a:endParaRPr lang="en-US" dirty="0"/>
          </a:p>
          <a:p>
            <a:r>
              <a:rPr lang="en-US" dirty="0" err="1"/>
              <a:t>morning_attendees</a:t>
            </a:r>
            <a:r>
              <a:rPr lang="en-US" dirty="0"/>
              <a:t> ^ </a:t>
            </a:r>
            <a:r>
              <a:rPr lang="en-US" dirty="0" err="1"/>
              <a:t>afternoon_attendees</a:t>
            </a:r>
            <a:endParaRPr lang="en-US" dirty="0"/>
          </a:p>
          <a:p>
            <a:endParaRPr lang="en-US" dirty="0"/>
          </a:p>
          <a:p>
            <a:r>
              <a:rPr lang="en-US" dirty="0" err="1"/>
              <a:t>morning_attendees.symmetric_difference</a:t>
            </a:r>
            <a:r>
              <a:rPr lang="en-US" dirty="0"/>
              <a:t>(</a:t>
            </a:r>
            <a:r>
              <a:rPr lang="en-US" dirty="0" err="1"/>
              <a:t>afternoon_attendees</a:t>
            </a:r>
            <a:r>
              <a:rPr lang="en-US" dirty="0"/>
              <a:t>)</a:t>
            </a:r>
          </a:p>
          <a:p>
            <a:r>
              <a:rPr lang="en-US" dirty="0" err="1"/>
              <a:t>afternoon_attendees</a:t>
            </a:r>
            <a:r>
              <a:rPr lang="en-US" dirty="0"/>
              <a:t> ^ </a:t>
            </a:r>
            <a:r>
              <a:rPr lang="en-US" dirty="0" err="1"/>
              <a:t>morning_attendees</a:t>
            </a:r>
            <a:endParaRPr lang="en-US" dirty="0"/>
          </a:p>
          <a:p>
            <a:pPr marL="0" indent="0">
              <a:buNone/>
            </a:pPr>
            <a:endParaRPr lang="en-US" dirty="0"/>
          </a:p>
        </p:txBody>
      </p:sp>
    </p:spTree>
    <p:extLst>
      <p:ext uri="{BB962C8B-B14F-4D97-AF65-F5344CB8AC3E}">
        <p14:creationId xmlns:p14="http://schemas.microsoft.com/office/powerpoint/2010/main" val="496151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21890-5BB9-883A-1993-3D8616087E5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D70B06E-1029-C07B-33F3-4EF21835F451}"/>
              </a:ext>
            </a:extLst>
          </p:cNvPr>
          <p:cNvSpPr>
            <a:spLocks noGrp="1"/>
          </p:cNvSpPr>
          <p:nvPr>
            <p:ph idx="1"/>
          </p:nvPr>
        </p:nvSpPr>
        <p:spPr/>
        <p:txBody>
          <a:bodyPr/>
          <a:lstStyle/>
          <a:p>
            <a:pPr marL="0" indent="0">
              <a:buNone/>
            </a:pPr>
            <a:r>
              <a:rPr lang="en-US" dirty="0"/>
              <a:t> a = {1, 2, 3, 4, 5}</a:t>
            </a:r>
          </a:p>
          <a:p>
            <a:pPr marL="0" indent="0">
              <a:buNone/>
            </a:pPr>
            <a:r>
              <a:rPr lang="en-US" dirty="0"/>
              <a:t> b = {10, 2, 3, 4, 50}</a:t>
            </a:r>
          </a:p>
          <a:p>
            <a:pPr marL="0" indent="0">
              <a:buNone/>
            </a:pPr>
            <a:r>
              <a:rPr lang="en-US" dirty="0"/>
              <a:t> c = {1, 50, 100}</a:t>
            </a:r>
          </a:p>
          <a:p>
            <a:endParaRPr lang="en-US" dirty="0"/>
          </a:p>
          <a:p>
            <a:pPr marL="0" indent="0">
              <a:buNone/>
            </a:pPr>
            <a:r>
              <a:rPr lang="en-US" dirty="0"/>
              <a:t>a ^ b ^ c</a:t>
            </a:r>
          </a:p>
          <a:p>
            <a:pPr marL="0" indent="0">
              <a:buNone/>
            </a:pPr>
            <a:endParaRPr lang="en-US" dirty="0"/>
          </a:p>
          <a:p>
            <a:pPr marL="0" indent="0">
              <a:buNone/>
            </a:pPr>
            <a:r>
              <a:rPr lang="en-US" dirty="0"/>
              <a:t> </a:t>
            </a:r>
            <a:r>
              <a:rPr lang="en-US" dirty="0" err="1"/>
              <a:t>a.symmetric_difference</a:t>
            </a:r>
            <a:r>
              <a:rPr lang="en-US" dirty="0"/>
              <a:t>(b).</a:t>
            </a:r>
            <a:r>
              <a:rPr lang="en-US" dirty="0" err="1"/>
              <a:t>symmetric_difference</a:t>
            </a:r>
            <a:r>
              <a:rPr lang="en-US" dirty="0"/>
              <a:t>(c)</a:t>
            </a:r>
          </a:p>
        </p:txBody>
      </p:sp>
    </p:spTree>
    <p:extLst>
      <p:ext uri="{BB962C8B-B14F-4D97-AF65-F5344CB8AC3E}">
        <p14:creationId xmlns:p14="http://schemas.microsoft.com/office/powerpoint/2010/main" val="725944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26C5E-201C-A069-741B-1FB0C01D4B7B}"/>
              </a:ext>
            </a:extLst>
          </p:cNvPr>
          <p:cNvSpPr>
            <a:spLocks noGrp="1"/>
          </p:cNvSpPr>
          <p:nvPr>
            <p:ph type="title"/>
          </p:nvPr>
        </p:nvSpPr>
        <p:spPr>
          <a:xfrm>
            <a:off x="1447800" y="0"/>
            <a:ext cx="9144000" cy="1143000"/>
          </a:xfrm>
        </p:spPr>
        <p:txBody>
          <a:bodyPr/>
          <a:lstStyle/>
          <a:p>
            <a:r>
              <a:rPr lang="en-US" b="1" dirty="0"/>
              <a:t>Clearing Python Sets</a:t>
            </a:r>
            <a:endParaRPr lang="en-US" dirty="0"/>
          </a:p>
        </p:txBody>
      </p:sp>
      <p:sp>
        <p:nvSpPr>
          <p:cNvPr id="3" name="Content Placeholder 2">
            <a:extLst>
              <a:ext uri="{FF2B5EF4-FFF2-40B4-BE49-F238E27FC236}">
                <a16:creationId xmlns:a16="http://schemas.microsoft.com/office/drawing/2014/main" id="{B8421FC3-BAFD-FB55-04B2-F91C7EB6EA4F}"/>
              </a:ext>
            </a:extLst>
          </p:cNvPr>
          <p:cNvSpPr>
            <a:spLocks noGrp="1"/>
          </p:cNvSpPr>
          <p:nvPr>
            <p:ph idx="1"/>
          </p:nvPr>
        </p:nvSpPr>
        <p:spPr>
          <a:xfrm>
            <a:off x="1435395" y="1295400"/>
            <a:ext cx="9144000" cy="4267200"/>
          </a:xfrm>
        </p:spPr>
        <p:txBody>
          <a:bodyPr>
            <a:noAutofit/>
          </a:bodyPr>
          <a:lstStyle/>
          <a:p>
            <a:pPr marL="0" indent="0">
              <a:lnSpc>
                <a:spcPct val="120000"/>
              </a:lnSpc>
              <a:spcBef>
                <a:spcPts val="0"/>
              </a:spcBef>
              <a:buNone/>
            </a:pPr>
            <a:r>
              <a:rPr lang="en-US" sz="2400" dirty="0"/>
              <a:t># Python program to # demonstrate clearing # of set</a:t>
            </a:r>
          </a:p>
          <a:p>
            <a:pPr marL="0" indent="0">
              <a:lnSpc>
                <a:spcPct val="120000"/>
              </a:lnSpc>
              <a:spcBef>
                <a:spcPts val="0"/>
              </a:spcBef>
              <a:buNone/>
            </a:pPr>
            <a:r>
              <a:rPr lang="en-US" sz="2400" dirty="0"/>
              <a:t>set1 = {1,2,3,4,5,6}</a:t>
            </a:r>
          </a:p>
          <a:p>
            <a:pPr marL="0" indent="0">
              <a:lnSpc>
                <a:spcPct val="120000"/>
              </a:lnSpc>
              <a:spcBef>
                <a:spcPts val="0"/>
              </a:spcBef>
              <a:buNone/>
            </a:pPr>
            <a:r>
              <a:rPr lang="en-US" sz="2400" dirty="0"/>
              <a:t>print("Initial set")</a:t>
            </a:r>
          </a:p>
          <a:p>
            <a:pPr marL="0" indent="0">
              <a:lnSpc>
                <a:spcPct val="120000"/>
              </a:lnSpc>
              <a:spcBef>
                <a:spcPts val="0"/>
              </a:spcBef>
              <a:buNone/>
            </a:pPr>
            <a:r>
              <a:rPr lang="en-US" sz="2400" dirty="0"/>
              <a:t>print(set1)</a:t>
            </a:r>
          </a:p>
          <a:p>
            <a:pPr marL="0" indent="0">
              <a:lnSpc>
                <a:spcPct val="120000"/>
              </a:lnSpc>
              <a:spcBef>
                <a:spcPts val="0"/>
              </a:spcBef>
              <a:buNone/>
            </a:pPr>
            <a:endParaRPr lang="en-US" sz="2400" dirty="0"/>
          </a:p>
          <a:p>
            <a:pPr marL="0" indent="0">
              <a:lnSpc>
                <a:spcPct val="120000"/>
              </a:lnSpc>
              <a:spcBef>
                <a:spcPts val="0"/>
              </a:spcBef>
              <a:buNone/>
            </a:pPr>
            <a:r>
              <a:rPr lang="en-US" sz="2400" dirty="0"/>
              <a:t># This method will remove # all the elements of the set set1.clear()</a:t>
            </a:r>
          </a:p>
          <a:p>
            <a:pPr marL="0" indent="0">
              <a:lnSpc>
                <a:spcPct val="120000"/>
              </a:lnSpc>
              <a:spcBef>
                <a:spcPts val="0"/>
              </a:spcBef>
              <a:buNone/>
            </a:pPr>
            <a:endParaRPr lang="en-US" sz="2400" dirty="0"/>
          </a:p>
          <a:p>
            <a:pPr marL="0" indent="0">
              <a:lnSpc>
                <a:spcPct val="120000"/>
              </a:lnSpc>
              <a:spcBef>
                <a:spcPts val="0"/>
              </a:spcBef>
              <a:buNone/>
            </a:pPr>
            <a:r>
              <a:rPr lang="en-US" sz="2400" dirty="0"/>
              <a:t>print("\</a:t>
            </a:r>
            <a:r>
              <a:rPr lang="en-US" sz="2400" dirty="0" err="1"/>
              <a:t>nSet</a:t>
            </a:r>
            <a:r>
              <a:rPr lang="en-US" sz="2400" dirty="0"/>
              <a:t> after using clear() function")</a:t>
            </a:r>
          </a:p>
          <a:p>
            <a:pPr marL="0" indent="0">
              <a:lnSpc>
                <a:spcPct val="120000"/>
              </a:lnSpc>
              <a:spcBef>
                <a:spcPts val="0"/>
              </a:spcBef>
              <a:buNone/>
            </a:pPr>
            <a:r>
              <a:rPr lang="en-US" sz="2400" dirty="0"/>
              <a:t>print(set1)</a:t>
            </a:r>
          </a:p>
        </p:txBody>
      </p:sp>
    </p:spTree>
    <p:extLst>
      <p:ext uri="{BB962C8B-B14F-4D97-AF65-F5344CB8AC3E}">
        <p14:creationId xmlns:p14="http://schemas.microsoft.com/office/powerpoint/2010/main" val="14628149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D58B-4D8F-E923-C11A-8D65F1F61571}"/>
              </a:ext>
            </a:extLst>
          </p:cNvPr>
          <p:cNvSpPr>
            <a:spLocks noGrp="1"/>
          </p:cNvSpPr>
          <p:nvPr>
            <p:ph type="title"/>
          </p:nvPr>
        </p:nvSpPr>
        <p:spPr/>
        <p:txBody>
          <a:bodyPr/>
          <a:lstStyle/>
          <a:p>
            <a:r>
              <a:rPr lang="en-US" b="1" dirty="0"/>
              <a:t>Comparing Sets</a:t>
            </a:r>
            <a:br>
              <a:rPr lang="en-US" b="1" dirty="0"/>
            </a:br>
            <a:endParaRPr lang="en-US" dirty="0"/>
          </a:p>
        </p:txBody>
      </p:sp>
      <p:sp>
        <p:nvSpPr>
          <p:cNvPr id="3" name="Content Placeholder 2">
            <a:extLst>
              <a:ext uri="{FF2B5EF4-FFF2-40B4-BE49-F238E27FC236}">
                <a16:creationId xmlns:a16="http://schemas.microsoft.com/office/drawing/2014/main" id="{68AC2B66-0499-9F4C-18C9-9F774EC9D597}"/>
              </a:ext>
            </a:extLst>
          </p:cNvPr>
          <p:cNvSpPr>
            <a:spLocks noGrp="1"/>
          </p:cNvSpPr>
          <p:nvPr>
            <p:ph idx="1"/>
          </p:nvPr>
        </p:nvSpPr>
        <p:spPr/>
        <p:txBody>
          <a:bodyPr>
            <a:noAutofit/>
          </a:bodyPr>
          <a:lstStyle/>
          <a:p>
            <a:pPr marL="0" indent="0">
              <a:buNone/>
            </a:pPr>
            <a:r>
              <a:rPr lang="en-US" sz="2400" dirty="0" err="1"/>
              <a:t>required_ingredients</a:t>
            </a:r>
            <a:r>
              <a:rPr lang="en-US" sz="2400" dirty="0"/>
              <a:t> = {"cheese", "eggs", "milk"}</a:t>
            </a:r>
          </a:p>
          <a:p>
            <a:pPr marL="0" indent="0">
              <a:buNone/>
            </a:pPr>
            <a:r>
              <a:rPr lang="en-US" sz="2400" dirty="0" err="1"/>
              <a:t>available_ingredients</a:t>
            </a:r>
            <a:r>
              <a:rPr lang="en-US" sz="2400" dirty="0"/>
              <a:t> = {"cheese", "eggs", "milk", "sugar", "salt"}</a:t>
            </a:r>
          </a:p>
          <a:p>
            <a:pPr marL="0" indent="0">
              <a:buNone/>
            </a:pPr>
            <a:r>
              <a:rPr lang="en-US" sz="2400" dirty="0" err="1"/>
              <a:t>required_ingredients</a:t>
            </a:r>
            <a:r>
              <a:rPr lang="en-US" sz="2400" dirty="0"/>
              <a:t> &lt;= </a:t>
            </a:r>
            <a:r>
              <a:rPr lang="en-US" sz="2400" dirty="0" err="1"/>
              <a:t>available_ingredients</a:t>
            </a:r>
            <a:endParaRPr lang="en-US" sz="2400" dirty="0"/>
          </a:p>
          <a:p>
            <a:pPr marL="0" indent="0">
              <a:buNone/>
            </a:pPr>
            <a:r>
              <a:rPr lang="en-US" sz="2400" dirty="0"/>
              <a:t>True</a:t>
            </a:r>
          </a:p>
          <a:p>
            <a:pPr marL="0" indent="0">
              <a:buNone/>
            </a:pPr>
            <a:endParaRPr lang="en-US" sz="2400" dirty="0"/>
          </a:p>
          <a:p>
            <a:pPr marL="0" indent="0">
              <a:buNone/>
            </a:pPr>
            <a:r>
              <a:rPr lang="en-US" sz="2400" dirty="0" err="1"/>
              <a:t>required_ingredients.issubset</a:t>
            </a:r>
            <a:r>
              <a:rPr lang="en-US" sz="2400" dirty="0"/>
              <a:t>(</a:t>
            </a:r>
            <a:r>
              <a:rPr lang="en-US" sz="2400" dirty="0" err="1"/>
              <a:t>available_ingredients</a:t>
            </a:r>
            <a:r>
              <a:rPr lang="en-US" sz="2400" dirty="0"/>
              <a:t>)</a:t>
            </a:r>
          </a:p>
          <a:p>
            <a:pPr marL="0" indent="0">
              <a:buNone/>
            </a:pPr>
            <a:r>
              <a:rPr lang="en-US" sz="2400" dirty="0"/>
              <a:t>True</a:t>
            </a:r>
          </a:p>
        </p:txBody>
      </p:sp>
    </p:spTree>
    <p:extLst>
      <p:ext uri="{BB962C8B-B14F-4D97-AF65-F5344CB8AC3E}">
        <p14:creationId xmlns:p14="http://schemas.microsoft.com/office/powerpoint/2010/main" val="3565632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7ACF0-8350-E8C7-D1B3-C5F37DA7BC63}"/>
              </a:ext>
            </a:extLst>
          </p:cNvPr>
          <p:cNvSpPr>
            <a:spLocks noGrp="1"/>
          </p:cNvSpPr>
          <p:nvPr>
            <p:ph type="title"/>
          </p:nvPr>
        </p:nvSpPr>
        <p:spPr>
          <a:xfrm>
            <a:off x="1524000" y="184666"/>
            <a:ext cx="9144000" cy="609600"/>
          </a:xfrm>
        </p:spPr>
        <p:txBody>
          <a:bodyPr/>
          <a:lstStyle/>
          <a:p>
            <a:r>
              <a:rPr lang="en-US" dirty="0"/>
              <a:t>subset</a:t>
            </a:r>
          </a:p>
        </p:txBody>
      </p:sp>
      <p:sp>
        <p:nvSpPr>
          <p:cNvPr id="3" name="Content Placeholder 2">
            <a:extLst>
              <a:ext uri="{FF2B5EF4-FFF2-40B4-BE49-F238E27FC236}">
                <a16:creationId xmlns:a16="http://schemas.microsoft.com/office/drawing/2014/main" id="{7A6793BE-872E-735B-CF71-2E2ACF72FFAB}"/>
              </a:ext>
            </a:extLst>
          </p:cNvPr>
          <p:cNvSpPr>
            <a:spLocks noGrp="1"/>
          </p:cNvSpPr>
          <p:nvPr>
            <p:ph idx="1"/>
          </p:nvPr>
        </p:nvSpPr>
        <p:spPr>
          <a:xfrm>
            <a:off x="1524000" y="1066800"/>
            <a:ext cx="9525000" cy="5029200"/>
          </a:xfrm>
        </p:spPr>
        <p:txBody>
          <a:bodyPr>
            <a:normAutofit/>
          </a:bodyPr>
          <a:lstStyle/>
          <a:p>
            <a:pPr marL="0" indent="0">
              <a:buNone/>
            </a:pPr>
            <a:r>
              <a:rPr lang="en-US" sz="2400" dirty="0">
                <a:solidFill>
                  <a:schemeClr val="tx1"/>
                </a:solidFill>
              </a:rPr>
              <a:t> </a:t>
            </a:r>
            <a:r>
              <a:rPr lang="en-US" altLang="en-US" sz="2400" dirty="0">
                <a:solidFill>
                  <a:schemeClr val="tx1"/>
                </a:solidFill>
                <a:latin typeface="Source Sans Pro" panose="020B0503030403020204" pitchFamily="34" charset="0"/>
              </a:rPr>
              <a:t>The </a:t>
            </a:r>
            <a:r>
              <a:rPr lang="en-US" altLang="en-US" sz="2400" b="1" dirty="0">
                <a:solidFill>
                  <a:schemeClr val="tx1"/>
                </a:solidFill>
                <a:latin typeface="Source Sans Pro" panose="020B0503030403020204" pitchFamily="34" charset="0"/>
              </a:rPr>
              <a:t>subset</a:t>
            </a:r>
            <a:r>
              <a:rPr lang="en-US" altLang="en-US" sz="2400" dirty="0">
                <a:solidFill>
                  <a:schemeClr val="tx1"/>
                </a:solidFill>
                <a:latin typeface="Source Sans Pro" panose="020B0503030403020204" pitchFamily="34" charset="0"/>
              </a:rPr>
              <a:t> operation lets you determine whether one set is contained in another. You can use the </a:t>
            </a:r>
            <a:r>
              <a:rPr lang="en-US" altLang="en-US" sz="2400" dirty="0">
                <a:solidFill>
                  <a:schemeClr val="tx1"/>
                </a:solidFill>
                <a:latin typeface="SFMono-Regular"/>
              </a:rPr>
              <a:t>&lt;=</a:t>
            </a:r>
            <a:r>
              <a:rPr lang="en-US" altLang="en-US" sz="2400" dirty="0">
                <a:solidFill>
                  <a:schemeClr val="tx1"/>
                </a:solidFill>
                <a:latin typeface="Source Sans Pro" panose="020B0503030403020204" pitchFamily="34" charset="0"/>
              </a:rPr>
              <a:t> operator or the </a:t>
            </a:r>
            <a:r>
              <a:rPr lang="en-US" altLang="en-US" sz="2400" dirty="0">
                <a:solidFill>
                  <a:srgbClr val="47B8C7"/>
                </a:solidFill>
                <a:latin typeface="SFMono-Regular"/>
                <a:hlinkClick r:id="rId2">
                  <a:extLst>
                    <a:ext uri="{A12FA001-AC4F-418D-AE19-62706E023703}">
                      <ahyp:hlinkClr xmlns:ahyp="http://schemas.microsoft.com/office/drawing/2018/hyperlinkcolor" val="tx"/>
                    </a:ext>
                  </a:extLst>
                </a:hlinkClick>
              </a:rPr>
              <a:t>.</a:t>
            </a:r>
            <a:r>
              <a:rPr lang="en-US" altLang="en-US" sz="2400" dirty="0" err="1">
                <a:solidFill>
                  <a:srgbClr val="47B8C7"/>
                </a:solidFill>
                <a:latin typeface="SFMono-Regular"/>
                <a:hlinkClick r:id="rId2">
                  <a:extLst>
                    <a:ext uri="{A12FA001-AC4F-418D-AE19-62706E023703}">
                      <ahyp:hlinkClr xmlns:ahyp="http://schemas.microsoft.com/office/drawing/2018/hyperlinkcolor" val="tx"/>
                    </a:ext>
                  </a:extLst>
                </a:hlinkClick>
              </a:rPr>
              <a:t>issubset</a:t>
            </a:r>
            <a:r>
              <a:rPr lang="en-US" altLang="en-US" sz="2400" dirty="0">
                <a:solidFill>
                  <a:schemeClr val="tx1"/>
                </a:solidFill>
                <a:latin typeface="SFMono-Regular"/>
                <a:hlinkClick r:id="rId2">
                  <a:extLst>
                    <a:ext uri="{A12FA001-AC4F-418D-AE19-62706E023703}">
                      <ahyp:hlinkClr xmlns:ahyp="http://schemas.microsoft.com/office/drawing/2018/hyperlinkcolor" val="tx"/>
                    </a:ext>
                  </a:extLst>
                </a:hlinkClick>
              </a:rPr>
              <a:t>()</a:t>
            </a:r>
            <a:r>
              <a:rPr lang="en-US" altLang="en-US" sz="2400" dirty="0">
                <a:solidFill>
                  <a:schemeClr val="tx1"/>
                </a:solidFill>
                <a:latin typeface="Source Sans Pro" panose="020B0503030403020204" pitchFamily="34" charset="0"/>
              </a:rPr>
              <a:t> method to perform this check.</a:t>
            </a:r>
            <a:r>
              <a:rPr lang="en-US" altLang="en-US" sz="2400" dirty="0">
                <a:solidFill>
                  <a:schemeClr val="tx1"/>
                </a:solidFill>
              </a:rPr>
              <a:t> </a:t>
            </a:r>
            <a:endParaRPr lang="en-US" altLang="en-US" sz="2400" dirty="0">
              <a:solidFill>
                <a:schemeClr val="tx1"/>
              </a:solidFill>
              <a:latin typeface="Arial" panose="020B0604020202020204" pitchFamily="34" charset="0"/>
            </a:endParaRPr>
          </a:p>
          <a:p>
            <a:pPr marL="0" indent="0">
              <a:buNone/>
            </a:pPr>
            <a:endParaRPr lang="en-US" sz="2400" dirty="0"/>
          </a:p>
          <a:p>
            <a:pPr marL="0" indent="0">
              <a:buNone/>
            </a:pPr>
            <a:r>
              <a:rPr lang="en-US" sz="2400" dirty="0"/>
              <a:t>a = {1, 2, 3, 4, 5}</a:t>
            </a:r>
          </a:p>
          <a:p>
            <a:pPr marL="0" indent="0">
              <a:buNone/>
            </a:pPr>
            <a:r>
              <a:rPr lang="en-US" sz="2400" dirty="0"/>
              <a:t> a &lt;= a</a:t>
            </a:r>
          </a:p>
          <a:p>
            <a:pPr marL="0" indent="0">
              <a:buNone/>
            </a:pPr>
            <a:r>
              <a:rPr lang="en-US" sz="2400" dirty="0"/>
              <a:t>True</a:t>
            </a:r>
          </a:p>
          <a:p>
            <a:pPr marL="0" indent="0">
              <a:buNone/>
            </a:pPr>
            <a:r>
              <a:rPr lang="en-US" sz="2400" dirty="0"/>
              <a:t> </a:t>
            </a:r>
            <a:r>
              <a:rPr lang="en-US" sz="2400" dirty="0" err="1"/>
              <a:t>a.issubset</a:t>
            </a:r>
            <a:r>
              <a:rPr lang="en-US" sz="2400" dirty="0"/>
              <a:t>(a)</a:t>
            </a:r>
          </a:p>
          <a:p>
            <a:pPr marL="0" indent="0">
              <a:buNone/>
            </a:pPr>
            <a:r>
              <a:rPr lang="en-US" sz="2400" dirty="0"/>
              <a:t>True</a:t>
            </a:r>
          </a:p>
        </p:txBody>
      </p:sp>
      <p:sp>
        <p:nvSpPr>
          <p:cNvPr id="4" name="Rectangle 1">
            <a:extLst>
              <a:ext uri="{FF2B5EF4-FFF2-40B4-BE49-F238E27FC236}">
                <a16:creationId xmlns:a16="http://schemas.microsoft.com/office/drawing/2014/main" id="{132CE8C2-DC22-59C5-4827-E248FEC4A6E1}"/>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50658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C8C67-F2D0-958F-AF9B-15BB25027589}"/>
              </a:ext>
            </a:extLst>
          </p:cNvPr>
          <p:cNvSpPr>
            <a:spLocks noGrp="1"/>
          </p:cNvSpPr>
          <p:nvPr>
            <p:ph type="title"/>
          </p:nvPr>
        </p:nvSpPr>
        <p:spPr/>
        <p:txBody>
          <a:bodyPr/>
          <a:lstStyle/>
          <a:p>
            <a:r>
              <a:rPr lang="en-US" dirty="0"/>
              <a:t>Proper Subsets</a:t>
            </a:r>
            <a:br>
              <a:rPr lang="en-US" dirty="0"/>
            </a:br>
            <a:endParaRPr lang="en-US" dirty="0"/>
          </a:p>
        </p:txBody>
      </p:sp>
      <p:sp>
        <p:nvSpPr>
          <p:cNvPr id="4" name="Rectangle 1">
            <a:extLst>
              <a:ext uri="{FF2B5EF4-FFF2-40B4-BE49-F238E27FC236}">
                <a16:creationId xmlns:a16="http://schemas.microsoft.com/office/drawing/2014/main" id="{49A35104-151B-B34C-5296-C7DE2701BF0F}"/>
              </a:ext>
            </a:extLst>
          </p:cNvPr>
          <p:cNvSpPr>
            <a:spLocks noGrp="1" noChangeArrowheads="1"/>
          </p:cNvSpPr>
          <p:nvPr>
            <p:ph idx="1"/>
          </p:nvPr>
        </p:nvSpPr>
        <p:spPr bwMode="auto">
          <a:xfrm>
            <a:off x="933450" y="1512332"/>
            <a:ext cx="10325100" cy="489364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00000"/>
              </a:lnSpc>
              <a:buClrTx/>
              <a:buNone/>
            </a:pPr>
            <a:r>
              <a:rPr lang="en-US" altLang="en-US" sz="2400" dirty="0">
                <a:solidFill>
                  <a:srgbClr val="222222"/>
                </a:solidFill>
                <a:latin typeface="Source Sans Pro" panose="020B0503030403020204" pitchFamily="34" charset="0"/>
              </a:rPr>
              <a:t>We can determine whether one set is a proper subset of another by using the </a:t>
            </a:r>
            <a:r>
              <a:rPr lang="en-US" altLang="en-US" sz="2400" dirty="0">
                <a:solidFill>
                  <a:srgbClr val="222222"/>
                </a:solidFill>
                <a:latin typeface="SFMono-Regular"/>
              </a:rPr>
              <a:t>&lt;</a:t>
            </a:r>
            <a:r>
              <a:rPr lang="en-US" altLang="en-US" sz="2400" dirty="0">
                <a:solidFill>
                  <a:srgbClr val="222222"/>
                </a:solidFill>
                <a:latin typeface="Source Sans Pro" panose="020B0503030403020204" pitchFamily="34" charset="0"/>
              </a:rPr>
              <a:t> operator. </a:t>
            </a:r>
            <a:r>
              <a:rPr lang="en-US" altLang="en-US" sz="2400" dirty="0"/>
              <a:t> </a:t>
            </a:r>
            <a:endParaRPr lang="en-US" altLang="en-US" sz="2400" dirty="0">
              <a:solidFill>
                <a:schemeClr val="bg1"/>
              </a:solidFill>
            </a:endParaRPr>
          </a:p>
          <a:p>
            <a:pPr marL="0" indent="0">
              <a:lnSpc>
                <a:spcPct val="100000"/>
              </a:lnSpc>
              <a:buClrTx/>
              <a:buNone/>
            </a:pPr>
            <a:endParaRPr lang="en-US" altLang="en-US" sz="2400" dirty="0">
              <a:solidFill>
                <a:schemeClr val="bg1"/>
              </a:solidFill>
            </a:endParaRPr>
          </a:p>
          <a:p>
            <a:pPr marL="0" indent="0">
              <a:lnSpc>
                <a:spcPct val="100000"/>
              </a:lnSpc>
              <a:buClrTx/>
              <a:buNone/>
            </a:pPr>
            <a:r>
              <a:rPr lang="en-US" altLang="en-US" sz="2400" dirty="0">
                <a:solidFill>
                  <a:schemeClr val="bg1"/>
                </a:solidFill>
              </a:rPr>
              <a:t>Example</a:t>
            </a:r>
          </a:p>
          <a:p>
            <a:pPr marL="0" indent="0">
              <a:lnSpc>
                <a:spcPct val="100000"/>
              </a:lnSpc>
              <a:buClrTx/>
              <a:buNone/>
            </a:pPr>
            <a:r>
              <a:rPr lang="en-US" altLang="en-US" sz="2400" dirty="0" err="1">
                <a:solidFill>
                  <a:schemeClr val="bg1"/>
                </a:solidFill>
              </a:rPr>
              <a:t>regular_plan</a:t>
            </a:r>
            <a:r>
              <a:rPr lang="en-US" altLang="en-US" sz="2400" dirty="0">
                <a:solidFill>
                  <a:schemeClr val="bg1"/>
                </a:solidFill>
              </a:rPr>
              <a:t> = {"Tutorials", "Quizzes"}</a:t>
            </a:r>
          </a:p>
          <a:p>
            <a:pPr marL="0" indent="0">
              <a:lnSpc>
                <a:spcPct val="100000"/>
              </a:lnSpc>
              <a:buClrTx/>
              <a:buNone/>
            </a:pPr>
            <a:r>
              <a:rPr lang="en-US" altLang="en-US" sz="2400" dirty="0" err="1">
                <a:solidFill>
                  <a:schemeClr val="bg1"/>
                </a:solidFill>
              </a:rPr>
              <a:t>premium_plan</a:t>
            </a:r>
            <a:r>
              <a:rPr lang="en-US" altLang="en-US" sz="2400" dirty="0">
                <a:solidFill>
                  <a:schemeClr val="bg1"/>
                </a:solidFill>
              </a:rPr>
              <a:t> = {"Tutorials", "Video Courses", "Quizzes", "Books"}</a:t>
            </a:r>
          </a:p>
          <a:p>
            <a:pPr marL="0" indent="0">
              <a:lnSpc>
                <a:spcPct val="100000"/>
              </a:lnSpc>
              <a:buClrTx/>
              <a:buNone/>
            </a:pPr>
            <a:endParaRPr lang="en-US" altLang="en-US" sz="2400" dirty="0">
              <a:solidFill>
                <a:schemeClr val="bg1"/>
              </a:solidFill>
            </a:endParaRPr>
          </a:p>
          <a:p>
            <a:pPr marL="0" indent="0">
              <a:lnSpc>
                <a:spcPct val="100000"/>
              </a:lnSpc>
              <a:buClrTx/>
              <a:buNone/>
            </a:pPr>
            <a:r>
              <a:rPr lang="en-US" altLang="en-US" sz="2400" dirty="0" err="1">
                <a:solidFill>
                  <a:schemeClr val="bg1"/>
                </a:solidFill>
              </a:rPr>
              <a:t>regular_plan</a:t>
            </a:r>
            <a:r>
              <a:rPr lang="en-US" altLang="en-US" sz="2400" dirty="0">
                <a:solidFill>
                  <a:schemeClr val="bg1"/>
                </a:solidFill>
              </a:rPr>
              <a:t> &lt; </a:t>
            </a:r>
            <a:r>
              <a:rPr lang="en-US" altLang="en-US" sz="2400" dirty="0" err="1">
                <a:solidFill>
                  <a:schemeClr val="bg1"/>
                </a:solidFill>
              </a:rPr>
              <a:t>premium_plan</a:t>
            </a:r>
            <a:endParaRPr lang="en-US" altLang="en-US" sz="2400" dirty="0">
              <a:solidFill>
                <a:schemeClr val="bg1"/>
              </a:solidFill>
            </a:endParaRPr>
          </a:p>
          <a:p>
            <a:pPr marL="0" indent="0">
              <a:lnSpc>
                <a:spcPct val="100000"/>
              </a:lnSpc>
              <a:buClrTx/>
              <a:buNone/>
            </a:pPr>
            <a:endParaRPr lang="en-US" altLang="en-US" sz="2400" dirty="0">
              <a:solidFill>
                <a:schemeClr val="bg1"/>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bg1"/>
                </a:solidFill>
                <a:effectLst/>
                <a:latin typeface="Arial" panose="020B0604020202020204" pitchFamily="34" charset="0"/>
              </a:rPr>
              <a:t>Example</a:t>
            </a:r>
          </a:p>
          <a:p>
            <a:pPr marL="0" lvl="0" indent="0">
              <a:lnSpc>
                <a:spcPct val="100000"/>
              </a:lnSpc>
              <a:buClrTx/>
              <a:buNone/>
            </a:pPr>
            <a:r>
              <a:rPr lang="pt-BR" altLang="en-US" sz="2400" dirty="0">
                <a:solidFill>
                  <a:schemeClr val="bg1"/>
                </a:solidFill>
              </a:rPr>
              <a:t>a = {1, 2, 3, 4, 5}</a:t>
            </a:r>
          </a:p>
          <a:p>
            <a:pPr marL="0" lvl="0" indent="0">
              <a:lnSpc>
                <a:spcPct val="100000"/>
              </a:lnSpc>
              <a:buClrTx/>
              <a:buNone/>
            </a:pPr>
            <a:r>
              <a:rPr lang="pt-BR" altLang="en-US" sz="2400" dirty="0">
                <a:solidFill>
                  <a:schemeClr val="bg1"/>
                </a:solidFill>
              </a:rPr>
              <a:t>a &lt; a</a:t>
            </a:r>
          </a:p>
          <a:p>
            <a:pPr marL="0" lvl="0" indent="0">
              <a:lnSpc>
                <a:spcPct val="100000"/>
              </a:lnSpc>
              <a:buClrTx/>
              <a:buNone/>
            </a:pPr>
            <a:r>
              <a:rPr lang="pt-BR" altLang="en-US" sz="2400" dirty="0">
                <a:solidFill>
                  <a:schemeClr val="bg1"/>
                </a:solidFill>
              </a:rPr>
              <a:t>False</a:t>
            </a: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3077411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60E25-6D00-6453-461B-77FC632B4D68}"/>
              </a:ext>
            </a:extLst>
          </p:cNvPr>
          <p:cNvSpPr>
            <a:spLocks noGrp="1"/>
          </p:cNvSpPr>
          <p:nvPr>
            <p:ph type="title"/>
          </p:nvPr>
        </p:nvSpPr>
        <p:spPr>
          <a:xfrm>
            <a:off x="1524000" y="76200"/>
            <a:ext cx="9144000" cy="1143000"/>
          </a:xfrm>
        </p:spPr>
        <p:txBody>
          <a:bodyPr/>
          <a:lstStyle/>
          <a:p>
            <a:r>
              <a:rPr lang="en-US" dirty="0"/>
              <a:t>Superset</a:t>
            </a:r>
          </a:p>
        </p:txBody>
      </p:sp>
      <p:sp>
        <p:nvSpPr>
          <p:cNvPr id="4" name="Rectangle 1">
            <a:extLst>
              <a:ext uri="{FF2B5EF4-FFF2-40B4-BE49-F238E27FC236}">
                <a16:creationId xmlns:a16="http://schemas.microsoft.com/office/drawing/2014/main" id="{25DF549F-2D10-6D08-B5EA-5A2EF5D781BC}"/>
              </a:ext>
            </a:extLst>
          </p:cNvPr>
          <p:cNvSpPr>
            <a:spLocks noGrp="1" noChangeArrowheads="1"/>
          </p:cNvSpPr>
          <p:nvPr>
            <p:ph idx="1"/>
          </p:nvPr>
        </p:nvSpPr>
        <p:spPr bwMode="auto">
          <a:xfrm>
            <a:off x="533400" y="1371600"/>
            <a:ext cx="10896600" cy="52629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00000"/>
              </a:lnSpc>
              <a:buClrTx/>
              <a:buNone/>
            </a:pPr>
            <a:r>
              <a:rPr lang="en-US" altLang="en-US" sz="2400" dirty="0">
                <a:solidFill>
                  <a:srgbClr val="222222"/>
                </a:solidFill>
                <a:latin typeface="Source Sans Pro" panose="020B0503030403020204" pitchFamily="34" charset="0"/>
              </a:rPr>
              <a:t>The </a:t>
            </a:r>
            <a:r>
              <a:rPr lang="en-US" altLang="en-US" sz="2400" b="1" dirty="0">
                <a:solidFill>
                  <a:srgbClr val="222222"/>
                </a:solidFill>
                <a:latin typeface="Source Sans Pro" panose="020B0503030403020204" pitchFamily="34" charset="0"/>
              </a:rPr>
              <a:t>superset</a:t>
            </a:r>
            <a:r>
              <a:rPr lang="en-US" altLang="en-US" sz="2400" dirty="0">
                <a:solidFill>
                  <a:srgbClr val="222222"/>
                </a:solidFill>
                <a:latin typeface="Source Sans Pro" panose="020B0503030403020204" pitchFamily="34" charset="0"/>
              </a:rPr>
              <a:t> check lets you determine whether one set contains another. To perform this check, you can use the </a:t>
            </a:r>
            <a:r>
              <a:rPr lang="en-US" altLang="en-US" sz="2400" dirty="0">
                <a:solidFill>
                  <a:srgbClr val="222222"/>
                </a:solidFill>
                <a:latin typeface="SFMono-Regular"/>
              </a:rPr>
              <a:t>&gt;=</a:t>
            </a:r>
            <a:r>
              <a:rPr lang="en-US" altLang="en-US" sz="2400" dirty="0">
                <a:solidFill>
                  <a:srgbClr val="222222"/>
                </a:solidFill>
                <a:latin typeface="Source Sans Pro" panose="020B0503030403020204" pitchFamily="34" charset="0"/>
              </a:rPr>
              <a:t> operator or the </a:t>
            </a:r>
            <a:r>
              <a:rPr lang="en-US" altLang="en-US" sz="2400" dirty="0">
                <a:solidFill>
                  <a:srgbClr val="619CCD"/>
                </a:solidFill>
                <a:latin typeface="SFMono-Regular"/>
                <a:hlinkClick r:id="rId2"/>
              </a:rPr>
              <a:t>.</a:t>
            </a:r>
            <a:r>
              <a:rPr lang="en-US" altLang="en-US" sz="2400" dirty="0" err="1">
                <a:solidFill>
                  <a:srgbClr val="619CCD"/>
                </a:solidFill>
                <a:latin typeface="SFMono-Regular"/>
                <a:hlinkClick r:id="rId2"/>
              </a:rPr>
              <a:t>issuperset</a:t>
            </a:r>
            <a:r>
              <a:rPr lang="en-US" altLang="en-US" sz="2400" dirty="0">
                <a:solidFill>
                  <a:srgbClr val="619CCD"/>
                </a:solidFill>
                <a:latin typeface="SFMono-Regular"/>
                <a:hlinkClick r:id="rId2"/>
              </a:rPr>
              <a:t>()</a:t>
            </a:r>
            <a:r>
              <a:rPr lang="en-US" altLang="en-US" sz="2400" dirty="0">
                <a:solidFill>
                  <a:srgbClr val="222222"/>
                </a:solidFill>
                <a:latin typeface="Source Sans Pro" panose="020B0503030403020204" pitchFamily="34" charset="0"/>
              </a:rPr>
              <a:t> method.</a:t>
            </a:r>
            <a:r>
              <a:rPr lang="en-US" altLang="en-US" sz="2400" dirty="0"/>
              <a:t> </a:t>
            </a:r>
          </a:p>
          <a:p>
            <a:pPr marL="0" indent="0">
              <a:lnSpc>
                <a:spcPct val="100000"/>
              </a:lnSpc>
              <a:buClrTx/>
              <a:buNone/>
            </a:pPr>
            <a:r>
              <a:rPr lang="en-US" altLang="en-US" sz="2400" dirty="0">
                <a:solidFill>
                  <a:schemeClr val="bg1"/>
                </a:solidFill>
              </a:rPr>
              <a:t>x1 &gt;= x2</a:t>
            </a:r>
          </a:p>
          <a:p>
            <a:pPr marL="0" indent="0">
              <a:lnSpc>
                <a:spcPct val="100000"/>
              </a:lnSpc>
              <a:buClrTx/>
              <a:buNone/>
            </a:pPr>
            <a:endParaRPr lang="en-US" altLang="en-US" sz="2400" dirty="0">
              <a:solidFill>
                <a:schemeClr val="bg1"/>
              </a:solidFill>
            </a:endParaRPr>
          </a:p>
          <a:p>
            <a:pPr marL="0" indent="0">
              <a:lnSpc>
                <a:spcPct val="100000"/>
              </a:lnSpc>
              <a:buClrTx/>
              <a:buNone/>
            </a:pPr>
            <a:r>
              <a:rPr lang="en-US" altLang="en-US" sz="2400" dirty="0">
                <a:solidFill>
                  <a:schemeClr val="bg1"/>
                </a:solidFill>
              </a:rPr>
              <a:t>x1.issuperset(x2)</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chemeClr val="bg1"/>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bg1"/>
                </a:solidFill>
                <a:effectLst/>
                <a:latin typeface="Arial" panose="020B0604020202020204" pitchFamily="34" charset="0"/>
              </a:rPr>
              <a:t>Example</a:t>
            </a:r>
          </a:p>
          <a:p>
            <a:pPr marL="0" lvl="0" indent="0">
              <a:lnSpc>
                <a:spcPct val="100000"/>
              </a:lnSpc>
              <a:buClrTx/>
              <a:buNone/>
            </a:pPr>
            <a:endParaRPr lang="en-US" altLang="en-US" sz="2400" dirty="0">
              <a:solidFill>
                <a:schemeClr val="bg1"/>
              </a:solidFill>
            </a:endParaRPr>
          </a:p>
          <a:p>
            <a:pPr marL="0" lvl="0" indent="0">
              <a:lnSpc>
                <a:spcPct val="100000"/>
              </a:lnSpc>
              <a:buClrTx/>
              <a:buNone/>
            </a:pPr>
            <a:r>
              <a:rPr lang="en-US" altLang="en-US" sz="2400" dirty="0" err="1">
                <a:solidFill>
                  <a:schemeClr val="bg1"/>
                </a:solidFill>
              </a:rPr>
              <a:t>required_ingredients</a:t>
            </a:r>
            <a:r>
              <a:rPr lang="en-US" altLang="en-US" sz="2400" dirty="0">
                <a:solidFill>
                  <a:schemeClr val="bg1"/>
                </a:solidFill>
              </a:rPr>
              <a:t> = {"cheese", "eggs", "milk"}</a:t>
            </a:r>
          </a:p>
          <a:p>
            <a:pPr marL="0" lvl="0" indent="0">
              <a:lnSpc>
                <a:spcPct val="100000"/>
              </a:lnSpc>
              <a:buClrTx/>
              <a:buNone/>
            </a:pPr>
            <a:r>
              <a:rPr lang="en-US" altLang="en-US" sz="2400" dirty="0" err="1">
                <a:solidFill>
                  <a:schemeClr val="bg1"/>
                </a:solidFill>
              </a:rPr>
              <a:t>available_ingredients</a:t>
            </a:r>
            <a:r>
              <a:rPr lang="en-US" altLang="en-US" sz="2400" dirty="0">
                <a:solidFill>
                  <a:schemeClr val="bg1"/>
                </a:solidFill>
              </a:rPr>
              <a:t> = {"cheese", "eggs", "milk", "sugar", "salt"}</a:t>
            </a:r>
          </a:p>
          <a:p>
            <a:pPr marL="0" lvl="0" indent="0">
              <a:lnSpc>
                <a:spcPct val="100000"/>
              </a:lnSpc>
              <a:buClrTx/>
              <a:buNone/>
            </a:pPr>
            <a:endParaRPr lang="en-US" altLang="en-US" sz="2400" dirty="0">
              <a:solidFill>
                <a:schemeClr val="bg1"/>
              </a:solidFill>
            </a:endParaRPr>
          </a:p>
          <a:p>
            <a:pPr marL="0" lvl="0" indent="0">
              <a:lnSpc>
                <a:spcPct val="100000"/>
              </a:lnSpc>
              <a:buClrTx/>
              <a:buNone/>
            </a:pPr>
            <a:r>
              <a:rPr lang="en-US" altLang="en-US" sz="2400" dirty="0" err="1">
                <a:solidFill>
                  <a:schemeClr val="bg1"/>
                </a:solidFill>
              </a:rPr>
              <a:t>available_ingredients</a:t>
            </a:r>
            <a:r>
              <a:rPr lang="en-US" altLang="en-US" sz="2400" dirty="0">
                <a:solidFill>
                  <a:schemeClr val="bg1"/>
                </a:solidFill>
              </a:rPr>
              <a:t> &gt;= </a:t>
            </a:r>
            <a:r>
              <a:rPr lang="en-US" altLang="en-US" sz="2400" dirty="0" err="1">
                <a:solidFill>
                  <a:schemeClr val="bg1"/>
                </a:solidFill>
              </a:rPr>
              <a:t>required_ingredients</a:t>
            </a:r>
            <a:endParaRPr lang="en-US" altLang="en-US" sz="2400" dirty="0">
              <a:solidFill>
                <a:schemeClr val="bg1"/>
              </a:solidFill>
            </a:endParaRPr>
          </a:p>
          <a:p>
            <a:pPr marL="0" lvl="0" indent="0">
              <a:lnSpc>
                <a:spcPct val="100000"/>
              </a:lnSpc>
              <a:buClrTx/>
              <a:buNone/>
            </a:pPr>
            <a:r>
              <a:rPr lang="en-US" altLang="en-US" sz="2400" dirty="0" err="1">
                <a:solidFill>
                  <a:schemeClr val="bg1"/>
                </a:solidFill>
              </a:rPr>
              <a:t>available_ingredients.issuperset</a:t>
            </a:r>
            <a:r>
              <a:rPr lang="en-US" altLang="en-US" sz="2400" dirty="0">
                <a:solidFill>
                  <a:schemeClr val="bg1"/>
                </a:solidFill>
              </a:rPr>
              <a:t>(</a:t>
            </a:r>
            <a:r>
              <a:rPr lang="en-US" altLang="en-US" sz="2400" dirty="0" err="1">
                <a:solidFill>
                  <a:schemeClr val="bg1"/>
                </a:solidFill>
              </a:rPr>
              <a:t>required_ingredients</a:t>
            </a:r>
            <a:r>
              <a:rPr lang="en-US" altLang="en-US" sz="2400" dirty="0">
                <a:solidFill>
                  <a:schemeClr val="bg1"/>
                </a:solidFill>
              </a:rPr>
              <a:t>)</a:t>
            </a:r>
          </a:p>
          <a:p>
            <a:pPr marL="0" lvl="0" indent="0">
              <a:lnSpc>
                <a:spcPct val="100000"/>
              </a:lnSpc>
              <a:buClrTx/>
              <a:buNone/>
            </a:pP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36986099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9B775-3C9F-3317-CDB3-3B0EDCC43D7C}"/>
              </a:ext>
            </a:extLst>
          </p:cNvPr>
          <p:cNvSpPr>
            <a:spLocks noGrp="1"/>
          </p:cNvSpPr>
          <p:nvPr>
            <p:ph type="title"/>
          </p:nvPr>
        </p:nvSpPr>
        <p:spPr>
          <a:xfrm>
            <a:off x="1524000" y="152400"/>
            <a:ext cx="9144000" cy="1143000"/>
          </a:xfrm>
        </p:spPr>
        <p:txBody>
          <a:bodyPr/>
          <a:lstStyle/>
          <a:p>
            <a:r>
              <a:rPr lang="en-US" dirty="0"/>
              <a:t>Python Set Methods</a:t>
            </a:r>
          </a:p>
        </p:txBody>
      </p:sp>
      <p:sp>
        <p:nvSpPr>
          <p:cNvPr id="4" name="Rectangle 1">
            <a:extLst>
              <a:ext uri="{FF2B5EF4-FFF2-40B4-BE49-F238E27FC236}">
                <a16:creationId xmlns:a16="http://schemas.microsoft.com/office/drawing/2014/main" id="{0701CF11-5E4B-864A-C811-3BB1B0DBD07C}"/>
              </a:ext>
            </a:extLst>
          </p:cNvPr>
          <p:cNvSpPr>
            <a:spLocks noGrp="1" noChangeArrowheads="1"/>
          </p:cNvSpPr>
          <p:nvPr>
            <p:ph idx="1"/>
          </p:nvPr>
        </p:nvSpPr>
        <p:spPr bwMode="auto">
          <a:xfrm>
            <a:off x="1524000" y="1515577"/>
            <a:ext cx="7157729"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rPr>
              <a:t>add()</a:t>
            </a:r>
            <a:r>
              <a:rPr kumimoji="0" lang="en-US" altLang="en-US" sz="2400" b="0" i="0" u="none" strike="noStrike" cap="none" normalizeH="0" baseline="0" dirty="0">
                <a:ln>
                  <a:noFill/>
                </a:ln>
                <a:solidFill>
                  <a:schemeClr val="tx1"/>
                </a:solidFill>
                <a:effectLst/>
              </a:rPr>
              <a:t> – Adds an element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rPr>
              <a:t>remove()</a:t>
            </a:r>
            <a:r>
              <a:rPr kumimoji="0" lang="en-US" altLang="en-US" sz="2400" b="0" i="0" u="none" strike="noStrike" cap="none" normalizeH="0" baseline="0" dirty="0">
                <a:ln>
                  <a:noFill/>
                </a:ln>
                <a:solidFill>
                  <a:schemeClr val="tx1"/>
                </a:solidFill>
                <a:effectLst/>
              </a:rPr>
              <a:t> – Removes element, error if not present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rPr>
              <a:t>discard()</a:t>
            </a:r>
            <a:r>
              <a:rPr kumimoji="0" lang="en-US" altLang="en-US" sz="2400" b="0" i="0" u="none" strike="noStrike" cap="none" normalizeH="0" baseline="0" dirty="0">
                <a:ln>
                  <a:noFill/>
                </a:ln>
                <a:solidFill>
                  <a:schemeClr val="tx1"/>
                </a:solidFill>
                <a:effectLst/>
              </a:rPr>
              <a:t> – Removes element, no error if not present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rPr>
              <a:t>pop()</a:t>
            </a:r>
            <a:r>
              <a:rPr kumimoji="0" lang="en-US" altLang="en-US" sz="2400" b="0" i="0" u="none" strike="noStrike" cap="none" normalizeH="0" baseline="0" dirty="0">
                <a:ln>
                  <a:noFill/>
                </a:ln>
                <a:solidFill>
                  <a:schemeClr val="tx1"/>
                </a:solidFill>
                <a:effectLst/>
              </a:rPr>
              <a:t> – Removes and returns a random element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rPr>
              <a:t>clear()</a:t>
            </a:r>
            <a:r>
              <a:rPr kumimoji="0" lang="en-US" altLang="en-US" sz="2400" b="0" i="0" u="none" strike="noStrike" cap="none" normalizeH="0" baseline="0" dirty="0">
                <a:ln>
                  <a:noFill/>
                </a:ln>
                <a:solidFill>
                  <a:schemeClr val="tx1"/>
                </a:solidFill>
                <a:effectLst/>
              </a:rPr>
              <a:t> – Removes all elements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rPr>
              <a:t>copy()</a:t>
            </a:r>
            <a:r>
              <a:rPr kumimoji="0" lang="en-US" altLang="en-US" sz="2400" b="0" i="0" u="none" strike="noStrike" cap="none" normalizeH="0" baseline="0" dirty="0">
                <a:ln>
                  <a:noFill/>
                </a:ln>
                <a:solidFill>
                  <a:schemeClr val="tx1"/>
                </a:solidFill>
                <a:effectLst/>
              </a:rPr>
              <a:t> – Returns a shallow copy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None/>
            </a:pPr>
            <a:r>
              <a:rPr lang="en-US" altLang="en-US" sz="2400" dirty="0">
                <a:solidFill>
                  <a:schemeClr val="tx1"/>
                </a:solidFill>
                <a:latin typeface="Arial" panose="020B0604020202020204" pitchFamily="34" charset="0"/>
              </a:rPr>
              <a:t>s = {1, 2, 3}</a:t>
            </a:r>
          </a:p>
          <a:p>
            <a:pPr marL="0" lvl="0" indent="0" eaLnBrk="0" fontAlgn="base" hangingPunct="0">
              <a:lnSpc>
                <a:spcPct val="100000"/>
              </a:lnSpc>
              <a:spcBef>
                <a:spcPct val="0"/>
              </a:spcBef>
              <a:spcAft>
                <a:spcPct val="0"/>
              </a:spcAft>
              <a:buClrTx/>
              <a:buNone/>
            </a:pPr>
            <a:r>
              <a:rPr lang="en-US" altLang="en-US" sz="2400" dirty="0" err="1">
                <a:solidFill>
                  <a:schemeClr val="tx1"/>
                </a:solidFill>
                <a:latin typeface="Arial" panose="020B0604020202020204" pitchFamily="34" charset="0"/>
              </a:rPr>
              <a:t>s.add</a:t>
            </a:r>
            <a:r>
              <a:rPr lang="en-US" altLang="en-US" sz="2400" dirty="0">
                <a:solidFill>
                  <a:schemeClr val="tx1"/>
                </a:solidFill>
                <a:latin typeface="Arial" panose="020B0604020202020204" pitchFamily="34" charset="0"/>
              </a:rPr>
              <a:t>(4)</a:t>
            </a:r>
          </a:p>
          <a:p>
            <a:pPr marL="0" lvl="0" indent="0" eaLnBrk="0" fontAlgn="base" hangingPunct="0">
              <a:lnSpc>
                <a:spcPct val="100000"/>
              </a:lnSpc>
              <a:spcBef>
                <a:spcPct val="0"/>
              </a:spcBef>
              <a:spcAft>
                <a:spcPct val="0"/>
              </a:spcAft>
              <a:buClrTx/>
              <a:buNone/>
            </a:pPr>
            <a:r>
              <a:rPr lang="en-US" altLang="en-US" sz="2400" dirty="0" err="1">
                <a:solidFill>
                  <a:schemeClr val="tx1"/>
                </a:solidFill>
                <a:latin typeface="Arial" panose="020B0604020202020204" pitchFamily="34" charset="0"/>
              </a:rPr>
              <a:t>s.remove</a:t>
            </a:r>
            <a:r>
              <a:rPr lang="en-US" altLang="en-US" sz="2400" dirty="0">
                <a:solidFill>
                  <a:schemeClr val="tx1"/>
                </a:solidFill>
                <a:latin typeface="Arial" panose="020B0604020202020204" pitchFamily="34" charset="0"/>
              </a:rPr>
              <a:t>(2)</a:t>
            </a:r>
          </a:p>
          <a:p>
            <a:pPr marL="0" lvl="0" indent="0" eaLnBrk="0" fontAlgn="base" hangingPunct="0">
              <a:lnSpc>
                <a:spcPct val="100000"/>
              </a:lnSpc>
              <a:spcBef>
                <a:spcPct val="0"/>
              </a:spcBef>
              <a:spcAft>
                <a:spcPct val="0"/>
              </a:spcAft>
              <a:buClrTx/>
              <a:buNone/>
            </a:pPr>
            <a:r>
              <a:rPr lang="en-US" altLang="en-US" sz="2400" dirty="0" err="1">
                <a:solidFill>
                  <a:schemeClr val="tx1"/>
                </a:solidFill>
                <a:latin typeface="Arial" panose="020B0604020202020204" pitchFamily="34" charset="0"/>
              </a:rPr>
              <a:t>s.discard</a:t>
            </a:r>
            <a:r>
              <a:rPr lang="en-US" altLang="en-US" sz="2400" dirty="0">
                <a:solidFill>
                  <a:schemeClr val="tx1"/>
                </a:solidFill>
                <a:latin typeface="Arial" panose="020B0604020202020204" pitchFamily="34" charset="0"/>
              </a:rPr>
              <a:t>(5)</a:t>
            </a:r>
          </a:p>
          <a:p>
            <a:pPr marL="0" lvl="0" indent="0" eaLnBrk="0" fontAlgn="base" hangingPunct="0">
              <a:lnSpc>
                <a:spcPct val="100000"/>
              </a:lnSpc>
              <a:spcBef>
                <a:spcPct val="0"/>
              </a:spcBef>
              <a:spcAft>
                <a:spcPct val="0"/>
              </a:spcAft>
              <a:buClrTx/>
              <a:buNone/>
            </a:pPr>
            <a:r>
              <a:rPr lang="en-US" altLang="en-US" sz="2400" dirty="0">
                <a:solidFill>
                  <a:schemeClr val="tx1"/>
                </a:solidFill>
                <a:latin typeface="Arial" panose="020B0604020202020204" pitchFamily="34" charset="0"/>
              </a:rPr>
              <a:t>print(s)  # {1, 3, 4}</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28576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8E8B4-2C4D-2E8D-0381-C8126CDA7E18}"/>
              </a:ext>
            </a:extLst>
          </p:cNvPr>
          <p:cNvSpPr>
            <a:spLocks noGrp="1"/>
          </p:cNvSpPr>
          <p:nvPr>
            <p:ph type="title"/>
          </p:nvPr>
        </p:nvSpPr>
        <p:spPr>
          <a:xfrm>
            <a:off x="1371600" y="152400"/>
            <a:ext cx="9144000" cy="1143000"/>
          </a:xfrm>
        </p:spPr>
        <p:txBody>
          <a:bodyPr/>
          <a:lstStyle/>
          <a:p>
            <a:r>
              <a:rPr lang="en-US" dirty="0"/>
              <a:t>Functions and Methods of Set</a:t>
            </a:r>
          </a:p>
        </p:txBody>
      </p:sp>
      <p:sp>
        <p:nvSpPr>
          <p:cNvPr id="4" name="Rectangle 1">
            <a:extLst>
              <a:ext uri="{FF2B5EF4-FFF2-40B4-BE49-F238E27FC236}">
                <a16:creationId xmlns:a16="http://schemas.microsoft.com/office/drawing/2014/main" id="{F43C6902-EF43-CE7A-E7D4-6F88601BB50B}"/>
              </a:ext>
            </a:extLst>
          </p:cNvPr>
          <p:cNvSpPr>
            <a:spLocks noGrp="1" noChangeArrowheads="1"/>
          </p:cNvSpPr>
          <p:nvPr>
            <p:ph idx="1"/>
          </p:nvPr>
        </p:nvSpPr>
        <p:spPr bwMode="auto">
          <a:xfrm>
            <a:off x="1524000" y="1700243"/>
            <a:ext cx="600273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Unicode MS"/>
              </a:rPr>
              <a:t>len</a:t>
            </a:r>
            <a:r>
              <a:rPr kumimoji="0" lang="en-US" altLang="en-US" sz="2400" b="0" i="0" u="none" strike="noStrike" cap="none" normalizeH="0" baseline="0" dirty="0">
                <a:ln>
                  <a:noFill/>
                </a:ln>
                <a:solidFill>
                  <a:schemeClr val="tx1"/>
                </a:solidFill>
                <a:effectLst/>
                <a:latin typeface="Arial Unicode MS"/>
              </a:rPr>
              <a:t>(s)</a:t>
            </a:r>
            <a:r>
              <a:rPr kumimoji="0" lang="en-US" altLang="en-US" sz="2400" b="0" i="0" u="none" strike="noStrike" cap="none" normalizeH="0" baseline="0" dirty="0">
                <a:ln>
                  <a:noFill/>
                </a:ln>
                <a:solidFill>
                  <a:schemeClr val="tx1"/>
                </a:solidFill>
                <a:effectLst/>
              </a:rPr>
              <a:t> → number of elements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rPr>
              <a:t>max(s)</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a:ln>
                  <a:noFill/>
                </a:ln>
                <a:solidFill>
                  <a:schemeClr val="tx1"/>
                </a:solidFill>
                <a:effectLst/>
                <a:latin typeface="Arial Unicode MS"/>
              </a:rPr>
              <a:t>min(s)</a:t>
            </a:r>
            <a:r>
              <a:rPr kumimoji="0" lang="en-US" altLang="en-US" sz="2400" b="0" i="0" u="none" strike="noStrike" cap="none" normalizeH="0" baseline="0" dirty="0">
                <a:ln>
                  <a:noFill/>
                </a:ln>
                <a:solidFill>
                  <a:schemeClr val="tx1"/>
                </a:solidFill>
                <a:effectLst/>
              </a:rPr>
              <a:t> → largest/smallest element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rPr>
              <a:t>sum(s)</a:t>
            </a:r>
            <a:r>
              <a:rPr kumimoji="0" lang="en-US" altLang="en-US" sz="2400" b="0" i="0" u="none" strike="noStrike" cap="none" normalizeH="0" baseline="0" dirty="0">
                <a:ln>
                  <a:noFill/>
                </a:ln>
                <a:solidFill>
                  <a:schemeClr val="tx1"/>
                </a:solidFill>
                <a:effectLst/>
              </a:rPr>
              <a:t> → sum of all elements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rPr>
              <a:t>sorted(s)</a:t>
            </a:r>
            <a:r>
              <a:rPr kumimoji="0" lang="en-US" altLang="en-US" sz="2400" b="0" i="0" u="none" strike="noStrike" cap="none" normalizeH="0" baseline="0" dirty="0">
                <a:ln>
                  <a:noFill/>
                </a:ln>
                <a:solidFill>
                  <a:schemeClr val="tx1"/>
                </a:solidFill>
                <a:effectLst/>
              </a:rPr>
              <a:t> → returns a sorted list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rPr>
              <a:t>all(s)</a:t>
            </a:r>
            <a:r>
              <a:rPr kumimoji="0" lang="en-US" altLang="en-US" sz="2400" b="0" i="0" u="none" strike="noStrike" cap="none" normalizeH="0" baseline="0" dirty="0">
                <a:ln>
                  <a:noFill/>
                </a:ln>
                <a:solidFill>
                  <a:schemeClr val="tx1"/>
                </a:solidFill>
                <a:effectLst/>
              </a:rPr>
              <a:t> → True if all elements are true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rPr>
              <a:t>any(s)</a:t>
            </a:r>
            <a:r>
              <a:rPr kumimoji="0" lang="en-US" altLang="en-US" sz="2400" b="0" i="0" u="none" strike="noStrike" cap="none" normalizeH="0" baseline="0" dirty="0">
                <a:ln>
                  <a:noFill/>
                </a:ln>
                <a:solidFill>
                  <a:schemeClr val="tx1"/>
                </a:solidFill>
                <a:effectLst/>
              </a:rPr>
              <a:t> → True if at least one element is true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None/>
            </a:pPr>
            <a:r>
              <a:rPr lang="en-US" altLang="en-US" sz="2400" dirty="0">
                <a:solidFill>
                  <a:schemeClr val="tx1"/>
                </a:solidFill>
                <a:latin typeface="Arial" panose="020B0604020202020204" pitchFamily="34" charset="0"/>
              </a:rPr>
              <a:t>s = {5, 10, 15}</a:t>
            </a:r>
          </a:p>
          <a:p>
            <a:pPr marL="0" lvl="0" indent="0" eaLnBrk="0" fontAlgn="base" hangingPunct="0">
              <a:lnSpc>
                <a:spcPct val="100000"/>
              </a:lnSpc>
              <a:spcBef>
                <a:spcPct val="0"/>
              </a:spcBef>
              <a:spcAft>
                <a:spcPct val="0"/>
              </a:spcAft>
              <a:buClrTx/>
              <a:buNone/>
            </a:pPr>
            <a:r>
              <a:rPr lang="en-US" altLang="en-US" sz="2400" dirty="0">
                <a:solidFill>
                  <a:schemeClr val="tx1"/>
                </a:solidFill>
                <a:latin typeface="Arial" panose="020B0604020202020204" pitchFamily="34" charset="0"/>
              </a:rPr>
              <a:t>print(</a:t>
            </a:r>
            <a:r>
              <a:rPr lang="en-US" altLang="en-US" sz="2400" dirty="0" err="1">
                <a:solidFill>
                  <a:schemeClr val="tx1"/>
                </a:solidFill>
                <a:latin typeface="Arial" panose="020B0604020202020204" pitchFamily="34" charset="0"/>
              </a:rPr>
              <a:t>len</a:t>
            </a:r>
            <a:r>
              <a:rPr lang="en-US" altLang="en-US" sz="2400" dirty="0">
                <a:solidFill>
                  <a:schemeClr val="tx1"/>
                </a:solidFill>
                <a:latin typeface="Arial" panose="020B0604020202020204" pitchFamily="34" charset="0"/>
              </a:rPr>
              <a:t>(s))   # 3</a:t>
            </a:r>
          </a:p>
          <a:p>
            <a:pPr marL="0" lvl="0" indent="0" eaLnBrk="0" fontAlgn="base" hangingPunct="0">
              <a:lnSpc>
                <a:spcPct val="100000"/>
              </a:lnSpc>
              <a:spcBef>
                <a:spcPct val="0"/>
              </a:spcBef>
              <a:spcAft>
                <a:spcPct val="0"/>
              </a:spcAft>
              <a:buClrTx/>
              <a:buNone/>
            </a:pPr>
            <a:r>
              <a:rPr lang="en-US" altLang="en-US" sz="2400" dirty="0">
                <a:solidFill>
                  <a:schemeClr val="tx1"/>
                </a:solidFill>
                <a:latin typeface="Arial" panose="020B0604020202020204" pitchFamily="34" charset="0"/>
              </a:rPr>
              <a:t>print(sum(s))   # 30</a:t>
            </a:r>
          </a:p>
          <a:p>
            <a:pPr marL="0" lvl="0" indent="0" eaLnBrk="0" fontAlgn="base" hangingPunct="0">
              <a:lnSpc>
                <a:spcPct val="100000"/>
              </a:lnSpc>
              <a:spcBef>
                <a:spcPct val="0"/>
              </a:spcBef>
              <a:spcAft>
                <a:spcPct val="0"/>
              </a:spcAft>
              <a:buClrTx/>
              <a:buNone/>
            </a:pPr>
            <a:r>
              <a:rPr lang="en-US" altLang="en-US" sz="2400" dirty="0">
                <a:solidFill>
                  <a:schemeClr val="tx1"/>
                </a:solidFill>
                <a:latin typeface="Arial" panose="020B0604020202020204" pitchFamily="34" charset="0"/>
              </a:rPr>
              <a:t>print(max(s))   # 15</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17955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8C394-3D83-FBBA-5819-EBE9FFA0A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D6FB2-927C-05BD-DA1F-1A5C8C36E688}"/>
              </a:ext>
            </a:extLst>
          </p:cNvPr>
          <p:cNvSpPr>
            <a:spLocks noGrp="1"/>
          </p:cNvSpPr>
          <p:nvPr>
            <p:ph type="ctrTitle"/>
          </p:nvPr>
        </p:nvSpPr>
        <p:spPr/>
        <p:txBody>
          <a:bodyPr/>
          <a:lstStyle/>
          <a:p>
            <a:r>
              <a:rPr lang="en-US" dirty="0"/>
              <a:t>Dictionaries – part 2</a:t>
            </a:r>
          </a:p>
        </p:txBody>
      </p:sp>
    </p:spTree>
    <p:extLst>
      <p:ext uri="{BB962C8B-B14F-4D97-AF65-F5344CB8AC3E}">
        <p14:creationId xmlns:p14="http://schemas.microsoft.com/office/powerpoint/2010/main" val="34348352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04B6D-93DF-E752-AED2-381301C64930}"/>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28AD419A-22BC-1F2A-76B2-F7DEEBE39112}"/>
              </a:ext>
            </a:extLst>
          </p:cNvPr>
          <p:cNvSpPr>
            <a:spLocks noGrp="1"/>
          </p:cNvSpPr>
          <p:nvPr>
            <p:ph type="title"/>
          </p:nvPr>
        </p:nvSpPr>
        <p:spPr>
          <a:xfrm>
            <a:off x="1504507" y="228600"/>
            <a:ext cx="9144000" cy="762000"/>
          </a:xfrm>
        </p:spPr>
        <p:txBody>
          <a:bodyPr/>
          <a:lstStyle/>
          <a:p>
            <a:r>
              <a:rPr lang="en-US" dirty="0"/>
              <a:t>Agenda</a:t>
            </a:r>
            <a:endParaRPr dirty="0"/>
          </a:p>
        </p:txBody>
      </p:sp>
      <p:sp>
        <p:nvSpPr>
          <p:cNvPr id="14" name="Content Placeholder 13">
            <a:extLst>
              <a:ext uri="{FF2B5EF4-FFF2-40B4-BE49-F238E27FC236}">
                <a16:creationId xmlns:a16="http://schemas.microsoft.com/office/drawing/2014/main" id="{E7CC47EE-9B7A-64F4-3DF4-0A7F72CAA1A6}"/>
              </a:ext>
            </a:extLst>
          </p:cNvPr>
          <p:cNvSpPr>
            <a:spLocks noGrp="1"/>
          </p:cNvSpPr>
          <p:nvPr>
            <p:ph idx="1"/>
          </p:nvPr>
        </p:nvSpPr>
        <p:spPr>
          <a:xfrm>
            <a:off x="1524000" y="1219200"/>
            <a:ext cx="9144000" cy="4876800"/>
          </a:xfrm>
        </p:spPr>
        <p:txBody>
          <a:bodyPr>
            <a:normAutofit/>
          </a:bodyPr>
          <a:lstStyle/>
          <a:p>
            <a:pPr fontAlgn="ctr">
              <a:spcBef>
                <a:spcPts val="0"/>
              </a:spcBef>
            </a:pPr>
            <a:r>
              <a:rPr lang="en-US" sz="3200" dirty="0"/>
              <a:t>Operations on Dictionaries</a:t>
            </a:r>
          </a:p>
          <a:p>
            <a:pPr fontAlgn="ctr">
              <a:spcBef>
                <a:spcPts val="0"/>
              </a:spcBef>
            </a:pPr>
            <a:r>
              <a:rPr lang="en-US" sz="3200" dirty="0"/>
              <a:t>Dictionary Methods</a:t>
            </a:r>
          </a:p>
          <a:p>
            <a:pPr fontAlgn="ctr">
              <a:spcBef>
                <a:spcPts val="0"/>
              </a:spcBef>
            </a:pPr>
            <a:r>
              <a:rPr lang="en-US" sz="3200" dirty="0"/>
              <a:t>Using for Loop with Dictionaries</a:t>
            </a:r>
          </a:p>
          <a:p>
            <a:pPr fontAlgn="ctr">
              <a:spcBef>
                <a:spcPts val="0"/>
              </a:spcBef>
            </a:pPr>
            <a:r>
              <a:rPr lang="en-US" sz="3200" dirty="0"/>
              <a:t>Sorting the Elements of a Dictionary using Lambdas</a:t>
            </a:r>
          </a:p>
          <a:p>
            <a:pPr fontAlgn="ctr">
              <a:spcBef>
                <a:spcPts val="0"/>
              </a:spcBef>
            </a:pPr>
            <a:r>
              <a:rPr lang="en-US" sz="3200" dirty="0"/>
              <a:t>Converting Lists into Dictionary</a:t>
            </a:r>
          </a:p>
          <a:p>
            <a:pPr fontAlgn="ctr">
              <a:spcBef>
                <a:spcPts val="0"/>
              </a:spcBef>
            </a:pPr>
            <a:r>
              <a:rPr lang="en-US" sz="3200" dirty="0"/>
              <a:t>Converting Strings into Dictionary</a:t>
            </a:r>
          </a:p>
          <a:p>
            <a:pPr fontAlgn="ctr">
              <a:spcBef>
                <a:spcPts val="0"/>
              </a:spcBef>
            </a:pPr>
            <a:r>
              <a:rPr lang="en-US" sz="3200" dirty="0"/>
              <a:t>Passing Dictionaries to Functions</a:t>
            </a:r>
          </a:p>
          <a:p>
            <a:pPr fontAlgn="ctr">
              <a:spcBef>
                <a:spcPts val="0"/>
              </a:spcBef>
            </a:pPr>
            <a:r>
              <a:rPr lang="en-US" sz="3200" dirty="0"/>
              <a:t>Ordered Dictionaries</a:t>
            </a:r>
          </a:p>
          <a:p>
            <a:pPr fontAlgn="ctr">
              <a:spcBef>
                <a:spcPts val="0"/>
              </a:spcBef>
            </a:pPr>
            <a:r>
              <a:rPr lang="en-US" sz="3200" dirty="0"/>
              <a:t>Dictionary Comprehension</a:t>
            </a:r>
          </a:p>
        </p:txBody>
      </p:sp>
    </p:spTree>
    <p:extLst>
      <p:ext uri="{BB962C8B-B14F-4D97-AF65-F5344CB8AC3E}">
        <p14:creationId xmlns:p14="http://schemas.microsoft.com/office/powerpoint/2010/main" val="10768872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36415-660E-5AEF-8B96-3F26A5FCFBBD}"/>
              </a:ext>
            </a:extLst>
          </p:cNvPr>
          <p:cNvSpPr>
            <a:spLocks noGrp="1"/>
          </p:cNvSpPr>
          <p:nvPr>
            <p:ph type="title"/>
          </p:nvPr>
        </p:nvSpPr>
        <p:spPr>
          <a:xfrm>
            <a:off x="990600" y="228600"/>
            <a:ext cx="9144000" cy="685800"/>
          </a:xfrm>
        </p:spPr>
        <p:txBody>
          <a:bodyPr/>
          <a:lstStyle/>
          <a:p>
            <a:r>
              <a:rPr lang="en-US" dirty="0"/>
              <a:t>Dictionaries</a:t>
            </a:r>
          </a:p>
        </p:txBody>
      </p:sp>
      <p:sp>
        <p:nvSpPr>
          <p:cNvPr id="3" name="Content Placeholder 2">
            <a:extLst>
              <a:ext uri="{FF2B5EF4-FFF2-40B4-BE49-F238E27FC236}">
                <a16:creationId xmlns:a16="http://schemas.microsoft.com/office/drawing/2014/main" id="{91F3FC1B-F3CF-F93B-FC02-43EE640FB9DD}"/>
              </a:ext>
            </a:extLst>
          </p:cNvPr>
          <p:cNvSpPr>
            <a:spLocks noGrp="1"/>
          </p:cNvSpPr>
          <p:nvPr>
            <p:ph idx="1"/>
          </p:nvPr>
        </p:nvSpPr>
        <p:spPr>
          <a:xfrm>
            <a:off x="457200" y="1219200"/>
            <a:ext cx="10972800" cy="5029200"/>
          </a:xfrm>
        </p:spPr>
        <p:txBody>
          <a:bodyPr>
            <a:normAutofit/>
          </a:bodyPr>
          <a:lstStyle/>
          <a:p>
            <a:pPr marL="0" indent="0">
              <a:spcBef>
                <a:spcPts val="0"/>
              </a:spcBef>
              <a:buNone/>
            </a:pPr>
            <a:r>
              <a:rPr lang="en-US" sz="2400" b="1" dirty="0"/>
              <a:t>Python dictionary </a:t>
            </a:r>
            <a:r>
              <a:rPr lang="en-US" sz="2400" dirty="0"/>
              <a:t>is a data structure that stores the value in </a:t>
            </a:r>
            <a:r>
              <a:rPr lang="en-US" sz="2400" b="1" dirty="0"/>
              <a:t>key: value</a:t>
            </a:r>
            <a:r>
              <a:rPr lang="en-US" sz="2400" dirty="0"/>
              <a:t> pairs. Values in a dictionary can be of any data type and can be duplicated, whereas keys can't be repeated and must be </a:t>
            </a:r>
            <a:r>
              <a:rPr lang="en-US" sz="2400" b="1" dirty="0"/>
              <a:t>immutable</a:t>
            </a:r>
            <a:r>
              <a:rPr lang="en-US" sz="2400" dirty="0"/>
              <a:t>.</a:t>
            </a:r>
            <a:endParaRPr lang="en-US" sz="2400" b="1" dirty="0"/>
          </a:p>
          <a:p>
            <a:pPr>
              <a:spcBef>
                <a:spcPts val="0"/>
              </a:spcBef>
            </a:pPr>
            <a:r>
              <a:rPr lang="en-US" sz="2400" b="1" dirty="0"/>
              <a:t>Mutable</a:t>
            </a:r>
            <a:r>
              <a:rPr lang="en-US" sz="2400" dirty="0"/>
              <a:t>: The dictionary values can be updated </a:t>
            </a:r>
            <a:r>
              <a:rPr lang="en-US" sz="2400" dirty="0">
                <a:hlinkClick r:id="rId2"/>
              </a:rPr>
              <a:t>in place</a:t>
            </a:r>
            <a:r>
              <a:rPr lang="en-US" sz="2400" dirty="0"/>
              <a:t>.</a:t>
            </a:r>
          </a:p>
          <a:p>
            <a:pPr>
              <a:spcBef>
                <a:spcPts val="0"/>
              </a:spcBef>
            </a:pPr>
            <a:r>
              <a:rPr lang="en-US" sz="2400" b="1" dirty="0"/>
              <a:t>Dynamic</a:t>
            </a:r>
            <a:r>
              <a:rPr lang="en-US" sz="2400" dirty="0"/>
              <a:t>: Dictionaries can grow and shrink as needed.</a:t>
            </a:r>
          </a:p>
          <a:p>
            <a:pPr>
              <a:spcBef>
                <a:spcPts val="0"/>
              </a:spcBef>
            </a:pPr>
            <a:r>
              <a:rPr lang="en-US" sz="2400" b="1" dirty="0"/>
              <a:t>Efficient</a:t>
            </a:r>
            <a:r>
              <a:rPr lang="en-US" sz="2400" dirty="0"/>
              <a:t>: They’re implemented as </a:t>
            </a:r>
            <a:r>
              <a:rPr lang="en-US" sz="2400" dirty="0">
                <a:hlinkClick r:id="rId3"/>
              </a:rPr>
              <a:t>hash tables</a:t>
            </a:r>
            <a:r>
              <a:rPr lang="en-US" sz="2400" dirty="0"/>
              <a:t>, which allows for fast key lookup.</a:t>
            </a:r>
          </a:p>
          <a:p>
            <a:pPr>
              <a:spcBef>
                <a:spcPts val="0"/>
              </a:spcBef>
            </a:pPr>
            <a:r>
              <a:rPr lang="en-US" sz="2400" b="1" dirty="0"/>
              <a:t>Ordered</a:t>
            </a:r>
            <a:r>
              <a:rPr lang="en-US" sz="2400" dirty="0"/>
              <a:t>: Starting with </a:t>
            </a:r>
            <a:r>
              <a:rPr lang="en-US" sz="2400" dirty="0">
                <a:hlinkClick r:id="rId4"/>
              </a:rPr>
              <a:t>Python 3.7</a:t>
            </a:r>
            <a:r>
              <a:rPr lang="en-US" sz="2400" dirty="0"/>
              <a:t>, dictionaries keep their items in the same </a:t>
            </a:r>
            <a:r>
              <a:rPr lang="en-US" sz="2400" dirty="0">
                <a:hlinkClick r:id="rId5"/>
              </a:rPr>
              <a:t>order</a:t>
            </a:r>
            <a:r>
              <a:rPr lang="en-US" sz="2400" dirty="0"/>
              <a:t> they were inserted.</a:t>
            </a:r>
          </a:p>
          <a:p>
            <a:pPr>
              <a:spcBef>
                <a:spcPts val="0"/>
              </a:spcBef>
            </a:pPr>
            <a:r>
              <a:rPr lang="en-US" sz="2400" dirty="0"/>
              <a:t>The keys of a dictionary have a couple of restrictions. They need to be:</a:t>
            </a:r>
          </a:p>
          <a:p>
            <a:pPr>
              <a:spcBef>
                <a:spcPts val="0"/>
              </a:spcBef>
            </a:pPr>
            <a:r>
              <a:rPr lang="en-US" sz="2400" b="1" dirty="0" err="1"/>
              <a:t>Hashable</a:t>
            </a:r>
            <a:r>
              <a:rPr lang="en-US" sz="2400" dirty="0"/>
              <a:t>: This means that you can’t use </a:t>
            </a:r>
            <a:r>
              <a:rPr lang="en-US" sz="2400" dirty="0" err="1"/>
              <a:t>unhashable</a:t>
            </a:r>
            <a:r>
              <a:rPr lang="en-US" sz="2400" dirty="0"/>
              <a:t> objects like lists as dictionary keys.</a:t>
            </a:r>
          </a:p>
          <a:p>
            <a:pPr>
              <a:spcBef>
                <a:spcPts val="0"/>
              </a:spcBef>
            </a:pPr>
            <a:r>
              <a:rPr lang="en-US" sz="2400" b="1" dirty="0"/>
              <a:t>Unique</a:t>
            </a:r>
            <a:r>
              <a:rPr lang="en-US" sz="2400" dirty="0"/>
              <a:t>: This means that your dictionaries won’t have duplicate keys.</a:t>
            </a:r>
          </a:p>
          <a:p>
            <a:pPr marL="685800" lvl="2" indent="0">
              <a:spcBef>
                <a:spcPts val="0"/>
              </a:spcBef>
              <a:buNone/>
            </a:pPr>
            <a:r>
              <a:rPr lang="en-US" sz="2000" dirty="0"/>
              <a:t>d = {1: 'Geeks', 2: 'For', 3: 'Geeks'}</a:t>
            </a:r>
          </a:p>
          <a:p>
            <a:pPr marL="685800" lvl="2" indent="0">
              <a:spcBef>
                <a:spcPts val="0"/>
              </a:spcBef>
              <a:buNone/>
            </a:pPr>
            <a:r>
              <a:rPr lang="en-US" sz="2000" dirty="0"/>
              <a:t>print(d)</a:t>
            </a:r>
          </a:p>
          <a:p>
            <a:endParaRPr lang="en-US" dirty="0"/>
          </a:p>
        </p:txBody>
      </p:sp>
    </p:spTree>
    <p:extLst>
      <p:ext uri="{BB962C8B-B14F-4D97-AF65-F5344CB8AC3E}">
        <p14:creationId xmlns:p14="http://schemas.microsoft.com/office/powerpoint/2010/main" val="20043740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1397C-F865-46EE-6BBB-B402712FE5BF}"/>
              </a:ext>
            </a:extLst>
          </p:cNvPr>
          <p:cNvSpPr>
            <a:spLocks noGrp="1"/>
          </p:cNvSpPr>
          <p:nvPr>
            <p:ph type="title"/>
          </p:nvPr>
        </p:nvSpPr>
        <p:spPr/>
        <p:txBody>
          <a:bodyPr/>
          <a:lstStyle/>
          <a:p>
            <a:r>
              <a:rPr lang="en-US" b="1" dirty="0"/>
              <a:t>Create a Dictionary</a:t>
            </a:r>
            <a:endParaRPr lang="en-US" dirty="0"/>
          </a:p>
        </p:txBody>
      </p:sp>
      <p:sp>
        <p:nvSpPr>
          <p:cNvPr id="3" name="Content Placeholder 2">
            <a:extLst>
              <a:ext uri="{FF2B5EF4-FFF2-40B4-BE49-F238E27FC236}">
                <a16:creationId xmlns:a16="http://schemas.microsoft.com/office/drawing/2014/main" id="{5A1238CF-EA72-F5D0-7241-F49001E8B037}"/>
              </a:ext>
            </a:extLst>
          </p:cNvPr>
          <p:cNvSpPr>
            <a:spLocks noGrp="1"/>
          </p:cNvSpPr>
          <p:nvPr>
            <p:ph idx="1"/>
          </p:nvPr>
        </p:nvSpPr>
        <p:spPr/>
        <p:txBody>
          <a:bodyPr>
            <a:normAutofit/>
          </a:bodyPr>
          <a:lstStyle/>
          <a:p>
            <a:r>
              <a:rPr lang="en-US" sz="2400" dirty="0"/>
              <a:t>d1 = {1: 'Geeks', 2: 'For', 3: 'Geeks'}</a:t>
            </a:r>
          </a:p>
          <a:p>
            <a:r>
              <a:rPr lang="en-US" sz="2400" dirty="0"/>
              <a:t>print(d1)</a:t>
            </a:r>
          </a:p>
          <a:p>
            <a:endParaRPr lang="en-US" sz="2400" dirty="0"/>
          </a:p>
          <a:p>
            <a:r>
              <a:rPr lang="en-US" sz="2400" dirty="0"/>
              <a:t># create dictionary using </a:t>
            </a:r>
            <a:r>
              <a:rPr lang="en-US" sz="2400" dirty="0" err="1"/>
              <a:t>dict</a:t>
            </a:r>
            <a:r>
              <a:rPr lang="en-US" sz="2400" dirty="0"/>
              <a:t>() constructor</a:t>
            </a:r>
          </a:p>
          <a:p>
            <a:r>
              <a:rPr lang="en-US" sz="2400" dirty="0"/>
              <a:t>d2 = </a:t>
            </a:r>
            <a:r>
              <a:rPr lang="en-US" sz="2400" dirty="0" err="1"/>
              <a:t>dict</a:t>
            </a:r>
            <a:r>
              <a:rPr lang="en-US" sz="2400" dirty="0"/>
              <a:t>(a = "Geeks", b = "for", c = "Geeks")</a:t>
            </a:r>
          </a:p>
          <a:p>
            <a:r>
              <a:rPr lang="en-US" sz="2400" dirty="0"/>
              <a:t>print(d2)</a:t>
            </a:r>
          </a:p>
        </p:txBody>
      </p:sp>
    </p:spTree>
    <p:extLst>
      <p:ext uri="{BB962C8B-B14F-4D97-AF65-F5344CB8AC3E}">
        <p14:creationId xmlns:p14="http://schemas.microsoft.com/office/powerpoint/2010/main" val="16362722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C4256-28DD-47C2-880A-9CCC9F3F7784}"/>
              </a:ext>
            </a:extLst>
          </p:cNvPr>
          <p:cNvSpPr>
            <a:spLocks noGrp="1"/>
          </p:cNvSpPr>
          <p:nvPr>
            <p:ph type="title"/>
          </p:nvPr>
        </p:nvSpPr>
        <p:spPr/>
        <p:txBody>
          <a:bodyPr/>
          <a:lstStyle/>
          <a:p>
            <a:r>
              <a:rPr lang="en-US" b="1" dirty="0"/>
              <a:t>Accessing Dictionary Items</a:t>
            </a:r>
            <a:br>
              <a:rPr lang="en-US" b="1" dirty="0"/>
            </a:br>
            <a:endParaRPr lang="en-US" dirty="0"/>
          </a:p>
        </p:txBody>
      </p:sp>
      <p:sp>
        <p:nvSpPr>
          <p:cNvPr id="3" name="Content Placeholder 2">
            <a:extLst>
              <a:ext uri="{FF2B5EF4-FFF2-40B4-BE49-F238E27FC236}">
                <a16:creationId xmlns:a16="http://schemas.microsoft.com/office/drawing/2014/main" id="{8F7115EA-BB85-0390-4777-864C63041AE2}"/>
              </a:ext>
            </a:extLst>
          </p:cNvPr>
          <p:cNvSpPr>
            <a:spLocks noGrp="1"/>
          </p:cNvSpPr>
          <p:nvPr>
            <p:ph idx="1"/>
          </p:nvPr>
        </p:nvSpPr>
        <p:spPr/>
        <p:txBody>
          <a:bodyPr/>
          <a:lstStyle/>
          <a:p>
            <a:r>
              <a:rPr lang="en-US" dirty="0"/>
              <a:t>d = { "name": "Prajjwal", 1: "Python", (1, 2): [1,2,4] }</a:t>
            </a:r>
          </a:p>
          <a:p>
            <a:endParaRPr lang="en-US" dirty="0"/>
          </a:p>
          <a:p>
            <a:r>
              <a:rPr lang="en-US" dirty="0"/>
              <a:t># Access using key</a:t>
            </a:r>
          </a:p>
          <a:p>
            <a:r>
              <a:rPr lang="en-US" dirty="0"/>
              <a:t>print(d["name"])</a:t>
            </a:r>
          </a:p>
          <a:p>
            <a:endParaRPr lang="en-US" dirty="0"/>
          </a:p>
          <a:p>
            <a:r>
              <a:rPr lang="en-US" dirty="0"/>
              <a:t># Access using get()</a:t>
            </a:r>
          </a:p>
          <a:p>
            <a:r>
              <a:rPr lang="en-US" dirty="0"/>
              <a:t>print(</a:t>
            </a:r>
            <a:r>
              <a:rPr lang="en-US" dirty="0" err="1"/>
              <a:t>d.get</a:t>
            </a:r>
            <a:r>
              <a:rPr lang="en-US" dirty="0"/>
              <a:t>("name"))</a:t>
            </a:r>
          </a:p>
        </p:txBody>
      </p:sp>
    </p:spTree>
    <p:extLst>
      <p:ext uri="{BB962C8B-B14F-4D97-AF65-F5344CB8AC3E}">
        <p14:creationId xmlns:p14="http://schemas.microsoft.com/office/powerpoint/2010/main" val="21843465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C0CB4-40C7-3697-7A89-9A4F7BCBED3C}"/>
              </a:ext>
            </a:extLst>
          </p:cNvPr>
          <p:cNvSpPr>
            <a:spLocks noGrp="1"/>
          </p:cNvSpPr>
          <p:nvPr>
            <p:ph type="title"/>
          </p:nvPr>
        </p:nvSpPr>
        <p:spPr/>
        <p:txBody>
          <a:bodyPr/>
          <a:lstStyle/>
          <a:p>
            <a:r>
              <a:rPr lang="en-US" b="1" dirty="0"/>
              <a:t>Adding and Updating Dictionary Items</a:t>
            </a:r>
            <a:br>
              <a:rPr lang="en-US" b="1" dirty="0"/>
            </a:br>
            <a:endParaRPr lang="en-US" dirty="0"/>
          </a:p>
        </p:txBody>
      </p:sp>
      <p:sp>
        <p:nvSpPr>
          <p:cNvPr id="3" name="Content Placeholder 2">
            <a:extLst>
              <a:ext uri="{FF2B5EF4-FFF2-40B4-BE49-F238E27FC236}">
                <a16:creationId xmlns:a16="http://schemas.microsoft.com/office/drawing/2014/main" id="{DC73866C-2F62-F605-A197-C980B03E17BF}"/>
              </a:ext>
            </a:extLst>
          </p:cNvPr>
          <p:cNvSpPr>
            <a:spLocks noGrp="1"/>
          </p:cNvSpPr>
          <p:nvPr>
            <p:ph idx="1"/>
          </p:nvPr>
        </p:nvSpPr>
        <p:spPr/>
        <p:txBody>
          <a:bodyPr>
            <a:normAutofit lnSpcReduction="10000"/>
          </a:bodyPr>
          <a:lstStyle/>
          <a:p>
            <a:r>
              <a:rPr lang="en-US" dirty="0"/>
              <a:t>d = {1: 'Geeks', 2: 'For', 3: 'Geeks'}</a:t>
            </a:r>
          </a:p>
          <a:p>
            <a:endParaRPr lang="en-US" dirty="0"/>
          </a:p>
          <a:p>
            <a:r>
              <a:rPr lang="en-US" dirty="0"/>
              <a:t># Adding a new key-value pair</a:t>
            </a:r>
          </a:p>
          <a:p>
            <a:r>
              <a:rPr lang="en-US" dirty="0"/>
              <a:t>d["age"] = 22</a:t>
            </a:r>
          </a:p>
          <a:p>
            <a:endParaRPr lang="en-US" dirty="0"/>
          </a:p>
          <a:p>
            <a:r>
              <a:rPr lang="en-US" dirty="0"/>
              <a:t># Updating an existing value</a:t>
            </a:r>
          </a:p>
          <a:p>
            <a:r>
              <a:rPr lang="en-US" dirty="0"/>
              <a:t>d[1] = "Python </a:t>
            </a:r>
            <a:r>
              <a:rPr lang="en-US" dirty="0" err="1"/>
              <a:t>dict</a:t>
            </a:r>
            <a:r>
              <a:rPr lang="en-US" dirty="0"/>
              <a:t>"</a:t>
            </a:r>
          </a:p>
          <a:p>
            <a:endParaRPr lang="en-US" dirty="0"/>
          </a:p>
          <a:p>
            <a:r>
              <a:rPr lang="en-US" dirty="0"/>
              <a:t>print(d)</a:t>
            </a:r>
          </a:p>
        </p:txBody>
      </p:sp>
    </p:spTree>
    <p:extLst>
      <p:ext uri="{BB962C8B-B14F-4D97-AF65-F5344CB8AC3E}">
        <p14:creationId xmlns:p14="http://schemas.microsoft.com/office/powerpoint/2010/main" val="26066140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E5CA-52B7-7A70-C492-A9A9907C9DF8}"/>
              </a:ext>
            </a:extLst>
          </p:cNvPr>
          <p:cNvSpPr>
            <a:spLocks noGrp="1"/>
          </p:cNvSpPr>
          <p:nvPr>
            <p:ph type="title"/>
          </p:nvPr>
        </p:nvSpPr>
        <p:spPr/>
        <p:txBody>
          <a:bodyPr/>
          <a:lstStyle/>
          <a:p>
            <a:r>
              <a:rPr lang="en-US" b="1" dirty="0"/>
              <a:t>Removing Dictionary Items</a:t>
            </a:r>
            <a:br>
              <a:rPr lang="en-US" b="1" dirty="0"/>
            </a:br>
            <a:endParaRPr lang="en-US" dirty="0"/>
          </a:p>
        </p:txBody>
      </p:sp>
      <p:sp>
        <p:nvSpPr>
          <p:cNvPr id="3" name="Content Placeholder 2">
            <a:extLst>
              <a:ext uri="{FF2B5EF4-FFF2-40B4-BE49-F238E27FC236}">
                <a16:creationId xmlns:a16="http://schemas.microsoft.com/office/drawing/2014/main" id="{0A0FC1D9-0E30-638C-5458-AA730907749B}"/>
              </a:ext>
            </a:extLst>
          </p:cNvPr>
          <p:cNvSpPr>
            <a:spLocks noGrp="1"/>
          </p:cNvSpPr>
          <p:nvPr>
            <p:ph idx="1"/>
          </p:nvPr>
        </p:nvSpPr>
        <p:spPr/>
        <p:txBody>
          <a:bodyPr/>
          <a:lstStyle/>
          <a:p>
            <a:pPr fontAlgn="base"/>
            <a:r>
              <a:rPr lang="en-US" sz="2800" b="1" u="sng" dirty="0">
                <a:hlinkClick r:id="rId2"/>
              </a:rPr>
              <a:t>del</a:t>
            </a:r>
            <a:r>
              <a:rPr lang="en-US" sz="2800" dirty="0"/>
              <a:t>: Removes an item by key.</a:t>
            </a:r>
          </a:p>
          <a:p>
            <a:pPr fontAlgn="base"/>
            <a:r>
              <a:rPr lang="en-US" sz="2800" b="1" u="sng" dirty="0">
                <a:hlinkClick r:id="rId3"/>
              </a:rPr>
              <a:t>pop()</a:t>
            </a:r>
            <a:r>
              <a:rPr lang="en-US" sz="2800" b="1" dirty="0"/>
              <a:t>:</a:t>
            </a:r>
            <a:r>
              <a:rPr lang="en-US" sz="2800" dirty="0"/>
              <a:t> Removes an item by key and returns its value.</a:t>
            </a:r>
          </a:p>
          <a:p>
            <a:pPr fontAlgn="base"/>
            <a:r>
              <a:rPr lang="en-US" sz="2800" b="1" u="sng" dirty="0">
                <a:hlinkClick r:id="rId4"/>
              </a:rPr>
              <a:t>clear()</a:t>
            </a:r>
            <a:r>
              <a:rPr lang="en-US" sz="2800" b="1" dirty="0"/>
              <a:t>:</a:t>
            </a:r>
            <a:r>
              <a:rPr lang="en-US" sz="2800" dirty="0"/>
              <a:t> Empties the dictionary.</a:t>
            </a:r>
          </a:p>
          <a:p>
            <a:pPr fontAlgn="base"/>
            <a:r>
              <a:rPr lang="en-US" sz="2800" b="1" u="sng" dirty="0" err="1">
                <a:hlinkClick r:id="rId5"/>
              </a:rPr>
              <a:t>popitem</a:t>
            </a:r>
            <a:r>
              <a:rPr lang="en-US" sz="2800" b="1" u="sng" dirty="0">
                <a:hlinkClick r:id="rId5"/>
              </a:rPr>
              <a:t>()</a:t>
            </a:r>
            <a:r>
              <a:rPr lang="en-US" sz="2800" b="1" dirty="0"/>
              <a:t>:</a:t>
            </a:r>
            <a:r>
              <a:rPr lang="en-US" sz="2800" dirty="0"/>
              <a:t> Removes and returns the last key-value pair.</a:t>
            </a:r>
          </a:p>
          <a:p>
            <a:endParaRPr lang="en-US" dirty="0"/>
          </a:p>
        </p:txBody>
      </p:sp>
    </p:spTree>
    <p:extLst>
      <p:ext uri="{BB962C8B-B14F-4D97-AF65-F5344CB8AC3E}">
        <p14:creationId xmlns:p14="http://schemas.microsoft.com/office/powerpoint/2010/main" val="20593488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46FE1C-88E0-ED82-1801-7C80D39333D8}"/>
              </a:ext>
            </a:extLst>
          </p:cNvPr>
          <p:cNvSpPr>
            <a:spLocks noGrp="1"/>
          </p:cNvSpPr>
          <p:nvPr>
            <p:ph idx="1"/>
          </p:nvPr>
        </p:nvSpPr>
        <p:spPr>
          <a:xfrm>
            <a:off x="1295400" y="381000"/>
            <a:ext cx="9753600" cy="5867400"/>
          </a:xfrm>
        </p:spPr>
        <p:txBody>
          <a:bodyPr>
            <a:noAutofit/>
          </a:bodyPr>
          <a:lstStyle/>
          <a:p>
            <a:pPr marL="0" indent="0">
              <a:spcBef>
                <a:spcPts val="0"/>
              </a:spcBef>
              <a:buNone/>
            </a:pPr>
            <a:r>
              <a:rPr lang="en-US" sz="2800" dirty="0"/>
              <a:t>d = {1: 'Geeks', 2: 'For', 3: 'Geeks', 'age':22}</a:t>
            </a:r>
          </a:p>
          <a:p>
            <a:pPr marL="0" indent="0">
              <a:spcBef>
                <a:spcPts val="0"/>
              </a:spcBef>
              <a:buNone/>
            </a:pPr>
            <a:r>
              <a:rPr lang="en-US" sz="2800" dirty="0"/>
              <a:t># Using del to remove an item</a:t>
            </a:r>
          </a:p>
          <a:p>
            <a:pPr marL="0" indent="0">
              <a:spcBef>
                <a:spcPts val="0"/>
              </a:spcBef>
              <a:buNone/>
            </a:pPr>
            <a:r>
              <a:rPr lang="en-US" sz="2800" dirty="0"/>
              <a:t>del d["age"]</a:t>
            </a:r>
          </a:p>
          <a:p>
            <a:pPr marL="0" indent="0">
              <a:spcBef>
                <a:spcPts val="0"/>
              </a:spcBef>
              <a:buNone/>
            </a:pPr>
            <a:r>
              <a:rPr lang="en-US" sz="2800" dirty="0"/>
              <a:t>print(d)</a:t>
            </a:r>
          </a:p>
          <a:p>
            <a:pPr marL="0" indent="0">
              <a:spcBef>
                <a:spcPts val="0"/>
              </a:spcBef>
              <a:buNone/>
            </a:pPr>
            <a:r>
              <a:rPr lang="en-US" sz="2800" dirty="0"/>
              <a:t># Using pop() to remove an item and return the value</a:t>
            </a:r>
          </a:p>
          <a:p>
            <a:pPr marL="0" indent="0">
              <a:spcBef>
                <a:spcPts val="0"/>
              </a:spcBef>
              <a:buNone/>
            </a:pPr>
            <a:r>
              <a:rPr lang="en-US" sz="2800" dirty="0" err="1"/>
              <a:t>val</a:t>
            </a:r>
            <a:r>
              <a:rPr lang="en-US" sz="2800" dirty="0"/>
              <a:t> = </a:t>
            </a:r>
            <a:r>
              <a:rPr lang="en-US" sz="2800" dirty="0" err="1"/>
              <a:t>d.pop</a:t>
            </a:r>
            <a:r>
              <a:rPr lang="en-US" sz="2800" dirty="0"/>
              <a:t>(1)</a:t>
            </a:r>
          </a:p>
          <a:p>
            <a:pPr marL="0" indent="0">
              <a:spcBef>
                <a:spcPts val="0"/>
              </a:spcBef>
              <a:buNone/>
            </a:pPr>
            <a:r>
              <a:rPr lang="en-US" sz="2800" dirty="0"/>
              <a:t>print(</a:t>
            </a:r>
            <a:r>
              <a:rPr lang="en-US" sz="2800" dirty="0" err="1"/>
              <a:t>val</a:t>
            </a:r>
            <a:r>
              <a:rPr lang="en-US" sz="2800" dirty="0"/>
              <a:t>)</a:t>
            </a:r>
          </a:p>
          <a:p>
            <a:pPr marL="0" indent="0">
              <a:spcBef>
                <a:spcPts val="0"/>
              </a:spcBef>
              <a:buNone/>
            </a:pPr>
            <a:r>
              <a:rPr lang="en-US" sz="2800" dirty="0"/>
              <a:t># Using </a:t>
            </a:r>
            <a:r>
              <a:rPr lang="en-US" sz="2800" dirty="0" err="1"/>
              <a:t>popitem</a:t>
            </a:r>
            <a:r>
              <a:rPr lang="en-US" sz="2800" dirty="0"/>
              <a:t> to removes and returns</a:t>
            </a:r>
          </a:p>
          <a:p>
            <a:pPr marL="0" indent="0">
              <a:spcBef>
                <a:spcPts val="0"/>
              </a:spcBef>
              <a:buNone/>
            </a:pPr>
            <a:r>
              <a:rPr lang="en-US" sz="2800" dirty="0"/>
              <a:t># the last key-value pair.</a:t>
            </a:r>
          </a:p>
          <a:p>
            <a:pPr marL="0" indent="0">
              <a:spcBef>
                <a:spcPts val="0"/>
              </a:spcBef>
              <a:buNone/>
            </a:pPr>
            <a:r>
              <a:rPr lang="en-US" sz="2800" dirty="0"/>
              <a:t>key, </a:t>
            </a:r>
            <a:r>
              <a:rPr lang="en-US" sz="2800" dirty="0" err="1"/>
              <a:t>val</a:t>
            </a:r>
            <a:r>
              <a:rPr lang="en-US" sz="2800" dirty="0"/>
              <a:t> = </a:t>
            </a:r>
            <a:r>
              <a:rPr lang="en-US" sz="2800" dirty="0" err="1"/>
              <a:t>d.popitem</a:t>
            </a:r>
            <a:r>
              <a:rPr lang="en-US" sz="2800" dirty="0"/>
              <a:t>()</a:t>
            </a:r>
          </a:p>
          <a:p>
            <a:pPr marL="0" indent="0">
              <a:spcBef>
                <a:spcPts val="0"/>
              </a:spcBef>
              <a:buNone/>
            </a:pPr>
            <a:r>
              <a:rPr lang="en-US" sz="2800" dirty="0"/>
              <a:t>print(</a:t>
            </a:r>
            <a:r>
              <a:rPr lang="en-US" sz="2800" dirty="0" err="1"/>
              <a:t>f"Key</a:t>
            </a:r>
            <a:r>
              <a:rPr lang="en-US" sz="2800" dirty="0"/>
              <a:t>: {key}, Value: {</a:t>
            </a:r>
            <a:r>
              <a:rPr lang="en-US" sz="2800" dirty="0" err="1"/>
              <a:t>val</a:t>
            </a:r>
            <a:r>
              <a:rPr lang="en-US" sz="2800" dirty="0"/>
              <a:t>}")</a:t>
            </a:r>
          </a:p>
          <a:p>
            <a:pPr marL="0" indent="0">
              <a:spcBef>
                <a:spcPts val="0"/>
              </a:spcBef>
              <a:buNone/>
            </a:pPr>
            <a:r>
              <a:rPr lang="en-US" sz="2800" dirty="0"/>
              <a:t># Clear all items from the dictionary</a:t>
            </a:r>
          </a:p>
          <a:p>
            <a:pPr marL="0" indent="0">
              <a:spcBef>
                <a:spcPts val="0"/>
              </a:spcBef>
              <a:buNone/>
            </a:pPr>
            <a:r>
              <a:rPr lang="en-US" sz="2800" dirty="0" err="1"/>
              <a:t>d.clear</a:t>
            </a:r>
            <a:r>
              <a:rPr lang="en-US" sz="2800" dirty="0"/>
              <a:t>()</a:t>
            </a:r>
          </a:p>
          <a:p>
            <a:pPr marL="0" indent="0">
              <a:spcBef>
                <a:spcPts val="0"/>
              </a:spcBef>
              <a:buNone/>
            </a:pPr>
            <a:r>
              <a:rPr lang="en-US" sz="2800" dirty="0"/>
              <a:t>print(d)</a:t>
            </a:r>
          </a:p>
        </p:txBody>
      </p:sp>
    </p:spTree>
    <p:extLst>
      <p:ext uri="{BB962C8B-B14F-4D97-AF65-F5344CB8AC3E}">
        <p14:creationId xmlns:p14="http://schemas.microsoft.com/office/powerpoint/2010/main" val="4423719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729-3B35-3B82-36DB-6888A30C2C5D}"/>
              </a:ext>
            </a:extLst>
          </p:cNvPr>
          <p:cNvSpPr>
            <a:spLocks noGrp="1"/>
          </p:cNvSpPr>
          <p:nvPr>
            <p:ph type="title"/>
          </p:nvPr>
        </p:nvSpPr>
        <p:spPr>
          <a:xfrm>
            <a:off x="1524000" y="228600"/>
            <a:ext cx="9144000" cy="1143000"/>
          </a:xfrm>
        </p:spPr>
        <p:txBody>
          <a:bodyPr/>
          <a:lstStyle/>
          <a:p>
            <a:r>
              <a:rPr lang="en-US" b="1" dirty="0"/>
              <a:t>Iterating Through a Dictionary</a:t>
            </a:r>
            <a:br>
              <a:rPr lang="en-US" b="1" dirty="0"/>
            </a:br>
            <a:endParaRPr lang="en-US" dirty="0"/>
          </a:p>
        </p:txBody>
      </p:sp>
      <p:sp>
        <p:nvSpPr>
          <p:cNvPr id="3" name="Content Placeholder 2">
            <a:extLst>
              <a:ext uri="{FF2B5EF4-FFF2-40B4-BE49-F238E27FC236}">
                <a16:creationId xmlns:a16="http://schemas.microsoft.com/office/drawing/2014/main" id="{E2BFFCBD-48B4-E3B3-90D7-BD7EBD43BAD9}"/>
              </a:ext>
            </a:extLst>
          </p:cNvPr>
          <p:cNvSpPr>
            <a:spLocks noGrp="1"/>
          </p:cNvSpPr>
          <p:nvPr>
            <p:ph idx="1"/>
          </p:nvPr>
        </p:nvSpPr>
        <p:spPr>
          <a:xfrm>
            <a:off x="2133600" y="1341474"/>
            <a:ext cx="7162800" cy="4648200"/>
          </a:xfrm>
        </p:spPr>
        <p:txBody>
          <a:bodyPr>
            <a:noAutofit/>
          </a:bodyPr>
          <a:lstStyle/>
          <a:p>
            <a:pPr marL="0" indent="0">
              <a:spcBef>
                <a:spcPts val="0"/>
              </a:spcBef>
              <a:buNone/>
            </a:pPr>
            <a:r>
              <a:rPr lang="en-US" sz="2800" dirty="0"/>
              <a:t>d = {1: 'Geeks', 2: 'For', 'age':22}</a:t>
            </a:r>
          </a:p>
          <a:p>
            <a:pPr marL="0" indent="0">
              <a:spcBef>
                <a:spcPts val="0"/>
              </a:spcBef>
              <a:buNone/>
            </a:pPr>
            <a:r>
              <a:rPr lang="en-US" sz="2800" dirty="0"/>
              <a:t># Iterate over keys</a:t>
            </a:r>
          </a:p>
          <a:p>
            <a:pPr marL="0" indent="0">
              <a:spcBef>
                <a:spcPts val="0"/>
              </a:spcBef>
              <a:buNone/>
            </a:pPr>
            <a:r>
              <a:rPr lang="en-US" sz="2800" dirty="0"/>
              <a:t>for key in d:</a:t>
            </a:r>
          </a:p>
          <a:p>
            <a:pPr marL="0" indent="0">
              <a:spcBef>
                <a:spcPts val="0"/>
              </a:spcBef>
              <a:buNone/>
            </a:pPr>
            <a:r>
              <a:rPr lang="en-US" sz="2800" dirty="0"/>
              <a:t>    print(key)</a:t>
            </a:r>
          </a:p>
          <a:p>
            <a:pPr marL="0" indent="0">
              <a:spcBef>
                <a:spcPts val="0"/>
              </a:spcBef>
              <a:buNone/>
            </a:pPr>
            <a:r>
              <a:rPr lang="en-US" sz="2800" dirty="0"/>
              <a:t># Iterate over values</a:t>
            </a:r>
          </a:p>
          <a:p>
            <a:pPr marL="0" indent="0">
              <a:spcBef>
                <a:spcPts val="0"/>
              </a:spcBef>
              <a:buNone/>
            </a:pPr>
            <a:r>
              <a:rPr lang="en-US" sz="2800" dirty="0"/>
              <a:t>for value in </a:t>
            </a:r>
            <a:r>
              <a:rPr lang="en-US" sz="2800" dirty="0" err="1"/>
              <a:t>d.values</a:t>
            </a:r>
            <a:r>
              <a:rPr lang="en-US" sz="2800" dirty="0"/>
              <a:t>():</a:t>
            </a:r>
          </a:p>
          <a:p>
            <a:pPr marL="0" indent="0">
              <a:spcBef>
                <a:spcPts val="0"/>
              </a:spcBef>
              <a:buNone/>
            </a:pPr>
            <a:r>
              <a:rPr lang="en-US" sz="2800" dirty="0"/>
              <a:t>    print(value)</a:t>
            </a:r>
          </a:p>
          <a:p>
            <a:pPr marL="0" indent="0">
              <a:spcBef>
                <a:spcPts val="0"/>
              </a:spcBef>
              <a:buNone/>
            </a:pPr>
            <a:r>
              <a:rPr lang="en-US" sz="2800" dirty="0"/>
              <a:t># Iterate over key-value pairs</a:t>
            </a:r>
          </a:p>
          <a:p>
            <a:pPr marL="0" indent="0">
              <a:spcBef>
                <a:spcPts val="0"/>
              </a:spcBef>
              <a:buNone/>
            </a:pPr>
            <a:r>
              <a:rPr lang="en-US" sz="2800" dirty="0"/>
              <a:t>for key, value in </a:t>
            </a:r>
            <a:r>
              <a:rPr lang="en-US" sz="2800" dirty="0" err="1"/>
              <a:t>d.items</a:t>
            </a:r>
            <a:r>
              <a:rPr lang="en-US" sz="2800" dirty="0"/>
              <a:t>():</a:t>
            </a:r>
          </a:p>
          <a:p>
            <a:pPr marL="0" indent="0">
              <a:spcBef>
                <a:spcPts val="0"/>
              </a:spcBef>
              <a:buNone/>
            </a:pPr>
            <a:r>
              <a:rPr lang="en-US" sz="2800" dirty="0"/>
              <a:t>    print(f"{key}: {value}")</a:t>
            </a:r>
          </a:p>
        </p:txBody>
      </p:sp>
    </p:spTree>
    <p:extLst>
      <p:ext uri="{BB962C8B-B14F-4D97-AF65-F5344CB8AC3E}">
        <p14:creationId xmlns:p14="http://schemas.microsoft.com/office/powerpoint/2010/main" val="33862149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96C35-3B4C-4AF9-BC95-FC9E20EDF23E}"/>
              </a:ext>
            </a:extLst>
          </p:cNvPr>
          <p:cNvSpPr>
            <a:spLocks noGrp="1"/>
          </p:cNvSpPr>
          <p:nvPr>
            <p:ph type="title"/>
          </p:nvPr>
        </p:nvSpPr>
        <p:spPr>
          <a:xfrm>
            <a:off x="1524000" y="457200"/>
            <a:ext cx="9144000" cy="1143000"/>
          </a:xfrm>
        </p:spPr>
        <p:txBody>
          <a:bodyPr anchor="b">
            <a:normAutofit/>
          </a:bodyPr>
          <a:lstStyle/>
          <a:p>
            <a:r>
              <a:rPr lang="en-US" b="1" dirty="0"/>
              <a:t>Nested Dictionaries</a:t>
            </a:r>
            <a:br>
              <a:rPr lang="en-US" b="1" dirty="0"/>
            </a:br>
            <a:endParaRPr lang="en-US" dirty="0"/>
          </a:p>
        </p:txBody>
      </p:sp>
      <p:sp>
        <p:nvSpPr>
          <p:cNvPr id="3" name="Content Placeholder 2">
            <a:extLst>
              <a:ext uri="{FF2B5EF4-FFF2-40B4-BE49-F238E27FC236}">
                <a16:creationId xmlns:a16="http://schemas.microsoft.com/office/drawing/2014/main" id="{84DD059D-2263-CAA8-57E0-68D53D475126}"/>
              </a:ext>
            </a:extLst>
          </p:cNvPr>
          <p:cNvSpPr>
            <a:spLocks noGrp="1"/>
          </p:cNvSpPr>
          <p:nvPr>
            <p:ph sz="half" idx="1"/>
          </p:nvPr>
        </p:nvSpPr>
        <p:spPr>
          <a:xfrm>
            <a:off x="609600" y="1524000"/>
            <a:ext cx="9829800" cy="4270375"/>
          </a:xfrm>
        </p:spPr>
        <p:txBody>
          <a:bodyPr>
            <a:normAutofit/>
          </a:bodyPr>
          <a:lstStyle/>
          <a:p>
            <a:pPr marL="0" indent="0">
              <a:spcBef>
                <a:spcPts val="0"/>
              </a:spcBef>
              <a:buNone/>
            </a:pPr>
            <a:r>
              <a:rPr lang="en-US" sz="2800" dirty="0"/>
              <a:t>d = {1: 'Geeks', 2: 'For',3: {'A': 'Welcome', 'B': 'To', 'C': 'Geeks'}}</a:t>
            </a:r>
          </a:p>
          <a:p>
            <a:pPr marL="0" indent="0">
              <a:spcBef>
                <a:spcPts val="0"/>
              </a:spcBef>
              <a:buNone/>
            </a:pPr>
            <a:r>
              <a:rPr lang="en-US" sz="2800" dirty="0"/>
              <a:t>print(d)</a:t>
            </a:r>
          </a:p>
        </p:txBody>
      </p:sp>
      <p:pic>
        <p:nvPicPr>
          <p:cNvPr id="15362" name="Picture 2" descr="Lightbox">
            <a:extLst>
              <a:ext uri="{FF2B5EF4-FFF2-40B4-BE49-F238E27FC236}">
                <a16:creationId xmlns:a16="http://schemas.microsoft.com/office/drawing/2014/main" id="{A4BDF9F4-E6E4-6AD9-F10C-614D159EAA2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10200" y="2438400"/>
            <a:ext cx="6400800" cy="3744468"/>
          </a:xfrm>
          <a:prstGeom prst="rect">
            <a:avLst/>
          </a:prstGeom>
          <a:solidFill>
            <a:srgbClr val="FFFFFF"/>
          </a:solidFill>
        </p:spPr>
      </p:pic>
    </p:spTree>
    <p:extLst>
      <p:ext uri="{BB962C8B-B14F-4D97-AF65-F5344CB8AC3E}">
        <p14:creationId xmlns:p14="http://schemas.microsoft.com/office/powerpoint/2010/main" val="1474530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05E11-C941-3065-6F29-B909E0FBF53C}"/>
              </a:ext>
            </a:extLst>
          </p:cNvPr>
          <p:cNvSpPr>
            <a:spLocks noGrp="1"/>
          </p:cNvSpPr>
          <p:nvPr>
            <p:ph type="title"/>
          </p:nvPr>
        </p:nvSpPr>
        <p:spPr/>
        <p:txBody>
          <a:bodyPr/>
          <a:lstStyle/>
          <a:p>
            <a:r>
              <a:rPr lang="en-US" b="1" dirty="0"/>
              <a:t>Copying Dictionaries in Python</a:t>
            </a:r>
            <a:br>
              <a:rPr lang="en-US" b="1" dirty="0"/>
            </a:br>
            <a:endParaRPr lang="en-US" dirty="0"/>
          </a:p>
        </p:txBody>
      </p:sp>
      <p:sp>
        <p:nvSpPr>
          <p:cNvPr id="3" name="Content Placeholder 2">
            <a:extLst>
              <a:ext uri="{FF2B5EF4-FFF2-40B4-BE49-F238E27FC236}">
                <a16:creationId xmlns:a16="http://schemas.microsoft.com/office/drawing/2014/main" id="{D264ADC4-296F-799A-B3C0-02D55F9B2DC8}"/>
              </a:ext>
            </a:extLst>
          </p:cNvPr>
          <p:cNvSpPr>
            <a:spLocks noGrp="1"/>
          </p:cNvSpPr>
          <p:nvPr>
            <p:ph idx="1"/>
          </p:nvPr>
        </p:nvSpPr>
        <p:spPr/>
        <p:txBody>
          <a:bodyPr>
            <a:normAutofit/>
          </a:bodyPr>
          <a:lstStyle/>
          <a:p>
            <a:pPr marL="0" indent="0">
              <a:buNone/>
            </a:pPr>
            <a:r>
              <a:rPr lang="en-US" sz="2800" dirty="0"/>
              <a:t>A copy of a dictionary can be created using either </a:t>
            </a:r>
            <a:r>
              <a:rPr lang="en-US" sz="2800" b="1" dirty="0"/>
              <a:t>shallow copy</a:t>
            </a:r>
            <a:r>
              <a:rPr lang="en-US" sz="2800" dirty="0"/>
              <a:t> or </a:t>
            </a:r>
            <a:r>
              <a:rPr lang="en-US" sz="2800" b="1" dirty="0"/>
              <a:t>deep copy</a:t>
            </a:r>
            <a:r>
              <a:rPr lang="en-US" sz="2800" dirty="0"/>
              <a:t> methods. These methods allow duplicating dictionary objects, but they behave differently when it comes to nested data</a:t>
            </a:r>
          </a:p>
        </p:txBody>
      </p:sp>
    </p:spTree>
    <p:extLst>
      <p:ext uri="{BB962C8B-B14F-4D97-AF65-F5344CB8AC3E}">
        <p14:creationId xmlns:p14="http://schemas.microsoft.com/office/powerpoint/2010/main" val="4477046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6596-81D4-3E6C-338E-C44EB7F2AB21}"/>
              </a:ext>
            </a:extLst>
          </p:cNvPr>
          <p:cNvSpPr>
            <a:spLocks noGrp="1"/>
          </p:cNvSpPr>
          <p:nvPr>
            <p:ph type="title"/>
          </p:nvPr>
        </p:nvSpPr>
        <p:spPr/>
        <p:txBody>
          <a:bodyPr/>
          <a:lstStyle/>
          <a:p>
            <a:r>
              <a:rPr lang="en-US" b="1" dirty="0"/>
              <a:t>1. Shallow Copy</a:t>
            </a:r>
            <a:br>
              <a:rPr lang="en-US" b="1" dirty="0"/>
            </a:br>
            <a:endParaRPr lang="en-US" dirty="0"/>
          </a:p>
        </p:txBody>
      </p:sp>
      <p:sp>
        <p:nvSpPr>
          <p:cNvPr id="3" name="Content Placeholder 2">
            <a:extLst>
              <a:ext uri="{FF2B5EF4-FFF2-40B4-BE49-F238E27FC236}">
                <a16:creationId xmlns:a16="http://schemas.microsoft.com/office/drawing/2014/main" id="{09A40A07-819A-B345-41C0-FBD35300919D}"/>
              </a:ext>
            </a:extLst>
          </p:cNvPr>
          <p:cNvSpPr>
            <a:spLocks noGrp="1"/>
          </p:cNvSpPr>
          <p:nvPr>
            <p:ph idx="1"/>
          </p:nvPr>
        </p:nvSpPr>
        <p:spPr/>
        <p:txBody>
          <a:bodyPr/>
          <a:lstStyle/>
          <a:p>
            <a:pPr fontAlgn="base"/>
            <a:r>
              <a:rPr lang="en-US" sz="2400" dirty="0"/>
              <a:t>A </a:t>
            </a:r>
            <a:r>
              <a:rPr lang="en-US" sz="2400" b="1" dirty="0"/>
              <a:t>shallow copy</a:t>
            </a:r>
            <a:r>
              <a:rPr lang="en-US" sz="2400" dirty="0"/>
              <a:t> makes a new dictionary with same outer values as the original. But if the dictionary has nested data (like a list or another dictionary), both copies still share that inner data. So, changes to nested parts will affect other.</a:t>
            </a:r>
          </a:p>
          <a:p>
            <a:pPr fontAlgn="base"/>
            <a:r>
              <a:rPr lang="en-US" sz="2400" dirty="0"/>
              <a:t>It is created using </a:t>
            </a:r>
            <a:r>
              <a:rPr lang="en-US" sz="2400" b="1" dirty="0" err="1"/>
              <a:t>copy.copy</a:t>
            </a:r>
            <a:r>
              <a:rPr lang="en-US" sz="2400" b="1" dirty="0"/>
              <a:t>()</a:t>
            </a:r>
            <a:r>
              <a:rPr lang="en-US" sz="2400" dirty="0"/>
              <a:t> method from Python’s copy module.</a:t>
            </a:r>
          </a:p>
          <a:p>
            <a:endParaRPr lang="en-US" dirty="0"/>
          </a:p>
        </p:txBody>
      </p:sp>
    </p:spTree>
    <p:extLst>
      <p:ext uri="{BB962C8B-B14F-4D97-AF65-F5344CB8AC3E}">
        <p14:creationId xmlns:p14="http://schemas.microsoft.com/office/powerpoint/2010/main" val="30279251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815C23-173A-6569-A1A6-D074734A03B0}"/>
              </a:ext>
            </a:extLst>
          </p:cNvPr>
          <p:cNvSpPr>
            <a:spLocks noGrp="1"/>
          </p:cNvSpPr>
          <p:nvPr>
            <p:ph idx="1"/>
          </p:nvPr>
        </p:nvSpPr>
        <p:spPr>
          <a:xfrm>
            <a:off x="609666" y="228600"/>
            <a:ext cx="8305734" cy="5867400"/>
          </a:xfrm>
        </p:spPr>
        <p:txBody>
          <a:bodyPr>
            <a:normAutofit/>
          </a:bodyPr>
          <a:lstStyle/>
          <a:p>
            <a:pPr marL="0" indent="0">
              <a:spcBef>
                <a:spcPts val="0"/>
              </a:spcBef>
              <a:buNone/>
            </a:pPr>
            <a:r>
              <a:rPr lang="en-US" sz="2400" dirty="0"/>
              <a:t>import copy</a:t>
            </a:r>
          </a:p>
          <a:p>
            <a:pPr marL="0" indent="0">
              <a:spcBef>
                <a:spcPts val="0"/>
              </a:spcBef>
              <a:buNone/>
            </a:pPr>
            <a:r>
              <a:rPr lang="en-US" sz="2400" dirty="0"/>
              <a:t>original = {'name': 'Alice', 'marks': {'math': 90, 'science': 95}}</a:t>
            </a:r>
          </a:p>
          <a:p>
            <a:pPr marL="0" indent="0">
              <a:spcBef>
                <a:spcPts val="0"/>
              </a:spcBef>
              <a:buNone/>
            </a:pPr>
            <a:r>
              <a:rPr lang="en-US" sz="2400" dirty="0"/>
              <a:t># Create a shallow copy</a:t>
            </a:r>
          </a:p>
          <a:p>
            <a:pPr marL="0" indent="0">
              <a:spcBef>
                <a:spcPts val="0"/>
              </a:spcBef>
              <a:buNone/>
            </a:pPr>
            <a:r>
              <a:rPr lang="en-US" sz="2400" dirty="0"/>
              <a:t>shallow = </a:t>
            </a:r>
            <a:r>
              <a:rPr lang="en-US" sz="2400" dirty="0" err="1"/>
              <a:t>copy.copy</a:t>
            </a:r>
            <a:r>
              <a:rPr lang="en-US" sz="2400" dirty="0"/>
              <a:t>(original)</a:t>
            </a:r>
          </a:p>
          <a:p>
            <a:pPr marL="0" indent="0">
              <a:spcBef>
                <a:spcPts val="0"/>
              </a:spcBef>
              <a:buNone/>
            </a:pPr>
            <a:r>
              <a:rPr lang="en-US" sz="2400" dirty="0"/>
              <a:t># Modify nested value in the copy</a:t>
            </a:r>
          </a:p>
          <a:p>
            <a:pPr marL="0" indent="0">
              <a:spcBef>
                <a:spcPts val="0"/>
              </a:spcBef>
              <a:buNone/>
            </a:pPr>
            <a:r>
              <a:rPr lang="en-US" sz="2400" dirty="0"/>
              <a:t>shallow['marks']['math'] = 100</a:t>
            </a:r>
          </a:p>
          <a:p>
            <a:pPr marL="0" indent="0">
              <a:spcBef>
                <a:spcPts val="0"/>
              </a:spcBef>
              <a:buNone/>
            </a:pPr>
            <a:r>
              <a:rPr lang="en-US" sz="2400" dirty="0"/>
              <a:t>print("Original:", original)</a:t>
            </a:r>
          </a:p>
          <a:p>
            <a:pPr marL="0" indent="0">
              <a:spcBef>
                <a:spcPts val="0"/>
              </a:spcBef>
              <a:buNone/>
            </a:pPr>
            <a:r>
              <a:rPr lang="en-US" sz="2400" dirty="0"/>
              <a:t>print("Shallow Copy:", shallow)</a:t>
            </a:r>
          </a:p>
        </p:txBody>
      </p:sp>
      <p:sp>
        <p:nvSpPr>
          <p:cNvPr id="4" name="Rectangle 1">
            <a:extLst>
              <a:ext uri="{FF2B5EF4-FFF2-40B4-BE49-F238E27FC236}">
                <a16:creationId xmlns:a16="http://schemas.microsoft.com/office/drawing/2014/main" id="{836CF1AB-230C-0065-0D47-01405E624D63}"/>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BEB17CD-742E-F856-B1C2-D289CA4A2185}"/>
              </a:ext>
            </a:extLst>
          </p:cNvPr>
          <p:cNvSpPr txBox="1"/>
          <p:nvPr/>
        </p:nvSpPr>
        <p:spPr>
          <a:xfrm>
            <a:off x="632703" y="5410200"/>
            <a:ext cx="8991534"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nsolas" panose="020B0609020204030204" pitchFamily="49" charset="0"/>
              </a:rPr>
              <a:t>Output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nsolas" panose="020B0609020204030204" pitchFamily="49" charset="0"/>
              </a:rPr>
              <a:t>Original: {'name': 'Alice', 'marks': {'math': 100, 'science': 95}} Shallow Copy: {'name': 'Alice', 'marks': {'math': 100, 'science': 95}}</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93CA1575-4140-4B3E-5016-AD7D467414B9}"/>
              </a:ext>
            </a:extLst>
          </p:cNvPr>
          <p:cNvSpPr txBox="1"/>
          <p:nvPr/>
        </p:nvSpPr>
        <p:spPr>
          <a:xfrm>
            <a:off x="5876260" y="2814618"/>
            <a:ext cx="6078279" cy="2595582"/>
          </a:xfrm>
          <a:prstGeom prst="rect">
            <a:avLst/>
          </a:prstGeom>
          <a:noFill/>
        </p:spPr>
        <p:txBody>
          <a:bodyPr wrap="square">
            <a:spAutoFit/>
          </a:bodyPr>
          <a:lstStyle/>
          <a:p>
            <a:pPr algn="l" rtl="0" fontAlgn="base">
              <a:spcAft>
                <a:spcPts val="750"/>
              </a:spcAft>
              <a:buNone/>
            </a:pPr>
            <a:r>
              <a:rPr lang="en-US" b="1" i="0" dirty="0">
                <a:solidFill>
                  <a:schemeClr val="tx2"/>
                </a:solidFill>
                <a:effectLst/>
                <a:latin typeface="Nunito" pitchFamily="2" charset="0"/>
              </a:rPr>
              <a:t>Explanation:</a:t>
            </a:r>
            <a:endParaRPr lang="en-US" b="0" i="0" dirty="0">
              <a:solidFill>
                <a:schemeClr val="tx2"/>
              </a:solidFill>
              <a:effectLst/>
              <a:latin typeface="Nunito" pitchFamily="2" charset="0"/>
            </a:endParaRPr>
          </a:p>
          <a:p>
            <a:pPr algn="l" fontAlgn="base">
              <a:spcAft>
                <a:spcPts val="1800"/>
              </a:spcAft>
              <a:buFont typeface="Arial" panose="020B0604020202020204" pitchFamily="34" charset="0"/>
              <a:buChar char="•"/>
            </a:pPr>
            <a:r>
              <a:rPr lang="en-US" b="1" i="0" dirty="0">
                <a:solidFill>
                  <a:schemeClr val="tx2"/>
                </a:solidFill>
                <a:effectLst/>
                <a:latin typeface="Nunito" pitchFamily="2" charset="0"/>
              </a:rPr>
              <a:t>shallow = </a:t>
            </a:r>
            <a:r>
              <a:rPr lang="en-US" b="1" i="0" dirty="0" err="1">
                <a:solidFill>
                  <a:schemeClr val="tx2"/>
                </a:solidFill>
                <a:effectLst/>
                <a:latin typeface="Nunito" pitchFamily="2" charset="0"/>
              </a:rPr>
              <a:t>copy.copy</a:t>
            </a:r>
            <a:r>
              <a:rPr lang="en-US" b="1" i="0" dirty="0">
                <a:solidFill>
                  <a:schemeClr val="tx2"/>
                </a:solidFill>
                <a:effectLst/>
                <a:latin typeface="Nunito" pitchFamily="2" charset="0"/>
              </a:rPr>
              <a:t>(original): </a:t>
            </a:r>
            <a:r>
              <a:rPr lang="en-US" b="0" i="0" dirty="0">
                <a:solidFill>
                  <a:schemeClr val="tx2"/>
                </a:solidFill>
                <a:effectLst/>
                <a:latin typeface="Nunito" pitchFamily="2" charset="0"/>
              </a:rPr>
              <a:t>creates a shallow copy, nested '</a:t>
            </a:r>
            <a:r>
              <a:rPr lang="en-US" b="1" i="0" dirty="0">
                <a:solidFill>
                  <a:schemeClr val="tx2"/>
                </a:solidFill>
                <a:effectLst/>
                <a:latin typeface="Nunito" pitchFamily="2" charset="0"/>
              </a:rPr>
              <a:t>marks</a:t>
            </a:r>
            <a:r>
              <a:rPr lang="en-US" b="0" i="0" dirty="0">
                <a:solidFill>
                  <a:schemeClr val="tx2"/>
                </a:solidFill>
                <a:effectLst/>
                <a:latin typeface="Nunito" pitchFamily="2" charset="0"/>
              </a:rPr>
              <a:t>' remains shared.</a:t>
            </a:r>
          </a:p>
          <a:p>
            <a:pPr algn="l" fontAlgn="base">
              <a:spcAft>
                <a:spcPts val="1800"/>
              </a:spcAft>
              <a:buFont typeface="Arial" panose="020B0604020202020204" pitchFamily="34" charset="0"/>
              <a:buChar char="•"/>
            </a:pPr>
            <a:r>
              <a:rPr lang="en-US" b="1" i="0" dirty="0">
                <a:solidFill>
                  <a:schemeClr val="tx2"/>
                </a:solidFill>
                <a:effectLst/>
                <a:latin typeface="Nunito" pitchFamily="2" charset="0"/>
              </a:rPr>
              <a:t>shallow['marks']['math'] = 100:</a:t>
            </a:r>
            <a:r>
              <a:rPr lang="en-US" b="0" i="0" dirty="0">
                <a:solidFill>
                  <a:schemeClr val="tx2"/>
                </a:solidFill>
                <a:effectLst/>
                <a:latin typeface="Nunito" pitchFamily="2" charset="0"/>
              </a:rPr>
              <a:t> updates '</a:t>
            </a:r>
            <a:r>
              <a:rPr lang="en-US" b="1" i="0" dirty="0">
                <a:solidFill>
                  <a:schemeClr val="tx2"/>
                </a:solidFill>
                <a:effectLst/>
                <a:latin typeface="Nunito" pitchFamily="2" charset="0"/>
              </a:rPr>
              <a:t>math</a:t>
            </a:r>
            <a:r>
              <a:rPr lang="en-US" b="0" i="0" dirty="0">
                <a:solidFill>
                  <a:schemeClr val="tx2"/>
                </a:solidFill>
                <a:effectLst/>
                <a:latin typeface="Nunito" pitchFamily="2" charset="0"/>
              </a:rPr>
              <a:t>' in the shared nested dictionary.</a:t>
            </a:r>
          </a:p>
          <a:p>
            <a:pPr algn="l" fontAlgn="base">
              <a:spcAft>
                <a:spcPts val="1800"/>
              </a:spcAft>
              <a:buFont typeface="Arial" panose="020B0604020202020204" pitchFamily="34" charset="0"/>
              <a:buChar char="•"/>
            </a:pPr>
            <a:r>
              <a:rPr lang="en-US" b="1" i="0" dirty="0">
                <a:solidFill>
                  <a:schemeClr val="tx2"/>
                </a:solidFill>
                <a:effectLst/>
                <a:latin typeface="Nunito" pitchFamily="2" charset="0"/>
              </a:rPr>
              <a:t>print(original), print(shallow):</a:t>
            </a:r>
            <a:r>
              <a:rPr lang="en-US" b="0" i="0" dirty="0">
                <a:solidFill>
                  <a:schemeClr val="tx2"/>
                </a:solidFill>
                <a:effectLst/>
                <a:latin typeface="Nunito" pitchFamily="2" charset="0"/>
              </a:rPr>
              <a:t> both show updated '</a:t>
            </a:r>
            <a:r>
              <a:rPr lang="en-US" b="1" i="0" dirty="0">
                <a:solidFill>
                  <a:schemeClr val="tx2"/>
                </a:solidFill>
                <a:effectLst/>
                <a:latin typeface="Nunito" pitchFamily="2" charset="0"/>
              </a:rPr>
              <a:t>math</a:t>
            </a:r>
            <a:r>
              <a:rPr lang="en-US" b="0" i="0" dirty="0">
                <a:solidFill>
                  <a:schemeClr val="tx2"/>
                </a:solidFill>
                <a:effectLst/>
                <a:latin typeface="Nunito" pitchFamily="2" charset="0"/>
              </a:rPr>
              <a:t>' value due to shared data.</a:t>
            </a:r>
          </a:p>
        </p:txBody>
      </p:sp>
    </p:spTree>
    <p:extLst>
      <p:ext uri="{BB962C8B-B14F-4D97-AF65-F5344CB8AC3E}">
        <p14:creationId xmlns:p14="http://schemas.microsoft.com/office/powerpoint/2010/main" val="1298124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9BA7D-8D5B-56AF-A375-8192CC850FA5}"/>
              </a:ext>
            </a:extLst>
          </p:cNvPr>
          <p:cNvSpPr>
            <a:spLocks noGrp="1"/>
          </p:cNvSpPr>
          <p:nvPr>
            <p:ph type="title"/>
          </p:nvPr>
        </p:nvSpPr>
        <p:spPr/>
        <p:txBody>
          <a:bodyPr/>
          <a:lstStyle/>
          <a:p>
            <a:r>
              <a:rPr lang="en-US" b="1" dirty="0"/>
              <a:t>2. Deep Copy</a:t>
            </a:r>
            <a:br>
              <a:rPr lang="en-US" b="1" dirty="0"/>
            </a:br>
            <a:endParaRPr lang="en-US" dirty="0"/>
          </a:p>
        </p:txBody>
      </p:sp>
      <p:sp>
        <p:nvSpPr>
          <p:cNvPr id="3" name="Content Placeholder 2">
            <a:extLst>
              <a:ext uri="{FF2B5EF4-FFF2-40B4-BE49-F238E27FC236}">
                <a16:creationId xmlns:a16="http://schemas.microsoft.com/office/drawing/2014/main" id="{346744B9-CE7E-9AFE-46AF-F3A473F2EAA2}"/>
              </a:ext>
            </a:extLst>
          </p:cNvPr>
          <p:cNvSpPr>
            <a:spLocks noGrp="1"/>
          </p:cNvSpPr>
          <p:nvPr>
            <p:ph idx="1"/>
          </p:nvPr>
        </p:nvSpPr>
        <p:spPr/>
        <p:txBody>
          <a:bodyPr/>
          <a:lstStyle/>
          <a:p>
            <a:pPr fontAlgn="base"/>
            <a:r>
              <a:rPr lang="en-US" sz="2400" dirty="0"/>
              <a:t>A </a:t>
            </a:r>
            <a:r>
              <a:rPr lang="en-US" sz="2400" b="1" dirty="0"/>
              <a:t>deep copy</a:t>
            </a:r>
            <a:r>
              <a:rPr lang="en-US" sz="2400" dirty="0"/>
              <a:t> makes a new dictionary and also creates separate copies of all nested data (like lists or other dictionaries). This means original and copy are completely independent, changes made to nested parts do not affect other.</a:t>
            </a:r>
          </a:p>
          <a:p>
            <a:pPr fontAlgn="base"/>
            <a:r>
              <a:rPr lang="en-US" sz="2400" dirty="0"/>
              <a:t>It is created using </a:t>
            </a:r>
            <a:r>
              <a:rPr lang="en-US" sz="2400" b="1" dirty="0" err="1"/>
              <a:t>copy.deepcopy</a:t>
            </a:r>
            <a:r>
              <a:rPr lang="en-US" sz="2400" b="1" dirty="0"/>
              <a:t>()</a:t>
            </a:r>
            <a:r>
              <a:rPr lang="en-US" sz="2400" dirty="0"/>
              <a:t> method from Python’s copy module.</a:t>
            </a:r>
          </a:p>
          <a:p>
            <a:endParaRPr lang="en-US" dirty="0"/>
          </a:p>
        </p:txBody>
      </p:sp>
    </p:spTree>
    <p:extLst>
      <p:ext uri="{BB962C8B-B14F-4D97-AF65-F5344CB8AC3E}">
        <p14:creationId xmlns:p14="http://schemas.microsoft.com/office/powerpoint/2010/main" val="26602636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23EDC8-AFC0-5CA9-EC52-1195E1D2D801}"/>
              </a:ext>
            </a:extLst>
          </p:cNvPr>
          <p:cNvSpPr>
            <a:spLocks noGrp="1"/>
          </p:cNvSpPr>
          <p:nvPr>
            <p:ph idx="1"/>
          </p:nvPr>
        </p:nvSpPr>
        <p:spPr>
          <a:xfrm>
            <a:off x="228600" y="228600"/>
            <a:ext cx="9144000" cy="4267200"/>
          </a:xfrm>
        </p:spPr>
        <p:txBody>
          <a:bodyPr>
            <a:normAutofit/>
          </a:bodyPr>
          <a:lstStyle/>
          <a:p>
            <a:pPr marL="0" indent="0">
              <a:spcBef>
                <a:spcPts val="0"/>
              </a:spcBef>
              <a:buNone/>
            </a:pPr>
            <a:r>
              <a:rPr lang="en-US" sz="2400" dirty="0"/>
              <a:t>import copy</a:t>
            </a:r>
          </a:p>
          <a:p>
            <a:pPr marL="0" indent="0">
              <a:spcBef>
                <a:spcPts val="0"/>
              </a:spcBef>
              <a:buNone/>
            </a:pPr>
            <a:r>
              <a:rPr lang="en-US" sz="2400" dirty="0"/>
              <a:t>original = {'name': 'Alice', 'marks': {'math': 90, 'science': 95}}</a:t>
            </a:r>
          </a:p>
          <a:p>
            <a:pPr marL="0" indent="0">
              <a:spcBef>
                <a:spcPts val="0"/>
              </a:spcBef>
              <a:buNone/>
            </a:pPr>
            <a:endParaRPr lang="en-US" sz="2400" dirty="0"/>
          </a:p>
          <a:p>
            <a:pPr marL="0" indent="0">
              <a:spcBef>
                <a:spcPts val="0"/>
              </a:spcBef>
              <a:buNone/>
            </a:pPr>
            <a:r>
              <a:rPr lang="en-US" sz="2400" dirty="0"/>
              <a:t># Create a deep copy</a:t>
            </a:r>
          </a:p>
          <a:p>
            <a:pPr marL="0" indent="0">
              <a:spcBef>
                <a:spcPts val="0"/>
              </a:spcBef>
              <a:buNone/>
            </a:pPr>
            <a:r>
              <a:rPr lang="en-US" sz="2400" dirty="0"/>
              <a:t>deep = </a:t>
            </a:r>
            <a:r>
              <a:rPr lang="en-US" sz="2400" dirty="0" err="1"/>
              <a:t>copy.deepcopy</a:t>
            </a:r>
            <a:r>
              <a:rPr lang="en-US" sz="2400" dirty="0"/>
              <a:t>(original)</a:t>
            </a:r>
          </a:p>
          <a:p>
            <a:pPr marL="0" indent="0">
              <a:spcBef>
                <a:spcPts val="0"/>
              </a:spcBef>
              <a:buNone/>
            </a:pPr>
            <a:endParaRPr lang="en-US" sz="2400" dirty="0"/>
          </a:p>
          <a:p>
            <a:pPr marL="0" indent="0">
              <a:spcBef>
                <a:spcPts val="0"/>
              </a:spcBef>
              <a:buNone/>
            </a:pPr>
            <a:r>
              <a:rPr lang="en-US" sz="2400" dirty="0"/>
              <a:t># Modify nested value in the deep copy</a:t>
            </a:r>
          </a:p>
          <a:p>
            <a:pPr marL="0" indent="0">
              <a:spcBef>
                <a:spcPts val="0"/>
              </a:spcBef>
              <a:buNone/>
            </a:pPr>
            <a:r>
              <a:rPr lang="en-US" sz="2400" dirty="0"/>
              <a:t>deep['marks']['math'] = 100</a:t>
            </a:r>
          </a:p>
          <a:p>
            <a:pPr marL="0" indent="0">
              <a:spcBef>
                <a:spcPts val="0"/>
              </a:spcBef>
              <a:buNone/>
            </a:pPr>
            <a:endParaRPr lang="en-US" sz="2400" dirty="0"/>
          </a:p>
          <a:p>
            <a:pPr marL="0" indent="0">
              <a:spcBef>
                <a:spcPts val="0"/>
              </a:spcBef>
              <a:buNone/>
            </a:pPr>
            <a:r>
              <a:rPr lang="en-US" sz="2400" dirty="0"/>
              <a:t>print("Original:", original)</a:t>
            </a:r>
          </a:p>
          <a:p>
            <a:pPr marL="0" indent="0">
              <a:spcBef>
                <a:spcPts val="0"/>
              </a:spcBef>
              <a:buNone/>
            </a:pPr>
            <a:r>
              <a:rPr lang="en-US" sz="2400" dirty="0"/>
              <a:t>print("Deep Copy:", deep)</a:t>
            </a:r>
          </a:p>
        </p:txBody>
      </p:sp>
      <p:pic>
        <p:nvPicPr>
          <p:cNvPr id="5" name="Picture 4">
            <a:extLst>
              <a:ext uri="{FF2B5EF4-FFF2-40B4-BE49-F238E27FC236}">
                <a16:creationId xmlns:a16="http://schemas.microsoft.com/office/drawing/2014/main" id="{0DFD2BEF-65FE-48EE-9486-BF315A8BADA4}"/>
              </a:ext>
            </a:extLst>
          </p:cNvPr>
          <p:cNvPicPr>
            <a:picLocks noChangeAspect="1"/>
          </p:cNvPicPr>
          <p:nvPr/>
        </p:nvPicPr>
        <p:blipFill>
          <a:blip r:embed="rId2"/>
          <a:stretch>
            <a:fillRect/>
          </a:stretch>
        </p:blipFill>
        <p:spPr>
          <a:xfrm>
            <a:off x="457200" y="4495800"/>
            <a:ext cx="10126488" cy="1667108"/>
          </a:xfrm>
          <a:prstGeom prst="rect">
            <a:avLst/>
          </a:prstGeom>
        </p:spPr>
      </p:pic>
      <p:sp>
        <p:nvSpPr>
          <p:cNvPr id="7" name="TextBox 6">
            <a:extLst>
              <a:ext uri="{FF2B5EF4-FFF2-40B4-BE49-F238E27FC236}">
                <a16:creationId xmlns:a16="http://schemas.microsoft.com/office/drawing/2014/main" id="{5B39B0A6-8BB3-D772-A23B-7E323AE2CF69}"/>
              </a:ext>
            </a:extLst>
          </p:cNvPr>
          <p:cNvSpPr txBox="1"/>
          <p:nvPr/>
        </p:nvSpPr>
        <p:spPr>
          <a:xfrm>
            <a:off x="5715000" y="1435981"/>
            <a:ext cx="6097772" cy="2595582"/>
          </a:xfrm>
          <a:prstGeom prst="rect">
            <a:avLst/>
          </a:prstGeom>
          <a:noFill/>
        </p:spPr>
        <p:txBody>
          <a:bodyPr wrap="square">
            <a:spAutoFit/>
          </a:bodyPr>
          <a:lstStyle/>
          <a:p>
            <a:pPr algn="l" rtl="0" fontAlgn="base">
              <a:spcAft>
                <a:spcPts val="750"/>
              </a:spcAft>
              <a:buNone/>
            </a:pPr>
            <a:r>
              <a:rPr lang="en-US" b="1" i="0" dirty="0">
                <a:solidFill>
                  <a:schemeClr val="tx2"/>
                </a:solidFill>
                <a:effectLst/>
                <a:latin typeface="Nunito" pitchFamily="2" charset="0"/>
              </a:rPr>
              <a:t>Explanation:</a:t>
            </a:r>
            <a:endParaRPr lang="en-US" b="0" i="0" dirty="0">
              <a:solidFill>
                <a:schemeClr val="tx2"/>
              </a:solidFill>
              <a:effectLst/>
              <a:latin typeface="Nunito" pitchFamily="2" charset="0"/>
            </a:endParaRPr>
          </a:p>
          <a:p>
            <a:pPr algn="l" fontAlgn="base">
              <a:spcAft>
                <a:spcPts val="1800"/>
              </a:spcAft>
              <a:buFont typeface="Arial" panose="020B0604020202020204" pitchFamily="34" charset="0"/>
              <a:buChar char="•"/>
            </a:pPr>
            <a:r>
              <a:rPr lang="en-US" b="1" i="0" dirty="0">
                <a:solidFill>
                  <a:schemeClr val="tx2"/>
                </a:solidFill>
                <a:effectLst/>
                <a:latin typeface="Nunito" pitchFamily="2" charset="0"/>
              </a:rPr>
              <a:t>deep = </a:t>
            </a:r>
            <a:r>
              <a:rPr lang="en-US" b="1" i="0" dirty="0" err="1">
                <a:solidFill>
                  <a:schemeClr val="tx2"/>
                </a:solidFill>
                <a:effectLst/>
                <a:latin typeface="Nunito" pitchFamily="2" charset="0"/>
              </a:rPr>
              <a:t>copy.deepcopy</a:t>
            </a:r>
            <a:r>
              <a:rPr lang="en-US" b="1" i="0" dirty="0">
                <a:solidFill>
                  <a:schemeClr val="tx2"/>
                </a:solidFill>
                <a:effectLst/>
                <a:latin typeface="Nunito" pitchFamily="2" charset="0"/>
              </a:rPr>
              <a:t>(original):</a:t>
            </a:r>
            <a:r>
              <a:rPr lang="en-US" b="0" i="0" dirty="0">
                <a:solidFill>
                  <a:schemeClr val="tx2"/>
                </a:solidFill>
                <a:effectLst/>
                <a:latin typeface="Nunito" pitchFamily="2" charset="0"/>
              </a:rPr>
              <a:t> creates a deep copy, nested '</a:t>
            </a:r>
            <a:r>
              <a:rPr lang="en-US" b="1" i="0" dirty="0">
                <a:solidFill>
                  <a:schemeClr val="tx2"/>
                </a:solidFill>
                <a:effectLst/>
                <a:latin typeface="Nunito" pitchFamily="2" charset="0"/>
              </a:rPr>
              <a:t>marks</a:t>
            </a:r>
            <a:r>
              <a:rPr lang="en-US" b="0" i="0" dirty="0">
                <a:solidFill>
                  <a:schemeClr val="tx2"/>
                </a:solidFill>
                <a:effectLst/>
                <a:latin typeface="Nunito" pitchFamily="2" charset="0"/>
              </a:rPr>
              <a:t>' is also copied separately.</a:t>
            </a:r>
          </a:p>
          <a:p>
            <a:pPr algn="l" fontAlgn="base">
              <a:spcAft>
                <a:spcPts val="1800"/>
              </a:spcAft>
              <a:buFont typeface="Arial" panose="020B0604020202020204" pitchFamily="34" charset="0"/>
              <a:buChar char="•"/>
            </a:pPr>
            <a:r>
              <a:rPr lang="en-US" b="1" i="0" dirty="0">
                <a:solidFill>
                  <a:schemeClr val="tx2"/>
                </a:solidFill>
                <a:effectLst/>
                <a:latin typeface="Nunito" pitchFamily="2" charset="0"/>
              </a:rPr>
              <a:t>deep['marks']['math'] = 100:</a:t>
            </a:r>
            <a:r>
              <a:rPr lang="en-US" b="0" i="0" dirty="0">
                <a:solidFill>
                  <a:schemeClr val="tx2"/>
                </a:solidFill>
                <a:effectLst/>
                <a:latin typeface="Nunito" pitchFamily="2" charset="0"/>
              </a:rPr>
              <a:t> updates '</a:t>
            </a:r>
            <a:r>
              <a:rPr lang="en-US" b="1" i="0" dirty="0">
                <a:solidFill>
                  <a:schemeClr val="tx2"/>
                </a:solidFill>
                <a:effectLst/>
                <a:latin typeface="Nunito" pitchFamily="2" charset="0"/>
              </a:rPr>
              <a:t>math</a:t>
            </a:r>
            <a:r>
              <a:rPr lang="en-US" b="0" i="0" dirty="0">
                <a:solidFill>
                  <a:schemeClr val="tx2"/>
                </a:solidFill>
                <a:effectLst/>
                <a:latin typeface="Nunito" pitchFamily="2" charset="0"/>
              </a:rPr>
              <a:t>' in the deep copy’s nested dictionary only.</a:t>
            </a:r>
          </a:p>
          <a:p>
            <a:pPr algn="l" fontAlgn="base">
              <a:spcAft>
                <a:spcPts val="1800"/>
              </a:spcAft>
              <a:buFont typeface="Arial" panose="020B0604020202020204" pitchFamily="34" charset="0"/>
              <a:buChar char="•"/>
            </a:pPr>
            <a:r>
              <a:rPr lang="en-US" b="1" i="0" dirty="0">
                <a:solidFill>
                  <a:schemeClr val="tx2"/>
                </a:solidFill>
                <a:effectLst/>
                <a:latin typeface="Nunito" pitchFamily="2" charset="0"/>
              </a:rPr>
              <a:t>print(original), print(deep):</a:t>
            </a:r>
            <a:r>
              <a:rPr lang="en-US" b="0" i="0" dirty="0">
                <a:solidFill>
                  <a:schemeClr val="tx2"/>
                </a:solidFill>
                <a:effectLst/>
                <a:latin typeface="Nunito" pitchFamily="2" charset="0"/>
              </a:rPr>
              <a:t> original remains unchanged, only deep copy shows the updated '</a:t>
            </a:r>
            <a:r>
              <a:rPr lang="en-US" b="1" i="0" dirty="0">
                <a:solidFill>
                  <a:schemeClr val="tx2"/>
                </a:solidFill>
                <a:effectLst/>
                <a:latin typeface="Nunito" pitchFamily="2" charset="0"/>
              </a:rPr>
              <a:t>math</a:t>
            </a:r>
            <a:r>
              <a:rPr lang="en-US" b="0" i="0" dirty="0">
                <a:solidFill>
                  <a:schemeClr val="tx2"/>
                </a:solidFill>
                <a:effectLst/>
                <a:latin typeface="Nunito" pitchFamily="2" charset="0"/>
              </a:rPr>
              <a:t>' value.</a:t>
            </a:r>
          </a:p>
        </p:txBody>
      </p:sp>
    </p:spTree>
    <p:extLst>
      <p:ext uri="{BB962C8B-B14F-4D97-AF65-F5344CB8AC3E}">
        <p14:creationId xmlns:p14="http://schemas.microsoft.com/office/powerpoint/2010/main" val="12052789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652F1-23F7-0B34-A7BC-B29BE01C8F36}"/>
              </a:ext>
            </a:extLst>
          </p:cNvPr>
          <p:cNvSpPr>
            <a:spLocks noGrp="1"/>
          </p:cNvSpPr>
          <p:nvPr>
            <p:ph type="title"/>
          </p:nvPr>
        </p:nvSpPr>
        <p:spPr/>
        <p:txBody>
          <a:bodyPr/>
          <a:lstStyle/>
          <a:p>
            <a:r>
              <a:rPr lang="en-US" b="1" dirty="0"/>
              <a:t>Python Dictionary Comprehension</a:t>
            </a:r>
            <a:br>
              <a:rPr lang="en-US" b="1" dirty="0"/>
            </a:br>
            <a:endParaRPr lang="en-US" dirty="0"/>
          </a:p>
        </p:txBody>
      </p:sp>
      <p:sp>
        <p:nvSpPr>
          <p:cNvPr id="3" name="Content Placeholder 2">
            <a:extLst>
              <a:ext uri="{FF2B5EF4-FFF2-40B4-BE49-F238E27FC236}">
                <a16:creationId xmlns:a16="http://schemas.microsoft.com/office/drawing/2014/main" id="{477A70E2-39B7-7A19-3EFA-880C81976CEE}"/>
              </a:ext>
            </a:extLst>
          </p:cNvPr>
          <p:cNvSpPr>
            <a:spLocks noGrp="1"/>
          </p:cNvSpPr>
          <p:nvPr>
            <p:ph idx="1"/>
          </p:nvPr>
        </p:nvSpPr>
        <p:spPr>
          <a:xfrm>
            <a:off x="685800" y="1295400"/>
            <a:ext cx="10820400" cy="4267200"/>
          </a:xfrm>
        </p:spPr>
        <p:txBody>
          <a:bodyPr>
            <a:noAutofit/>
          </a:bodyPr>
          <a:lstStyle/>
          <a:p>
            <a:pPr marL="0" indent="0">
              <a:spcBef>
                <a:spcPts val="0"/>
              </a:spcBef>
              <a:buNone/>
            </a:pPr>
            <a:r>
              <a:rPr lang="en-US" sz="2800" dirty="0"/>
              <a:t>Python allows dictionary comprehensions. We can create dictionaries using simple expressions. A dictionary comprehension takes the form</a:t>
            </a:r>
          </a:p>
          <a:p>
            <a:pPr marL="0" indent="0">
              <a:spcBef>
                <a:spcPts val="0"/>
              </a:spcBef>
              <a:buNone/>
            </a:pPr>
            <a:endParaRPr lang="en-US" sz="2800" dirty="0"/>
          </a:p>
          <a:p>
            <a:pPr marL="0" indent="0">
              <a:spcBef>
                <a:spcPts val="0"/>
              </a:spcBef>
              <a:buNone/>
            </a:pPr>
            <a:r>
              <a:rPr lang="en-US" sz="2800" dirty="0"/>
              <a:t> </a:t>
            </a:r>
            <a:r>
              <a:rPr lang="en-US" sz="2800" b="1" i="1" dirty="0"/>
              <a:t>{key: value for (key, value) in </a:t>
            </a:r>
            <a:r>
              <a:rPr lang="en-US" sz="2800" b="1" i="1" dirty="0" err="1"/>
              <a:t>iterable</a:t>
            </a:r>
            <a:r>
              <a:rPr lang="en-US" sz="2800" b="1" i="1" dirty="0"/>
              <a:t>}</a:t>
            </a:r>
          </a:p>
          <a:p>
            <a:pPr marL="0" indent="0">
              <a:spcBef>
                <a:spcPts val="0"/>
              </a:spcBef>
              <a:buNone/>
            </a:pPr>
            <a:endParaRPr lang="en-US" sz="2400" b="1" i="1" dirty="0"/>
          </a:p>
        </p:txBody>
      </p:sp>
    </p:spTree>
    <p:extLst>
      <p:ext uri="{BB962C8B-B14F-4D97-AF65-F5344CB8AC3E}">
        <p14:creationId xmlns:p14="http://schemas.microsoft.com/office/powerpoint/2010/main" val="39305972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9A1832-4DC3-8B24-7160-A25D518BD9D8}"/>
              </a:ext>
            </a:extLst>
          </p:cNvPr>
          <p:cNvSpPr>
            <a:spLocks noGrp="1"/>
          </p:cNvSpPr>
          <p:nvPr>
            <p:ph idx="1"/>
          </p:nvPr>
        </p:nvSpPr>
        <p:spPr>
          <a:xfrm>
            <a:off x="1524000" y="685800"/>
            <a:ext cx="9144000" cy="5410200"/>
          </a:xfrm>
        </p:spPr>
        <p:txBody>
          <a:bodyPr/>
          <a:lstStyle/>
          <a:p>
            <a:pPr marL="0" indent="0">
              <a:spcBef>
                <a:spcPts val="0"/>
              </a:spcBef>
              <a:buNone/>
            </a:pPr>
            <a:r>
              <a:rPr lang="en-US" sz="2400" dirty="0"/>
              <a:t># Python code to demonstrate dictionary   comprehension</a:t>
            </a:r>
          </a:p>
          <a:p>
            <a:pPr marL="0" indent="0">
              <a:spcBef>
                <a:spcPts val="0"/>
              </a:spcBef>
              <a:buNone/>
            </a:pPr>
            <a:endParaRPr lang="en-US" sz="2400" dirty="0"/>
          </a:p>
          <a:p>
            <a:pPr marL="0" indent="0">
              <a:spcBef>
                <a:spcPts val="0"/>
              </a:spcBef>
              <a:buNone/>
            </a:pPr>
            <a:r>
              <a:rPr lang="en-US" sz="2400" dirty="0"/>
              <a:t># Lists to represent keys and values</a:t>
            </a:r>
          </a:p>
          <a:p>
            <a:pPr marL="0" indent="0">
              <a:spcBef>
                <a:spcPts val="0"/>
              </a:spcBef>
              <a:buNone/>
            </a:pPr>
            <a:r>
              <a:rPr lang="en-US" sz="2400" dirty="0"/>
              <a:t>keys = ['</a:t>
            </a:r>
            <a:r>
              <a:rPr lang="en-US" sz="2400" dirty="0" err="1"/>
              <a:t>a','b','c','d','e</a:t>
            </a:r>
            <a:r>
              <a:rPr lang="en-US" sz="2400" dirty="0"/>
              <a:t>']</a:t>
            </a:r>
          </a:p>
          <a:p>
            <a:pPr marL="0" indent="0">
              <a:spcBef>
                <a:spcPts val="0"/>
              </a:spcBef>
              <a:buNone/>
            </a:pPr>
            <a:r>
              <a:rPr lang="en-US" sz="2400" dirty="0"/>
              <a:t>values = [1,2,3,4,5]  </a:t>
            </a:r>
          </a:p>
          <a:p>
            <a:pPr marL="0" indent="0">
              <a:spcBef>
                <a:spcPts val="0"/>
              </a:spcBef>
              <a:buNone/>
            </a:pPr>
            <a:endParaRPr lang="en-US" sz="2400" dirty="0"/>
          </a:p>
          <a:p>
            <a:pPr marL="0" indent="0">
              <a:spcBef>
                <a:spcPts val="0"/>
              </a:spcBef>
              <a:buNone/>
            </a:pPr>
            <a:r>
              <a:rPr lang="en-US" sz="2400" dirty="0"/>
              <a:t># but this line shows </a:t>
            </a:r>
            <a:r>
              <a:rPr lang="en-US" sz="2400" dirty="0" err="1"/>
              <a:t>dict</a:t>
            </a:r>
            <a:r>
              <a:rPr lang="en-US" sz="2400" dirty="0"/>
              <a:t> comprehension here  </a:t>
            </a:r>
          </a:p>
          <a:p>
            <a:pPr marL="0" indent="0">
              <a:spcBef>
                <a:spcPts val="0"/>
              </a:spcBef>
              <a:buNone/>
            </a:pPr>
            <a:r>
              <a:rPr lang="en-US" sz="2400" dirty="0" err="1"/>
              <a:t>myDict</a:t>
            </a:r>
            <a:r>
              <a:rPr lang="en-US" sz="2400" dirty="0"/>
              <a:t> = { k:v for (</a:t>
            </a:r>
            <a:r>
              <a:rPr lang="en-US" sz="2400" dirty="0" err="1"/>
              <a:t>k,v</a:t>
            </a:r>
            <a:r>
              <a:rPr lang="en-US" sz="2400" dirty="0"/>
              <a:t>) in zip(keys, values)}  </a:t>
            </a:r>
          </a:p>
          <a:p>
            <a:pPr marL="0" indent="0">
              <a:spcBef>
                <a:spcPts val="0"/>
              </a:spcBef>
              <a:buNone/>
            </a:pPr>
            <a:endParaRPr lang="en-US" sz="2400" dirty="0"/>
          </a:p>
          <a:p>
            <a:pPr marL="0" indent="0">
              <a:spcBef>
                <a:spcPts val="0"/>
              </a:spcBef>
              <a:buNone/>
            </a:pPr>
            <a:r>
              <a:rPr lang="en-US" sz="2400" dirty="0"/>
              <a:t># We can use below too</a:t>
            </a:r>
          </a:p>
          <a:p>
            <a:pPr marL="0" indent="0">
              <a:spcBef>
                <a:spcPts val="0"/>
              </a:spcBef>
              <a:buNone/>
            </a:pPr>
            <a:r>
              <a:rPr lang="en-US" sz="2400" dirty="0"/>
              <a:t># </a:t>
            </a:r>
            <a:r>
              <a:rPr lang="en-US" sz="2400" dirty="0" err="1"/>
              <a:t>myDict</a:t>
            </a:r>
            <a:r>
              <a:rPr lang="en-US" sz="2400" dirty="0"/>
              <a:t> = </a:t>
            </a:r>
            <a:r>
              <a:rPr lang="en-US" sz="2400" dirty="0" err="1"/>
              <a:t>dict</a:t>
            </a:r>
            <a:r>
              <a:rPr lang="en-US" sz="2400" dirty="0"/>
              <a:t>(zip(keys, values))  </a:t>
            </a:r>
          </a:p>
          <a:p>
            <a:pPr marL="0" indent="0">
              <a:spcBef>
                <a:spcPts val="0"/>
              </a:spcBef>
              <a:buNone/>
            </a:pPr>
            <a:endParaRPr lang="en-US" sz="2400" dirty="0"/>
          </a:p>
          <a:p>
            <a:pPr marL="0" indent="0">
              <a:spcBef>
                <a:spcPts val="0"/>
              </a:spcBef>
              <a:buNone/>
            </a:pPr>
            <a:r>
              <a:rPr lang="en-US" sz="2400" dirty="0"/>
              <a:t>print (</a:t>
            </a:r>
            <a:r>
              <a:rPr lang="en-US" sz="2400" dirty="0" err="1"/>
              <a:t>myDict</a:t>
            </a:r>
            <a:r>
              <a:rPr lang="en-US" sz="2400" dirty="0"/>
              <a:t>)</a:t>
            </a:r>
          </a:p>
          <a:p>
            <a:endParaRPr lang="en-US" dirty="0"/>
          </a:p>
        </p:txBody>
      </p:sp>
    </p:spTree>
    <p:extLst>
      <p:ext uri="{BB962C8B-B14F-4D97-AF65-F5344CB8AC3E}">
        <p14:creationId xmlns:p14="http://schemas.microsoft.com/office/powerpoint/2010/main" val="1160178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CB735-8625-AC9C-60BC-BDC41D117901}"/>
              </a:ext>
            </a:extLst>
          </p:cNvPr>
          <p:cNvSpPr>
            <a:spLocks noGrp="1"/>
          </p:cNvSpPr>
          <p:nvPr>
            <p:ph type="title"/>
          </p:nvPr>
        </p:nvSpPr>
        <p:spPr/>
        <p:txBody>
          <a:bodyPr/>
          <a:lstStyle/>
          <a:p>
            <a:r>
              <a:rPr lang="en-US" b="1" dirty="0"/>
              <a:t>Using </a:t>
            </a:r>
            <a:r>
              <a:rPr lang="en-US" b="1" dirty="0" err="1"/>
              <a:t>fromkeys</a:t>
            </a:r>
            <a:r>
              <a:rPr lang="en-US" b="1" dirty="0"/>
              <a:t>() Method</a:t>
            </a:r>
            <a:br>
              <a:rPr lang="en-US" b="1" dirty="0"/>
            </a:br>
            <a:endParaRPr lang="en-US" dirty="0"/>
          </a:p>
        </p:txBody>
      </p:sp>
      <p:sp>
        <p:nvSpPr>
          <p:cNvPr id="3" name="Content Placeholder 2">
            <a:extLst>
              <a:ext uri="{FF2B5EF4-FFF2-40B4-BE49-F238E27FC236}">
                <a16:creationId xmlns:a16="http://schemas.microsoft.com/office/drawing/2014/main" id="{3AE9C2DE-D121-9BE0-0D0F-7C88961AB9B6}"/>
              </a:ext>
            </a:extLst>
          </p:cNvPr>
          <p:cNvSpPr>
            <a:spLocks noGrp="1"/>
          </p:cNvSpPr>
          <p:nvPr>
            <p:ph idx="1"/>
          </p:nvPr>
        </p:nvSpPr>
        <p:spPr/>
        <p:txBody>
          <a:bodyPr>
            <a:normAutofit/>
          </a:bodyPr>
          <a:lstStyle/>
          <a:p>
            <a:r>
              <a:rPr lang="en-US" sz="2800" dirty="0" err="1"/>
              <a:t>dic</a:t>
            </a:r>
            <a:r>
              <a:rPr lang="en-US" sz="2800" dirty="0"/>
              <a:t>=</a:t>
            </a:r>
            <a:r>
              <a:rPr lang="en-US" sz="2800" dirty="0" err="1"/>
              <a:t>dict.fromkeys</a:t>
            </a:r>
            <a:r>
              <a:rPr lang="en-US" sz="2800" dirty="0"/>
              <a:t>(range(5), True)</a:t>
            </a:r>
          </a:p>
          <a:p>
            <a:endParaRPr lang="en-US" sz="2800" dirty="0"/>
          </a:p>
          <a:p>
            <a:r>
              <a:rPr lang="en-US" sz="2800" dirty="0"/>
              <a:t>print(</a:t>
            </a:r>
            <a:r>
              <a:rPr lang="en-US" sz="2800" dirty="0" err="1"/>
              <a:t>dic</a:t>
            </a:r>
            <a:r>
              <a:rPr lang="en-US" sz="2800" dirty="0"/>
              <a:t>)</a:t>
            </a:r>
          </a:p>
        </p:txBody>
      </p:sp>
    </p:spTree>
    <p:extLst>
      <p:ext uri="{BB962C8B-B14F-4D97-AF65-F5344CB8AC3E}">
        <p14:creationId xmlns:p14="http://schemas.microsoft.com/office/powerpoint/2010/main" val="19070593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182F7-5953-E90C-9CEF-D1152AA5305F}"/>
              </a:ext>
            </a:extLst>
          </p:cNvPr>
          <p:cNvSpPr>
            <a:spLocks noGrp="1"/>
          </p:cNvSpPr>
          <p:nvPr>
            <p:ph type="title"/>
          </p:nvPr>
        </p:nvSpPr>
        <p:spPr>
          <a:xfrm>
            <a:off x="552893" y="304800"/>
            <a:ext cx="10668000" cy="1143000"/>
          </a:xfrm>
        </p:spPr>
        <p:txBody>
          <a:bodyPr>
            <a:normAutofit fontScale="90000"/>
          </a:bodyPr>
          <a:lstStyle/>
          <a:p>
            <a:r>
              <a:rPr lang="en-US" b="1" dirty="0"/>
              <a:t>Using dictionary comprehension make dictionary</a:t>
            </a:r>
            <a:br>
              <a:rPr lang="en-US" b="1" dirty="0"/>
            </a:br>
            <a:endParaRPr lang="en-US" dirty="0"/>
          </a:p>
        </p:txBody>
      </p:sp>
      <p:pic>
        <p:nvPicPr>
          <p:cNvPr id="5" name="Picture 4">
            <a:extLst>
              <a:ext uri="{FF2B5EF4-FFF2-40B4-BE49-F238E27FC236}">
                <a16:creationId xmlns:a16="http://schemas.microsoft.com/office/drawing/2014/main" id="{C6D52866-C24A-E7DA-B01B-8EF9802F91FC}"/>
              </a:ext>
            </a:extLst>
          </p:cNvPr>
          <p:cNvPicPr>
            <a:picLocks noChangeAspect="1"/>
          </p:cNvPicPr>
          <p:nvPr/>
        </p:nvPicPr>
        <p:blipFill>
          <a:blip r:embed="rId2"/>
          <a:stretch>
            <a:fillRect/>
          </a:stretch>
        </p:blipFill>
        <p:spPr>
          <a:xfrm>
            <a:off x="990600" y="1447800"/>
            <a:ext cx="10210800" cy="4852658"/>
          </a:xfrm>
          <a:prstGeom prst="rect">
            <a:avLst/>
          </a:prstGeom>
        </p:spPr>
      </p:pic>
    </p:spTree>
    <p:extLst>
      <p:ext uri="{BB962C8B-B14F-4D97-AF65-F5344CB8AC3E}">
        <p14:creationId xmlns:p14="http://schemas.microsoft.com/office/powerpoint/2010/main" val="28115461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405C88-3E62-9441-FBE0-23E192407226}"/>
              </a:ext>
            </a:extLst>
          </p:cNvPr>
          <p:cNvPicPr>
            <a:picLocks noChangeAspect="1"/>
          </p:cNvPicPr>
          <p:nvPr/>
        </p:nvPicPr>
        <p:blipFill>
          <a:blip r:embed="rId2"/>
          <a:stretch>
            <a:fillRect/>
          </a:stretch>
        </p:blipFill>
        <p:spPr>
          <a:xfrm>
            <a:off x="838200" y="1066800"/>
            <a:ext cx="10621107" cy="3200400"/>
          </a:xfrm>
          <a:prstGeom prst="rect">
            <a:avLst/>
          </a:prstGeom>
        </p:spPr>
      </p:pic>
    </p:spTree>
    <p:extLst>
      <p:ext uri="{BB962C8B-B14F-4D97-AF65-F5344CB8AC3E}">
        <p14:creationId xmlns:p14="http://schemas.microsoft.com/office/powerpoint/2010/main" val="1573472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C0D75-7E6D-3D86-5D00-011869920392}"/>
              </a:ext>
            </a:extLst>
          </p:cNvPr>
          <p:cNvSpPr>
            <a:spLocks noGrp="1"/>
          </p:cNvSpPr>
          <p:nvPr>
            <p:ph type="title"/>
          </p:nvPr>
        </p:nvSpPr>
        <p:spPr>
          <a:xfrm>
            <a:off x="152400" y="171070"/>
            <a:ext cx="12039600" cy="1429130"/>
          </a:xfrm>
        </p:spPr>
        <p:txBody>
          <a:bodyPr>
            <a:normAutofit fontScale="90000"/>
          </a:bodyPr>
          <a:lstStyle/>
          <a:p>
            <a:pPr algn="ctr"/>
            <a:r>
              <a:rPr lang="en-US" b="1" dirty="0"/>
              <a:t>Using conditional statements in </a:t>
            </a:r>
            <a:br>
              <a:rPr lang="en-US" b="1" dirty="0"/>
            </a:br>
            <a:r>
              <a:rPr lang="en-US" b="1" dirty="0"/>
              <a:t>dictionary comprehension</a:t>
            </a:r>
            <a:br>
              <a:rPr lang="en-US" b="1" dirty="0"/>
            </a:br>
            <a:endParaRPr lang="en-US" dirty="0"/>
          </a:p>
        </p:txBody>
      </p:sp>
      <p:sp>
        <p:nvSpPr>
          <p:cNvPr id="3" name="Content Placeholder 2">
            <a:extLst>
              <a:ext uri="{FF2B5EF4-FFF2-40B4-BE49-F238E27FC236}">
                <a16:creationId xmlns:a16="http://schemas.microsoft.com/office/drawing/2014/main" id="{A5F869FB-1B4E-932B-0FAB-1CE29DE6C5C9}"/>
              </a:ext>
            </a:extLst>
          </p:cNvPr>
          <p:cNvSpPr>
            <a:spLocks noGrp="1"/>
          </p:cNvSpPr>
          <p:nvPr>
            <p:ph idx="1"/>
          </p:nvPr>
        </p:nvSpPr>
        <p:spPr>
          <a:xfrm>
            <a:off x="914400" y="1466470"/>
            <a:ext cx="10287000" cy="1429130"/>
          </a:xfrm>
        </p:spPr>
        <p:txBody>
          <a:bodyPr/>
          <a:lstStyle/>
          <a:p>
            <a:pPr marL="0" indent="0" algn="just" fontAlgn="base">
              <a:buNone/>
            </a:pPr>
            <a:r>
              <a:rPr lang="en-US" sz="2400" b="1" dirty="0"/>
              <a:t>Example 1: </a:t>
            </a:r>
            <a:r>
              <a:rPr lang="en-US" sz="2400" dirty="0"/>
              <a:t>We can use Dictionary comprehensions with if and else statements and with other expressions too. This example below maps the numbers to their cubes that are divisible by 4.</a:t>
            </a:r>
          </a:p>
          <a:p>
            <a:endParaRPr lang="en-US" dirty="0"/>
          </a:p>
        </p:txBody>
      </p:sp>
      <p:pic>
        <p:nvPicPr>
          <p:cNvPr id="5" name="Picture 4">
            <a:extLst>
              <a:ext uri="{FF2B5EF4-FFF2-40B4-BE49-F238E27FC236}">
                <a16:creationId xmlns:a16="http://schemas.microsoft.com/office/drawing/2014/main" id="{4ED7232C-056A-2CD2-B651-698F574D6319}"/>
              </a:ext>
            </a:extLst>
          </p:cNvPr>
          <p:cNvPicPr>
            <a:picLocks noChangeAspect="1"/>
          </p:cNvPicPr>
          <p:nvPr/>
        </p:nvPicPr>
        <p:blipFill>
          <a:blip r:embed="rId2"/>
          <a:stretch>
            <a:fillRect/>
          </a:stretch>
        </p:blipFill>
        <p:spPr>
          <a:xfrm>
            <a:off x="1524000" y="3124200"/>
            <a:ext cx="8686800" cy="3069068"/>
          </a:xfrm>
          <a:prstGeom prst="rect">
            <a:avLst/>
          </a:prstGeom>
        </p:spPr>
      </p:pic>
    </p:spTree>
    <p:extLst>
      <p:ext uri="{BB962C8B-B14F-4D97-AF65-F5344CB8AC3E}">
        <p14:creationId xmlns:p14="http://schemas.microsoft.com/office/powerpoint/2010/main" val="2315731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AB9CF-7A02-B3A8-6D5B-2074F9980C8A}"/>
              </a:ext>
            </a:extLst>
          </p:cNvPr>
          <p:cNvSpPr>
            <a:spLocks noGrp="1"/>
          </p:cNvSpPr>
          <p:nvPr>
            <p:ph type="title"/>
          </p:nvPr>
        </p:nvSpPr>
        <p:spPr/>
        <p:txBody>
          <a:bodyPr>
            <a:normAutofit/>
          </a:bodyPr>
          <a:lstStyle/>
          <a:p>
            <a:r>
              <a:rPr lang="en-US" sz="3600" b="1" dirty="0"/>
              <a:t>Python Dictionary Methods</a:t>
            </a:r>
            <a:br>
              <a:rPr lang="en-US" sz="3600" b="1" dirty="0"/>
            </a:br>
            <a:r>
              <a:rPr lang="en-US" sz="3600" b="1" dirty="0"/>
              <a:t>1. Dictionary clear() Method</a:t>
            </a:r>
            <a:endParaRPr lang="en-US" sz="3600" dirty="0"/>
          </a:p>
        </p:txBody>
      </p:sp>
      <p:sp>
        <p:nvSpPr>
          <p:cNvPr id="3" name="Content Placeholder 2">
            <a:extLst>
              <a:ext uri="{FF2B5EF4-FFF2-40B4-BE49-F238E27FC236}">
                <a16:creationId xmlns:a16="http://schemas.microsoft.com/office/drawing/2014/main" id="{811EEB78-724C-70F8-1CFB-A49C81C0B463}"/>
              </a:ext>
            </a:extLst>
          </p:cNvPr>
          <p:cNvSpPr>
            <a:spLocks noGrp="1"/>
          </p:cNvSpPr>
          <p:nvPr>
            <p:ph idx="1"/>
          </p:nvPr>
        </p:nvSpPr>
        <p:spPr>
          <a:xfrm>
            <a:off x="1524000" y="2286000"/>
            <a:ext cx="9144000" cy="3886200"/>
          </a:xfrm>
        </p:spPr>
        <p:txBody>
          <a:bodyPr>
            <a:normAutofit/>
          </a:bodyPr>
          <a:lstStyle/>
          <a:p>
            <a:pPr marL="0" indent="0">
              <a:buNone/>
            </a:pPr>
            <a:r>
              <a:rPr lang="en-US" sz="2800" dirty="0" err="1"/>
              <a:t>my_dict</a:t>
            </a:r>
            <a:r>
              <a:rPr lang="en-US" sz="2800" dirty="0"/>
              <a:t> = {'1': 'Geeks', '2': 'For', '3': 'Geeks'}</a:t>
            </a:r>
          </a:p>
          <a:p>
            <a:pPr marL="0" indent="0">
              <a:buNone/>
            </a:pPr>
            <a:r>
              <a:rPr lang="en-US" sz="2800" dirty="0" err="1"/>
              <a:t>my_dict.clear</a:t>
            </a:r>
            <a:r>
              <a:rPr lang="en-US" sz="2800" dirty="0"/>
              <a:t>()</a:t>
            </a:r>
          </a:p>
          <a:p>
            <a:pPr marL="0" indent="0">
              <a:buNone/>
            </a:pPr>
            <a:r>
              <a:rPr lang="en-US" sz="2800" dirty="0"/>
              <a:t>print(</a:t>
            </a:r>
            <a:r>
              <a:rPr lang="en-US" sz="2800" dirty="0" err="1"/>
              <a:t>my_dict</a:t>
            </a:r>
            <a:r>
              <a:rPr lang="en-US" sz="2800" dirty="0"/>
              <a:t>)</a:t>
            </a:r>
          </a:p>
        </p:txBody>
      </p:sp>
    </p:spTree>
    <p:extLst>
      <p:ext uri="{BB962C8B-B14F-4D97-AF65-F5344CB8AC3E}">
        <p14:creationId xmlns:p14="http://schemas.microsoft.com/office/powerpoint/2010/main" val="21886158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5F221-944E-9B30-CAB5-3447AFADB9CF}"/>
              </a:ext>
            </a:extLst>
          </p:cNvPr>
          <p:cNvSpPr>
            <a:spLocks noGrp="1"/>
          </p:cNvSpPr>
          <p:nvPr>
            <p:ph type="title"/>
          </p:nvPr>
        </p:nvSpPr>
        <p:spPr/>
        <p:txBody>
          <a:bodyPr/>
          <a:lstStyle/>
          <a:p>
            <a:r>
              <a:rPr lang="en-US" sz="3600" b="1" dirty="0"/>
              <a:t>2. Dictionary get() Method</a:t>
            </a:r>
            <a:br>
              <a:rPr lang="en-US" b="1" dirty="0"/>
            </a:br>
            <a:endParaRPr lang="en-US" dirty="0"/>
          </a:p>
        </p:txBody>
      </p:sp>
      <p:sp>
        <p:nvSpPr>
          <p:cNvPr id="3" name="Content Placeholder 2">
            <a:extLst>
              <a:ext uri="{FF2B5EF4-FFF2-40B4-BE49-F238E27FC236}">
                <a16:creationId xmlns:a16="http://schemas.microsoft.com/office/drawing/2014/main" id="{0E4D0C6C-5CC0-1F1B-7518-5B93C20449CA}"/>
              </a:ext>
            </a:extLst>
          </p:cNvPr>
          <p:cNvSpPr>
            <a:spLocks noGrp="1"/>
          </p:cNvSpPr>
          <p:nvPr>
            <p:ph idx="1"/>
          </p:nvPr>
        </p:nvSpPr>
        <p:spPr/>
        <p:txBody>
          <a:bodyPr>
            <a:normAutofit/>
          </a:bodyPr>
          <a:lstStyle/>
          <a:p>
            <a:pPr marL="0" indent="0">
              <a:buNone/>
            </a:pPr>
            <a:r>
              <a:rPr lang="en-US" sz="2800" dirty="0"/>
              <a:t>d = {'Name': 'Ram', 'Age': '19', 'Country': 'India'}</a:t>
            </a:r>
          </a:p>
          <a:p>
            <a:pPr marL="0" indent="0">
              <a:buNone/>
            </a:pPr>
            <a:r>
              <a:rPr lang="en-US" sz="2800" dirty="0"/>
              <a:t>print(</a:t>
            </a:r>
            <a:r>
              <a:rPr lang="en-US" sz="2800" dirty="0" err="1"/>
              <a:t>d.get</a:t>
            </a:r>
            <a:r>
              <a:rPr lang="en-US" sz="2800" dirty="0"/>
              <a:t>('Name'))</a:t>
            </a:r>
          </a:p>
          <a:p>
            <a:pPr marL="0" indent="0">
              <a:buNone/>
            </a:pPr>
            <a:r>
              <a:rPr lang="en-US" sz="2800" dirty="0"/>
              <a:t>print(</a:t>
            </a:r>
            <a:r>
              <a:rPr lang="en-US" sz="2800" dirty="0" err="1"/>
              <a:t>d.get</a:t>
            </a:r>
            <a:r>
              <a:rPr lang="en-US" sz="2800" dirty="0"/>
              <a:t>('Gender'))</a:t>
            </a:r>
          </a:p>
        </p:txBody>
      </p:sp>
    </p:spTree>
    <p:extLst>
      <p:ext uri="{BB962C8B-B14F-4D97-AF65-F5344CB8AC3E}">
        <p14:creationId xmlns:p14="http://schemas.microsoft.com/office/powerpoint/2010/main" val="28556181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1A686-ACD8-E88A-8F04-CE4D258B1C14}"/>
              </a:ext>
            </a:extLst>
          </p:cNvPr>
          <p:cNvSpPr>
            <a:spLocks noGrp="1"/>
          </p:cNvSpPr>
          <p:nvPr>
            <p:ph type="title"/>
          </p:nvPr>
        </p:nvSpPr>
        <p:spPr/>
        <p:txBody>
          <a:bodyPr/>
          <a:lstStyle/>
          <a:p>
            <a:r>
              <a:rPr lang="en-US" b="1" dirty="0"/>
              <a:t>Dictionary keys() Method</a:t>
            </a:r>
            <a:br>
              <a:rPr lang="en-US" b="1" dirty="0"/>
            </a:br>
            <a:endParaRPr lang="en-US" dirty="0"/>
          </a:p>
        </p:txBody>
      </p:sp>
      <p:sp>
        <p:nvSpPr>
          <p:cNvPr id="3" name="Content Placeholder 2">
            <a:extLst>
              <a:ext uri="{FF2B5EF4-FFF2-40B4-BE49-F238E27FC236}">
                <a16:creationId xmlns:a16="http://schemas.microsoft.com/office/drawing/2014/main" id="{65513524-FE01-C7FF-8DB0-592273770A75}"/>
              </a:ext>
            </a:extLst>
          </p:cNvPr>
          <p:cNvSpPr>
            <a:spLocks noGrp="1"/>
          </p:cNvSpPr>
          <p:nvPr>
            <p:ph idx="1"/>
          </p:nvPr>
        </p:nvSpPr>
        <p:spPr/>
        <p:txBody>
          <a:bodyPr>
            <a:normAutofit/>
          </a:bodyPr>
          <a:lstStyle/>
          <a:p>
            <a:pPr marL="0" indent="0">
              <a:buNone/>
            </a:pPr>
            <a:r>
              <a:rPr lang="en-US" sz="2800" dirty="0"/>
              <a:t>d = {'Name': 'Ram', 'Age': '19', 'Country': 'India'}</a:t>
            </a:r>
          </a:p>
          <a:p>
            <a:pPr marL="0" indent="0">
              <a:buNone/>
            </a:pPr>
            <a:r>
              <a:rPr lang="en-US" sz="2800" dirty="0"/>
              <a:t>print(list(</a:t>
            </a:r>
            <a:r>
              <a:rPr lang="en-US" sz="2800" dirty="0" err="1"/>
              <a:t>d.keys</a:t>
            </a:r>
            <a:r>
              <a:rPr lang="en-US" sz="2800" dirty="0"/>
              <a:t>()))</a:t>
            </a:r>
          </a:p>
        </p:txBody>
      </p:sp>
    </p:spTree>
    <p:extLst>
      <p:ext uri="{BB962C8B-B14F-4D97-AF65-F5344CB8AC3E}">
        <p14:creationId xmlns:p14="http://schemas.microsoft.com/office/powerpoint/2010/main" val="31454700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A5844-1A3C-93A2-2DB0-081439C5F25F}"/>
              </a:ext>
            </a:extLst>
          </p:cNvPr>
          <p:cNvSpPr>
            <a:spLocks noGrp="1"/>
          </p:cNvSpPr>
          <p:nvPr>
            <p:ph type="title"/>
          </p:nvPr>
        </p:nvSpPr>
        <p:spPr/>
        <p:txBody>
          <a:bodyPr/>
          <a:lstStyle/>
          <a:p>
            <a:r>
              <a:rPr lang="en-US" b="1" dirty="0"/>
              <a:t>Dictionary update() Method</a:t>
            </a:r>
            <a:br>
              <a:rPr lang="en-US" b="1" dirty="0"/>
            </a:br>
            <a:endParaRPr lang="en-US" dirty="0"/>
          </a:p>
        </p:txBody>
      </p:sp>
      <p:sp>
        <p:nvSpPr>
          <p:cNvPr id="3" name="Content Placeholder 2">
            <a:extLst>
              <a:ext uri="{FF2B5EF4-FFF2-40B4-BE49-F238E27FC236}">
                <a16:creationId xmlns:a16="http://schemas.microsoft.com/office/drawing/2014/main" id="{62CF312D-5CA4-0035-FA41-B014D90C453D}"/>
              </a:ext>
            </a:extLst>
          </p:cNvPr>
          <p:cNvSpPr>
            <a:spLocks noGrp="1"/>
          </p:cNvSpPr>
          <p:nvPr>
            <p:ph idx="1"/>
          </p:nvPr>
        </p:nvSpPr>
        <p:spPr/>
        <p:txBody>
          <a:bodyPr>
            <a:normAutofit/>
          </a:bodyPr>
          <a:lstStyle/>
          <a:p>
            <a:pPr marL="0" indent="0">
              <a:buNone/>
            </a:pPr>
            <a:r>
              <a:rPr lang="en-US" sz="2800" dirty="0"/>
              <a:t>d1 = {'Name': 'Ram', 'Age': '19', 'Country': 'India'}</a:t>
            </a:r>
          </a:p>
          <a:p>
            <a:pPr marL="0" indent="0">
              <a:buNone/>
            </a:pPr>
            <a:r>
              <a:rPr lang="en-US" sz="2800" dirty="0"/>
              <a:t>d2 = {'Name': 'Neha', 'Age': '22'}</a:t>
            </a:r>
          </a:p>
          <a:p>
            <a:pPr marL="0" indent="0">
              <a:buNone/>
            </a:pPr>
            <a:endParaRPr lang="en-US" sz="2800" dirty="0"/>
          </a:p>
          <a:p>
            <a:pPr marL="0" indent="0">
              <a:buNone/>
            </a:pPr>
            <a:r>
              <a:rPr lang="en-US" sz="2800" dirty="0"/>
              <a:t>d1.update(d2)</a:t>
            </a:r>
          </a:p>
          <a:p>
            <a:pPr marL="0" indent="0">
              <a:buNone/>
            </a:pPr>
            <a:r>
              <a:rPr lang="en-US" sz="2800" dirty="0"/>
              <a:t>print(d1)</a:t>
            </a:r>
          </a:p>
        </p:txBody>
      </p:sp>
    </p:spTree>
    <p:extLst>
      <p:ext uri="{BB962C8B-B14F-4D97-AF65-F5344CB8AC3E}">
        <p14:creationId xmlns:p14="http://schemas.microsoft.com/office/powerpoint/2010/main" val="4995701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A886-7660-B9CF-5BB6-062AC0D32905}"/>
              </a:ext>
            </a:extLst>
          </p:cNvPr>
          <p:cNvSpPr>
            <a:spLocks noGrp="1"/>
          </p:cNvSpPr>
          <p:nvPr>
            <p:ph type="title"/>
          </p:nvPr>
        </p:nvSpPr>
        <p:spPr/>
        <p:txBody>
          <a:bodyPr/>
          <a:lstStyle/>
          <a:p>
            <a:r>
              <a:rPr lang="en-US" b="1" dirty="0"/>
              <a:t>Dictionary values() Method</a:t>
            </a:r>
            <a:br>
              <a:rPr lang="en-US" b="1" dirty="0"/>
            </a:br>
            <a:endParaRPr lang="en-US" dirty="0"/>
          </a:p>
        </p:txBody>
      </p:sp>
      <p:sp>
        <p:nvSpPr>
          <p:cNvPr id="3" name="Content Placeholder 2">
            <a:extLst>
              <a:ext uri="{FF2B5EF4-FFF2-40B4-BE49-F238E27FC236}">
                <a16:creationId xmlns:a16="http://schemas.microsoft.com/office/drawing/2014/main" id="{EA1A538B-590D-60D6-0692-F80CDB9A4A59}"/>
              </a:ext>
            </a:extLst>
          </p:cNvPr>
          <p:cNvSpPr>
            <a:spLocks noGrp="1"/>
          </p:cNvSpPr>
          <p:nvPr>
            <p:ph idx="1"/>
          </p:nvPr>
        </p:nvSpPr>
        <p:spPr/>
        <p:txBody>
          <a:bodyPr>
            <a:normAutofit/>
          </a:bodyPr>
          <a:lstStyle/>
          <a:p>
            <a:pPr marL="0" indent="0">
              <a:buNone/>
            </a:pPr>
            <a:r>
              <a:rPr lang="en-US" sz="2800" dirty="0"/>
              <a:t>d = {'Name': 'Ram', 'Age': '19', 'Country': 'India'}</a:t>
            </a:r>
          </a:p>
          <a:p>
            <a:pPr marL="0" indent="0">
              <a:buNone/>
            </a:pPr>
            <a:r>
              <a:rPr lang="en-US" sz="2800" dirty="0"/>
              <a:t>print(list(</a:t>
            </a:r>
            <a:r>
              <a:rPr lang="en-US" sz="2800" dirty="0" err="1"/>
              <a:t>d.values</a:t>
            </a:r>
            <a:r>
              <a:rPr lang="en-US" sz="2800" dirty="0"/>
              <a:t>()))</a:t>
            </a:r>
          </a:p>
        </p:txBody>
      </p:sp>
    </p:spTree>
    <p:extLst>
      <p:ext uri="{BB962C8B-B14F-4D97-AF65-F5344CB8AC3E}">
        <p14:creationId xmlns:p14="http://schemas.microsoft.com/office/powerpoint/2010/main" val="4441142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91901-2756-60D4-8D1B-5E51420D06D4}"/>
              </a:ext>
            </a:extLst>
          </p:cNvPr>
          <p:cNvSpPr>
            <a:spLocks noGrp="1"/>
          </p:cNvSpPr>
          <p:nvPr>
            <p:ph type="title"/>
          </p:nvPr>
        </p:nvSpPr>
        <p:spPr/>
        <p:txBody>
          <a:bodyPr/>
          <a:lstStyle/>
          <a:p>
            <a:r>
              <a:rPr lang="en-US" b="1" dirty="0"/>
              <a:t> Dictionary pop() Method</a:t>
            </a:r>
            <a:br>
              <a:rPr lang="en-US" b="1" dirty="0"/>
            </a:br>
            <a:endParaRPr lang="en-US" dirty="0"/>
          </a:p>
        </p:txBody>
      </p:sp>
      <p:sp>
        <p:nvSpPr>
          <p:cNvPr id="3" name="Content Placeholder 2">
            <a:extLst>
              <a:ext uri="{FF2B5EF4-FFF2-40B4-BE49-F238E27FC236}">
                <a16:creationId xmlns:a16="http://schemas.microsoft.com/office/drawing/2014/main" id="{A9BD2781-2361-ED3A-F602-32865F91828F}"/>
              </a:ext>
            </a:extLst>
          </p:cNvPr>
          <p:cNvSpPr>
            <a:spLocks noGrp="1"/>
          </p:cNvSpPr>
          <p:nvPr>
            <p:ph idx="1"/>
          </p:nvPr>
        </p:nvSpPr>
        <p:spPr/>
        <p:txBody>
          <a:bodyPr>
            <a:normAutofit/>
          </a:bodyPr>
          <a:lstStyle/>
          <a:p>
            <a:pPr marL="0" indent="0">
              <a:buNone/>
            </a:pPr>
            <a:r>
              <a:rPr lang="en-US" sz="2800" dirty="0"/>
              <a:t>d = {'Name': 'Ram', 'Age': '19', 'Country': 'India'}</a:t>
            </a:r>
          </a:p>
          <a:p>
            <a:pPr marL="0" indent="0">
              <a:buNone/>
            </a:pPr>
            <a:r>
              <a:rPr lang="en-US" sz="2800" dirty="0" err="1"/>
              <a:t>d.pop</a:t>
            </a:r>
            <a:r>
              <a:rPr lang="en-US" sz="2800" dirty="0"/>
              <a:t>('Age')</a:t>
            </a:r>
          </a:p>
          <a:p>
            <a:pPr marL="0" indent="0">
              <a:buNone/>
            </a:pPr>
            <a:r>
              <a:rPr lang="en-US" sz="2800" dirty="0"/>
              <a:t>print(d)</a:t>
            </a:r>
          </a:p>
        </p:txBody>
      </p:sp>
    </p:spTree>
    <p:extLst>
      <p:ext uri="{BB962C8B-B14F-4D97-AF65-F5344CB8AC3E}">
        <p14:creationId xmlns:p14="http://schemas.microsoft.com/office/powerpoint/2010/main" val="38756735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2E977-BEB0-D36E-9275-68592550EEF7}"/>
              </a:ext>
            </a:extLst>
          </p:cNvPr>
          <p:cNvSpPr>
            <a:spLocks noGrp="1"/>
          </p:cNvSpPr>
          <p:nvPr>
            <p:ph type="title"/>
          </p:nvPr>
        </p:nvSpPr>
        <p:spPr/>
        <p:txBody>
          <a:bodyPr/>
          <a:lstStyle/>
          <a:p>
            <a:r>
              <a:rPr lang="en-US" b="1" dirty="0"/>
              <a:t> Dictionary </a:t>
            </a:r>
            <a:r>
              <a:rPr lang="en-US" b="1" dirty="0" err="1"/>
              <a:t>popitem</a:t>
            </a:r>
            <a:r>
              <a:rPr lang="en-US" b="1" dirty="0"/>
              <a:t>() Method</a:t>
            </a:r>
            <a:br>
              <a:rPr lang="en-US" b="1" dirty="0"/>
            </a:br>
            <a:endParaRPr lang="en-US" dirty="0"/>
          </a:p>
        </p:txBody>
      </p:sp>
      <p:sp>
        <p:nvSpPr>
          <p:cNvPr id="3" name="Content Placeholder 2">
            <a:extLst>
              <a:ext uri="{FF2B5EF4-FFF2-40B4-BE49-F238E27FC236}">
                <a16:creationId xmlns:a16="http://schemas.microsoft.com/office/drawing/2014/main" id="{3235601C-5800-7148-DA0D-03A0B7384E83}"/>
              </a:ext>
            </a:extLst>
          </p:cNvPr>
          <p:cNvSpPr>
            <a:spLocks noGrp="1"/>
          </p:cNvSpPr>
          <p:nvPr>
            <p:ph idx="1"/>
          </p:nvPr>
        </p:nvSpPr>
        <p:spPr/>
        <p:txBody>
          <a:bodyPr>
            <a:normAutofit/>
          </a:bodyPr>
          <a:lstStyle/>
          <a:p>
            <a:pPr marL="0" indent="0">
              <a:buNone/>
            </a:pPr>
            <a:r>
              <a:rPr lang="en-US" sz="2800" dirty="0"/>
              <a:t>d = {'Name': 'Ram', 'Age': '19', 'Country': 'India'}</a:t>
            </a:r>
          </a:p>
          <a:p>
            <a:pPr marL="0" indent="0">
              <a:buNone/>
            </a:pPr>
            <a:r>
              <a:rPr lang="en-US" sz="2800" dirty="0" err="1"/>
              <a:t>val</a:t>
            </a:r>
            <a:r>
              <a:rPr lang="en-US" sz="2800" dirty="0"/>
              <a:t> = </a:t>
            </a:r>
            <a:r>
              <a:rPr lang="en-US" sz="2800" dirty="0" err="1"/>
              <a:t>d.popitem</a:t>
            </a:r>
            <a:r>
              <a:rPr lang="en-US" sz="2800" dirty="0"/>
              <a:t>()</a:t>
            </a:r>
          </a:p>
          <a:p>
            <a:pPr marL="0" indent="0">
              <a:buNone/>
            </a:pPr>
            <a:r>
              <a:rPr lang="en-US" sz="2800" dirty="0"/>
              <a:t>print(</a:t>
            </a:r>
            <a:r>
              <a:rPr lang="en-US" sz="2800" dirty="0" err="1"/>
              <a:t>val</a:t>
            </a:r>
            <a:r>
              <a:rPr lang="en-US" sz="2800" dirty="0"/>
              <a:t>)</a:t>
            </a:r>
          </a:p>
          <a:p>
            <a:pPr marL="0" indent="0">
              <a:buNone/>
            </a:pPr>
            <a:endParaRPr lang="en-US" sz="2800" dirty="0"/>
          </a:p>
          <a:p>
            <a:pPr marL="0" indent="0">
              <a:buNone/>
            </a:pPr>
            <a:r>
              <a:rPr lang="en-US" sz="2800" dirty="0" err="1"/>
              <a:t>val</a:t>
            </a:r>
            <a:r>
              <a:rPr lang="en-US" sz="2800" dirty="0"/>
              <a:t> = </a:t>
            </a:r>
            <a:r>
              <a:rPr lang="en-US" sz="2800" dirty="0" err="1"/>
              <a:t>d.popitem</a:t>
            </a:r>
            <a:r>
              <a:rPr lang="en-US" sz="2800" dirty="0"/>
              <a:t>()</a:t>
            </a:r>
          </a:p>
          <a:p>
            <a:pPr marL="0" indent="0">
              <a:buNone/>
            </a:pPr>
            <a:r>
              <a:rPr lang="en-US" sz="2800" dirty="0"/>
              <a:t>print(</a:t>
            </a:r>
            <a:r>
              <a:rPr lang="en-US" sz="2800" dirty="0" err="1"/>
              <a:t>val</a:t>
            </a:r>
            <a:r>
              <a:rPr lang="en-US" sz="2800" dirty="0"/>
              <a:t>)</a:t>
            </a:r>
          </a:p>
        </p:txBody>
      </p:sp>
    </p:spTree>
    <p:extLst>
      <p:ext uri="{BB962C8B-B14F-4D97-AF65-F5344CB8AC3E}">
        <p14:creationId xmlns:p14="http://schemas.microsoft.com/office/powerpoint/2010/main" val="8117168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0D29EA-9979-589B-B25E-A0CBCC5BE448}"/>
              </a:ext>
            </a:extLst>
          </p:cNvPr>
          <p:cNvSpPr>
            <a:spLocks noGrp="1"/>
          </p:cNvSpPr>
          <p:nvPr>
            <p:ph idx="1"/>
          </p:nvPr>
        </p:nvSpPr>
        <p:spPr>
          <a:xfrm>
            <a:off x="1524000" y="533400"/>
            <a:ext cx="9144000" cy="5562600"/>
          </a:xfrm>
        </p:spPr>
        <p:txBody>
          <a:bodyPr>
            <a:normAutofit/>
          </a:bodyPr>
          <a:lstStyle/>
          <a:p>
            <a:pPr marL="0" indent="0">
              <a:spcBef>
                <a:spcPts val="0"/>
              </a:spcBef>
              <a:buNone/>
            </a:pPr>
            <a:r>
              <a:rPr lang="en-US" sz="2800" dirty="0"/>
              <a:t># Creating a dictionary</a:t>
            </a:r>
          </a:p>
          <a:p>
            <a:pPr marL="0" indent="0">
              <a:spcBef>
                <a:spcPts val="0"/>
              </a:spcBef>
              <a:buNone/>
            </a:pPr>
            <a:r>
              <a:rPr lang="en-US" sz="2800" dirty="0"/>
              <a:t>student = {"name": "Alice", "age": 22, "course": "Data Science"}</a:t>
            </a:r>
          </a:p>
          <a:p>
            <a:pPr marL="0" indent="0">
              <a:spcBef>
                <a:spcPts val="0"/>
              </a:spcBef>
              <a:buNone/>
            </a:pPr>
            <a:r>
              <a:rPr lang="en-US" sz="2800" dirty="0"/>
              <a:t># Access value</a:t>
            </a:r>
          </a:p>
          <a:p>
            <a:pPr marL="0" indent="0">
              <a:spcBef>
                <a:spcPts val="0"/>
              </a:spcBef>
              <a:buNone/>
            </a:pPr>
            <a:r>
              <a:rPr lang="en-US" sz="2800" dirty="0"/>
              <a:t>print(student["name"])        # Alice</a:t>
            </a:r>
          </a:p>
          <a:p>
            <a:pPr marL="0" indent="0">
              <a:spcBef>
                <a:spcPts val="0"/>
              </a:spcBef>
              <a:buNone/>
            </a:pPr>
            <a:r>
              <a:rPr lang="en-US" sz="2800" dirty="0"/>
              <a:t># Add new key-value</a:t>
            </a:r>
          </a:p>
          <a:p>
            <a:pPr marL="0" indent="0">
              <a:spcBef>
                <a:spcPts val="0"/>
              </a:spcBef>
              <a:buNone/>
            </a:pPr>
            <a:r>
              <a:rPr lang="en-US" sz="2800" dirty="0"/>
              <a:t>student["grade"] = "A"</a:t>
            </a:r>
          </a:p>
          <a:p>
            <a:pPr marL="0" indent="0">
              <a:spcBef>
                <a:spcPts val="0"/>
              </a:spcBef>
              <a:buNone/>
            </a:pPr>
            <a:r>
              <a:rPr lang="en-US" sz="2800" dirty="0"/>
              <a:t>print(student)  </a:t>
            </a:r>
          </a:p>
          <a:p>
            <a:pPr marL="0" indent="0">
              <a:spcBef>
                <a:spcPts val="0"/>
              </a:spcBef>
              <a:buNone/>
            </a:pPr>
            <a:r>
              <a:rPr lang="en-US" sz="2800" dirty="0"/>
              <a:t># Update value</a:t>
            </a:r>
          </a:p>
          <a:p>
            <a:pPr marL="0" indent="0">
              <a:spcBef>
                <a:spcPts val="0"/>
              </a:spcBef>
              <a:buNone/>
            </a:pPr>
            <a:r>
              <a:rPr lang="en-US" sz="2800" dirty="0"/>
              <a:t>student["age"] = 23</a:t>
            </a:r>
          </a:p>
          <a:p>
            <a:pPr marL="0" indent="0">
              <a:spcBef>
                <a:spcPts val="0"/>
              </a:spcBef>
              <a:buNone/>
            </a:pPr>
            <a:r>
              <a:rPr lang="en-US" sz="2800" dirty="0"/>
              <a:t># Delete key</a:t>
            </a:r>
          </a:p>
          <a:p>
            <a:pPr marL="0" indent="0">
              <a:spcBef>
                <a:spcPts val="0"/>
              </a:spcBef>
              <a:buNone/>
            </a:pPr>
            <a:r>
              <a:rPr lang="en-US" sz="2800" dirty="0"/>
              <a:t>del student["course"]</a:t>
            </a:r>
          </a:p>
          <a:p>
            <a:pPr marL="0" indent="0">
              <a:spcBef>
                <a:spcPts val="0"/>
              </a:spcBef>
              <a:buNone/>
            </a:pPr>
            <a:r>
              <a:rPr lang="en-US" sz="2800" dirty="0"/>
              <a:t># Check existence</a:t>
            </a:r>
          </a:p>
          <a:p>
            <a:pPr marL="0" indent="0">
              <a:spcBef>
                <a:spcPts val="0"/>
              </a:spcBef>
              <a:buNone/>
            </a:pPr>
            <a:r>
              <a:rPr lang="en-US" sz="2800" dirty="0"/>
              <a:t>print("age" in student)       # True</a:t>
            </a:r>
          </a:p>
        </p:txBody>
      </p:sp>
    </p:spTree>
    <p:extLst>
      <p:ext uri="{BB962C8B-B14F-4D97-AF65-F5344CB8AC3E}">
        <p14:creationId xmlns:p14="http://schemas.microsoft.com/office/powerpoint/2010/main" val="17529601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38ECB9-5226-D4E4-17F1-9B0FBC0BF7DF}"/>
              </a:ext>
            </a:extLst>
          </p:cNvPr>
          <p:cNvSpPr>
            <a:spLocks noGrp="1"/>
          </p:cNvSpPr>
          <p:nvPr>
            <p:ph idx="1"/>
          </p:nvPr>
        </p:nvSpPr>
        <p:spPr>
          <a:xfrm>
            <a:off x="762000" y="304800"/>
            <a:ext cx="10363200" cy="5791200"/>
          </a:xfrm>
        </p:spPr>
        <p:txBody>
          <a:bodyPr>
            <a:noAutofit/>
          </a:bodyPr>
          <a:lstStyle/>
          <a:p>
            <a:pPr marL="0" indent="0">
              <a:spcBef>
                <a:spcPts val="0"/>
              </a:spcBef>
              <a:buNone/>
            </a:pPr>
            <a:r>
              <a:rPr lang="en-US" sz="2800" dirty="0"/>
              <a:t>emp = {"id": 101, "name": "John", "dept": "HR"}</a:t>
            </a:r>
          </a:p>
          <a:p>
            <a:pPr marL="0" indent="0">
              <a:spcBef>
                <a:spcPts val="0"/>
              </a:spcBef>
              <a:buNone/>
            </a:pPr>
            <a:r>
              <a:rPr lang="en-US" sz="2800" dirty="0"/>
              <a:t>print(</a:t>
            </a:r>
            <a:r>
              <a:rPr lang="en-US" sz="2800" dirty="0" err="1"/>
              <a:t>emp.keys</a:t>
            </a:r>
            <a:r>
              <a:rPr lang="en-US" sz="2800" dirty="0"/>
              <a:t>())      # </a:t>
            </a:r>
            <a:r>
              <a:rPr lang="en-US" sz="2800" dirty="0" err="1"/>
              <a:t>dict_keys</a:t>
            </a:r>
            <a:r>
              <a:rPr lang="en-US" sz="2800" dirty="0"/>
              <a:t>(['id', 'name', 'dept'])</a:t>
            </a:r>
          </a:p>
          <a:p>
            <a:pPr marL="0" indent="0">
              <a:spcBef>
                <a:spcPts val="0"/>
              </a:spcBef>
              <a:buNone/>
            </a:pPr>
            <a:r>
              <a:rPr lang="en-US" sz="2800" dirty="0"/>
              <a:t>print(</a:t>
            </a:r>
            <a:r>
              <a:rPr lang="en-US" sz="2800" dirty="0" err="1"/>
              <a:t>emp.values</a:t>
            </a:r>
            <a:r>
              <a:rPr lang="en-US" sz="2800" dirty="0"/>
              <a:t>())    # </a:t>
            </a:r>
            <a:r>
              <a:rPr lang="en-US" sz="2800" dirty="0" err="1"/>
              <a:t>dict_values</a:t>
            </a:r>
            <a:r>
              <a:rPr lang="en-US" sz="2800" dirty="0"/>
              <a:t>([101, 'John', 'HR'])</a:t>
            </a:r>
          </a:p>
          <a:p>
            <a:pPr marL="0" indent="0">
              <a:spcBef>
                <a:spcPts val="0"/>
              </a:spcBef>
              <a:buNone/>
            </a:pPr>
            <a:r>
              <a:rPr lang="en-US" sz="2800" dirty="0"/>
              <a:t>print(</a:t>
            </a:r>
            <a:r>
              <a:rPr lang="en-US" sz="2800" dirty="0" err="1"/>
              <a:t>emp.items</a:t>
            </a:r>
            <a:r>
              <a:rPr lang="en-US" sz="2800" dirty="0"/>
              <a:t>())     # </a:t>
            </a:r>
            <a:r>
              <a:rPr lang="en-US" sz="2800" dirty="0" err="1"/>
              <a:t>dict_items</a:t>
            </a:r>
            <a:r>
              <a:rPr lang="en-US" sz="2800" dirty="0"/>
              <a:t>([('id', 101), ('name', 'John'), ('dept', 'HR')])</a:t>
            </a:r>
          </a:p>
          <a:p>
            <a:pPr marL="0" indent="0">
              <a:spcBef>
                <a:spcPts val="0"/>
              </a:spcBef>
              <a:buNone/>
            </a:pPr>
            <a:r>
              <a:rPr lang="en-US" sz="2800" dirty="0"/>
              <a:t># get() method avoids error if key is missing</a:t>
            </a:r>
          </a:p>
          <a:p>
            <a:pPr marL="0" indent="0">
              <a:spcBef>
                <a:spcPts val="0"/>
              </a:spcBef>
              <a:buNone/>
            </a:pPr>
            <a:r>
              <a:rPr lang="en-US" sz="2800" dirty="0"/>
              <a:t>print(</a:t>
            </a:r>
            <a:r>
              <a:rPr lang="en-US" sz="2800" dirty="0" err="1"/>
              <a:t>emp.get</a:t>
            </a:r>
            <a:r>
              <a:rPr lang="en-US" sz="2800" dirty="0"/>
              <a:t>("salary", "Not Found"))   # Not Found</a:t>
            </a:r>
          </a:p>
          <a:p>
            <a:pPr marL="0" indent="0">
              <a:spcBef>
                <a:spcPts val="0"/>
              </a:spcBef>
              <a:buNone/>
            </a:pPr>
            <a:r>
              <a:rPr lang="en-US" sz="2800" dirty="0"/>
              <a:t># update()</a:t>
            </a:r>
          </a:p>
          <a:p>
            <a:pPr marL="0" indent="0">
              <a:spcBef>
                <a:spcPts val="0"/>
              </a:spcBef>
              <a:buNone/>
            </a:pPr>
            <a:r>
              <a:rPr lang="en-US" sz="2800" dirty="0" err="1"/>
              <a:t>emp.update</a:t>
            </a:r>
            <a:r>
              <a:rPr lang="en-US" sz="2800" dirty="0"/>
              <a:t>({"salary": 50000})</a:t>
            </a:r>
          </a:p>
          <a:p>
            <a:pPr marL="0" indent="0">
              <a:spcBef>
                <a:spcPts val="0"/>
              </a:spcBef>
              <a:buNone/>
            </a:pPr>
            <a:r>
              <a:rPr lang="en-US" sz="2800" dirty="0"/>
              <a:t>print(emp)</a:t>
            </a:r>
          </a:p>
          <a:p>
            <a:pPr marL="0" indent="0">
              <a:spcBef>
                <a:spcPts val="0"/>
              </a:spcBef>
              <a:buNone/>
            </a:pPr>
            <a:r>
              <a:rPr lang="en-US" sz="2800" dirty="0"/>
              <a:t># pop()</a:t>
            </a:r>
          </a:p>
          <a:p>
            <a:pPr marL="0" indent="0">
              <a:spcBef>
                <a:spcPts val="0"/>
              </a:spcBef>
              <a:buNone/>
            </a:pPr>
            <a:r>
              <a:rPr lang="en-US" sz="2800" dirty="0" err="1"/>
              <a:t>emp.pop</a:t>
            </a:r>
            <a:r>
              <a:rPr lang="en-US" sz="2800" dirty="0"/>
              <a:t>("dept")</a:t>
            </a:r>
          </a:p>
          <a:p>
            <a:pPr marL="0" indent="0">
              <a:spcBef>
                <a:spcPts val="0"/>
              </a:spcBef>
              <a:buNone/>
            </a:pPr>
            <a:r>
              <a:rPr lang="en-US" sz="2800" dirty="0"/>
              <a:t>print(emp)</a:t>
            </a:r>
            <a:endParaRPr lang="en-US" sz="2400" dirty="0"/>
          </a:p>
        </p:txBody>
      </p:sp>
    </p:spTree>
    <p:extLst>
      <p:ext uri="{BB962C8B-B14F-4D97-AF65-F5344CB8AC3E}">
        <p14:creationId xmlns:p14="http://schemas.microsoft.com/office/powerpoint/2010/main" val="23039300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4C72A-1604-B5DE-4593-DCEBCCFD0D17}"/>
              </a:ext>
            </a:extLst>
          </p:cNvPr>
          <p:cNvSpPr>
            <a:spLocks noGrp="1"/>
          </p:cNvSpPr>
          <p:nvPr>
            <p:ph type="title"/>
          </p:nvPr>
        </p:nvSpPr>
        <p:spPr>
          <a:xfrm>
            <a:off x="1486786" y="152400"/>
            <a:ext cx="9144000" cy="685800"/>
          </a:xfrm>
        </p:spPr>
        <p:txBody>
          <a:bodyPr/>
          <a:lstStyle/>
          <a:p>
            <a:r>
              <a:rPr lang="en-US" dirty="0"/>
              <a:t>Using for Loop with Dictionaries</a:t>
            </a:r>
          </a:p>
        </p:txBody>
      </p:sp>
      <p:sp>
        <p:nvSpPr>
          <p:cNvPr id="3" name="Content Placeholder 2">
            <a:extLst>
              <a:ext uri="{FF2B5EF4-FFF2-40B4-BE49-F238E27FC236}">
                <a16:creationId xmlns:a16="http://schemas.microsoft.com/office/drawing/2014/main" id="{22847648-F67A-CEE3-4C65-C64B3C5CF123}"/>
              </a:ext>
            </a:extLst>
          </p:cNvPr>
          <p:cNvSpPr>
            <a:spLocks noGrp="1"/>
          </p:cNvSpPr>
          <p:nvPr>
            <p:ph idx="1"/>
          </p:nvPr>
        </p:nvSpPr>
        <p:spPr>
          <a:xfrm>
            <a:off x="1524000" y="1143000"/>
            <a:ext cx="9144000" cy="5257800"/>
          </a:xfrm>
        </p:spPr>
        <p:txBody>
          <a:bodyPr>
            <a:normAutofit/>
          </a:bodyPr>
          <a:lstStyle/>
          <a:p>
            <a:pPr marL="0" indent="0">
              <a:spcBef>
                <a:spcPts val="0"/>
              </a:spcBef>
              <a:buNone/>
            </a:pPr>
            <a:r>
              <a:rPr lang="en-US" sz="2800" dirty="0"/>
              <a:t>fruits = {"apple": 50, "banana": 30, "cherry": 75}</a:t>
            </a:r>
          </a:p>
          <a:p>
            <a:pPr marL="0" indent="0">
              <a:spcBef>
                <a:spcPts val="0"/>
              </a:spcBef>
              <a:buNone/>
            </a:pPr>
            <a:endParaRPr lang="en-US" sz="2800" dirty="0"/>
          </a:p>
          <a:p>
            <a:pPr marL="0" indent="0">
              <a:spcBef>
                <a:spcPts val="0"/>
              </a:spcBef>
              <a:buNone/>
            </a:pPr>
            <a:r>
              <a:rPr lang="en-US" sz="2800" dirty="0"/>
              <a:t># Iterate keys</a:t>
            </a:r>
          </a:p>
          <a:p>
            <a:pPr marL="0" indent="0">
              <a:spcBef>
                <a:spcPts val="0"/>
              </a:spcBef>
              <a:buNone/>
            </a:pPr>
            <a:r>
              <a:rPr lang="en-US" sz="2800" dirty="0"/>
              <a:t>for fruit in fruits:</a:t>
            </a:r>
          </a:p>
          <a:p>
            <a:pPr marL="0" indent="0">
              <a:spcBef>
                <a:spcPts val="0"/>
              </a:spcBef>
              <a:buNone/>
            </a:pPr>
            <a:r>
              <a:rPr lang="en-US" sz="2800" dirty="0"/>
              <a:t>    print(fruit)</a:t>
            </a:r>
          </a:p>
          <a:p>
            <a:pPr marL="0" indent="0">
              <a:spcBef>
                <a:spcPts val="0"/>
              </a:spcBef>
              <a:buNone/>
            </a:pPr>
            <a:endParaRPr lang="en-US" sz="2800" dirty="0"/>
          </a:p>
          <a:p>
            <a:pPr marL="0" indent="0">
              <a:spcBef>
                <a:spcPts val="0"/>
              </a:spcBef>
              <a:buNone/>
            </a:pPr>
            <a:r>
              <a:rPr lang="en-US" sz="2800" dirty="0"/>
              <a:t># Iterate values</a:t>
            </a:r>
          </a:p>
          <a:p>
            <a:pPr marL="0" indent="0">
              <a:spcBef>
                <a:spcPts val="0"/>
              </a:spcBef>
              <a:buNone/>
            </a:pPr>
            <a:r>
              <a:rPr lang="en-US" sz="2800" dirty="0"/>
              <a:t>for price in </a:t>
            </a:r>
            <a:r>
              <a:rPr lang="en-US" sz="2800" dirty="0" err="1"/>
              <a:t>fruits.values</a:t>
            </a:r>
            <a:r>
              <a:rPr lang="en-US" sz="2800" dirty="0"/>
              <a:t>():</a:t>
            </a:r>
          </a:p>
          <a:p>
            <a:pPr marL="0" indent="0">
              <a:spcBef>
                <a:spcPts val="0"/>
              </a:spcBef>
              <a:buNone/>
            </a:pPr>
            <a:r>
              <a:rPr lang="en-US" sz="2800" dirty="0"/>
              <a:t>    print(price)</a:t>
            </a:r>
          </a:p>
          <a:p>
            <a:pPr marL="0" indent="0">
              <a:spcBef>
                <a:spcPts val="0"/>
              </a:spcBef>
              <a:buNone/>
            </a:pPr>
            <a:endParaRPr lang="en-US" sz="2800" dirty="0"/>
          </a:p>
          <a:p>
            <a:pPr marL="0" indent="0">
              <a:spcBef>
                <a:spcPts val="0"/>
              </a:spcBef>
              <a:buNone/>
            </a:pPr>
            <a:r>
              <a:rPr lang="en-US" sz="2800" dirty="0"/>
              <a:t># Iterate key-value pairs</a:t>
            </a:r>
          </a:p>
          <a:p>
            <a:pPr marL="0" indent="0">
              <a:spcBef>
                <a:spcPts val="0"/>
              </a:spcBef>
              <a:buNone/>
            </a:pPr>
            <a:r>
              <a:rPr lang="en-US" sz="2800" dirty="0"/>
              <a:t>for fruit, price in </a:t>
            </a:r>
            <a:r>
              <a:rPr lang="en-US" sz="2800" dirty="0" err="1"/>
              <a:t>fruits.items</a:t>
            </a:r>
            <a:r>
              <a:rPr lang="en-US" sz="2800" dirty="0"/>
              <a:t>():</a:t>
            </a:r>
          </a:p>
          <a:p>
            <a:pPr marL="0" indent="0">
              <a:spcBef>
                <a:spcPts val="0"/>
              </a:spcBef>
              <a:buNone/>
            </a:pPr>
            <a:r>
              <a:rPr lang="en-US" sz="2800" dirty="0"/>
              <a:t>    print(f"{fruit} costs {price}")</a:t>
            </a:r>
          </a:p>
          <a:p>
            <a:pPr marL="0" indent="0">
              <a:spcBef>
                <a:spcPts val="0"/>
              </a:spcBef>
              <a:buNone/>
            </a:pPr>
            <a:endParaRPr lang="en-US" dirty="0"/>
          </a:p>
        </p:txBody>
      </p:sp>
    </p:spTree>
    <p:extLst>
      <p:ext uri="{BB962C8B-B14F-4D97-AF65-F5344CB8AC3E}">
        <p14:creationId xmlns:p14="http://schemas.microsoft.com/office/powerpoint/2010/main" val="24442010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9D788-502D-DC4C-7492-0421A4C9E3BF}"/>
              </a:ext>
            </a:extLst>
          </p:cNvPr>
          <p:cNvSpPr>
            <a:spLocks noGrp="1"/>
          </p:cNvSpPr>
          <p:nvPr>
            <p:ph type="title"/>
          </p:nvPr>
        </p:nvSpPr>
        <p:spPr/>
        <p:txBody>
          <a:bodyPr/>
          <a:lstStyle/>
          <a:p>
            <a:r>
              <a:rPr lang="en-US" b="1" dirty="0"/>
              <a:t>Converting Lists into Dictionary</a:t>
            </a:r>
            <a:endParaRPr lang="en-US" dirty="0"/>
          </a:p>
        </p:txBody>
      </p:sp>
      <p:sp>
        <p:nvSpPr>
          <p:cNvPr id="3" name="Content Placeholder 2">
            <a:extLst>
              <a:ext uri="{FF2B5EF4-FFF2-40B4-BE49-F238E27FC236}">
                <a16:creationId xmlns:a16="http://schemas.microsoft.com/office/drawing/2014/main" id="{669E27B5-2E90-80BE-EB78-C67F08857ED1}"/>
              </a:ext>
            </a:extLst>
          </p:cNvPr>
          <p:cNvSpPr>
            <a:spLocks noGrp="1"/>
          </p:cNvSpPr>
          <p:nvPr>
            <p:ph idx="1"/>
          </p:nvPr>
        </p:nvSpPr>
        <p:spPr/>
        <p:txBody>
          <a:bodyPr/>
          <a:lstStyle/>
          <a:p>
            <a:pPr marL="0" indent="0">
              <a:buNone/>
            </a:pPr>
            <a:r>
              <a:rPr lang="en-US" sz="2800" dirty="0"/>
              <a:t>keys = ["id", "name", "salary"]</a:t>
            </a:r>
          </a:p>
          <a:p>
            <a:pPr marL="0" indent="0">
              <a:buNone/>
            </a:pPr>
            <a:r>
              <a:rPr lang="en-US" sz="2800" dirty="0"/>
              <a:t>values = [101, "Raj", 50000]</a:t>
            </a:r>
          </a:p>
          <a:p>
            <a:pPr marL="0" indent="0">
              <a:buNone/>
            </a:pPr>
            <a:endParaRPr lang="en-US" sz="2800" dirty="0"/>
          </a:p>
          <a:p>
            <a:pPr marL="0" indent="0">
              <a:buNone/>
            </a:pPr>
            <a:r>
              <a:rPr lang="en-US" sz="2800" dirty="0"/>
              <a:t>employee = </a:t>
            </a:r>
            <a:r>
              <a:rPr lang="en-US" sz="2800" dirty="0" err="1"/>
              <a:t>dict</a:t>
            </a:r>
            <a:r>
              <a:rPr lang="en-US" sz="2800" dirty="0"/>
              <a:t>(zip(keys, values))</a:t>
            </a:r>
          </a:p>
          <a:p>
            <a:pPr marL="0" indent="0">
              <a:buNone/>
            </a:pPr>
            <a:r>
              <a:rPr lang="en-US" sz="2800" dirty="0"/>
              <a:t>print(employee)</a:t>
            </a:r>
          </a:p>
          <a:p>
            <a:endParaRPr lang="en-US" dirty="0"/>
          </a:p>
        </p:txBody>
      </p:sp>
    </p:spTree>
    <p:extLst>
      <p:ext uri="{BB962C8B-B14F-4D97-AF65-F5344CB8AC3E}">
        <p14:creationId xmlns:p14="http://schemas.microsoft.com/office/powerpoint/2010/main" val="20449104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7B3A-D17F-666F-FAC3-74F7A5A6F60B}"/>
              </a:ext>
            </a:extLst>
          </p:cNvPr>
          <p:cNvSpPr>
            <a:spLocks noGrp="1"/>
          </p:cNvSpPr>
          <p:nvPr>
            <p:ph type="title"/>
          </p:nvPr>
        </p:nvSpPr>
        <p:spPr/>
        <p:txBody>
          <a:bodyPr/>
          <a:lstStyle/>
          <a:p>
            <a:r>
              <a:rPr lang="en-US" dirty="0"/>
              <a:t>Converting Strings into Dictionary</a:t>
            </a:r>
            <a:br>
              <a:rPr lang="en-US" dirty="0"/>
            </a:br>
            <a:endParaRPr lang="en-US" dirty="0"/>
          </a:p>
        </p:txBody>
      </p:sp>
      <p:sp>
        <p:nvSpPr>
          <p:cNvPr id="3" name="Content Placeholder 2">
            <a:extLst>
              <a:ext uri="{FF2B5EF4-FFF2-40B4-BE49-F238E27FC236}">
                <a16:creationId xmlns:a16="http://schemas.microsoft.com/office/drawing/2014/main" id="{54A9460E-970A-DEB1-B01E-3AEA465EB291}"/>
              </a:ext>
            </a:extLst>
          </p:cNvPr>
          <p:cNvSpPr>
            <a:spLocks noGrp="1"/>
          </p:cNvSpPr>
          <p:nvPr>
            <p:ph idx="1"/>
          </p:nvPr>
        </p:nvSpPr>
        <p:spPr/>
        <p:txBody>
          <a:bodyPr/>
          <a:lstStyle/>
          <a:p>
            <a:pPr marL="0" indent="0">
              <a:buNone/>
            </a:pPr>
            <a:r>
              <a:rPr lang="en-US" sz="2800" dirty="0"/>
              <a:t>import </a:t>
            </a:r>
            <a:r>
              <a:rPr lang="en-US" sz="2800" dirty="0" err="1"/>
              <a:t>json</a:t>
            </a:r>
            <a:endParaRPr lang="en-US" sz="2800" dirty="0"/>
          </a:p>
          <a:p>
            <a:pPr marL="0" indent="0">
              <a:buNone/>
            </a:pPr>
            <a:endParaRPr lang="en-US" sz="2800" dirty="0"/>
          </a:p>
          <a:p>
            <a:pPr marL="0" indent="0">
              <a:buNone/>
            </a:pPr>
            <a:r>
              <a:rPr lang="en-US" sz="2800" dirty="0"/>
              <a:t>data = '{"id": 1, "name": "Sam", "active": true}’</a:t>
            </a:r>
          </a:p>
          <a:p>
            <a:pPr marL="0" indent="0">
              <a:buNone/>
            </a:pPr>
            <a:endParaRPr lang="en-US" sz="2800" dirty="0"/>
          </a:p>
          <a:p>
            <a:pPr marL="0" indent="0">
              <a:buNone/>
            </a:pPr>
            <a:r>
              <a:rPr lang="en-US" sz="2800" dirty="0" err="1"/>
              <a:t>dict_obj</a:t>
            </a:r>
            <a:r>
              <a:rPr lang="en-US" sz="2800" dirty="0"/>
              <a:t> = </a:t>
            </a:r>
            <a:r>
              <a:rPr lang="en-US" sz="2800" dirty="0" err="1"/>
              <a:t>json.loads</a:t>
            </a:r>
            <a:r>
              <a:rPr lang="en-US" sz="2800" dirty="0"/>
              <a:t>(data)</a:t>
            </a:r>
          </a:p>
          <a:p>
            <a:pPr marL="0" indent="0">
              <a:buNone/>
            </a:pPr>
            <a:r>
              <a:rPr lang="en-US" sz="2800" dirty="0"/>
              <a:t>print(</a:t>
            </a:r>
            <a:r>
              <a:rPr lang="en-US" sz="2800" dirty="0" err="1"/>
              <a:t>dict_obj</a:t>
            </a:r>
            <a:r>
              <a:rPr lang="en-US" sz="2800" dirty="0"/>
              <a:t>)</a:t>
            </a:r>
          </a:p>
          <a:p>
            <a:endParaRPr lang="en-US" dirty="0"/>
          </a:p>
        </p:txBody>
      </p:sp>
    </p:spTree>
    <p:extLst>
      <p:ext uri="{BB962C8B-B14F-4D97-AF65-F5344CB8AC3E}">
        <p14:creationId xmlns:p14="http://schemas.microsoft.com/office/powerpoint/2010/main" val="27352443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CEC11-796A-6FCF-D059-EFD3F7B9BD10}"/>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346722573"/>
      </p:ext>
    </p:extLst>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901026.potx" id="{FD85E87A-7813-4F67-9E59-69B5487A1910}" vid="{BDF94C36-3ACF-4CF1-939F-F4211E6D666F}"/>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TotalTime>140</TotalTime>
  <Words>3878</Words>
  <Application>Microsoft Office PowerPoint</Application>
  <PresentationFormat>Widescreen</PresentationFormat>
  <Paragraphs>510</Paragraphs>
  <Slides>69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Arial</vt:lpstr>
      <vt:lpstr>Arial Unicode MS</vt:lpstr>
      <vt:lpstr>Candara</vt:lpstr>
      <vt:lpstr>Consolas</vt:lpstr>
      <vt:lpstr>Nunito</vt:lpstr>
      <vt:lpstr>SFMono-Regular</vt:lpstr>
      <vt:lpstr>Source Sans Pro</vt:lpstr>
      <vt:lpstr>Tech Computer 16x9</vt:lpstr>
      <vt:lpstr>Sets and Dictionaries</vt:lpstr>
      <vt:lpstr>Sets – part 1</vt:lpstr>
      <vt:lpstr>Agenda</vt:lpstr>
      <vt:lpstr>What is Set?</vt:lpstr>
      <vt:lpstr>Creation of Sets</vt:lpstr>
      <vt:lpstr>Creating Sets Through Literals</vt:lpstr>
      <vt:lpstr>Set() Constructor</vt:lpstr>
      <vt:lpstr>Using Set Comprehensions</vt:lpstr>
      <vt:lpstr>Example</vt:lpstr>
      <vt:lpstr>Check unique and  Immutable with Python Set</vt:lpstr>
      <vt:lpstr>Heterogeneous Element with Python Set</vt:lpstr>
      <vt:lpstr>Methods for sets 1. Adding elements to Python Sets</vt:lpstr>
      <vt:lpstr>Adding elements to the   set using iterator</vt:lpstr>
      <vt:lpstr>Union operation on Python Sets </vt:lpstr>
      <vt:lpstr>output</vt:lpstr>
      <vt:lpstr>Example</vt:lpstr>
      <vt:lpstr>Example</vt:lpstr>
      <vt:lpstr>Intersection </vt:lpstr>
      <vt:lpstr>Example</vt:lpstr>
      <vt:lpstr>Example </vt:lpstr>
      <vt:lpstr>PowerPoint Presentation</vt:lpstr>
      <vt:lpstr>Difference</vt:lpstr>
      <vt:lpstr>Example </vt:lpstr>
      <vt:lpstr>Example </vt:lpstr>
      <vt:lpstr>PowerPoint Presentation</vt:lpstr>
      <vt:lpstr>Symmetric Difference</vt:lpstr>
      <vt:lpstr>example</vt:lpstr>
      <vt:lpstr>example</vt:lpstr>
      <vt:lpstr>Clearing Python Sets</vt:lpstr>
      <vt:lpstr>Comparing Sets </vt:lpstr>
      <vt:lpstr>subset</vt:lpstr>
      <vt:lpstr>Proper Subsets </vt:lpstr>
      <vt:lpstr>Superset</vt:lpstr>
      <vt:lpstr>Python Set Methods</vt:lpstr>
      <vt:lpstr>Functions and Methods of Set</vt:lpstr>
      <vt:lpstr>Dictionaries – part 2</vt:lpstr>
      <vt:lpstr>Agenda</vt:lpstr>
      <vt:lpstr>Dictionaries</vt:lpstr>
      <vt:lpstr>Create a Dictionary</vt:lpstr>
      <vt:lpstr>Accessing Dictionary Items </vt:lpstr>
      <vt:lpstr>Adding and Updating Dictionary Items </vt:lpstr>
      <vt:lpstr>Removing Dictionary Items </vt:lpstr>
      <vt:lpstr>PowerPoint Presentation</vt:lpstr>
      <vt:lpstr>Iterating Through a Dictionary </vt:lpstr>
      <vt:lpstr>Nested Dictionaries </vt:lpstr>
      <vt:lpstr>Copying Dictionaries in Python </vt:lpstr>
      <vt:lpstr>1. Shallow Copy </vt:lpstr>
      <vt:lpstr>PowerPoint Presentation</vt:lpstr>
      <vt:lpstr>2. Deep Copy </vt:lpstr>
      <vt:lpstr>PowerPoint Presentation</vt:lpstr>
      <vt:lpstr>Python Dictionary Comprehension </vt:lpstr>
      <vt:lpstr>PowerPoint Presentation</vt:lpstr>
      <vt:lpstr>Using fromkeys() Method </vt:lpstr>
      <vt:lpstr>Using dictionary comprehension make dictionary </vt:lpstr>
      <vt:lpstr>PowerPoint Presentation</vt:lpstr>
      <vt:lpstr>Using conditional statements in  dictionary comprehension </vt:lpstr>
      <vt:lpstr>Python Dictionary Methods 1. Dictionary clear() Method</vt:lpstr>
      <vt:lpstr>2. Dictionary get() Method </vt:lpstr>
      <vt:lpstr>Dictionary keys() Method </vt:lpstr>
      <vt:lpstr>Dictionary update() Method </vt:lpstr>
      <vt:lpstr>Dictionary values() Method </vt:lpstr>
      <vt:lpstr> Dictionary pop() Method </vt:lpstr>
      <vt:lpstr> Dictionary popitem() Method </vt:lpstr>
      <vt:lpstr>PowerPoint Presentation</vt:lpstr>
      <vt:lpstr>PowerPoint Presentation</vt:lpstr>
      <vt:lpstr>Using for Loop with Dictionaries</vt:lpstr>
      <vt:lpstr>Converting Lists into Dictionary</vt:lpstr>
      <vt:lpstr>Converting Strings into Dictionary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2</cp:revision>
  <dcterms:created xsi:type="dcterms:W3CDTF">2025-08-18T17:34:49Z</dcterms:created>
  <dcterms:modified xsi:type="dcterms:W3CDTF">2025-08-21T04:41:14Z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