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72" r:id="rId4"/>
  </p:sldMasterIdLst>
  <p:notesMasterIdLst>
    <p:notesMasterId r:id="rId56"/>
  </p:notesMasterIdLst>
  <p:handoutMasterIdLst>
    <p:handoutMasterId r:id="rId57"/>
  </p:handoutMasterIdLst>
  <p:sldIdLst>
    <p:sldId id="256" r:id="rId5"/>
    <p:sldId id="262" r:id="rId6"/>
    <p:sldId id="265" r:id="rId7"/>
    <p:sldId id="266" r:id="rId8"/>
    <p:sldId id="277" r:id="rId9"/>
    <p:sldId id="278" r:id="rId10"/>
    <p:sldId id="279" r:id="rId11"/>
    <p:sldId id="280" r:id="rId12"/>
    <p:sldId id="267" r:id="rId13"/>
    <p:sldId id="268" r:id="rId14"/>
    <p:sldId id="269" r:id="rId15"/>
    <p:sldId id="270" r:id="rId16"/>
    <p:sldId id="271" r:id="rId17"/>
    <p:sldId id="273" r:id="rId18"/>
    <p:sldId id="274" r:id="rId19"/>
    <p:sldId id="275" r:id="rId20"/>
    <p:sldId id="276" r:id="rId21"/>
    <p:sldId id="272" r:id="rId22"/>
    <p:sldId id="263" r:id="rId23"/>
    <p:sldId id="282" r:id="rId24"/>
    <p:sldId id="283" r:id="rId25"/>
    <p:sldId id="286" r:id="rId26"/>
    <p:sldId id="287" r:id="rId27"/>
    <p:sldId id="288" r:id="rId28"/>
    <p:sldId id="285" r:id="rId29"/>
    <p:sldId id="281" r:id="rId30"/>
    <p:sldId id="289" r:id="rId31"/>
    <p:sldId id="290" r:id="rId32"/>
    <p:sldId id="291" r:id="rId33"/>
    <p:sldId id="292" r:id="rId34"/>
    <p:sldId id="293" r:id="rId35"/>
    <p:sldId id="294" r:id="rId36"/>
    <p:sldId id="295" r:id="rId37"/>
    <p:sldId id="296" r:id="rId38"/>
    <p:sldId id="297" r:id="rId39"/>
    <p:sldId id="298" r:id="rId40"/>
    <p:sldId id="299" r:id="rId41"/>
    <p:sldId id="300" r:id="rId42"/>
    <p:sldId id="301" r:id="rId43"/>
    <p:sldId id="264" r:id="rId44"/>
    <p:sldId id="302" r:id="rId45"/>
    <p:sldId id="303" r:id="rId46"/>
    <p:sldId id="304" r:id="rId47"/>
    <p:sldId id="305" r:id="rId48"/>
    <p:sldId id="306" r:id="rId49"/>
    <p:sldId id="307" r:id="rId50"/>
    <p:sldId id="313" r:id="rId51"/>
    <p:sldId id="308" r:id="rId52"/>
    <p:sldId id="309" r:id="rId53"/>
    <p:sldId id="310" r:id="rId54"/>
    <p:sldId id="260" r:id="rId5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15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48" autoAdjust="0"/>
  </p:normalViewPr>
  <p:slideViewPr>
    <p:cSldViewPr snapToGrid="0">
      <p:cViewPr varScale="1">
        <p:scale>
          <a:sx n="56" d="100"/>
          <a:sy n="56" d="100"/>
        </p:scale>
        <p:origin x="1000" y="44"/>
      </p:cViewPr>
      <p:guideLst/>
    </p:cSldViewPr>
  </p:slideViewPr>
  <p:notesTextViewPr>
    <p:cViewPr>
      <p:scale>
        <a:sx n="1" d="1"/>
        <a:sy n="1" d="1"/>
      </p:scale>
      <p:origin x="0" y="0"/>
    </p:cViewPr>
  </p:notesTextViewPr>
  <p:sorterViewPr>
    <p:cViewPr>
      <p:scale>
        <a:sx n="100" d="100"/>
        <a:sy n="100" d="100"/>
      </p:scale>
      <p:origin x="0" y="0"/>
    </p:cViewPr>
  </p:sorterViewPr>
  <p:notesViewPr>
    <p:cSldViewPr snapToGrid="0">
      <p:cViewPr varScale="1">
        <p:scale>
          <a:sx n="68" d="100"/>
          <a:sy n="68" d="100"/>
        </p:scale>
        <p:origin x="3288" y="84"/>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slide" Target="slides/slide5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presProps" Target="presProps.xml"/><Relationship Id="rId5" Type="http://schemas.openxmlformats.org/officeDocument/2006/relationships/slide" Target="slides/slide1.xml"/><Relationship Id="rId61" Type="http://schemas.openxmlformats.org/officeDocument/2006/relationships/tableStyles" Target="tableStyles.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notesMaster" Target="notesMasters/notesMaster1.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viewProps" Target="viewProps.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handoutMaster" Target="handoutMasters/handoutMaster1.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FF81CEA5-62FD-4C83-BDE3-91DFB9827D8F}"/>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3FA1CBFD-6AD0-48C4-B91B-58830F6F4C3E}"/>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F869721-F543-4A6C-BF9D-65D7CC540427}" type="datetimeFigureOut">
              <a:rPr lang="en-US" smtClean="0"/>
              <a:t>8/23/2025</a:t>
            </a:fld>
            <a:endParaRPr lang="en-US" dirty="0"/>
          </a:p>
        </p:txBody>
      </p:sp>
      <p:sp>
        <p:nvSpPr>
          <p:cNvPr id="4" name="Footer Placeholder 3">
            <a:extLst>
              <a:ext uri="{FF2B5EF4-FFF2-40B4-BE49-F238E27FC236}">
                <a16:creationId xmlns:a16="http://schemas.microsoft.com/office/drawing/2014/main" id="{A9E55D22-46A3-4B8C-AD40-252FE7896C36}"/>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8E70DCEF-9071-4B17-801B-37B4465C8E15}"/>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90168E-626C-4E60-93C0-A00D25609468}" type="slidenum">
              <a:rPr lang="en-US" smtClean="0"/>
              <a:t>‹#›</a:t>
            </a:fld>
            <a:endParaRPr lang="en-US" dirty="0"/>
          </a:p>
        </p:txBody>
      </p:sp>
    </p:spTree>
    <p:extLst>
      <p:ext uri="{BB962C8B-B14F-4D97-AF65-F5344CB8AC3E}">
        <p14:creationId xmlns:p14="http://schemas.microsoft.com/office/powerpoint/2010/main" val="374934770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732326A-4C88-4AFB-AA5B-5919D81DFF5B}" type="datetimeFigureOut">
              <a:rPr lang="en-US" smtClean="0"/>
              <a:t>8/23/2025</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6B3AB32-59DF-41F1-9618-EDFBF5049629}" type="slidenum">
              <a:rPr lang="en-US" smtClean="0"/>
              <a:t>‹#›</a:t>
            </a:fld>
            <a:endParaRPr lang="en-US" dirty="0"/>
          </a:p>
        </p:txBody>
      </p:sp>
    </p:spTree>
    <p:extLst>
      <p:ext uri="{BB962C8B-B14F-4D97-AF65-F5344CB8AC3E}">
        <p14:creationId xmlns:p14="http://schemas.microsoft.com/office/powerpoint/2010/main" val="366180564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6B3AB32-59DF-41F1-9618-EDFBF5049629}" type="slidenum">
              <a:rPr lang="en-US" smtClean="0"/>
              <a:t>1</a:t>
            </a:fld>
            <a:endParaRPr lang="en-US" dirty="0"/>
          </a:p>
        </p:txBody>
      </p:sp>
    </p:spTree>
    <p:extLst>
      <p:ext uri="{BB962C8B-B14F-4D97-AF65-F5344CB8AC3E}">
        <p14:creationId xmlns:p14="http://schemas.microsoft.com/office/powerpoint/2010/main" val="139004701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83637A-0818-8348-7231-7E9A4FCE240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0206C88-9712-B452-A1B1-6DBFB628036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94C427B-B17F-45E0-C437-53A16A27BD1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DD5C521-1ECE-3040-7BE5-D5845B5CEFA0}"/>
              </a:ext>
            </a:extLst>
          </p:cNvPr>
          <p:cNvSpPr>
            <a:spLocks noGrp="1"/>
          </p:cNvSpPr>
          <p:nvPr>
            <p:ph type="sldNum" sz="quarter" idx="5"/>
          </p:nvPr>
        </p:nvSpPr>
        <p:spPr/>
        <p:txBody>
          <a:bodyPr/>
          <a:lstStyle/>
          <a:p>
            <a:fld id="{C6B3AB32-59DF-41F1-9618-EDFBF5049629}" type="slidenum">
              <a:rPr lang="en-US" smtClean="0"/>
              <a:t>19</a:t>
            </a:fld>
            <a:endParaRPr lang="en-US" dirty="0"/>
          </a:p>
        </p:txBody>
      </p:sp>
    </p:spTree>
    <p:extLst>
      <p:ext uri="{BB962C8B-B14F-4D97-AF65-F5344CB8AC3E}">
        <p14:creationId xmlns:p14="http://schemas.microsoft.com/office/powerpoint/2010/main" val="78912864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9462A4-0044-AEBF-0A4D-4235788E4E5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D2CDC2A-C04D-472B-807F-24881227826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AA814A8-3E1B-9D61-7B61-39AEAABC7AB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FF7944B-B6FA-B04F-5D11-F6D6CE6EC862}"/>
              </a:ext>
            </a:extLst>
          </p:cNvPr>
          <p:cNvSpPr>
            <a:spLocks noGrp="1"/>
          </p:cNvSpPr>
          <p:nvPr>
            <p:ph type="sldNum" sz="quarter" idx="5"/>
          </p:nvPr>
        </p:nvSpPr>
        <p:spPr/>
        <p:txBody>
          <a:bodyPr/>
          <a:lstStyle/>
          <a:p>
            <a:fld id="{C6B3AB32-59DF-41F1-9618-EDFBF5049629}" type="slidenum">
              <a:rPr lang="en-US" smtClean="0"/>
              <a:t>26</a:t>
            </a:fld>
            <a:endParaRPr lang="en-US" dirty="0"/>
          </a:p>
        </p:txBody>
      </p:sp>
    </p:spTree>
    <p:extLst>
      <p:ext uri="{BB962C8B-B14F-4D97-AF65-F5344CB8AC3E}">
        <p14:creationId xmlns:p14="http://schemas.microsoft.com/office/powerpoint/2010/main" val="409944761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F0EC16-A626-B093-F9A7-6D9CCFE322D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06AF2AE-A3E2-F5DB-C819-7DCDA5D19D7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AE8CBE7-43B1-CDEB-AA4F-1611F4CE0D3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0F293F8-557C-8EE8-E13F-47B719790556}"/>
              </a:ext>
            </a:extLst>
          </p:cNvPr>
          <p:cNvSpPr>
            <a:spLocks noGrp="1"/>
          </p:cNvSpPr>
          <p:nvPr>
            <p:ph type="sldNum" sz="quarter" idx="5"/>
          </p:nvPr>
        </p:nvSpPr>
        <p:spPr/>
        <p:txBody>
          <a:bodyPr/>
          <a:lstStyle/>
          <a:p>
            <a:fld id="{C6B3AB32-59DF-41F1-9618-EDFBF5049629}" type="slidenum">
              <a:rPr lang="en-US" smtClean="0"/>
              <a:t>40</a:t>
            </a:fld>
            <a:endParaRPr lang="en-US" dirty="0"/>
          </a:p>
        </p:txBody>
      </p:sp>
    </p:spTree>
    <p:extLst>
      <p:ext uri="{BB962C8B-B14F-4D97-AF65-F5344CB8AC3E}">
        <p14:creationId xmlns:p14="http://schemas.microsoft.com/office/powerpoint/2010/main" val="86233199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6B3AB32-59DF-41F1-9618-EDFBF5049629}" type="slidenum">
              <a:rPr lang="en-US" smtClean="0"/>
              <a:t>51</a:t>
            </a:fld>
            <a:endParaRPr lang="en-US" dirty="0"/>
          </a:p>
        </p:txBody>
      </p:sp>
    </p:spTree>
    <p:extLst>
      <p:ext uri="{BB962C8B-B14F-4D97-AF65-F5344CB8AC3E}">
        <p14:creationId xmlns:p14="http://schemas.microsoft.com/office/powerpoint/2010/main" val="104671413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446534" y="3085765"/>
            <a:ext cx="11262866" cy="3304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581191" y="1020431"/>
            <a:ext cx="10993549" cy="1475013"/>
          </a:xfrm>
          <a:effectLst/>
        </p:spPr>
        <p:txBody>
          <a:bodyPr anchor="b">
            <a:normAutofit/>
          </a:bodyPr>
          <a:lstStyle>
            <a:lvl1pPr>
              <a:defRPr sz="36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581194" y="2495445"/>
            <a:ext cx="10993546" cy="590321"/>
          </a:xfrm>
        </p:spPr>
        <p:txBody>
          <a:bodyPr anchor="t">
            <a:normAutofit/>
          </a:bodyPr>
          <a:lstStyle>
            <a:lvl1pPr marL="0" indent="0" algn="l">
              <a:buNone/>
              <a:defRPr sz="1600" cap="all">
                <a:solidFill>
                  <a:schemeClr val="accent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7605951" y="5956137"/>
            <a:ext cx="2844800" cy="365125"/>
          </a:xfrm>
        </p:spPr>
        <p:txBody>
          <a:bodyPr/>
          <a:lstStyle>
            <a:lvl1pPr>
              <a:defRPr>
                <a:solidFill>
                  <a:schemeClr val="accent1">
                    <a:lumMod val="75000"/>
                    <a:lumOff val="25000"/>
                  </a:schemeClr>
                </a:solidFill>
              </a:defRPr>
            </a:lvl1pPr>
          </a:lstStyle>
          <a:p>
            <a:fld id="{B61BEF0D-F0BB-DE4B-95CE-6DB70DBA9567}" type="datetimeFigureOut">
              <a:rPr lang="en-US" smtClean="0"/>
              <a:pPr/>
              <a:t>8/23/2025</a:t>
            </a:fld>
            <a:endParaRPr lang="en-US" dirty="0"/>
          </a:p>
        </p:txBody>
      </p:sp>
      <p:sp>
        <p:nvSpPr>
          <p:cNvPr id="5" name="Footer Placeholder 4"/>
          <p:cNvSpPr>
            <a:spLocks noGrp="1"/>
          </p:cNvSpPr>
          <p:nvPr>
            <p:ph type="ftr" sz="quarter" idx="11"/>
          </p:nvPr>
        </p:nvSpPr>
        <p:spPr>
          <a:xfrm>
            <a:off x="581192" y="5951811"/>
            <a:ext cx="6917210" cy="365125"/>
          </a:xfrm>
        </p:spPr>
        <p:txBody>
          <a:bodyPr/>
          <a:lstStyle>
            <a:lvl1pPr>
              <a:defRPr>
                <a:solidFill>
                  <a:schemeClr val="accent1">
                    <a:lumMod val="75000"/>
                    <a:lumOff val="25000"/>
                  </a:schemeClr>
                </a:solidFill>
              </a:defRPr>
            </a:lvl1pPr>
          </a:lstStyle>
          <a:p>
            <a:endParaRPr lang="en-US" dirty="0"/>
          </a:p>
        </p:txBody>
      </p:sp>
      <p:sp>
        <p:nvSpPr>
          <p:cNvPr id="6" name="Slide Number Placeholder 5"/>
          <p:cNvSpPr>
            <a:spLocks noGrp="1"/>
          </p:cNvSpPr>
          <p:nvPr>
            <p:ph type="sldNum" sz="quarter" idx="12"/>
          </p:nvPr>
        </p:nvSpPr>
        <p:spPr>
          <a:xfrm>
            <a:off x="10558300" y="5956137"/>
            <a:ext cx="1016440" cy="365125"/>
          </a:xfrm>
        </p:spPr>
        <p:txBody>
          <a:bodyPr/>
          <a:lstStyle>
            <a:lvl1pPr>
              <a:defRPr>
                <a:solidFill>
                  <a:schemeClr val="accent1">
                    <a:lumMod val="75000"/>
                    <a:lumOff val="25000"/>
                  </a:schemeClr>
                </a:solidFill>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1030186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702156"/>
            <a:ext cx="11029616" cy="1013800"/>
          </a:xfrm>
        </p:spPr>
        <p:txBody>
          <a:bodyPr/>
          <a:lstStyle/>
          <a:p>
            <a:r>
              <a:rPr lang="en-US"/>
              <a:t>Click to edit Master title style</a:t>
            </a:r>
            <a:endParaRPr lang="en-US" dirty="0"/>
          </a:p>
        </p:txBody>
      </p:sp>
      <p:sp>
        <p:nvSpPr>
          <p:cNvPr id="3" name="Content Placeholder 2"/>
          <p:cNvSpPr>
            <a:spLocks noGrp="1"/>
          </p:cNvSpPr>
          <p:nvPr>
            <p:ph idx="1"/>
          </p:nvPr>
        </p:nvSpPr>
        <p:spPr>
          <a:xfrm>
            <a:off x="581192" y="2180496"/>
            <a:ext cx="11029615" cy="367830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8/23/2025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a:xfrm>
            <a:off x="10558300" y="5956137"/>
            <a:ext cx="1052508" cy="365125"/>
          </a:xfrm>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7399816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447817" y="5141974"/>
            <a:ext cx="11290860"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3043910"/>
            <a:ext cx="11029615" cy="1497507"/>
          </a:xfrm>
        </p:spPr>
        <p:txBody>
          <a:bodyPr anchor="b">
            <a:normAutofit/>
          </a:bodyPr>
          <a:lstStyle>
            <a:lvl1pPr algn="l">
              <a:defRPr sz="3600" b="0" cap="all">
                <a:solidFill>
                  <a:schemeClr val="accent1"/>
                </a:solidFill>
              </a:defRPr>
            </a:lvl1pPr>
          </a:lstStyle>
          <a:p>
            <a:r>
              <a:rPr lang="en-US"/>
              <a:t>Click to edit Master title style</a:t>
            </a:r>
            <a:endParaRPr lang="en-US" dirty="0"/>
          </a:p>
        </p:txBody>
      </p:sp>
      <p:sp>
        <p:nvSpPr>
          <p:cNvPr id="3" name="Text Placeholder 2"/>
          <p:cNvSpPr>
            <a:spLocks noGrp="1"/>
          </p:cNvSpPr>
          <p:nvPr>
            <p:ph type="body" idx="1"/>
          </p:nvPr>
        </p:nvSpPr>
        <p:spPr>
          <a:xfrm>
            <a:off x="581192" y="4541417"/>
            <a:ext cx="11029615" cy="600556"/>
          </a:xfrm>
        </p:spPr>
        <p:txBody>
          <a:bodyPr anchor="t">
            <a:normAutofit/>
          </a:bodyPr>
          <a:lstStyle>
            <a:lvl1pPr marL="0" indent="0" algn="l">
              <a:buNone/>
              <a:defRPr sz="1800" cap="all">
                <a:solidFill>
                  <a:schemeClr val="accent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solidFill>
                  <a:schemeClr val="accent1">
                    <a:lumMod val="75000"/>
                    <a:lumOff val="25000"/>
                  </a:schemeClr>
                </a:solidFill>
              </a:defRPr>
            </a:lvl1pPr>
          </a:lstStyle>
          <a:p>
            <a:fld id="{B61BEF0D-F0BB-DE4B-95CE-6DB70DBA9567}" type="datetimeFigureOut">
              <a:rPr lang="en-US" smtClean="0"/>
              <a:pPr/>
              <a:t>8/23/2025</a:t>
            </a:fld>
            <a:endParaRPr lang="en-US" dirty="0"/>
          </a:p>
        </p:txBody>
      </p:sp>
      <p:sp>
        <p:nvSpPr>
          <p:cNvPr id="5" name="Footer Placeholder 4"/>
          <p:cNvSpPr>
            <a:spLocks noGrp="1"/>
          </p:cNvSpPr>
          <p:nvPr>
            <p:ph type="ftr" sz="quarter" idx="11"/>
          </p:nvPr>
        </p:nvSpPr>
        <p:spPr/>
        <p:txBody>
          <a:bodyPr/>
          <a:lstStyle>
            <a:lvl1pPr>
              <a:defRPr>
                <a:solidFill>
                  <a:schemeClr val="accent1">
                    <a:lumMod val="75000"/>
                    <a:lumOff val="25000"/>
                  </a:schemeClr>
                </a:solidFill>
              </a:defRPr>
            </a:lvl1pPr>
          </a:lstStyle>
          <a:p>
            <a:endParaRPr lang="en-US" dirty="0"/>
          </a:p>
        </p:txBody>
      </p:sp>
      <p:sp>
        <p:nvSpPr>
          <p:cNvPr id="6" name="Slide Number Placeholder 5"/>
          <p:cNvSpPr>
            <a:spLocks noGrp="1"/>
          </p:cNvSpPr>
          <p:nvPr>
            <p:ph type="sldNum" sz="quarter" idx="12"/>
          </p:nvPr>
        </p:nvSpPr>
        <p:spPr/>
        <p:txBody>
          <a:bodyPr/>
          <a:lstStyle>
            <a:lvl1pPr>
              <a:defRPr>
                <a:solidFill>
                  <a:schemeClr val="accent1">
                    <a:lumMod val="75000"/>
                    <a:lumOff val="25000"/>
                  </a:schemeClr>
                </a:solidFill>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90929088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Rectangle 7"/>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Content Placeholder 2"/>
          <p:cNvSpPr>
            <a:spLocks noGrp="1"/>
          </p:cNvSpPr>
          <p:nvPr>
            <p:ph sz="half" idx="1"/>
          </p:nvPr>
        </p:nvSpPr>
        <p:spPr>
          <a:xfrm>
            <a:off x="581193" y="2228003"/>
            <a:ext cx="5422390"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88417" y="2228003"/>
            <a:ext cx="5422392"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8/23/2025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8716740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1" name="Rectangle 10"/>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Text Placeholder 2"/>
          <p:cNvSpPr>
            <a:spLocks noGrp="1"/>
          </p:cNvSpPr>
          <p:nvPr>
            <p:ph type="body" idx="1"/>
          </p:nvPr>
        </p:nvSpPr>
        <p:spPr>
          <a:xfrm>
            <a:off x="887219" y="2250892"/>
            <a:ext cx="5087075" cy="536005"/>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81194" y="2926052"/>
            <a:ext cx="5393100"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523735" y="2250892"/>
            <a:ext cx="5087073" cy="553373"/>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709" y="2926052"/>
            <a:ext cx="5393100"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8/23/2025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4285740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B61BEF0D-F0BB-DE4B-95CE-6DB70DBA9567}" type="datetimeFigureOut">
              <a:rPr lang="en-US" smtClean="0"/>
              <a:pPr/>
              <a:t>8/23/2025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
        <p:nvSpPr>
          <p:cNvPr id="7" name="Rectangle 6"/>
          <p:cNvSpPr>
            <a:spLocks noChangeAspect="1"/>
          </p:cNvSpPr>
          <p:nvPr/>
        </p:nvSpPr>
        <p:spPr>
          <a:xfrm>
            <a:off x="440683"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8" name="Title 1"/>
          <p:cNvSpPr>
            <a:spLocks noGrp="1"/>
          </p:cNvSpPr>
          <p:nvPr>
            <p:ph type="title"/>
          </p:nvPr>
        </p:nvSpPr>
        <p:spPr>
          <a:xfrm>
            <a:off x="575894" y="729658"/>
            <a:ext cx="11029616" cy="988332"/>
          </a:xfrm>
        </p:spPr>
        <p:txBody>
          <a:bodyPr/>
          <a:lstStyle/>
          <a:p>
            <a:r>
              <a:rPr lang="en-US"/>
              <a:t>Click to edit Master title style</a:t>
            </a:r>
            <a:endParaRPr lang="en-US" dirty="0"/>
          </a:p>
        </p:txBody>
      </p:sp>
    </p:spTree>
    <p:extLst>
      <p:ext uri="{BB962C8B-B14F-4D97-AF65-F5344CB8AC3E}">
        <p14:creationId xmlns:p14="http://schemas.microsoft.com/office/powerpoint/2010/main" val="116431827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8/23/2025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41269040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447817" y="5141973"/>
            <a:ext cx="11298200" cy="127470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5262296"/>
            <a:ext cx="4909445" cy="689514"/>
          </a:xfrm>
        </p:spPr>
        <p:txBody>
          <a:bodyPr anchor="ctr"/>
          <a:lstStyle>
            <a:lvl1pPr algn="l">
              <a:defRPr sz="2000" b="0">
                <a:solidFill>
                  <a:schemeClr val="accent1">
                    <a:lumMod val="75000"/>
                    <a:lumOff val="25000"/>
                  </a:schemeClr>
                </a:solidFill>
              </a:defRPr>
            </a:lvl1pPr>
          </a:lstStyle>
          <a:p>
            <a:r>
              <a:rPr lang="en-US"/>
              <a:t>Click to edit Master title style</a:t>
            </a:r>
            <a:endParaRPr lang="en-US" dirty="0"/>
          </a:p>
        </p:txBody>
      </p:sp>
      <p:sp>
        <p:nvSpPr>
          <p:cNvPr id="3" name="Content Placeholder 2"/>
          <p:cNvSpPr>
            <a:spLocks noGrp="1"/>
          </p:cNvSpPr>
          <p:nvPr>
            <p:ph idx="1"/>
          </p:nvPr>
        </p:nvSpPr>
        <p:spPr>
          <a:xfrm>
            <a:off x="447816" y="601200"/>
            <a:ext cx="11292840" cy="4204800"/>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5740823" y="5262296"/>
            <a:ext cx="5869987" cy="689515"/>
          </a:xfrm>
        </p:spPr>
        <p:txBody>
          <a:bodyPr anchor="ctr">
            <a:normAutofit/>
          </a:bodyPr>
          <a:lstStyle>
            <a:lvl1pPr marL="0" indent="0" algn="r">
              <a:buNone/>
              <a:defRPr sz="1100">
                <a:solidFill>
                  <a:schemeClr val="bg1"/>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solidFill>
                  <a:schemeClr val="accent1">
                    <a:lumMod val="75000"/>
                    <a:lumOff val="25000"/>
                  </a:schemeClr>
                </a:solidFill>
              </a:defRPr>
            </a:lvl1pPr>
          </a:lstStyle>
          <a:p>
            <a:fld id="{B61BEF0D-F0BB-DE4B-95CE-6DB70DBA9567}" type="datetimeFigureOut">
              <a:rPr lang="en-US" smtClean="0"/>
              <a:pPr/>
              <a:t>8/23/2025</a:t>
            </a:fld>
            <a:endParaRPr lang="en-US" dirty="0"/>
          </a:p>
        </p:txBody>
      </p:sp>
      <p:sp>
        <p:nvSpPr>
          <p:cNvPr id="6" name="Footer Placeholder 5"/>
          <p:cNvSpPr>
            <a:spLocks noGrp="1"/>
          </p:cNvSpPr>
          <p:nvPr>
            <p:ph type="ftr" sz="quarter" idx="11"/>
          </p:nvPr>
        </p:nvSpPr>
        <p:spPr/>
        <p:txBody>
          <a:bodyPr/>
          <a:lstStyle>
            <a:lvl1pPr>
              <a:defRPr>
                <a:solidFill>
                  <a:schemeClr val="accent1">
                    <a:lumMod val="75000"/>
                    <a:lumOff val="25000"/>
                  </a:schemeClr>
                </a:solidFill>
              </a:defRPr>
            </a:lvl1pPr>
          </a:lstStyle>
          <a:p>
            <a:endParaRPr lang="en-US" dirty="0"/>
          </a:p>
        </p:txBody>
      </p:sp>
      <p:sp>
        <p:nvSpPr>
          <p:cNvPr id="7" name="Slide Number Placeholder 6"/>
          <p:cNvSpPr>
            <a:spLocks noGrp="1"/>
          </p:cNvSpPr>
          <p:nvPr>
            <p:ph type="sldNum" sz="quarter" idx="12"/>
          </p:nvPr>
        </p:nvSpPr>
        <p:spPr/>
        <p:txBody>
          <a:bodyPr/>
          <a:lstStyle>
            <a:lvl1pPr>
              <a:defRPr>
                <a:solidFill>
                  <a:schemeClr val="accent1">
                    <a:lumMod val="75000"/>
                    <a:lumOff val="25000"/>
                  </a:schemeClr>
                </a:solidFill>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329620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1193" y="4693389"/>
            <a:ext cx="11029616" cy="566738"/>
          </a:xfrm>
        </p:spPr>
        <p:txBody>
          <a:bodyPr anchor="b">
            <a:normAutofit/>
          </a:bodyPr>
          <a:lstStyle>
            <a:lvl1pPr algn="l">
              <a:defRPr sz="2400" b="0">
                <a:solidFill>
                  <a:schemeClr val="accent1"/>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447817" y="599725"/>
            <a:ext cx="11290859" cy="3557252"/>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581192" y="5260127"/>
            <a:ext cx="11029617" cy="598671"/>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8/23/2025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28080372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8" name="Rectangle 7"/>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9" name="Title 1"/>
          <p:cNvSpPr>
            <a:spLocks noGrp="1"/>
          </p:cNvSpPr>
          <p:nvPr>
            <p:ph type="title"/>
          </p:nvPr>
        </p:nvSpPr>
        <p:spPr>
          <a:xfrm>
            <a:off x="581192" y="702156"/>
            <a:ext cx="11029616" cy="1013800"/>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8/23/2025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4547011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8839201" y="599725"/>
            <a:ext cx="2906817" cy="581695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839201" y="675726"/>
            <a:ext cx="2004164" cy="5183073"/>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774923" y="675726"/>
            <a:ext cx="7896279" cy="5183073"/>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8993673" y="5956137"/>
            <a:ext cx="1328141" cy="365125"/>
          </a:xfrm>
        </p:spPr>
        <p:txBody>
          <a:bodyPr/>
          <a:lstStyle>
            <a:lvl1pPr>
              <a:defRPr>
                <a:solidFill>
                  <a:schemeClr val="accent1">
                    <a:lumMod val="75000"/>
                    <a:lumOff val="25000"/>
                  </a:schemeClr>
                </a:solidFill>
              </a:defRPr>
            </a:lvl1pPr>
          </a:lstStyle>
          <a:p>
            <a:fld id="{B61BEF0D-F0BB-DE4B-95CE-6DB70DBA9567}" type="datetimeFigureOut">
              <a:rPr lang="en-US" smtClean="0"/>
              <a:pPr/>
              <a:t>8/23/2025</a:t>
            </a:fld>
            <a:endParaRPr lang="en-US" dirty="0"/>
          </a:p>
        </p:txBody>
      </p:sp>
      <p:sp>
        <p:nvSpPr>
          <p:cNvPr id="5" name="Footer Placeholder 4"/>
          <p:cNvSpPr>
            <a:spLocks noGrp="1"/>
          </p:cNvSpPr>
          <p:nvPr>
            <p:ph type="ftr" sz="quarter" idx="11"/>
          </p:nvPr>
        </p:nvSpPr>
        <p:spPr>
          <a:xfrm>
            <a:off x="774923" y="5951811"/>
            <a:ext cx="7896279" cy="365125"/>
          </a:xfrm>
        </p:spPr>
        <p:txBody>
          <a:bodyPr/>
          <a:lstStyle/>
          <a:p>
            <a:endParaRPr lang="en-US" dirty="0"/>
          </a:p>
        </p:txBody>
      </p:sp>
      <p:sp>
        <p:nvSpPr>
          <p:cNvPr id="6" name="Slide Number Placeholder 5"/>
          <p:cNvSpPr>
            <a:spLocks noGrp="1"/>
          </p:cNvSpPr>
          <p:nvPr>
            <p:ph type="sldNum" sz="quarter" idx="12"/>
          </p:nvPr>
        </p:nvSpPr>
        <p:spPr>
          <a:xfrm>
            <a:off x="10446615" y="5956137"/>
            <a:ext cx="1164195" cy="365125"/>
          </a:xfrm>
        </p:spPr>
        <p:txBody>
          <a:bodyPr/>
          <a:lstStyle>
            <a:lvl1pPr>
              <a:defRPr>
                <a:solidFill>
                  <a:schemeClr val="accent1">
                    <a:lumMod val="75000"/>
                    <a:lumOff val="25000"/>
                  </a:schemeClr>
                </a:solidFill>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29152687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705124"/>
            <a:ext cx="11029616" cy="1189554"/>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581192" y="2336003"/>
            <a:ext cx="11029616" cy="3522794"/>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05951" y="5956137"/>
            <a:ext cx="2844799" cy="365125"/>
          </a:xfrm>
          <a:prstGeom prst="rect">
            <a:avLst/>
          </a:prstGeom>
        </p:spPr>
        <p:txBody>
          <a:bodyPr vert="horz" lIns="91440" tIns="45720" rIns="91440" bIns="45720" rtlCol="0" anchor="ctr"/>
          <a:lstStyle>
            <a:lvl1pPr algn="r">
              <a:defRPr sz="900">
                <a:solidFill>
                  <a:schemeClr val="accent2"/>
                </a:solidFill>
              </a:defRPr>
            </a:lvl1pPr>
          </a:lstStyle>
          <a:p>
            <a:fld id="{B61BEF0D-F0BB-DE4B-95CE-6DB70DBA9567}" type="datetimeFigureOut">
              <a:rPr lang="en-US" smtClean="0"/>
              <a:pPr/>
              <a:t>8/23/2025</a:t>
            </a:fld>
            <a:endParaRPr lang="en-US" dirty="0"/>
          </a:p>
        </p:txBody>
      </p:sp>
      <p:sp>
        <p:nvSpPr>
          <p:cNvPr id="5" name="Footer Placeholder 4"/>
          <p:cNvSpPr>
            <a:spLocks noGrp="1"/>
          </p:cNvSpPr>
          <p:nvPr>
            <p:ph type="ftr" sz="quarter" idx="3"/>
          </p:nvPr>
        </p:nvSpPr>
        <p:spPr>
          <a:xfrm>
            <a:off x="581192" y="5951811"/>
            <a:ext cx="6917210" cy="365125"/>
          </a:xfrm>
          <a:prstGeom prst="rect">
            <a:avLst/>
          </a:prstGeom>
        </p:spPr>
        <p:txBody>
          <a:bodyPr vert="horz" lIns="91440" tIns="45720" rIns="91440" bIns="45720" rtlCol="0" anchor="ctr"/>
          <a:lstStyle>
            <a:lvl1pPr algn="l">
              <a:defRPr sz="900" cap="all">
                <a:solidFill>
                  <a:schemeClr val="accent2"/>
                </a:solidFill>
              </a:defRPr>
            </a:lvl1pPr>
          </a:lstStyle>
          <a:p>
            <a:endParaRPr lang="en-US" dirty="0"/>
          </a:p>
        </p:txBody>
      </p:sp>
      <p:sp>
        <p:nvSpPr>
          <p:cNvPr id="6" name="Slide Number Placeholder 5"/>
          <p:cNvSpPr>
            <a:spLocks noGrp="1"/>
          </p:cNvSpPr>
          <p:nvPr>
            <p:ph type="sldNum" sz="quarter" idx="4"/>
          </p:nvPr>
        </p:nvSpPr>
        <p:spPr>
          <a:xfrm>
            <a:off x="10558300" y="5956137"/>
            <a:ext cx="1052510" cy="365125"/>
          </a:xfrm>
          <a:prstGeom prst="rect">
            <a:avLst/>
          </a:prstGeom>
        </p:spPr>
        <p:txBody>
          <a:bodyPr vert="horz" lIns="91440" tIns="45720" rIns="91440" bIns="45720" rtlCol="0" anchor="ctr"/>
          <a:lstStyle>
            <a:lvl1pPr algn="r">
              <a:defRPr sz="900">
                <a:solidFill>
                  <a:schemeClr val="accent2"/>
                </a:solidFill>
              </a:defRPr>
            </a:lvl1pPr>
          </a:lstStyle>
          <a:p>
            <a:fld id="{D57F1E4F-1CFF-5643-939E-217C01CDF565}" type="slidenum">
              <a:rPr lang="en-US" smtClean="0"/>
              <a:pPr/>
              <a:t>‹#›</a:t>
            </a:fld>
            <a:endParaRPr lang="en-US" dirty="0"/>
          </a:p>
        </p:txBody>
      </p:sp>
      <p:sp>
        <p:nvSpPr>
          <p:cNvPr id="9" name="Rectangle 8"/>
          <p:cNvSpPr/>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sp>
    </p:spTree>
    <p:extLst>
      <p:ext uri="{BB962C8B-B14F-4D97-AF65-F5344CB8AC3E}">
        <p14:creationId xmlns:p14="http://schemas.microsoft.com/office/powerpoint/2010/main" val="82855549"/>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9.xml"/></Relationships>
</file>

<file path=ppt/slides/_rels/slide2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9.xml"/></Relationships>
</file>

<file path=ppt/slides/_rels/slide2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9.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8" Type="http://schemas.openxmlformats.org/officeDocument/2006/relationships/hyperlink" Target="https://www.tutorialspoint.com/python/python_statistics_module.htm" TargetMode="External"/><Relationship Id="rId3" Type="http://schemas.openxmlformats.org/officeDocument/2006/relationships/hyperlink" Target="https://www.tutorialspoint.com/python/python_string_methods.htm" TargetMode="External"/><Relationship Id="rId7" Type="http://schemas.openxmlformats.org/officeDocument/2006/relationships/hyperlink" Target="https://www.tutorialspoint.com/python/python_sqlite3_module.htm" TargetMode="External"/><Relationship Id="rId2" Type="http://schemas.openxmlformats.org/officeDocument/2006/relationships/hyperlink" Target="https://www.tutorialspoint.com/python/os_file_methods.htm" TargetMode="External"/><Relationship Id="rId1" Type="http://schemas.openxmlformats.org/officeDocument/2006/relationships/slideLayout" Target="../slideLayouts/slideLayout2.xml"/><Relationship Id="rId6" Type="http://schemas.openxmlformats.org/officeDocument/2006/relationships/hyperlink" Target="https://www.tutorialspoint.com/python/python_date_time.htm" TargetMode="External"/><Relationship Id="rId5" Type="http://schemas.openxmlformats.org/officeDocument/2006/relationships/hyperlink" Target="https://www.tutorialspoint.com/python/python_maths.htm" TargetMode="External"/><Relationship Id="rId4" Type="http://schemas.openxmlformats.org/officeDocument/2006/relationships/hyperlink" Target="https://www.tutorialspoint.com/python/python_re_module.htm" TargetMode="Externa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33.jpe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493D4EDA-58E0-40CC-B3CA-14CDEB349D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7" name="Picture 6" descr="Digital Connections">
            <a:extLst>
              <a:ext uri="{FF2B5EF4-FFF2-40B4-BE49-F238E27FC236}">
                <a16:creationId xmlns:a16="http://schemas.microsoft.com/office/drawing/2014/main" id="{3840F91C-EDD0-4D4E-A4AB-E6C77856C88C}"/>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l="13265" t="9091" r="3502" b="-1"/>
          <a:stretch/>
        </p:blipFill>
        <p:spPr>
          <a:xfrm>
            <a:off x="20" y="10"/>
            <a:ext cx="12191980" cy="6857990"/>
          </a:xfrm>
          <a:prstGeom prst="rect">
            <a:avLst/>
          </a:prstGeom>
        </p:spPr>
      </p:pic>
      <p:grpSp>
        <p:nvGrpSpPr>
          <p:cNvPr id="17" name="Group 16">
            <a:extLst>
              <a:ext uri="{FF2B5EF4-FFF2-40B4-BE49-F238E27FC236}">
                <a16:creationId xmlns:a16="http://schemas.microsoft.com/office/drawing/2014/main" id="{AA9EB0BC-A85E-4C26-B355-5DFCEF6CCB4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46534" y="453643"/>
            <a:ext cx="11298933" cy="98554"/>
            <a:chOff x="446534" y="453643"/>
            <a:chExt cx="11298933" cy="98554"/>
          </a:xfrm>
        </p:grpSpPr>
        <p:sp>
          <p:nvSpPr>
            <p:cNvPr id="18" name="Rectangle 17">
              <a:extLst>
                <a:ext uri="{FF2B5EF4-FFF2-40B4-BE49-F238E27FC236}">
                  <a16:creationId xmlns:a16="http://schemas.microsoft.com/office/drawing/2014/main" id="{3643E56B-BD42-413D-B17D-7958270F5DE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9" name="Rectangle 18">
              <a:extLst>
                <a:ext uri="{FF2B5EF4-FFF2-40B4-BE49-F238E27FC236}">
                  <a16:creationId xmlns:a16="http://schemas.microsoft.com/office/drawing/2014/main" id="{96C04F74-9467-4FA5-95DC-8D481A29740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0" name="Rectangle 19">
              <a:extLst>
                <a:ext uri="{FF2B5EF4-FFF2-40B4-BE49-F238E27FC236}">
                  <a16:creationId xmlns:a16="http://schemas.microsoft.com/office/drawing/2014/main" id="{D73DE1C3-5C37-42E9-A3F0-256F1938327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sp>
        <p:nvSpPr>
          <p:cNvPr id="22" name="Rectangle 21">
            <a:extLst>
              <a:ext uri="{FF2B5EF4-FFF2-40B4-BE49-F238E27FC236}">
                <a16:creationId xmlns:a16="http://schemas.microsoft.com/office/drawing/2014/main" id="{4A2E7EC3-E07C-46CE-9B25-41865A50681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8732" y="4428067"/>
            <a:ext cx="11260667" cy="1962497"/>
          </a:xfrm>
          <a:prstGeom prst="rect">
            <a:avLst/>
          </a:prstGeom>
          <a:solidFill>
            <a:schemeClr val="accent1">
              <a:alpha val="97000"/>
            </a:schemeClr>
          </a:solidFill>
          <a:ln w="6350" cmpd="sng">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1">
            <a:extLst>
              <a:ext uri="{FF2B5EF4-FFF2-40B4-BE49-F238E27FC236}">
                <a16:creationId xmlns:a16="http://schemas.microsoft.com/office/drawing/2014/main" id="{C02C5318-1A1E-49D0-B2E2-A4B0FA9E8A40}"/>
              </a:ext>
            </a:extLst>
          </p:cNvPr>
          <p:cNvSpPr>
            <a:spLocks noGrp="1"/>
          </p:cNvSpPr>
          <p:nvPr>
            <p:ph type="ctrTitle"/>
          </p:nvPr>
        </p:nvSpPr>
        <p:spPr>
          <a:xfrm>
            <a:off x="581191" y="3429000"/>
            <a:ext cx="10993549" cy="2038244"/>
          </a:xfrm>
        </p:spPr>
        <p:txBody>
          <a:bodyPr>
            <a:noAutofit/>
          </a:bodyPr>
          <a:lstStyle/>
          <a:p>
            <a:pPr algn="ctr"/>
            <a:r>
              <a:rPr lang="en-US" sz="6000" dirty="0">
                <a:solidFill>
                  <a:schemeClr val="bg1"/>
                </a:solidFill>
                <a:highlight>
                  <a:srgbClr val="000080"/>
                </a:highlight>
              </a:rPr>
              <a:t>Iterators and Generators in python</a:t>
            </a:r>
          </a:p>
        </p:txBody>
      </p:sp>
      <p:sp>
        <p:nvSpPr>
          <p:cNvPr id="3" name="Subtitle 2">
            <a:extLst>
              <a:ext uri="{FF2B5EF4-FFF2-40B4-BE49-F238E27FC236}">
                <a16:creationId xmlns:a16="http://schemas.microsoft.com/office/drawing/2014/main" id="{48B6CF59-4E5B-494D-A2F7-97ADD01E6497}"/>
              </a:ext>
            </a:extLst>
          </p:cNvPr>
          <p:cNvSpPr>
            <a:spLocks noGrp="1"/>
          </p:cNvSpPr>
          <p:nvPr>
            <p:ph type="subTitle" idx="1"/>
          </p:nvPr>
        </p:nvSpPr>
        <p:spPr>
          <a:xfrm>
            <a:off x="581194" y="5467246"/>
            <a:ext cx="10993546" cy="484822"/>
          </a:xfrm>
        </p:spPr>
        <p:txBody>
          <a:bodyPr>
            <a:normAutofit/>
          </a:bodyPr>
          <a:lstStyle/>
          <a:p>
            <a:pPr algn="ctr"/>
            <a:r>
              <a:rPr lang="en-US" dirty="0">
                <a:solidFill>
                  <a:srgbClr val="7CEBFF"/>
                </a:solidFill>
              </a:rPr>
              <a:t>Dr. Rakhee chhibber</a:t>
            </a:r>
          </a:p>
        </p:txBody>
      </p:sp>
    </p:spTree>
    <p:extLst>
      <p:ext uri="{BB962C8B-B14F-4D97-AF65-F5344CB8AC3E}">
        <p14:creationId xmlns:p14="http://schemas.microsoft.com/office/powerpoint/2010/main" val="148770071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E03108-AD1C-1F41-82F3-969FECAA711D}"/>
              </a:ext>
            </a:extLst>
          </p:cNvPr>
          <p:cNvSpPr>
            <a:spLocks noGrp="1"/>
          </p:cNvSpPr>
          <p:nvPr>
            <p:ph type="title"/>
          </p:nvPr>
        </p:nvSpPr>
        <p:spPr/>
        <p:txBody>
          <a:bodyPr/>
          <a:lstStyle/>
          <a:p>
            <a:r>
              <a:rPr lang="en-US" dirty="0"/>
              <a:t>iterators</a:t>
            </a:r>
          </a:p>
        </p:txBody>
      </p:sp>
      <p:sp>
        <p:nvSpPr>
          <p:cNvPr id="3" name="Content Placeholder 2">
            <a:extLst>
              <a:ext uri="{FF2B5EF4-FFF2-40B4-BE49-F238E27FC236}">
                <a16:creationId xmlns:a16="http://schemas.microsoft.com/office/drawing/2014/main" id="{68BA158B-35F7-BC3C-C971-0F0A3256605F}"/>
              </a:ext>
            </a:extLst>
          </p:cNvPr>
          <p:cNvSpPr>
            <a:spLocks noGrp="1"/>
          </p:cNvSpPr>
          <p:nvPr>
            <p:ph idx="1"/>
          </p:nvPr>
        </p:nvSpPr>
        <p:spPr>
          <a:xfrm>
            <a:off x="445770" y="1874520"/>
            <a:ext cx="11327130" cy="4766310"/>
          </a:xfrm>
        </p:spPr>
        <p:txBody>
          <a:bodyPr>
            <a:normAutofit lnSpcReduction="10000"/>
          </a:bodyPr>
          <a:lstStyle/>
          <a:p>
            <a:pPr marL="0" indent="0" algn="just" fontAlgn="base">
              <a:buNone/>
            </a:pPr>
            <a:r>
              <a:rPr lang="en-US" sz="2000" dirty="0">
                <a:solidFill>
                  <a:srgbClr val="2A2A2A"/>
                </a:solidFill>
                <a:latin typeface="Roboto Mono" panose="00000009000000000000" pitchFamily="49" charset="0"/>
              </a:rPr>
              <a:t>Iterators are something that help to loop over different objects in Python. Iterator goes over all the values in the list. Iterators apply the iterator protocol that contains basically two methods:</a:t>
            </a:r>
          </a:p>
          <a:p>
            <a:pPr lvl="1" fontAlgn="base"/>
            <a:r>
              <a:rPr lang="en-US" sz="2400" b="1" dirty="0"/>
              <a:t>_iter_()</a:t>
            </a:r>
            <a:endParaRPr lang="en-US" sz="2400" dirty="0"/>
          </a:p>
          <a:p>
            <a:pPr lvl="1" fontAlgn="base"/>
            <a:r>
              <a:rPr lang="en-US" sz="2400" b="1" dirty="0"/>
              <a:t>_next_()</a:t>
            </a:r>
            <a:endParaRPr lang="en-US" sz="2400" dirty="0"/>
          </a:p>
          <a:p>
            <a:pPr marL="0" indent="0">
              <a:buNone/>
            </a:pPr>
            <a:r>
              <a:rPr lang="en-US" altLang="en-US" sz="2000" dirty="0">
                <a:solidFill>
                  <a:srgbClr val="2A2A2A"/>
                </a:solidFill>
                <a:latin typeface="Roboto" panose="02000000000000000000" pitchFamily="2" charset="0"/>
              </a:rPr>
              <a:t>Examples of </a:t>
            </a:r>
            <a:r>
              <a:rPr lang="en-US" altLang="en-US" sz="2000" dirty="0" err="1">
                <a:solidFill>
                  <a:srgbClr val="2A2A2A"/>
                </a:solidFill>
                <a:latin typeface="Roboto" panose="02000000000000000000" pitchFamily="2" charset="0"/>
              </a:rPr>
              <a:t>iterables</a:t>
            </a:r>
            <a:r>
              <a:rPr lang="en-US" altLang="en-US" sz="2000" dirty="0">
                <a:solidFill>
                  <a:srgbClr val="2A2A2A"/>
                </a:solidFill>
                <a:latin typeface="Roboto" panose="02000000000000000000" pitchFamily="2" charset="0"/>
              </a:rPr>
              <a:t> are tuples, dictionaries, lists, strings, etc. These </a:t>
            </a:r>
            <a:r>
              <a:rPr lang="en-US" altLang="en-US" sz="2000" dirty="0" err="1">
                <a:solidFill>
                  <a:srgbClr val="2A2A2A"/>
                </a:solidFill>
                <a:latin typeface="Roboto" panose="02000000000000000000" pitchFamily="2" charset="0"/>
              </a:rPr>
              <a:t>iterables</a:t>
            </a:r>
            <a:r>
              <a:rPr lang="en-US" altLang="en-US" sz="2000" dirty="0">
                <a:solidFill>
                  <a:srgbClr val="2A2A2A"/>
                </a:solidFill>
                <a:latin typeface="Roboto" panose="02000000000000000000" pitchFamily="2" charset="0"/>
              </a:rPr>
              <a:t> use </a:t>
            </a:r>
            <a:r>
              <a:rPr lang="en-US" altLang="en-US" sz="2000" b="1" dirty="0">
                <a:solidFill>
                  <a:srgbClr val="990000"/>
                </a:solidFill>
                <a:latin typeface="inherit"/>
              </a:rPr>
              <a:t>iter</a:t>
            </a:r>
            <a:r>
              <a:rPr lang="en-US" altLang="en-US" sz="2000" dirty="0">
                <a:solidFill>
                  <a:srgbClr val="2A2A2A"/>
                </a:solidFill>
                <a:latin typeface="Roboto Mono" panose="00000009000000000000" pitchFamily="49" charset="0"/>
              </a:rPr>
              <a:t>()</a:t>
            </a:r>
            <a:r>
              <a:rPr lang="en-US" altLang="en-US" sz="2000" dirty="0">
                <a:solidFill>
                  <a:srgbClr val="2A2A2A"/>
                </a:solidFill>
                <a:latin typeface="Roboto" panose="02000000000000000000" pitchFamily="2" charset="0"/>
              </a:rPr>
              <a:t> method to fetch the iterator.</a:t>
            </a:r>
            <a:r>
              <a:rPr lang="en-US" altLang="en-US" sz="2000" dirty="0">
                <a:solidFill>
                  <a:schemeClr val="tx1"/>
                </a:solidFill>
              </a:rPr>
              <a:t> </a:t>
            </a:r>
          </a:p>
          <a:p>
            <a:pPr marL="0" indent="0">
              <a:buNone/>
            </a:pPr>
            <a:r>
              <a:rPr lang="en-US" altLang="en-US" sz="2000" dirty="0" err="1">
                <a:solidFill>
                  <a:srgbClr val="2A2A2A"/>
                </a:solidFill>
                <a:latin typeface="Roboto Mono" panose="00000009000000000000" pitchFamily="49" charset="0"/>
              </a:rPr>
              <a:t>atuple</a:t>
            </a:r>
            <a:r>
              <a:rPr lang="en-US" altLang="en-US" sz="2000" dirty="0">
                <a:solidFill>
                  <a:srgbClr val="2A2A2A"/>
                </a:solidFill>
                <a:latin typeface="Roboto Mono" panose="00000009000000000000" pitchFamily="49" charset="0"/>
              </a:rPr>
              <a:t> = (</a:t>
            </a:r>
            <a:r>
              <a:rPr lang="en-US" altLang="en-US" sz="2000" dirty="0">
                <a:solidFill>
                  <a:srgbClr val="A31515"/>
                </a:solidFill>
                <a:latin typeface="Roboto Mono" panose="00000009000000000000" pitchFamily="49" charset="0"/>
              </a:rPr>
              <a:t>'avocado'</a:t>
            </a:r>
            <a:r>
              <a:rPr lang="en-US" altLang="en-US" sz="2000" dirty="0">
                <a:solidFill>
                  <a:srgbClr val="2A2A2A"/>
                </a:solidFill>
                <a:latin typeface="Roboto Mono" panose="00000009000000000000" pitchFamily="49" charset="0"/>
              </a:rPr>
              <a:t>, </a:t>
            </a:r>
            <a:r>
              <a:rPr lang="en-US" altLang="en-US" sz="2000" dirty="0">
                <a:solidFill>
                  <a:srgbClr val="A31515"/>
                </a:solidFill>
                <a:latin typeface="Roboto Mono" panose="00000009000000000000" pitchFamily="49" charset="0"/>
              </a:rPr>
              <a:t>'beetroot'</a:t>
            </a:r>
            <a:r>
              <a:rPr lang="en-US" altLang="en-US" sz="2000" dirty="0">
                <a:solidFill>
                  <a:srgbClr val="2A2A2A"/>
                </a:solidFill>
                <a:latin typeface="Roboto Mono" panose="00000009000000000000" pitchFamily="49" charset="0"/>
              </a:rPr>
              <a:t>, </a:t>
            </a:r>
            <a:r>
              <a:rPr lang="en-US" altLang="en-US" sz="2000" dirty="0">
                <a:solidFill>
                  <a:srgbClr val="A31515"/>
                </a:solidFill>
                <a:latin typeface="Roboto Mono" panose="00000009000000000000" pitchFamily="49" charset="0"/>
              </a:rPr>
              <a:t>'berries’</a:t>
            </a:r>
            <a:r>
              <a:rPr lang="en-US" altLang="en-US" sz="2000" dirty="0">
                <a:solidFill>
                  <a:srgbClr val="2A2A2A"/>
                </a:solidFill>
                <a:latin typeface="Roboto Mono" panose="00000009000000000000" pitchFamily="49" charset="0"/>
              </a:rPr>
              <a:t>) </a:t>
            </a:r>
          </a:p>
          <a:p>
            <a:pPr marL="0" indent="0">
              <a:buNone/>
            </a:pPr>
            <a:r>
              <a:rPr lang="en-US" altLang="en-US" sz="2000" dirty="0" err="1">
                <a:solidFill>
                  <a:srgbClr val="2A2A2A"/>
                </a:solidFill>
                <a:latin typeface="Roboto Mono" panose="00000009000000000000" pitchFamily="49" charset="0"/>
              </a:rPr>
              <a:t>myiter</a:t>
            </a:r>
            <a:r>
              <a:rPr lang="en-US" altLang="en-US" sz="2000" dirty="0">
                <a:solidFill>
                  <a:srgbClr val="2A2A2A"/>
                </a:solidFill>
                <a:latin typeface="Roboto Mono" panose="00000009000000000000" pitchFamily="49" charset="0"/>
              </a:rPr>
              <a:t> = iter(</a:t>
            </a:r>
            <a:r>
              <a:rPr lang="en-US" altLang="en-US" sz="2000" dirty="0" err="1">
                <a:solidFill>
                  <a:srgbClr val="2A2A2A"/>
                </a:solidFill>
                <a:latin typeface="Roboto Mono" panose="00000009000000000000" pitchFamily="49" charset="0"/>
              </a:rPr>
              <a:t>atuple</a:t>
            </a:r>
            <a:r>
              <a:rPr lang="en-US" altLang="en-US" sz="2000" dirty="0">
                <a:solidFill>
                  <a:srgbClr val="2A2A2A"/>
                </a:solidFill>
                <a:latin typeface="Roboto Mono" panose="00000009000000000000" pitchFamily="49" charset="0"/>
              </a:rPr>
              <a:t>) </a:t>
            </a:r>
          </a:p>
          <a:p>
            <a:pPr marL="0" indent="0">
              <a:buNone/>
            </a:pPr>
            <a:r>
              <a:rPr lang="en-US" altLang="en-US" sz="2000" dirty="0">
                <a:solidFill>
                  <a:srgbClr val="2A2A2A"/>
                </a:solidFill>
                <a:latin typeface="Roboto Mono" panose="00000009000000000000" pitchFamily="49" charset="0"/>
              </a:rPr>
              <a:t>print(next(</a:t>
            </a:r>
            <a:r>
              <a:rPr lang="en-US" altLang="en-US" sz="2000" dirty="0" err="1">
                <a:solidFill>
                  <a:srgbClr val="2A2A2A"/>
                </a:solidFill>
                <a:latin typeface="Roboto Mono" panose="00000009000000000000" pitchFamily="49" charset="0"/>
              </a:rPr>
              <a:t>myiter</a:t>
            </a:r>
            <a:r>
              <a:rPr lang="en-US" altLang="en-US" sz="2000" dirty="0">
                <a:solidFill>
                  <a:srgbClr val="2A2A2A"/>
                </a:solidFill>
                <a:latin typeface="Roboto Mono" panose="00000009000000000000" pitchFamily="49" charset="0"/>
              </a:rPr>
              <a:t>)) </a:t>
            </a:r>
          </a:p>
          <a:p>
            <a:pPr marL="0" indent="0">
              <a:buNone/>
            </a:pPr>
            <a:r>
              <a:rPr lang="en-US" altLang="en-US" sz="2000" dirty="0">
                <a:solidFill>
                  <a:srgbClr val="2A2A2A"/>
                </a:solidFill>
                <a:latin typeface="Roboto Mono" panose="00000009000000000000" pitchFamily="49" charset="0"/>
              </a:rPr>
              <a:t>print(next(</a:t>
            </a:r>
            <a:r>
              <a:rPr lang="en-US" altLang="en-US" sz="2000" dirty="0" err="1">
                <a:solidFill>
                  <a:srgbClr val="2A2A2A"/>
                </a:solidFill>
                <a:latin typeface="Roboto Mono" panose="00000009000000000000" pitchFamily="49" charset="0"/>
              </a:rPr>
              <a:t>myiter</a:t>
            </a:r>
            <a:r>
              <a:rPr lang="en-US" altLang="en-US" sz="2000" dirty="0">
                <a:solidFill>
                  <a:srgbClr val="2A2A2A"/>
                </a:solidFill>
                <a:latin typeface="Roboto Mono" panose="00000009000000000000" pitchFamily="49" charset="0"/>
              </a:rPr>
              <a:t>)) </a:t>
            </a:r>
          </a:p>
          <a:p>
            <a:pPr marL="0" indent="0">
              <a:buNone/>
            </a:pPr>
            <a:r>
              <a:rPr lang="en-US" altLang="en-US" sz="2000" dirty="0">
                <a:solidFill>
                  <a:srgbClr val="2A2A2A"/>
                </a:solidFill>
                <a:latin typeface="Roboto Mono" panose="00000009000000000000" pitchFamily="49" charset="0"/>
              </a:rPr>
              <a:t>print(next(</a:t>
            </a:r>
            <a:r>
              <a:rPr lang="en-US" altLang="en-US" sz="2000" dirty="0" err="1">
                <a:solidFill>
                  <a:srgbClr val="2A2A2A"/>
                </a:solidFill>
                <a:latin typeface="Roboto Mono" panose="00000009000000000000" pitchFamily="49" charset="0"/>
              </a:rPr>
              <a:t>myiter</a:t>
            </a:r>
            <a:r>
              <a:rPr lang="en-US" altLang="en-US" sz="2000" dirty="0">
                <a:solidFill>
                  <a:srgbClr val="2A2A2A"/>
                </a:solidFill>
                <a:latin typeface="Roboto Mono" panose="00000009000000000000" pitchFamily="49" charset="0"/>
              </a:rPr>
              <a:t>))</a:t>
            </a:r>
            <a:r>
              <a:rPr lang="en-US" altLang="en-US" sz="2000" dirty="0">
                <a:solidFill>
                  <a:schemeClr val="tx1"/>
                </a:solidFill>
              </a:rPr>
              <a:t> </a:t>
            </a:r>
            <a:endParaRPr lang="en-US" sz="2000" dirty="0"/>
          </a:p>
        </p:txBody>
      </p:sp>
      <p:sp>
        <p:nvSpPr>
          <p:cNvPr id="4" name="Rectangle 1">
            <a:extLst>
              <a:ext uri="{FF2B5EF4-FFF2-40B4-BE49-F238E27FC236}">
                <a16:creationId xmlns:a16="http://schemas.microsoft.com/office/drawing/2014/main" id="{4B3F1346-665F-7595-2C71-C17B96C5579C}"/>
              </a:ext>
            </a:extLst>
          </p:cNvPr>
          <p:cNvSpPr>
            <a:spLocks noChangeArrowheads="1"/>
          </p:cNvSpPr>
          <p:nvPr/>
        </p:nvSpPr>
        <p:spPr bwMode="auto">
          <a:xfrm>
            <a:off x="0" y="-138499"/>
            <a:ext cx="65" cy="276999"/>
          </a:xfrm>
          <a:prstGeom prst="rect">
            <a:avLst/>
          </a:prstGeom>
          <a:solidFill>
            <a:srgbClr val="FAFAFB"/>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5" name="Rectangle 2">
            <a:extLst>
              <a:ext uri="{FF2B5EF4-FFF2-40B4-BE49-F238E27FC236}">
                <a16:creationId xmlns:a16="http://schemas.microsoft.com/office/drawing/2014/main" id="{AD17BB07-71E2-139D-A0C0-E251BED4E11E}"/>
              </a:ext>
            </a:extLst>
          </p:cNvPr>
          <p:cNvSpPr>
            <a:spLocks noChangeArrowheads="1"/>
          </p:cNvSpPr>
          <p:nvPr/>
        </p:nvSpPr>
        <p:spPr bwMode="auto">
          <a:xfrm>
            <a:off x="0" y="90100"/>
            <a:ext cx="65" cy="27699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82932694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2A33E0-2090-3DB1-85ED-4FB42F40C863}"/>
              </a:ext>
            </a:extLst>
          </p:cNvPr>
          <p:cNvSpPr>
            <a:spLocks noGrp="1"/>
          </p:cNvSpPr>
          <p:nvPr>
            <p:ph type="title"/>
          </p:nvPr>
        </p:nvSpPr>
        <p:spPr/>
        <p:txBody>
          <a:bodyPr/>
          <a:lstStyle/>
          <a:p>
            <a:r>
              <a:rPr lang="en-US" dirty="0"/>
              <a:t>Strings as </a:t>
            </a:r>
            <a:r>
              <a:rPr lang="en-US" dirty="0" err="1"/>
              <a:t>iterable</a:t>
            </a:r>
            <a:r>
              <a:rPr lang="en-US" dirty="0"/>
              <a:t> objects</a:t>
            </a:r>
          </a:p>
        </p:txBody>
      </p:sp>
      <p:sp>
        <p:nvSpPr>
          <p:cNvPr id="3" name="Content Placeholder 2">
            <a:extLst>
              <a:ext uri="{FF2B5EF4-FFF2-40B4-BE49-F238E27FC236}">
                <a16:creationId xmlns:a16="http://schemas.microsoft.com/office/drawing/2014/main" id="{B044BCFA-DCB2-9F48-ABB9-8BFE9545612D}"/>
              </a:ext>
            </a:extLst>
          </p:cNvPr>
          <p:cNvSpPr>
            <a:spLocks noGrp="1"/>
          </p:cNvSpPr>
          <p:nvPr>
            <p:ph idx="1"/>
          </p:nvPr>
        </p:nvSpPr>
        <p:spPr>
          <a:xfrm>
            <a:off x="581192" y="1908810"/>
            <a:ext cx="11029615" cy="4663440"/>
          </a:xfrm>
        </p:spPr>
        <p:txBody>
          <a:bodyPr>
            <a:normAutofit/>
          </a:bodyPr>
          <a:lstStyle/>
          <a:p>
            <a:r>
              <a:rPr lang="en-US" sz="2800" dirty="0"/>
              <a:t>Strings are also considered </a:t>
            </a:r>
            <a:r>
              <a:rPr lang="en-US" sz="2800" dirty="0" err="1"/>
              <a:t>iterable</a:t>
            </a:r>
            <a:r>
              <a:rPr lang="en-US" sz="2800" dirty="0"/>
              <a:t> objects from which you can fetch an iterator.</a:t>
            </a:r>
          </a:p>
          <a:p>
            <a:endParaRPr lang="en-US" sz="2800" dirty="0"/>
          </a:p>
          <a:p>
            <a:pPr marL="0" indent="0">
              <a:buNone/>
            </a:pPr>
            <a:r>
              <a:rPr lang="en-US" altLang="en-US" sz="2800" dirty="0" err="1">
                <a:solidFill>
                  <a:srgbClr val="2A2A2A"/>
                </a:solidFill>
                <a:latin typeface="Roboto Mono" panose="00000009000000000000" pitchFamily="49" charset="0"/>
              </a:rPr>
              <a:t>astr</a:t>
            </a:r>
            <a:r>
              <a:rPr lang="en-US" altLang="en-US" sz="2800" dirty="0">
                <a:solidFill>
                  <a:srgbClr val="2A2A2A"/>
                </a:solidFill>
                <a:latin typeface="Roboto Mono" panose="00000009000000000000" pitchFamily="49" charset="0"/>
              </a:rPr>
              <a:t> = </a:t>
            </a:r>
            <a:r>
              <a:rPr lang="en-US" altLang="en-US" sz="2800" dirty="0">
                <a:solidFill>
                  <a:srgbClr val="A31515"/>
                </a:solidFill>
                <a:latin typeface="Roboto Mono" panose="00000009000000000000" pitchFamily="49" charset="0"/>
              </a:rPr>
              <a:t>"beetroot"</a:t>
            </a:r>
            <a:r>
              <a:rPr lang="en-US" altLang="en-US" sz="2800" dirty="0">
                <a:solidFill>
                  <a:srgbClr val="2A2A2A"/>
                </a:solidFill>
                <a:latin typeface="Roboto Mono" panose="00000009000000000000" pitchFamily="49" charset="0"/>
              </a:rPr>
              <a:t> </a:t>
            </a:r>
          </a:p>
          <a:p>
            <a:pPr marL="0" indent="0">
              <a:buNone/>
            </a:pPr>
            <a:r>
              <a:rPr lang="en-US" altLang="en-US" sz="2800" dirty="0" err="1">
                <a:solidFill>
                  <a:srgbClr val="2A2A2A"/>
                </a:solidFill>
                <a:latin typeface="Roboto Mono" panose="00000009000000000000" pitchFamily="49" charset="0"/>
              </a:rPr>
              <a:t>theiter</a:t>
            </a:r>
            <a:r>
              <a:rPr lang="en-US" altLang="en-US" sz="2800" dirty="0">
                <a:solidFill>
                  <a:srgbClr val="2A2A2A"/>
                </a:solidFill>
                <a:latin typeface="Roboto Mono" panose="00000009000000000000" pitchFamily="49" charset="0"/>
              </a:rPr>
              <a:t> = iter(</a:t>
            </a:r>
            <a:r>
              <a:rPr lang="en-US" altLang="en-US" sz="2800" dirty="0" err="1">
                <a:solidFill>
                  <a:srgbClr val="2A2A2A"/>
                </a:solidFill>
                <a:latin typeface="Roboto Mono" panose="00000009000000000000" pitchFamily="49" charset="0"/>
              </a:rPr>
              <a:t>astr</a:t>
            </a:r>
            <a:r>
              <a:rPr lang="en-US" altLang="en-US" sz="2800" dirty="0">
                <a:solidFill>
                  <a:srgbClr val="2A2A2A"/>
                </a:solidFill>
                <a:latin typeface="Roboto Mono" panose="00000009000000000000" pitchFamily="49" charset="0"/>
              </a:rPr>
              <a:t>) </a:t>
            </a:r>
          </a:p>
          <a:p>
            <a:pPr marL="0" indent="0">
              <a:buNone/>
            </a:pPr>
            <a:r>
              <a:rPr lang="en-US" altLang="en-US" sz="2800" dirty="0">
                <a:solidFill>
                  <a:srgbClr val="2A2A2A"/>
                </a:solidFill>
                <a:latin typeface="Roboto Mono" panose="00000009000000000000" pitchFamily="49" charset="0"/>
              </a:rPr>
              <a:t>print(next(</a:t>
            </a:r>
            <a:r>
              <a:rPr lang="en-US" altLang="en-US" sz="2800" dirty="0" err="1">
                <a:solidFill>
                  <a:srgbClr val="2A2A2A"/>
                </a:solidFill>
                <a:latin typeface="Roboto Mono" panose="00000009000000000000" pitchFamily="49" charset="0"/>
              </a:rPr>
              <a:t>theiter</a:t>
            </a:r>
            <a:r>
              <a:rPr lang="en-US" altLang="en-US" sz="2800" dirty="0">
                <a:solidFill>
                  <a:srgbClr val="2A2A2A"/>
                </a:solidFill>
                <a:latin typeface="Roboto Mono" panose="00000009000000000000" pitchFamily="49" charset="0"/>
              </a:rPr>
              <a:t>)) </a:t>
            </a:r>
          </a:p>
          <a:p>
            <a:pPr marL="0" indent="0">
              <a:buNone/>
            </a:pPr>
            <a:r>
              <a:rPr lang="en-US" altLang="en-US" sz="2800" dirty="0">
                <a:solidFill>
                  <a:srgbClr val="2A2A2A"/>
                </a:solidFill>
                <a:latin typeface="Roboto Mono" panose="00000009000000000000" pitchFamily="49" charset="0"/>
              </a:rPr>
              <a:t>print(next(</a:t>
            </a:r>
            <a:r>
              <a:rPr lang="en-US" altLang="en-US" sz="2800" dirty="0" err="1">
                <a:solidFill>
                  <a:srgbClr val="2A2A2A"/>
                </a:solidFill>
                <a:latin typeface="Roboto Mono" panose="00000009000000000000" pitchFamily="49" charset="0"/>
              </a:rPr>
              <a:t>theiter</a:t>
            </a:r>
            <a:r>
              <a:rPr lang="en-US" altLang="en-US" sz="2800" dirty="0">
                <a:solidFill>
                  <a:srgbClr val="2A2A2A"/>
                </a:solidFill>
                <a:latin typeface="Roboto Mono" panose="00000009000000000000" pitchFamily="49" charset="0"/>
              </a:rPr>
              <a:t>)) </a:t>
            </a:r>
          </a:p>
          <a:p>
            <a:pPr marL="0" indent="0">
              <a:buNone/>
            </a:pPr>
            <a:r>
              <a:rPr lang="en-US" altLang="en-US" sz="2800" dirty="0">
                <a:solidFill>
                  <a:srgbClr val="2A2A2A"/>
                </a:solidFill>
                <a:latin typeface="Roboto Mono" panose="00000009000000000000" pitchFamily="49" charset="0"/>
              </a:rPr>
              <a:t>print(next(</a:t>
            </a:r>
            <a:r>
              <a:rPr lang="en-US" altLang="en-US" sz="2800" dirty="0" err="1">
                <a:solidFill>
                  <a:srgbClr val="2A2A2A"/>
                </a:solidFill>
                <a:latin typeface="Roboto Mono" panose="00000009000000000000" pitchFamily="49" charset="0"/>
              </a:rPr>
              <a:t>theiter</a:t>
            </a:r>
            <a:r>
              <a:rPr lang="en-US" altLang="en-US" sz="2800" dirty="0">
                <a:solidFill>
                  <a:srgbClr val="2A2A2A"/>
                </a:solidFill>
                <a:latin typeface="Roboto Mono" panose="00000009000000000000" pitchFamily="49" charset="0"/>
              </a:rPr>
              <a:t>))</a:t>
            </a:r>
            <a:r>
              <a:rPr lang="en-US" altLang="en-US" sz="2800" dirty="0">
                <a:solidFill>
                  <a:schemeClr val="tx1"/>
                </a:solidFill>
              </a:rPr>
              <a:t> </a:t>
            </a:r>
            <a:endParaRPr lang="en-US" altLang="en-US" sz="2800" dirty="0">
              <a:solidFill>
                <a:schemeClr val="tx1"/>
              </a:solidFill>
              <a:latin typeface="Arial" panose="020B0604020202020204" pitchFamily="34" charset="0"/>
            </a:endParaRPr>
          </a:p>
          <a:p>
            <a:endParaRPr lang="en-US" dirty="0"/>
          </a:p>
        </p:txBody>
      </p:sp>
      <p:sp>
        <p:nvSpPr>
          <p:cNvPr id="4" name="Rectangle 1">
            <a:extLst>
              <a:ext uri="{FF2B5EF4-FFF2-40B4-BE49-F238E27FC236}">
                <a16:creationId xmlns:a16="http://schemas.microsoft.com/office/drawing/2014/main" id="{08A2870B-0A1A-323E-B26B-8B1F8F9ED63E}"/>
              </a:ext>
            </a:extLst>
          </p:cNvPr>
          <p:cNvSpPr>
            <a:spLocks noChangeArrowheads="1"/>
          </p:cNvSpPr>
          <p:nvPr/>
        </p:nvSpPr>
        <p:spPr bwMode="auto">
          <a:xfrm>
            <a:off x="0" y="90100"/>
            <a:ext cx="65" cy="27699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6" name="Picture 5">
            <a:extLst>
              <a:ext uri="{FF2B5EF4-FFF2-40B4-BE49-F238E27FC236}">
                <a16:creationId xmlns:a16="http://schemas.microsoft.com/office/drawing/2014/main" id="{F4E09C46-FE2D-EEEA-BE05-F2CD3342E1AE}"/>
              </a:ext>
            </a:extLst>
          </p:cNvPr>
          <p:cNvPicPr>
            <a:picLocks noChangeAspect="1"/>
          </p:cNvPicPr>
          <p:nvPr/>
        </p:nvPicPr>
        <p:blipFill>
          <a:blip r:embed="rId2"/>
          <a:stretch>
            <a:fillRect/>
          </a:stretch>
        </p:blipFill>
        <p:spPr>
          <a:xfrm>
            <a:off x="8130522" y="2728568"/>
            <a:ext cx="2430798" cy="3668705"/>
          </a:xfrm>
          <a:prstGeom prst="rect">
            <a:avLst/>
          </a:prstGeom>
        </p:spPr>
      </p:pic>
    </p:spTree>
    <p:extLst>
      <p:ext uri="{BB962C8B-B14F-4D97-AF65-F5344CB8AC3E}">
        <p14:creationId xmlns:p14="http://schemas.microsoft.com/office/powerpoint/2010/main" val="86732703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93F1B0-20D3-1E15-5CB1-6CD15685D2CF}"/>
              </a:ext>
            </a:extLst>
          </p:cNvPr>
          <p:cNvSpPr>
            <a:spLocks noGrp="1"/>
          </p:cNvSpPr>
          <p:nvPr>
            <p:ph type="title"/>
          </p:nvPr>
        </p:nvSpPr>
        <p:spPr/>
        <p:txBody>
          <a:bodyPr/>
          <a:lstStyle/>
          <a:p>
            <a:r>
              <a:rPr lang="en-US" dirty="0"/>
              <a:t>Loops  as - an iterator</a:t>
            </a:r>
          </a:p>
        </p:txBody>
      </p:sp>
      <p:sp>
        <p:nvSpPr>
          <p:cNvPr id="3" name="Content Placeholder 2">
            <a:extLst>
              <a:ext uri="{FF2B5EF4-FFF2-40B4-BE49-F238E27FC236}">
                <a16:creationId xmlns:a16="http://schemas.microsoft.com/office/drawing/2014/main" id="{8CF545E6-5DE9-6EC4-51BF-BF88055F63BE}"/>
              </a:ext>
            </a:extLst>
          </p:cNvPr>
          <p:cNvSpPr>
            <a:spLocks noGrp="1"/>
          </p:cNvSpPr>
          <p:nvPr>
            <p:ph idx="1"/>
          </p:nvPr>
        </p:nvSpPr>
        <p:spPr>
          <a:xfrm>
            <a:off x="581193" y="2146207"/>
            <a:ext cx="11029615" cy="1065392"/>
          </a:xfrm>
        </p:spPr>
        <p:txBody>
          <a:bodyPr>
            <a:normAutofit/>
          </a:bodyPr>
          <a:lstStyle/>
          <a:p>
            <a:pPr marL="0" indent="0">
              <a:buNone/>
            </a:pPr>
            <a:r>
              <a:rPr lang="en-US" sz="2800" dirty="0"/>
              <a:t>For loop can also be used to fetch through an </a:t>
            </a:r>
            <a:r>
              <a:rPr lang="en-US" sz="2800" dirty="0" err="1"/>
              <a:t>iterable</a:t>
            </a:r>
            <a:r>
              <a:rPr lang="en-US" sz="2800" dirty="0"/>
              <a:t> object.</a:t>
            </a:r>
          </a:p>
          <a:p>
            <a:pPr marL="0" indent="0">
              <a:buNone/>
            </a:pPr>
            <a:endParaRPr lang="en-US" sz="2800" dirty="0"/>
          </a:p>
        </p:txBody>
      </p:sp>
      <p:pic>
        <p:nvPicPr>
          <p:cNvPr id="5" name="Picture 4">
            <a:extLst>
              <a:ext uri="{FF2B5EF4-FFF2-40B4-BE49-F238E27FC236}">
                <a16:creationId xmlns:a16="http://schemas.microsoft.com/office/drawing/2014/main" id="{744FFAAB-3FE1-5356-ACBA-EA39ADE8B297}"/>
              </a:ext>
            </a:extLst>
          </p:cNvPr>
          <p:cNvPicPr>
            <a:picLocks noChangeAspect="1"/>
          </p:cNvPicPr>
          <p:nvPr/>
        </p:nvPicPr>
        <p:blipFill>
          <a:blip r:embed="rId2"/>
          <a:stretch>
            <a:fillRect/>
          </a:stretch>
        </p:blipFill>
        <p:spPr>
          <a:xfrm>
            <a:off x="786932" y="3035360"/>
            <a:ext cx="6335009" cy="1305107"/>
          </a:xfrm>
          <a:prstGeom prst="rect">
            <a:avLst/>
          </a:prstGeom>
        </p:spPr>
      </p:pic>
      <p:pic>
        <p:nvPicPr>
          <p:cNvPr id="7" name="Picture 6">
            <a:extLst>
              <a:ext uri="{FF2B5EF4-FFF2-40B4-BE49-F238E27FC236}">
                <a16:creationId xmlns:a16="http://schemas.microsoft.com/office/drawing/2014/main" id="{349B02A3-D29F-67D5-9876-73E707E2B79C}"/>
              </a:ext>
            </a:extLst>
          </p:cNvPr>
          <p:cNvPicPr>
            <a:picLocks noChangeAspect="1"/>
          </p:cNvPicPr>
          <p:nvPr/>
        </p:nvPicPr>
        <p:blipFill>
          <a:blip r:embed="rId3"/>
          <a:stretch>
            <a:fillRect/>
          </a:stretch>
        </p:blipFill>
        <p:spPr>
          <a:xfrm>
            <a:off x="9003887" y="3035360"/>
            <a:ext cx="1626013" cy="1978505"/>
          </a:xfrm>
          <a:prstGeom prst="rect">
            <a:avLst/>
          </a:prstGeom>
        </p:spPr>
      </p:pic>
      <p:sp>
        <p:nvSpPr>
          <p:cNvPr id="8" name="TextBox 7">
            <a:extLst>
              <a:ext uri="{FF2B5EF4-FFF2-40B4-BE49-F238E27FC236}">
                <a16:creationId xmlns:a16="http://schemas.microsoft.com/office/drawing/2014/main" id="{1EFABB91-68D3-3C27-21BB-BB3F964B2A85}"/>
              </a:ext>
            </a:extLst>
          </p:cNvPr>
          <p:cNvSpPr txBox="1"/>
          <p:nvPr/>
        </p:nvSpPr>
        <p:spPr>
          <a:xfrm>
            <a:off x="434341" y="5229620"/>
            <a:ext cx="11029616" cy="1200329"/>
          </a:xfrm>
          <a:prstGeom prst="rect">
            <a:avLst/>
          </a:prstGeom>
          <a:noFill/>
        </p:spPr>
        <p:txBody>
          <a:bodyPr wrap="square" rtlCol="0">
            <a:spAutoFit/>
          </a:bodyPr>
          <a:lstStyle/>
          <a:p>
            <a:r>
              <a:rPr lang="en-US" sz="2400" dirty="0">
                <a:solidFill>
                  <a:srgbClr val="FF0000"/>
                </a:solidFill>
              </a:rPr>
              <a:t>Note - </a:t>
            </a:r>
            <a:r>
              <a:rPr lang="en-US" altLang="en-US" sz="2400" dirty="0">
                <a:solidFill>
                  <a:srgbClr val="FF0000"/>
                </a:solidFill>
                <a:latin typeface="Roboto" panose="02000000000000000000" pitchFamily="2" charset="0"/>
              </a:rPr>
              <a:t>For loop - basically produces an iterator automatically and implements the </a:t>
            </a:r>
            <a:r>
              <a:rPr lang="en-US" altLang="en-US" sz="2400" b="1" dirty="0">
                <a:solidFill>
                  <a:srgbClr val="FF0000"/>
                </a:solidFill>
                <a:latin typeface="inherit"/>
              </a:rPr>
              <a:t>next</a:t>
            </a:r>
            <a:r>
              <a:rPr lang="en-US" altLang="en-US" sz="2400" dirty="0">
                <a:solidFill>
                  <a:srgbClr val="FF0000"/>
                </a:solidFill>
                <a:latin typeface="Roboto Mono" panose="00000009000000000000" pitchFamily="49" charset="0"/>
              </a:rPr>
              <a:t>()</a:t>
            </a:r>
            <a:r>
              <a:rPr lang="en-US" altLang="en-US" sz="2400" dirty="0">
                <a:solidFill>
                  <a:srgbClr val="FF0000"/>
                </a:solidFill>
                <a:latin typeface="Roboto" panose="02000000000000000000" pitchFamily="2" charset="0"/>
              </a:rPr>
              <a:t> method for every iteration.</a:t>
            </a:r>
            <a:r>
              <a:rPr lang="en-US" altLang="en-US" sz="2400" dirty="0">
                <a:solidFill>
                  <a:srgbClr val="FF0000"/>
                </a:solidFill>
              </a:rPr>
              <a:t> </a:t>
            </a:r>
            <a:endParaRPr lang="en-US" altLang="en-US" sz="2400" dirty="0">
              <a:solidFill>
                <a:srgbClr val="FF0000"/>
              </a:solidFill>
              <a:latin typeface="Arial" panose="020B0604020202020204" pitchFamily="34" charset="0"/>
            </a:endParaRPr>
          </a:p>
          <a:p>
            <a:endParaRPr lang="en-US" sz="2400" dirty="0">
              <a:solidFill>
                <a:srgbClr val="FF0000"/>
              </a:solidFill>
            </a:endParaRPr>
          </a:p>
        </p:txBody>
      </p:sp>
      <p:sp>
        <p:nvSpPr>
          <p:cNvPr id="9" name="Rectangle 1">
            <a:extLst>
              <a:ext uri="{FF2B5EF4-FFF2-40B4-BE49-F238E27FC236}">
                <a16:creationId xmlns:a16="http://schemas.microsoft.com/office/drawing/2014/main" id="{95A9B811-48D0-FC72-76D4-8318CAAC1EF2}"/>
              </a:ext>
            </a:extLst>
          </p:cNvPr>
          <p:cNvSpPr>
            <a:spLocks noChangeArrowheads="1"/>
          </p:cNvSpPr>
          <p:nvPr/>
        </p:nvSpPr>
        <p:spPr bwMode="auto">
          <a:xfrm>
            <a:off x="0" y="-138499"/>
            <a:ext cx="65" cy="276999"/>
          </a:xfrm>
          <a:prstGeom prst="rect">
            <a:avLst/>
          </a:prstGeom>
          <a:solidFill>
            <a:srgbClr val="FAFAFB"/>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17598343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diagram of a number&#10;&#10;AI-generated content may be incorrect.">
            <a:extLst>
              <a:ext uri="{FF2B5EF4-FFF2-40B4-BE49-F238E27FC236}">
                <a16:creationId xmlns:a16="http://schemas.microsoft.com/office/drawing/2014/main" id="{37966BCD-3ECF-6D26-034E-915149A5FC20}"/>
              </a:ext>
            </a:extLst>
          </p:cNvPr>
          <p:cNvPicPr>
            <a:picLocks noChangeAspect="1"/>
          </p:cNvPicPr>
          <p:nvPr/>
        </p:nvPicPr>
        <p:blipFill>
          <a:blip r:embed="rId2"/>
          <a:stretch>
            <a:fillRect/>
          </a:stretch>
        </p:blipFill>
        <p:spPr>
          <a:xfrm>
            <a:off x="120650" y="866934"/>
            <a:ext cx="11950700" cy="5676583"/>
          </a:xfrm>
          <a:prstGeom prst="rect">
            <a:avLst/>
          </a:prstGeom>
          <a:noFill/>
        </p:spPr>
      </p:pic>
    </p:spTree>
    <p:extLst>
      <p:ext uri="{BB962C8B-B14F-4D97-AF65-F5344CB8AC3E}">
        <p14:creationId xmlns:p14="http://schemas.microsoft.com/office/powerpoint/2010/main" val="177897591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diagram of a computer program&#10;&#10;AI-generated content may be incorrect.">
            <a:extLst>
              <a:ext uri="{FF2B5EF4-FFF2-40B4-BE49-F238E27FC236}">
                <a16:creationId xmlns:a16="http://schemas.microsoft.com/office/drawing/2014/main" id="{5E880979-9607-84F0-5098-FB6184800FCA}"/>
              </a:ext>
            </a:extLst>
          </p:cNvPr>
          <p:cNvPicPr>
            <a:picLocks noChangeAspect="1"/>
          </p:cNvPicPr>
          <p:nvPr/>
        </p:nvPicPr>
        <p:blipFill>
          <a:blip r:embed="rId2"/>
          <a:stretch>
            <a:fillRect/>
          </a:stretch>
        </p:blipFill>
        <p:spPr>
          <a:xfrm>
            <a:off x="0" y="0"/>
            <a:ext cx="9677136" cy="4088590"/>
          </a:xfrm>
          <a:prstGeom prst="rect">
            <a:avLst/>
          </a:prstGeom>
          <a:noFill/>
        </p:spPr>
      </p:pic>
      <p:pic>
        <p:nvPicPr>
          <p:cNvPr id="5" name="Picture 4">
            <a:extLst>
              <a:ext uri="{FF2B5EF4-FFF2-40B4-BE49-F238E27FC236}">
                <a16:creationId xmlns:a16="http://schemas.microsoft.com/office/drawing/2014/main" id="{1C4CE7BB-58B2-CFC6-EADE-5D3ACCFFC6D3}"/>
              </a:ext>
            </a:extLst>
          </p:cNvPr>
          <p:cNvPicPr>
            <a:picLocks noChangeAspect="1"/>
          </p:cNvPicPr>
          <p:nvPr/>
        </p:nvPicPr>
        <p:blipFill>
          <a:blip r:embed="rId3"/>
          <a:stretch>
            <a:fillRect/>
          </a:stretch>
        </p:blipFill>
        <p:spPr>
          <a:xfrm>
            <a:off x="827176" y="4286250"/>
            <a:ext cx="11094314" cy="2261683"/>
          </a:xfrm>
          <a:prstGeom prst="rect">
            <a:avLst/>
          </a:prstGeom>
        </p:spPr>
      </p:pic>
    </p:spTree>
    <p:extLst>
      <p:ext uri="{BB962C8B-B14F-4D97-AF65-F5344CB8AC3E}">
        <p14:creationId xmlns:p14="http://schemas.microsoft.com/office/powerpoint/2010/main" val="250132518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007D936E-CC31-B7ED-BC8E-E19F339D9943}"/>
              </a:ext>
            </a:extLst>
          </p:cNvPr>
          <p:cNvSpPr>
            <a:spLocks noGrp="1"/>
          </p:cNvSpPr>
          <p:nvPr>
            <p:ph type="title"/>
          </p:nvPr>
        </p:nvSpPr>
        <p:spPr>
          <a:xfrm>
            <a:off x="581192" y="702156"/>
            <a:ext cx="11029616" cy="1013800"/>
          </a:xfrm>
        </p:spPr>
        <p:txBody>
          <a:bodyPr/>
          <a:lstStyle/>
          <a:p>
            <a:endParaRPr lang="en-US"/>
          </a:p>
        </p:txBody>
      </p:sp>
      <p:pic>
        <p:nvPicPr>
          <p:cNvPr id="3" name="Picture 2">
            <a:extLst>
              <a:ext uri="{FF2B5EF4-FFF2-40B4-BE49-F238E27FC236}">
                <a16:creationId xmlns:a16="http://schemas.microsoft.com/office/drawing/2014/main" id="{170088AB-BC89-36BA-4885-0D793B0A43C3}"/>
              </a:ext>
            </a:extLst>
          </p:cNvPr>
          <p:cNvPicPr>
            <a:picLocks noChangeAspect="1"/>
          </p:cNvPicPr>
          <p:nvPr/>
        </p:nvPicPr>
        <p:blipFill>
          <a:blip r:embed="rId2"/>
          <a:stretch>
            <a:fillRect/>
          </a:stretch>
        </p:blipFill>
        <p:spPr>
          <a:xfrm>
            <a:off x="581192" y="2572010"/>
            <a:ext cx="11029615" cy="2895274"/>
          </a:xfrm>
          <a:prstGeom prst="rect">
            <a:avLst/>
          </a:prstGeom>
          <a:noFill/>
        </p:spPr>
      </p:pic>
    </p:spTree>
    <p:extLst>
      <p:ext uri="{BB962C8B-B14F-4D97-AF65-F5344CB8AC3E}">
        <p14:creationId xmlns:p14="http://schemas.microsoft.com/office/powerpoint/2010/main" val="358740907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43A949-67EF-9757-AC0C-DDA7B55D7F7C}"/>
              </a:ext>
            </a:extLst>
          </p:cNvPr>
          <p:cNvSpPr>
            <a:spLocks noGrp="1"/>
          </p:cNvSpPr>
          <p:nvPr>
            <p:ph type="title"/>
          </p:nvPr>
        </p:nvSpPr>
        <p:spPr/>
        <p:txBody>
          <a:bodyPr/>
          <a:lstStyle/>
          <a:p>
            <a:endParaRPr lang="en-US"/>
          </a:p>
        </p:txBody>
      </p:sp>
      <p:pic>
        <p:nvPicPr>
          <p:cNvPr id="6" name="Picture 5">
            <a:extLst>
              <a:ext uri="{FF2B5EF4-FFF2-40B4-BE49-F238E27FC236}">
                <a16:creationId xmlns:a16="http://schemas.microsoft.com/office/drawing/2014/main" id="{A8063D51-C316-1E69-0662-E52171DB1535}"/>
              </a:ext>
            </a:extLst>
          </p:cNvPr>
          <p:cNvPicPr>
            <a:picLocks noChangeAspect="1"/>
          </p:cNvPicPr>
          <p:nvPr/>
        </p:nvPicPr>
        <p:blipFill>
          <a:blip r:embed="rId2"/>
          <a:stretch>
            <a:fillRect/>
          </a:stretch>
        </p:blipFill>
        <p:spPr>
          <a:xfrm>
            <a:off x="1484162" y="1859029"/>
            <a:ext cx="8619958" cy="4998971"/>
          </a:xfrm>
          <a:prstGeom prst="rect">
            <a:avLst/>
          </a:prstGeom>
        </p:spPr>
      </p:pic>
    </p:spTree>
    <p:extLst>
      <p:ext uri="{BB962C8B-B14F-4D97-AF65-F5344CB8AC3E}">
        <p14:creationId xmlns:p14="http://schemas.microsoft.com/office/powerpoint/2010/main" val="76261033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7B7FB6-7C8B-3F40-5CCB-BB0F75C8B3F8}"/>
              </a:ext>
            </a:extLst>
          </p:cNvPr>
          <p:cNvSpPr>
            <a:spLocks noGrp="1"/>
          </p:cNvSpPr>
          <p:nvPr>
            <p:ph type="title"/>
          </p:nvPr>
        </p:nvSpPr>
        <p:spPr/>
        <p:txBody>
          <a:bodyPr>
            <a:normAutofit/>
          </a:bodyPr>
          <a:lstStyle/>
          <a:p>
            <a:r>
              <a:rPr lang="en-US" altLang="en-US" sz="3200" b="1" cap="none" dirty="0">
                <a:latin typeface="Arial" panose="020B0604020202020204" pitchFamily="34" charset="0"/>
              </a:rPr>
              <a:t>Loops vs Iterators</a:t>
            </a:r>
            <a:endParaRPr lang="en-US" sz="3200" dirty="0"/>
          </a:p>
        </p:txBody>
      </p:sp>
      <p:sp>
        <p:nvSpPr>
          <p:cNvPr id="4" name="Rectangle 1">
            <a:extLst>
              <a:ext uri="{FF2B5EF4-FFF2-40B4-BE49-F238E27FC236}">
                <a16:creationId xmlns:a16="http://schemas.microsoft.com/office/drawing/2014/main" id="{F8F6A2A2-FF5A-8022-1F3A-5E84E81F4337}"/>
              </a:ext>
            </a:extLst>
          </p:cNvPr>
          <p:cNvSpPr>
            <a:spLocks noGrp="1" noChangeArrowheads="1"/>
          </p:cNvSpPr>
          <p:nvPr>
            <p:ph idx="1"/>
          </p:nvPr>
        </p:nvSpPr>
        <p:spPr bwMode="auto">
          <a:xfrm>
            <a:off x="447643" y="1797119"/>
            <a:ext cx="11163166" cy="3046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32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200" b="1" i="0" u="none" strike="noStrike" cap="none" normalizeH="0" baseline="0" dirty="0">
                <a:ln>
                  <a:noFill/>
                </a:ln>
                <a:solidFill>
                  <a:schemeClr val="tx1"/>
                </a:solidFill>
                <a:effectLst/>
                <a:latin typeface="Arial" panose="020B0604020202020204" pitchFamily="34" charset="0"/>
              </a:rPr>
              <a:t>Loop (</a:t>
            </a:r>
            <a:r>
              <a:rPr kumimoji="0" lang="en-US" altLang="en-US" sz="3200" b="1" i="0" u="none" strike="noStrike" cap="none" normalizeH="0" baseline="0" dirty="0">
                <a:ln>
                  <a:noFill/>
                </a:ln>
                <a:solidFill>
                  <a:schemeClr val="tx1"/>
                </a:solidFill>
                <a:effectLst/>
                <a:latin typeface="Arial Unicode MS"/>
              </a:rPr>
              <a:t>for</a:t>
            </a:r>
            <a:r>
              <a:rPr kumimoji="0" lang="en-US" altLang="en-US" sz="3200" b="1" i="0" u="none" strike="noStrike" cap="none" normalizeH="0" baseline="0" dirty="0">
                <a:ln>
                  <a:noFill/>
                </a:ln>
                <a:solidFill>
                  <a:schemeClr val="tx1"/>
                </a:solidFill>
                <a:effectLst/>
              </a:rPr>
              <a:t> / </a:t>
            </a:r>
            <a:r>
              <a:rPr kumimoji="0" lang="en-US" altLang="en-US" sz="3200" b="1" i="0" u="none" strike="noStrike" cap="none" normalizeH="0" baseline="0" dirty="0">
                <a:ln>
                  <a:noFill/>
                </a:ln>
                <a:solidFill>
                  <a:schemeClr val="tx1"/>
                </a:solidFill>
                <a:effectLst/>
                <a:latin typeface="Arial Unicode MS"/>
              </a:rPr>
              <a:t>while</a:t>
            </a:r>
            <a:r>
              <a:rPr kumimoji="0" lang="en-US" altLang="en-US" sz="3200" b="1" i="0" u="none" strike="noStrike" cap="none" normalizeH="0" baseline="0" dirty="0">
                <a:ln>
                  <a:noFill/>
                </a:ln>
                <a:solidFill>
                  <a:schemeClr val="tx1"/>
                </a:solidFill>
                <a:effectLst/>
              </a:rPr>
              <a:t>)</a:t>
            </a:r>
            <a:r>
              <a:rPr kumimoji="0" lang="en-US" altLang="en-US" sz="3200" b="0" i="0" u="none" strike="noStrike" cap="none" normalizeH="0" baseline="0" dirty="0">
                <a:ln>
                  <a:noFill/>
                </a:ln>
                <a:solidFill>
                  <a:schemeClr val="tx1"/>
                </a:solidFill>
                <a:effectLst/>
                <a:latin typeface="Arial" panose="020B0604020202020204" pitchFamily="34" charset="0"/>
              </a:rPr>
              <a:t>: A control structure that repeats a block of code.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200" b="1" i="0" u="none" strike="noStrike" cap="none" normalizeH="0" baseline="0" dirty="0">
                <a:ln>
                  <a:noFill/>
                </a:ln>
                <a:solidFill>
                  <a:schemeClr val="tx1"/>
                </a:solidFill>
                <a:effectLst/>
                <a:latin typeface="Arial" panose="020B0604020202020204" pitchFamily="34" charset="0"/>
              </a:rPr>
              <a:t>Iterator</a:t>
            </a:r>
            <a:r>
              <a:rPr kumimoji="0" lang="en-US" altLang="en-US" sz="3200" b="0" i="0" u="none" strike="noStrike" cap="none" normalizeH="0" baseline="0" dirty="0">
                <a:ln>
                  <a:noFill/>
                </a:ln>
                <a:solidFill>
                  <a:schemeClr val="tx1"/>
                </a:solidFill>
                <a:effectLst/>
                <a:latin typeface="Arial" panose="020B0604020202020204" pitchFamily="34" charset="0"/>
              </a:rPr>
              <a:t>: An object that produces elements one at a time using </a:t>
            </a:r>
            <a:r>
              <a:rPr kumimoji="0" lang="en-US" altLang="en-US" sz="3200" b="0" i="0" u="none" strike="noStrike" cap="none" normalizeH="0" baseline="0" dirty="0">
                <a:ln>
                  <a:noFill/>
                </a:ln>
                <a:solidFill>
                  <a:schemeClr val="tx1"/>
                </a:solidFill>
                <a:effectLst/>
                <a:latin typeface="Arial Unicode MS"/>
              </a:rPr>
              <a:t>__iter__()</a:t>
            </a:r>
            <a:r>
              <a:rPr kumimoji="0" lang="en-US" altLang="en-US" sz="3200" b="0" i="0" u="none" strike="noStrike" cap="none" normalizeH="0" baseline="0" dirty="0">
                <a:ln>
                  <a:noFill/>
                </a:ln>
                <a:solidFill>
                  <a:schemeClr val="tx1"/>
                </a:solidFill>
                <a:effectLst/>
              </a:rPr>
              <a:t> and </a:t>
            </a:r>
            <a:r>
              <a:rPr kumimoji="0" lang="en-US" altLang="en-US" sz="3200" b="0" i="0" u="none" strike="noStrike" cap="none" normalizeH="0" baseline="0" dirty="0">
                <a:ln>
                  <a:noFill/>
                </a:ln>
                <a:solidFill>
                  <a:schemeClr val="tx1"/>
                </a:solidFill>
                <a:effectLst/>
                <a:latin typeface="Arial Unicode MS"/>
              </a:rPr>
              <a:t>__next__()</a:t>
            </a:r>
            <a:r>
              <a:rPr kumimoji="0" lang="en-US" altLang="en-US" sz="3200" b="0" i="0" u="none" strike="noStrike" cap="none" normalizeH="0" baseline="0" dirty="0">
                <a:ln>
                  <a:noFill/>
                </a:ln>
                <a:solidFill>
                  <a:schemeClr val="tx1"/>
                </a:solidFill>
                <a:effectLst/>
              </a:rPr>
              <a:t>.</a:t>
            </a:r>
            <a:endParaRPr kumimoji="0" lang="en-US" altLang="en-US" sz="32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32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64142140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3B5488-DBAB-0D16-27B0-09ACEAE21A0A}"/>
              </a:ext>
            </a:extLst>
          </p:cNvPr>
          <p:cNvSpPr>
            <a:spLocks noGrp="1"/>
          </p:cNvSpPr>
          <p:nvPr>
            <p:ph type="title"/>
          </p:nvPr>
        </p:nvSpPr>
        <p:spPr/>
        <p:txBody>
          <a:bodyPr/>
          <a:lstStyle/>
          <a:p>
            <a:r>
              <a:rPr lang="en-US" dirty="0"/>
              <a:t>Why iterators </a:t>
            </a:r>
          </a:p>
        </p:txBody>
      </p:sp>
      <p:sp>
        <p:nvSpPr>
          <p:cNvPr id="3" name="Content Placeholder 2">
            <a:extLst>
              <a:ext uri="{FF2B5EF4-FFF2-40B4-BE49-F238E27FC236}">
                <a16:creationId xmlns:a16="http://schemas.microsoft.com/office/drawing/2014/main" id="{1E6CC351-DD5A-64E8-45B1-04CF5392462B}"/>
              </a:ext>
            </a:extLst>
          </p:cNvPr>
          <p:cNvSpPr>
            <a:spLocks noGrp="1"/>
          </p:cNvSpPr>
          <p:nvPr>
            <p:ph idx="1"/>
          </p:nvPr>
        </p:nvSpPr>
        <p:spPr/>
        <p:txBody>
          <a:bodyPr>
            <a:normAutofit/>
          </a:bodyPr>
          <a:lstStyle/>
          <a:p>
            <a:pPr marL="342900" indent="-342900">
              <a:buFont typeface="+mj-lt"/>
              <a:buAutoNum type="arabicPeriod"/>
            </a:pPr>
            <a:r>
              <a:rPr lang="en-US" sz="2800" dirty="0"/>
              <a:t>Memory Efficiency (Lazy Evaluation)</a:t>
            </a:r>
          </a:p>
          <a:p>
            <a:pPr marL="342900" indent="-342900">
              <a:buFont typeface="+mj-lt"/>
              <a:buAutoNum type="arabicPeriod"/>
            </a:pPr>
            <a:r>
              <a:rPr lang="en-US" sz="2800" dirty="0"/>
              <a:t>Work with Infinite Data</a:t>
            </a:r>
          </a:p>
          <a:p>
            <a:pPr marL="342900" indent="-342900">
              <a:buFont typeface="+mj-lt"/>
              <a:buAutoNum type="arabicPeriod"/>
            </a:pPr>
            <a:r>
              <a:rPr lang="en-US" sz="2800" dirty="0"/>
              <a:t>Consistency</a:t>
            </a:r>
          </a:p>
          <a:p>
            <a:pPr marL="342900" indent="-342900">
              <a:buFont typeface="+mj-lt"/>
              <a:buAutoNum type="arabicPeriod"/>
            </a:pPr>
            <a:r>
              <a:rPr lang="en-US" sz="2800" dirty="0"/>
              <a:t>Pipeline Processing</a:t>
            </a:r>
          </a:p>
        </p:txBody>
      </p:sp>
    </p:spTree>
    <p:extLst>
      <p:ext uri="{BB962C8B-B14F-4D97-AF65-F5344CB8AC3E}">
        <p14:creationId xmlns:p14="http://schemas.microsoft.com/office/powerpoint/2010/main" val="188407526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8B353A-AE2E-5F69-20B8-9A67ED088651}"/>
              </a:ext>
            </a:extLst>
          </p:cNvPr>
          <p:cNvSpPr>
            <a:spLocks noGrp="1"/>
          </p:cNvSpPr>
          <p:nvPr>
            <p:ph type="title"/>
          </p:nvPr>
        </p:nvSpPr>
        <p:spPr/>
        <p:txBody>
          <a:bodyPr/>
          <a:lstStyle/>
          <a:p>
            <a:r>
              <a:rPr lang="en-US" dirty="0"/>
              <a:t>1. Memory Efficiency (Lazy Evaluation)</a:t>
            </a:r>
          </a:p>
        </p:txBody>
      </p:sp>
      <p:sp>
        <p:nvSpPr>
          <p:cNvPr id="4" name="Rectangle 1">
            <a:extLst>
              <a:ext uri="{FF2B5EF4-FFF2-40B4-BE49-F238E27FC236}">
                <a16:creationId xmlns:a16="http://schemas.microsoft.com/office/drawing/2014/main" id="{2BF5A6A1-9FC5-CB0F-A279-5407411DCA05}"/>
              </a:ext>
            </a:extLst>
          </p:cNvPr>
          <p:cNvSpPr>
            <a:spLocks noGrp="1" noChangeArrowheads="1"/>
          </p:cNvSpPr>
          <p:nvPr>
            <p:ph idx="1"/>
          </p:nvPr>
        </p:nvSpPr>
        <p:spPr bwMode="auto">
          <a:xfrm>
            <a:off x="468630" y="2013466"/>
            <a:ext cx="11269980" cy="18158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lvl="0" indent="0" defTabSz="914400" eaLnBrk="0" fontAlgn="base" hangingPunct="0">
              <a:spcBef>
                <a:spcPct val="0"/>
              </a:spcBef>
              <a:spcAft>
                <a:spcPct val="0"/>
              </a:spcAft>
              <a:buClrTx/>
              <a:buSzTx/>
              <a:buFontTx/>
              <a:buChar char="•"/>
            </a:pPr>
            <a:r>
              <a:rPr lang="en-US" altLang="en-US" sz="2800" b="1" dirty="0">
                <a:solidFill>
                  <a:schemeClr val="tx1"/>
                </a:solidFill>
                <a:latin typeface="Arial" panose="020B0604020202020204" pitchFamily="34" charset="0"/>
              </a:rPr>
              <a:t>Eager Evaluation</a:t>
            </a:r>
            <a:r>
              <a:rPr lang="en-US" altLang="en-US" sz="2800" dirty="0">
                <a:solidFill>
                  <a:schemeClr val="tx1"/>
                </a:solidFill>
                <a:latin typeface="Arial" panose="020B0604020202020204" pitchFamily="34" charset="0"/>
              </a:rPr>
              <a:t>: The entire data structure is created and stored in memory </a:t>
            </a:r>
            <a:r>
              <a:rPr lang="en-US" altLang="en-US" sz="2800" b="1" dirty="0">
                <a:solidFill>
                  <a:schemeClr val="tx1"/>
                </a:solidFill>
                <a:latin typeface="Arial" panose="020B0604020202020204" pitchFamily="34" charset="0"/>
              </a:rPr>
              <a:t>before</a:t>
            </a:r>
            <a:r>
              <a:rPr lang="en-US" altLang="en-US" sz="2800" dirty="0">
                <a:solidFill>
                  <a:schemeClr val="tx1"/>
                </a:solidFill>
                <a:latin typeface="Arial" panose="020B0604020202020204" pitchFamily="34" charset="0"/>
              </a:rPr>
              <a:t> iteration starts.</a:t>
            </a:r>
          </a:p>
          <a:p>
            <a:pPr marL="0" lvl="0" indent="0" defTabSz="914400" eaLnBrk="0" fontAlgn="base" hangingPunct="0">
              <a:spcBef>
                <a:spcPct val="0"/>
              </a:spcBef>
              <a:spcAft>
                <a:spcPct val="0"/>
              </a:spcAft>
              <a:buClrTx/>
              <a:buSzTx/>
              <a:buFontTx/>
              <a:buChar char="•"/>
            </a:pPr>
            <a:r>
              <a:rPr lang="en-US" altLang="en-US" sz="2800" b="1" dirty="0">
                <a:solidFill>
                  <a:schemeClr val="tx1"/>
                </a:solidFill>
                <a:latin typeface="Arial" panose="020B0604020202020204" pitchFamily="34" charset="0"/>
              </a:rPr>
              <a:t>Lazy Evaluation</a:t>
            </a:r>
            <a:r>
              <a:rPr lang="en-US" altLang="en-US" sz="2800" dirty="0">
                <a:solidFill>
                  <a:schemeClr val="tx1"/>
                </a:solidFill>
                <a:latin typeface="Arial" panose="020B0604020202020204" pitchFamily="34" charset="0"/>
              </a:rPr>
              <a:t>: Items are generated </a:t>
            </a:r>
            <a:r>
              <a:rPr lang="en-US" altLang="en-US" sz="2800" b="1" dirty="0">
                <a:solidFill>
                  <a:schemeClr val="tx1"/>
                </a:solidFill>
                <a:latin typeface="Arial" panose="020B0604020202020204" pitchFamily="34" charset="0"/>
              </a:rPr>
              <a:t>on demand</a:t>
            </a:r>
            <a:r>
              <a:rPr lang="en-US" altLang="en-US" sz="2800" dirty="0">
                <a:solidFill>
                  <a:schemeClr val="tx1"/>
                </a:solidFill>
                <a:latin typeface="Arial" panose="020B0604020202020204" pitchFamily="34" charset="0"/>
              </a:rPr>
              <a:t> only when needed, so memory is not wasted.</a:t>
            </a:r>
            <a:endParaRPr kumimoji="0" lang="en-US" altLang="en-US" sz="2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25013724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2D2CD7-B931-B4CA-A8BB-5F6F13741F04}"/>
              </a:ext>
            </a:extLst>
          </p:cNvPr>
          <p:cNvSpPr>
            <a:spLocks noGrp="1"/>
          </p:cNvSpPr>
          <p:nvPr>
            <p:ph type="title"/>
          </p:nvPr>
        </p:nvSpPr>
        <p:spPr/>
        <p:txBody>
          <a:bodyPr/>
          <a:lstStyle/>
          <a:p>
            <a:r>
              <a:rPr lang="en-US" dirty="0"/>
              <a:t>Eager vs lazy evaluation</a:t>
            </a:r>
          </a:p>
        </p:txBody>
      </p:sp>
      <p:sp>
        <p:nvSpPr>
          <p:cNvPr id="3" name="Content Placeholder 2">
            <a:extLst>
              <a:ext uri="{FF2B5EF4-FFF2-40B4-BE49-F238E27FC236}">
                <a16:creationId xmlns:a16="http://schemas.microsoft.com/office/drawing/2014/main" id="{C5018282-D705-6640-B87B-ED214978C6FD}"/>
              </a:ext>
            </a:extLst>
          </p:cNvPr>
          <p:cNvSpPr>
            <a:spLocks noGrp="1"/>
          </p:cNvSpPr>
          <p:nvPr>
            <p:ph sz="half" idx="1"/>
          </p:nvPr>
        </p:nvSpPr>
        <p:spPr>
          <a:xfrm>
            <a:off x="240030" y="2104135"/>
            <a:ext cx="5580673" cy="4753865"/>
          </a:xfrm>
        </p:spPr>
        <p:txBody>
          <a:bodyPr>
            <a:noAutofit/>
          </a:bodyPr>
          <a:lstStyle/>
          <a:p>
            <a:pPr marL="0" indent="0">
              <a:buNone/>
            </a:pPr>
            <a:r>
              <a:rPr lang="en-US" sz="2400" dirty="0"/>
              <a:t>numbers = [</a:t>
            </a:r>
            <a:r>
              <a:rPr lang="en-US" sz="2400" dirty="0" err="1"/>
              <a:t>i</a:t>
            </a:r>
            <a:r>
              <a:rPr lang="en-US" sz="2400" dirty="0"/>
              <a:t> for </a:t>
            </a:r>
            <a:r>
              <a:rPr lang="en-US" sz="2400" dirty="0" err="1"/>
              <a:t>i</a:t>
            </a:r>
            <a:r>
              <a:rPr lang="en-US" sz="2400" dirty="0"/>
              <a:t> in range(1_000_000)]  </a:t>
            </a:r>
          </a:p>
          <a:p>
            <a:pPr marL="0" indent="0">
              <a:buNone/>
            </a:pPr>
            <a:r>
              <a:rPr lang="en-US" sz="2400" dirty="0"/>
              <a:t>print(type(numbers))   # &lt;class 'list'&gt;</a:t>
            </a:r>
          </a:p>
          <a:p>
            <a:pPr marL="0" indent="0">
              <a:buNone/>
            </a:pPr>
            <a:r>
              <a:rPr lang="en-US" sz="2400" dirty="0"/>
              <a:t>print(</a:t>
            </a:r>
            <a:r>
              <a:rPr lang="en-US" sz="2400" dirty="0" err="1"/>
              <a:t>len</a:t>
            </a:r>
            <a:r>
              <a:rPr lang="en-US" sz="2400" dirty="0"/>
              <a:t>(numbers))    # 1000000</a:t>
            </a:r>
          </a:p>
          <a:p>
            <a:pPr marL="0" indent="0">
              <a:buNone/>
            </a:pPr>
            <a:endParaRPr lang="en-US" sz="2400" dirty="0"/>
          </a:p>
          <a:p>
            <a:pPr marL="0" indent="0">
              <a:buNone/>
            </a:pPr>
            <a:endParaRPr lang="en-US" sz="2400" dirty="0"/>
          </a:p>
          <a:p>
            <a:pPr marL="0" lvl="0" indent="0" defTabSz="914400" eaLnBrk="0" fontAlgn="base" hangingPunct="0">
              <a:spcBef>
                <a:spcPct val="0"/>
              </a:spcBef>
              <a:spcAft>
                <a:spcPct val="0"/>
              </a:spcAft>
              <a:buClrTx/>
              <a:buSzTx/>
              <a:buNone/>
            </a:pPr>
            <a:r>
              <a:rPr lang="en-US" altLang="en-US" sz="2400" dirty="0">
                <a:solidFill>
                  <a:schemeClr val="tx1"/>
                </a:solidFill>
                <a:latin typeface="Arial" panose="020B0604020202020204" pitchFamily="34" charset="0"/>
              </a:rPr>
              <a:t>✅ The list is </a:t>
            </a:r>
            <a:r>
              <a:rPr lang="en-US" altLang="en-US" sz="2400" b="1" dirty="0">
                <a:solidFill>
                  <a:schemeClr val="tx1"/>
                </a:solidFill>
                <a:latin typeface="Arial" panose="020B0604020202020204" pitchFamily="34" charset="0"/>
              </a:rPr>
              <a:t>fully stored in memory</a:t>
            </a:r>
            <a:r>
              <a:rPr lang="en-US" altLang="en-US" sz="2400" dirty="0">
                <a:solidFill>
                  <a:schemeClr val="tx1"/>
                </a:solidFill>
                <a:latin typeface="Arial" panose="020B0604020202020204" pitchFamily="34" charset="0"/>
              </a:rPr>
              <a:t> (all 1 million numbers at once).</a:t>
            </a:r>
          </a:p>
          <a:p>
            <a:pPr marL="0" lvl="0" indent="0" defTabSz="914400" eaLnBrk="0" fontAlgn="base" hangingPunct="0">
              <a:spcBef>
                <a:spcPct val="0"/>
              </a:spcBef>
              <a:spcAft>
                <a:spcPct val="0"/>
              </a:spcAft>
              <a:buClrTx/>
              <a:buSzTx/>
              <a:buNone/>
            </a:pPr>
            <a:r>
              <a:rPr lang="en-US" altLang="en-US" sz="2400" dirty="0">
                <a:solidFill>
                  <a:schemeClr val="tx1"/>
                </a:solidFill>
                <a:latin typeface="Arial" panose="020B0604020202020204" pitchFamily="34" charset="0"/>
              </a:rPr>
              <a:t>❌ Uses </a:t>
            </a:r>
            <a:r>
              <a:rPr lang="en-US" altLang="en-US" sz="2400" b="1" dirty="0">
                <a:solidFill>
                  <a:schemeClr val="tx1"/>
                </a:solidFill>
                <a:latin typeface="Arial" panose="020B0604020202020204" pitchFamily="34" charset="0"/>
              </a:rPr>
              <a:t>a lot of RAM</a:t>
            </a:r>
            <a:r>
              <a:rPr lang="en-US" altLang="en-US" sz="2400" dirty="0">
                <a:solidFill>
                  <a:schemeClr val="tx1"/>
                </a:solidFill>
                <a:latin typeface="Arial" panose="020B0604020202020204" pitchFamily="34" charset="0"/>
              </a:rPr>
              <a:t>.</a:t>
            </a:r>
          </a:p>
          <a:p>
            <a:pPr marL="0" indent="0">
              <a:buNone/>
            </a:pPr>
            <a:endParaRPr lang="en-US" sz="2400" dirty="0"/>
          </a:p>
        </p:txBody>
      </p:sp>
      <p:sp>
        <p:nvSpPr>
          <p:cNvPr id="4" name="Content Placeholder 3">
            <a:extLst>
              <a:ext uri="{FF2B5EF4-FFF2-40B4-BE49-F238E27FC236}">
                <a16:creationId xmlns:a16="http://schemas.microsoft.com/office/drawing/2014/main" id="{0AE56431-CF74-72E0-AB45-9B2E938A674E}"/>
              </a:ext>
            </a:extLst>
          </p:cNvPr>
          <p:cNvSpPr>
            <a:spLocks noGrp="1"/>
          </p:cNvSpPr>
          <p:nvPr>
            <p:ph sz="half" idx="2"/>
          </p:nvPr>
        </p:nvSpPr>
        <p:spPr>
          <a:xfrm>
            <a:off x="5820703" y="1943100"/>
            <a:ext cx="5963627" cy="5220971"/>
          </a:xfrm>
        </p:spPr>
        <p:txBody>
          <a:bodyPr>
            <a:noAutofit/>
          </a:bodyPr>
          <a:lstStyle/>
          <a:p>
            <a:pPr marL="0" indent="0">
              <a:buNone/>
            </a:pPr>
            <a:r>
              <a:rPr lang="en-US" sz="2000" dirty="0"/>
              <a:t>numbers = (</a:t>
            </a:r>
            <a:r>
              <a:rPr lang="en-US" sz="2000" dirty="0" err="1"/>
              <a:t>i</a:t>
            </a:r>
            <a:r>
              <a:rPr lang="en-US" sz="2000" dirty="0"/>
              <a:t> for </a:t>
            </a:r>
            <a:r>
              <a:rPr lang="en-US" sz="2000" dirty="0" err="1"/>
              <a:t>i</a:t>
            </a:r>
            <a:r>
              <a:rPr lang="en-US" sz="2000" dirty="0"/>
              <a:t> in range(1_000_000)) </a:t>
            </a:r>
            <a:r>
              <a:rPr lang="en-US" sz="2000" dirty="0">
                <a:solidFill>
                  <a:srgbClr val="C00000"/>
                </a:solidFill>
              </a:rPr>
              <a:t># generator expression </a:t>
            </a:r>
          </a:p>
          <a:p>
            <a:pPr marL="0" indent="0">
              <a:buNone/>
            </a:pPr>
            <a:r>
              <a:rPr lang="en-US" sz="2000" dirty="0"/>
              <a:t>print(type(numbers))   # &lt;class 'generator'&gt;</a:t>
            </a:r>
          </a:p>
          <a:p>
            <a:pPr marL="0" indent="0">
              <a:buNone/>
            </a:pPr>
            <a:r>
              <a:rPr lang="en-US" sz="2000" dirty="0"/>
              <a:t>print(next(numbers))  # 0 (generated on demand)</a:t>
            </a:r>
          </a:p>
          <a:p>
            <a:pPr marL="0" indent="0">
              <a:buNone/>
            </a:pPr>
            <a:r>
              <a:rPr lang="en-US" sz="2000" dirty="0"/>
              <a:t>print(next(numbers))  # 1</a:t>
            </a:r>
          </a:p>
          <a:p>
            <a:pPr marL="0" indent="0">
              <a:buNone/>
            </a:pPr>
            <a:r>
              <a:rPr lang="en-US" sz="2000" dirty="0"/>
              <a:t>print(next(numbers))  # 2</a:t>
            </a:r>
          </a:p>
          <a:p>
            <a:endParaRPr lang="en-US" sz="2000" dirty="0"/>
          </a:p>
          <a:p>
            <a:pPr marL="0" lvl="0" indent="0" defTabSz="914400" eaLnBrk="0" fontAlgn="base" hangingPunct="0">
              <a:spcBef>
                <a:spcPct val="0"/>
              </a:spcBef>
              <a:spcAft>
                <a:spcPct val="0"/>
              </a:spcAft>
              <a:buClrTx/>
              <a:buSzTx/>
              <a:buFontTx/>
              <a:buChar char="•"/>
            </a:pPr>
            <a:r>
              <a:rPr lang="en-US" altLang="en-US" u="sng" dirty="0">
                <a:solidFill>
                  <a:schemeClr val="tx1"/>
                </a:solidFill>
                <a:latin typeface="Arial" panose="020B0604020202020204" pitchFamily="34" charset="0"/>
              </a:rPr>
              <a:t>✅ Numbers are </a:t>
            </a:r>
            <a:r>
              <a:rPr lang="en-US" altLang="en-US" b="1" u="sng" dirty="0">
                <a:solidFill>
                  <a:schemeClr val="tx1"/>
                </a:solidFill>
                <a:latin typeface="Arial" panose="020B0604020202020204" pitchFamily="34" charset="0"/>
              </a:rPr>
              <a:t>created one by one only when needed</a:t>
            </a:r>
            <a:r>
              <a:rPr lang="en-US" altLang="en-US" u="sng" dirty="0">
                <a:solidFill>
                  <a:schemeClr val="tx1"/>
                </a:solidFill>
                <a:latin typeface="Arial" panose="020B0604020202020204" pitchFamily="34" charset="0"/>
              </a:rPr>
              <a:t>.</a:t>
            </a:r>
          </a:p>
          <a:p>
            <a:pPr marL="0" lvl="0" indent="0" defTabSz="914400" eaLnBrk="0" fontAlgn="base" hangingPunct="0">
              <a:spcBef>
                <a:spcPct val="0"/>
              </a:spcBef>
              <a:spcAft>
                <a:spcPct val="0"/>
              </a:spcAft>
              <a:buClrTx/>
              <a:buSzTx/>
              <a:buFontTx/>
              <a:buChar char="•"/>
            </a:pPr>
            <a:r>
              <a:rPr lang="en-US" altLang="en-US" u="sng" dirty="0">
                <a:solidFill>
                  <a:schemeClr val="tx1"/>
                </a:solidFill>
                <a:latin typeface="Arial" panose="020B0604020202020204" pitchFamily="34" charset="0"/>
              </a:rPr>
              <a:t>✅ Saves memory, since the whole sequence is </a:t>
            </a:r>
            <a:r>
              <a:rPr lang="en-US" altLang="en-US" b="1" u="sng" dirty="0">
                <a:solidFill>
                  <a:schemeClr val="tx1"/>
                </a:solidFill>
                <a:latin typeface="Arial" panose="020B0604020202020204" pitchFamily="34" charset="0"/>
              </a:rPr>
              <a:t>not stored</a:t>
            </a:r>
            <a:r>
              <a:rPr lang="en-US" altLang="en-US" u="sng" dirty="0">
                <a:solidFill>
                  <a:schemeClr val="tx1"/>
                </a:solidFill>
                <a:latin typeface="Arial" panose="020B0604020202020204" pitchFamily="34" charset="0"/>
              </a:rPr>
              <a:t>.</a:t>
            </a:r>
          </a:p>
          <a:p>
            <a:pPr marL="0" lvl="0" indent="0" defTabSz="914400" eaLnBrk="0" fontAlgn="base" hangingPunct="0">
              <a:spcBef>
                <a:spcPct val="0"/>
              </a:spcBef>
              <a:spcAft>
                <a:spcPct val="0"/>
              </a:spcAft>
              <a:buClrTx/>
              <a:buSzTx/>
              <a:buFontTx/>
              <a:buChar char="•"/>
            </a:pPr>
            <a:r>
              <a:rPr lang="en-US" altLang="en-US" u="sng" dirty="0">
                <a:solidFill>
                  <a:schemeClr val="tx1"/>
                </a:solidFill>
                <a:latin typeface="Arial" panose="020B0604020202020204" pitchFamily="34" charset="0"/>
              </a:rPr>
              <a:t>❌ Slightly slower (because items are computed each time).</a:t>
            </a:r>
          </a:p>
          <a:p>
            <a:endParaRPr lang="en-US" sz="2000" dirty="0"/>
          </a:p>
        </p:txBody>
      </p:sp>
    </p:spTree>
    <p:extLst>
      <p:ext uri="{BB962C8B-B14F-4D97-AF65-F5344CB8AC3E}">
        <p14:creationId xmlns:p14="http://schemas.microsoft.com/office/powerpoint/2010/main" val="258339693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BAB5F4-A0F6-F8FC-B5EF-711BAAFBB50C}"/>
              </a:ext>
            </a:extLst>
          </p:cNvPr>
          <p:cNvSpPr>
            <a:spLocks noGrp="1"/>
          </p:cNvSpPr>
          <p:nvPr>
            <p:ph type="title"/>
          </p:nvPr>
        </p:nvSpPr>
        <p:spPr/>
        <p:txBody>
          <a:bodyPr/>
          <a:lstStyle/>
          <a:p>
            <a:r>
              <a:rPr lang="en-US" dirty="0"/>
              <a:t>Memory Comparison</a:t>
            </a:r>
          </a:p>
        </p:txBody>
      </p:sp>
      <p:sp>
        <p:nvSpPr>
          <p:cNvPr id="3" name="Content Placeholder 2">
            <a:extLst>
              <a:ext uri="{FF2B5EF4-FFF2-40B4-BE49-F238E27FC236}">
                <a16:creationId xmlns:a16="http://schemas.microsoft.com/office/drawing/2014/main" id="{D10E9B64-72B0-E200-5B21-AC3336E6553A}"/>
              </a:ext>
            </a:extLst>
          </p:cNvPr>
          <p:cNvSpPr>
            <a:spLocks noGrp="1"/>
          </p:cNvSpPr>
          <p:nvPr>
            <p:ph sz="half" idx="1"/>
          </p:nvPr>
        </p:nvSpPr>
        <p:spPr>
          <a:xfrm>
            <a:off x="501181" y="2305473"/>
            <a:ext cx="7614118" cy="3633047"/>
          </a:xfrm>
        </p:spPr>
        <p:txBody>
          <a:bodyPr>
            <a:noAutofit/>
          </a:bodyPr>
          <a:lstStyle/>
          <a:p>
            <a:pPr marL="0" indent="0">
              <a:buNone/>
            </a:pPr>
            <a:r>
              <a:rPr lang="en-US" sz="2400" dirty="0"/>
              <a:t>import sys</a:t>
            </a:r>
          </a:p>
          <a:p>
            <a:pPr marL="0" indent="0">
              <a:buNone/>
            </a:pPr>
            <a:r>
              <a:rPr lang="en-US" sz="2400" dirty="0" err="1"/>
              <a:t>lst</a:t>
            </a:r>
            <a:r>
              <a:rPr lang="en-US" sz="2400" dirty="0"/>
              <a:t> = [</a:t>
            </a:r>
            <a:r>
              <a:rPr lang="en-US" sz="2400" dirty="0" err="1"/>
              <a:t>i</a:t>
            </a:r>
            <a:r>
              <a:rPr lang="en-US" sz="2400" dirty="0"/>
              <a:t> for </a:t>
            </a:r>
            <a:r>
              <a:rPr lang="en-US" sz="2400" dirty="0" err="1"/>
              <a:t>i</a:t>
            </a:r>
            <a:r>
              <a:rPr lang="en-US" sz="2400" dirty="0"/>
              <a:t> in range(1_000_000)]       # list (eager)</a:t>
            </a:r>
          </a:p>
          <a:p>
            <a:pPr marL="0" indent="0">
              <a:buNone/>
            </a:pPr>
            <a:r>
              <a:rPr lang="en-US" sz="2400" dirty="0"/>
              <a:t>gen = (</a:t>
            </a:r>
            <a:r>
              <a:rPr lang="en-US" sz="2400" dirty="0" err="1"/>
              <a:t>i</a:t>
            </a:r>
            <a:r>
              <a:rPr lang="en-US" sz="2400" dirty="0"/>
              <a:t> for </a:t>
            </a:r>
            <a:r>
              <a:rPr lang="en-US" sz="2400" dirty="0" err="1"/>
              <a:t>i</a:t>
            </a:r>
            <a:r>
              <a:rPr lang="en-US" sz="2400" dirty="0"/>
              <a:t> in range(1_000_000))       # generator (lazy)</a:t>
            </a:r>
          </a:p>
          <a:p>
            <a:pPr marL="0" indent="0">
              <a:buNone/>
            </a:pPr>
            <a:r>
              <a:rPr lang="en-US" sz="2400" dirty="0"/>
              <a:t>print("List size:", </a:t>
            </a:r>
            <a:r>
              <a:rPr lang="en-US" sz="2400" dirty="0" err="1"/>
              <a:t>sys.getsizeof</a:t>
            </a:r>
            <a:r>
              <a:rPr lang="en-US" sz="2400" dirty="0"/>
              <a:t>(</a:t>
            </a:r>
            <a:r>
              <a:rPr lang="en-US" sz="2400" dirty="0" err="1"/>
              <a:t>lst</a:t>
            </a:r>
            <a:r>
              <a:rPr lang="en-US" sz="2400" dirty="0"/>
              <a:t>))   # ~8,000,056 bytes</a:t>
            </a:r>
          </a:p>
          <a:p>
            <a:pPr marL="0" indent="0">
              <a:buNone/>
            </a:pPr>
            <a:r>
              <a:rPr lang="en-US" sz="2400" dirty="0"/>
              <a:t>print("Generator size:", </a:t>
            </a:r>
            <a:r>
              <a:rPr lang="en-US" sz="2400" dirty="0" err="1"/>
              <a:t>sys.getsizeof</a:t>
            </a:r>
            <a:r>
              <a:rPr lang="en-US" sz="2400" dirty="0"/>
              <a:t>(gen))  # ~112 bytes</a:t>
            </a:r>
          </a:p>
          <a:p>
            <a:pPr marL="0" indent="0">
              <a:buNone/>
            </a:pPr>
            <a:endParaRPr lang="en-US" sz="2400" dirty="0"/>
          </a:p>
        </p:txBody>
      </p:sp>
      <p:sp>
        <p:nvSpPr>
          <p:cNvPr id="4" name="Content Placeholder 3">
            <a:extLst>
              <a:ext uri="{FF2B5EF4-FFF2-40B4-BE49-F238E27FC236}">
                <a16:creationId xmlns:a16="http://schemas.microsoft.com/office/drawing/2014/main" id="{6FF8F931-2C3F-8E7E-8775-CD694EC3DF58}"/>
              </a:ext>
            </a:extLst>
          </p:cNvPr>
          <p:cNvSpPr>
            <a:spLocks noGrp="1"/>
          </p:cNvSpPr>
          <p:nvPr>
            <p:ph sz="half" idx="2"/>
          </p:nvPr>
        </p:nvSpPr>
        <p:spPr>
          <a:xfrm>
            <a:off x="6960871" y="4927684"/>
            <a:ext cx="4649938" cy="2401315"/>
          </a:xfrm>
        </p:spPr>
        <p:txBody>
          <a:bodyPr>
            <a:normAutofit/>
          </a:bodyPr>
          <a:lstStyle/>
          <a:p>
            <a:r>
              <a:rPr lang="en-US" sz="2400" dirty="0"/>
              <a:t>👉 </a:t>
            </a:r>
            <a:r>
              <a:rPr lang="en-US" sz="2400" b="1" dirty="0"/>
              <a:t>List:</a:t>
            </a:r>
            <a:r>
              <a:rPr lang="en-US" sz="2400" dirty="0"/>
              <a:t> ~8 MB</a:t>
            </a:r>
            <a:br>
              <a:rPr lang="en-US" sz="2400" dirty="0"/>
            </a:br>
            <a:r>
              <a:rPr lang="en-US" sz="2400" dirty="0"/>
              <a:t>👉 </a:t>
            </a:r>
            <a:r>
              <a:rPr lang="en-US" sz="2400" b="1" dirty="0"/>
              <a:t>Generator:</a:t>
            </a:r>
            <a:r>
              <a:rPr lang="en-US" sz="2400" dirty="0"/>
              <a:t> only ~112 bytes</a:t>
            </a:r>
          </a:p>
          <a:p>
            <a:r>
              <a:rPr lang="en-US" sz="2400" dirty="0"/>
              <a:t>That’s a </a:t>
            </a:r>
            <a:r>
              <a:rPr lang="en-US" sz="2400" b="1" dirty="0"/>
              <a:t>huge difference</a:t>
            </a:r>
            <a:r>
              <a:rPr lang="en-US" sz="2400" dirty="0"/>
              <a:t> 🚀</a:t>
            </a:r>
          </a:p>
          <a:p>
            <a:endParaRPr lang="en-US" dirty="0"/>
          </a:p>
        </p:txBody>
      </p:sp>
    </p:spTree>
    <p:extLst>
      <p:ext uri="{BB962C8B-B14F-4D97-AF65-F5344CB8AC3E}">
        <p14:creationId xmlns:p14="http://schemas.microsoft.com/office/powerpoint/2010/main" val="239241821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A1DC5D-EBF0-FFB7-7216-66A1EA7705EF}"/>
              </a:ext>
            </a:extLst>
          </p:cNvPr>
          <p:cNvSpPr>
            <a:spLocks noGrp="1"/>
          </p:cNvSpPr>
          <p:nvPr>
            <p:ph type="title"/>
          </p:nvPr>
        </p:nvSpPr>
        <p:spPr/>
        <p:txBody>
          <a:bodyPr/>
          <a:lstStyle/>
          <a:p>
            <a:r>
              <a:rPr lang="en-US" dirty="0"/>
              <a:t>2. Work with Infinite Data</a:t>
            </a:r>
          </a:p>
        </p:txBody>
      </p:sp>
      <p:sp>
        <p:nvSpPr>
          <p:cNvPr id="4" name="Rectangle 1">
            <a:extLst>
              <a:ext uri="{FF2B5EF4-FFF2-40B4-BE49-F238E27FC236}">
                <a16:creationId xmlns:a16="http://schemas.microsoft.com/office/drawing/2014/main" id="{CB802448-27DC-5F22-E5A3-328C7BFDD516}"/>
              </a:ext>
            </a:extLst>
          </p:cNvPr>
          <p:cNvSpPr>
            <a:spLocks noGrp="1" noChangeArrowheads="1"/>
          </p:cNvSpPr>
          <p:nvPr>
            <p:ph idx="1"/>
          </p:nvPr>
        </p:nvSpPr>
        <p:spPr bwMode="auto">
          <a:xfrm>
            <a:off x="706922" y="2182424"/>
            <a:ext cx="10128718" cy="9541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lvl="0" indent="0" defTabSz="914400" eaLnBrk="0" fontAlgn="base" hangingPunct="0">
              <a:spcBef>
                <a:spcPct val="0"/>
              </a:spcBef>
              <a:spcAft>
                <a:spcPct val="0"/>
              </a:spcAft>
              <a:buClrTx/>
              <a:buSzTx/>
              <a:buFontTx/>
              <a:buChar char="•"/>
            </a:pPr>
            <a:r>
              <a:rPr lang="en-US" altLang="en-US" sz="2800" dirty="0">
                <a:solidFill>
                  <a:schemeClr val="tx1"/>
                </a:solidFill>
                <a:latin typeface="Arial" panose="020B0604020202020204" pitchFamily="34" charset="0"/>
              </a:rPr>
              <a:t>Loops need a known collection or condition.</a:t>
            </a:r>
          </a:p>
          <a:p>
            <a:pPr marL="0" lvl="0" indent="0" defTabSz="914400" eaLnBrk="0" fontAlgn="base" hangingPunct="0">
              <a:spcBef>
                <a:spcPct val="0"/>
              </a:spcBef>
              <a:spcAft>
                <a:spcPct val="0"/>
              </a:spcAft>
              <a:buClrTx/>
              <a:buSzTx/>
              <a:buFontTx/>
              <a:buChar char="•"/>
            </a:pPr>
            <a:r>
              <a:rPr lang="en-US" altLang="en-US" sz="2800" dirty="0">
                <a:solidFill>
                  <a:schemeClr val="tx1"/>
                </a:solidFill>
                <a:latin typeface="Arial" panose="020B0604020202020204" pitchFamily="34" charset="0"/>
              </a:rPr>
              <a:t>Iterators can represent </a:t>
            </a:r>
            <a:r>
              <a:rPr lang="en-US" altLang="en-US" sz="2800" b="1" dirty="0">
                <a:solidFill>
                  <a:schemeClr val="tx1"/>
                </a:solidFill>
                <a:latin typeface="Arial" panose="020B0604020202020204" pitchFamily="34" charset="0"/>
              </a:rPr>
              <a:t>infinite sequences</a:t>
            </a:r>
            <a:r>
              <a:rPr lang="en-US" altLang="en-US" sz="2800" dirty="0">
                <a:solidFill>
                  <a:schemeClr val="tx1"/>
                </a:solidFill>
                <a:latin typeface="Arial" panose="020B0604020202020204" pitchFamily="34" charset="0"/>
              </a:rPr>
              <a:t>.</a:t>
            </a:r>
            <a:endParaRPr kumimoji="0" lang="en-US" altLang="en-US" sz="2800" b="0" i="0" u="none" strike="noStrike" cap="none" normalizeH="0" baseline="0" dirty="0">
              <a:ln>
                <a:noFill/>
              </a:ln>
              <a:solidFill>
                <a:schemeClr val="tx1"/>
              </a:solidFill>
              <a:effectLst/>
              <a:latin typeface="Arial" panose="020B0604020202020204" pitchFamily="34" charset="0"/>
            </a:endParaRPr>
          </a:p>
        </p:txBody>
      </p:sp>
      <p:sp>
        <p:nvSpPr>
          <p:cNvPr id="6" name="TextBox 5">
            <a:extLst>
              <a:ext uri="{FF2B5EF4-FFF2-40B4-BE49-F238E27FC236}">
                <a16:creationId xmlns:a16="http://schemas.microsoft.com/office/drawing/2014/main" id="{64149309-412D-A23B-0A9E-A63821E463E1}"/>
              </a:ext>
            </a:extLst>
          </p:cNvPr>
          <p:cNvSpPr txBox="1"/>
          <p:nvPr/>
        </p:nvSpPr>
        <p:spPr>
          <a:xfrm>
            <a:off x="831532" y="3429000"/>
            <a:ext cx="6632257" cy="2726844"/>
          </a:xfrm>
          <a:prstGeom prst="rect">
            <a:avLst/>
          </a:prstGeom>
          <a:noFill/>
        </p:spPr>
        <p:txBody>
          <a:bodyPr wrap="square">
            <a:spAutoFit/>
          </a:bodyPr>
          <a:lstStyle/>
          <a:p>
            <a:r>
              <a:rPr lang="en-US" sz="2800" dirty="0"/>
              <a:t>import </a:t>
            </a:r>
            <a:r>
              <a:rPr lang="en-US" sz="2800" dirty="0" err="1"/>
              <a:t>itertools</a:t>
            </a:r>
            <a:endParaRPr lang="en-US" sz="2800" dirty="0"/>
          </a:p>
          <a:p>
            <a:r>
              <a:rPr lang="en-US" sz="2800" dirty="0" err="1"/>
              <a:t>count_iter</a:t>
            </a:r>
            <a:r>
              <a:rPr lang="en-US" sz="2800" dirty="0"/>
              <a:t> = </a:t>
            </a:r>
            <a:r>
              <a:rPr lang="en-US" sz="2800" dirty="0" err="1"/>
              <a:t>itertools.count</a:t>
            </a:r>
            <a:r>
              <a:rPr lang="en-US" sz="2800" dirty="0"/>
              <a:t>(1)  # infinite iterator</a:t>
            </a:r>
          </a:p>
          <a:p>
            <a:r>
              <a:rPr lang="en-US" sz="2800" dirty="0"/>
              <a:t>for n in </a:t>
            </a:r>
            <a:r>
              <a:rPr lang="en-US" sz="2800" dirty="0" err="1"/>
              <a:t>count_iter</a:t>
            </a:r>
            <a:r>
              <a:rPr lang="en-US" sz="2800" dirty="0"/>
              <a:t>:</a:t>
            </a:r>
          </a:p>
          <a:p>
            <a:r>
              <a:rPr lang="en-US" sz="2800" dirty="0"/>
              <a:t>    if n &gt; 5: break</a:t>
            </a:r>
          </a:p>
          <a:p>
            <a:r>
              <a:rPr lang="en-US" sz="2800" dirty="0"/>
              <a:t>    print(n)   # 1 2 3 4 5</a:t>
            </a:r>
          </a:p>
        </p:txBody>
      </p:sp>
    </p:spTree>
    <p:extLst>
      <p:ext uri="{BB962C8B-B14F-4D97-AF65-F5344CB8AC3E}">
        <p14:creationId xmlns:p14="http://schemas.microsoft.com/office/powerpoint/2010/main" val="42789249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95A706-96EA-E1AE-3A01-C4386B4657D2}"/>
              </a:ext>
            </a:extLst>
          </p:cNvPr>
          <p:cNvSpPr>
            <a:spLocks noGrp="1"/>
          </p:cNvSpPr>
          <p:nvPr>
            <p:ph type="title"/>
          </p:nvPr>
        </p:nvSpPr>
        <p:spPr/>
        <p:txBody>
          <a:bodyPr/>
          <a:lstStyle/>
          <a:p>
            <a:r>
              <a:rPr lang="en-US" dirty="0"/>
              <a:t>3. Consistency</a:t>
            </a:r>
          </a:p>
        </p:txBody>
      </p:sp>
      <p:sp>
        <p:nvSpPr>
          <p:cNvPr id="4" name="Rectangle 1">
            <a:extLst>
              <a:ext uri="{FF2B5EF4-FFF2-40B4-BE49-F238E27FC236}">
                <a16:creationId xmlns:a16="http://schemas.microsoft.com/office/drawing/2014/main" id="{C87C322F-CF6F-8C73-DE2C-5943F926E42B}"/>
              </a:ext>
            </a:extLst>
          </p:cNvPr>
          <p:cNvSpPr>
            <a:spLocks noGrp="1" noChangeArrowheads="1"/>
          </p:cNvSpPr>
          <p:nvPr>
            <p:ph idx="1"/>
          </p:nvPr>
        </p:nvSpPr>
        <p:spPr bwMode="auto">
          <a:xfrm>
            <a:off x="581192" y="2222420"/>
            <a:ext cx="10883098" cy="13849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0" i="0" u="none" strike="noStrike" cap="none" normalizeH="0" baseline="0" dirty="0">
                <a:ln>
                  <a:noFill/>
                </a:ln>
                <a:solidFill>
                  <a:schemeClr val="tx1"/>
                </a:solidFill>
                <a:effectLst/>
                <a:latin typeface="Arial Unicode MS"/>
              </a:rPr>
              <a:t>for</a:t>
            </a:r>
            <a:r>
              <a:rPr kumimoji="0" lang="en-US" altLang="en-US" sz="2800" b="0" i="0" u="none" strike="noStrike" cap="none" normalizeH="0" baseline="0" dirty="0">
                <a:ln>
                  <a:noFill/>
                </a:ln>
                <a:solidFill>
                  <a:schemeClr val="tx1"/>
                </a:solidFill>
                <a:effectLst/>
              </a:rPr>
              <a:t> loops internally use </a:t>
            </a:r>
            <a:r>
              <a:rPr kumimoji="0" lang="en-US" altLang="en-US" sz="2800" b="1" i="0" u="none" strike="noStrike" cap="none" normalizeH="0" baseline="0" dirty="0">
                <a:ln>
                  <a:noFill/>
                </a:ln>
                <a:solidFill>
                  <a:schemeClr val="tx1"/>
                </a:solidFill>
                <a:effectLst/>
                <a:latin typeface="Arial" panose="020B0604020202020204" pitchFamily="34" charset="0"/>
              </a:rPr>
              <a:t>iterators</a:t>
            </a:r>
            <a:r>
              <a:rPr kumimoji="0" lang="en-US" altLang="en-US" sz="28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0" i="0" u="none" strike="noStrike" cap="none" normalizeH="0" baseline="0" dirty="0">
                <a:ln>
                  <a:noFill/>
                </a:ln>
                <a:solidFill>
                  <a:schemeClr val="tx1"/>
                </a:solidFill>
                <a:effectLst/>
                <a:latin typeface="Arial" panose="020B0604020202020204" pitchFamily="34" charset="0"/>
              </a:rPr>
              <a:t>Every </a:t>
            </a:r>
            <a:r>
              <a:rPr kumimoji="0" lang="en-US" altLang="en-US" sz="2800" b="0" i="0" u="none" strike="noStrike" cap="none" normalizeH="0" baseline="0" dirty="0" err="1">
                <a:ln>
                  <a:noFill/>
                </a:ln>
                <a:solidFill>
                  <a:schemeClr val="tx1"/>
                </a:solidFill>
                <a:effectLst/>
                <a:latin typeface="Arial" panose="020B0604020202020204" pitchFamily="34" charset="0"/>
              </a:rPr>
              <a:t>iterable</a:t>
            </a:r>
            <a:r>
              <a:rPr kumimoji="0" lang="en-US" altLang="en-US" sz="2800" b="0" i="0" u="none" strike="noStrike" cap="none" normalizeH="0" baseline="0" dirty="0">
                <a:ln>
                  <a:noFill/>
                </a:ln>
                <a:solidFill>
                  <a:schemeClr val="tx1"/>
                </a:solidFill>
                <a:effectLst/>
                <a:latin typeface="Arial" panose="020B0604020202020204" pitchFamily="34" charset="0"/>
              </a:rPr>
              <a:t> (</a:t>
            </a:r>
            <a:r>
              <a:rPr kumimoji="0" lang="en-US" altLang="en-US" sz="2800" b="0" i="0" u="none" strike="noStrike" cap="none" normalizeH="0" baseline="0" dirty="0">
                <a:ln>
                  <a:noFill/>
                </a:ln>
                <a:solidFill>
                  <a:schemeClr val="tx1"/>
                </a:solidFill>
                <a:effectLst/>
                <a:latin typeface="Arial Unicode MS"/>
              </a:rPr>
              <a:t>list</a:t>
            </a:r>
            <a:r>
              <a:rPr kumimoji="0" lang="en-US" altLang="en-US" sz="2800" b="0" i="0" u="none" strike="noStrike" cap="none" normalizeH="0" baseline="0" dirty="0">
                <a:ln>
                  <a:noFill/>
                </a:ln>
                <a:solidFill>
                  <a:schemeClr val="tx1"/>
                </a:solidFill>
                <a:effectLst/>
              </a:rPr>
              <a:t>, </a:t>
            </a:r>
            <a:r>
              <a:rPr kumimoji="0" lang="en-US" altLang="en-US" sz="2800" b="0" i="0" u="none" strike="noStrike" cap="none" normalizeH="0" baseline="0" dirty="0">
                <a:ln>
                  <a:noFill/>
                </a:ln>
                <a:solidFill>
                  <a:schemeClr val="tx1"/>
                </a:solidFill>
                <a:effectLst/>
                <a:latin typeface="Arial Unicode MS"/>
              </a:rPr>
              <a:t>tuple</a:t>
            </a:r>
            <a:r>
              <a:rPr kumimoji="0" lang="en-US" altLang="en-US" sz="2800" b="0" i="0" u="none" strike="noStrike" cap="none" normalizeH="0" baseline="0" dirty="0">
                <a:ln>
                  <a:noFill/>
                </a:ln>
                <a:solidFill>
                  <a:schemeClr val="tx1"/>
                </a:solidFill>
                <a:effectLst/>
              </a:rPr>
              <a:t>, </a:t>
            </a:r>
            <a:r>
              <a:rPr kumimoji="0" lang="en-US" altLang="en-US" sz="2800" b="0" i="0" u="none" strike="noStrike" cap="none" normalizeH="0" baseline="0" dirty="0" err="1">
                <a:ln>
                  <a:noFill/>
                </a:ln>
                <a:solidFill>
                  <a:schemeClr val="tx1"/>
                </a:solidFill>
                <a:effectLst/>
                <a:latin typeface="Arial Unicode MS"/>
              </a:rPr>
              <a:t>dict</a:t>
            </a:r>
            <a:r>
              <a:rPr kumimoji="0" lang="en-US" altLang="en-US" sz="2800" b="0" i="0" u="none" strike="noStrike" cap="none" normalizeH="0" baseline="0" dirty="0">
                <a:ln>
                  <a:noFill/>
                </a:ln>
                <a:solidFill>
                  <a:schemeClr val="tx1"/>
                </a:solidFill>
                <a:effectLst/>
              </a:rPr>
              <a:t>, </a:t>
            </a:r>
            <a:r>
              <a:rPr kumimoji="0" lang="en-US" altLang="en-US" sz="2800" b="0" i="0" u="none" strike="noStrike" cap="none" normalizeH="0" baseline="0" dirty="0">
                <a:ln>
                  <a:noFill/>
                </a:ln>
                <a:solidFill>
                  <a:schemeClr val="tx1"/>
                </a:solidFill>
                <a:effectLst/>
                <a:latin typeface="Arial Unicode MS"/>
              </a:rPr>
              <a:t>set</a:t>
            </a:r>
            <a:r>
              <a:rPr kumimoji="0" lang="en-US" altLang="en-US" sz="2800" b="0" i="0" u="none" strike="noStrike" cap="none" normalizeH="0" baseline="0" dirty="0">
                <a:ln>
                  <a:noFill/>
                </a:ln>
                <a:solidFill>
                  <a:schemeClr val="tx1"/>
                </a:solidFill>
                <a:effectLst/>
              </a:rPr>
              <a:t>) is converted to an iterator behind the scenes.</a:t>
            </a:r>
            <a:endParaRPr kumimoji="0" lang="en-US" altLang="en-US" sz="2800" b="0" i="0" u="none" strike="noStrike" cap="none" normalizeH="0" baseline="0" dirty="0">
              <a:ln>
                <a:noFill/>
              </a:ln>
              <a:solidFill>
                <a:schemeClr val="tx1"/>
              </a:solidFill>
              <a:effectLst/>
              <a:latin typeface="Arial" panose="020B0604020202020204" pitchFamily="34" charset="0"/>
            </a:endParaRPr>
          </a:p>
        </p:txBody>
      </p:sp>
      <p:sp>
        <p:nvSpPr>
          <p:cNvPr id="6" name="TextBox 5">
            <a:extLst>
              <a:ext uri="{FF2B5EF4-FFF2-40B4-BE49-F238E27FC236}">
                <a16:creationId xmlns:a16="http://schemas.microsoft.com/office/drawing/2014/main" id="{0C720833-0A39-3716-0F9C-415A9BA9E9FE}"/>
              </a:ext>
            </a:extLst>
          </p:cNvPr>
          <p:cNvSpPr txBox="1"/>
          <p:nvPr/>
        </p:nvSpPr>
        <p:spPr>
          <a:xfrm>
            <a:off x="581192" y="4113879"/>
            <a:ext cx="8746807" cy="2246769"/>
          </a:xfrm>
          <a:prstGeom prst="rect">
            <a:avLst/>
          </a:prstGeom>
          <a:noFill/>
        </p:spPr>
        <p:txBody>
          <a:bodyPr wrap="square">
            <a:spAutoFit/>
          </a:bodyPr>
          <a:lstStyle/>
          <a:p>
            <a:r>
              <a:rPr lang="en-US" sz="2800" dirty="0"/>
              <a:t>numbers = [1, 2, 3]</a:t>
            </a:r>
          </a:p>
          <a:p>
            <a:r>
              <a:rPr lang="en-US" sz="2800" dirty="0"/>
              <a:t>it = iter(numbers)      # creates an iterator</a:t>
            </a:r>
          </a:p>
          <a:p>
            <a:r>
              <a:rPr lang="en-US" sz="2800" dirty="0"/>
              <a:t>print(next(it))  # 1</a:t>
            </a:r>
          </a:p>
          <a:p>
            <a:r>
              <a:rPr lang="en-US" sz="2800" dirty="0"/>
              <a:t>print(next(it))  # 2</a:t>
            </a:r>
          </a:p>
          <a:p>
            <a:r>
              <a:rPr lang="en-US" sz="2800" dirty="0"/>
              <a:t>print(next(it))  # 3</a:t>
            </a:r>
          </a:p>
        </p:txBody>
      </p:sp>
    </p:spTree>
    <p:extLst>
      <p:ext uri="{BB962C8B-B14F-4D97-AF65-F5344CB8AC3E}">
        <p14:creationId xmlns:p14="http://schemas.microsoft.com/office/powerpoint/2010/main" val="83249977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A9E1F38F-FDB3-4FCB-CBC3-DEF8FAE0F5CE}"/>
              </a:ext>
            </a:extLst>
          </p:cNvPr>
          <p:cNvSpPr>
            <a:spLocks noGrp="1"/>
          </p:cNvSpPr>
          <p:nvPr>
            <p:ph type="title"/>
          </p:nvPr>
        </p:nvSpPr>
        <p:spPr/>
        <p:txBody>
          <a:bodyPr/>
          <a:lstStyle/>
          <a:p>
            <a:r>
              <a:rPr lang="en-US" dirty="0"/>
              <a:t>4. Pipeline Processing</a:t>
            </a:r>
          </a:p>
        </p:txBody>
      </p:sp>
      <p:sp>
        <p:nvSpPr>
          <p:cNvPr id="11" name="Rectangle 2">
            <a:extLst>
              <a:ext uri="{FF2B5EF4-FFF2-40B4-BE49-F238E27FC236}">
                <a16:creationId xmlns:a16="http://schemas.microsoft.com/office/drawing/2014/main" id="{34A2A97C-2DA8-E43F-A286-F21A43924116}"/>
              </a:ext>
            </a:extLst>
          </p:cNvPr>
          <p:cNvSpPr>
            <a:spLocks noGrp="1" noChangeArrowheads="1"/>
          </p:cNvSpPr>
          <p:nvPr>
            <p:ph idx="1"/>
          </p:nvPr>
        </p:nvSpPr>
        <p:spPr bwMode="auto">
          <a:xfrm>
            <a:off x="581192" y="2090172"/>
            <a:ext cx="11134558" cy="2677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lvl="0" indent="0" defTabSz="914400" eaLnBrk="0" fontAlgn="base" hangingPunct="0">
              <a:spcBef>
                <a:spcPct val="0"/>
              </a:spcBef>
              <a:spcAft>
                <a:spcPct val="0"/>
              </a:spcAft>
              <a:buClrTx/>
              <a:buSzTx/>
              <a:buFontTx/>
              <a:buChar char="•"/>
            </a:pPr>
            <a:r>
              <a:rPr lang="en-US" altLang="en-US" sz="2800" dirty="0">
                <a:solidFill>
                  <a:schemeClr val="tx1"/>
                </a:solidFill>
                <a:latin typeface="Arial" panose="020B0604020202020204" pitchFamily="34" charset="0"/>
              </a:rPr>
              <a:t>Instead of processing all data at once and storing intermediate results, we </a:t>
            </a:r>
            <a:r>
              <a:rPr lang="en-US" altLang="en-US" sz="2800" b="1" dirty="0">
                <a:solidFill>
                  <a:schemeClr val="tx1"/>
                </a:solidFill>
                <a:latin typeface="Arial" panose="020B0604020202020204" pitchFamily="34" charset="0"/>
              </a:rPr>
              <a:t>chain multiple iterator operations</a:t>
            </a:r>
            <a:r>
              <a:rPr lang="en-US" altLang="en-US" sz="2800" dirty="0">
                <a:solidFill>
                  <a:schemeClr val="tx1"/>
                </a:solidFill>
                <a:latin typeface="Arial" panose="020B0604020202020204" pitchFamily="34" charset="0"/>
              </a:rPr>
              <a:t> together.</a:t>
            </a:r>
          </a:p>
          <a:p>
            <a:pPr marL="0" lvl="0" indent="0" defTabSz="914400" eaLnBrk="0" fontAlgn="base" hangingPunct="0">
              <a:spcBef>
                <a:spcPct val="0"/>
              </a:spcBef>
              <a:spcAft>
                <a:spcPct val="0"/>
              </a:spcAft>
              <a:buClrTx/>
              <a:buSzTx/>
              <a:buFontTx/>
              <a:buChar char="•"/>
            </a:pPr>
            <a:r>
              <a:rPr lang="en-US" altLang="en-US" sz="2800" dirty="0">
                <a:solidFill>
                  <a:schemeClr val="tx1"/>
                </a:solidFill>
                <a:latin typeface="Arial" panose="020B0604020202020204" pitchFamily="34" charset="0"/>
              </a:rPr>
              <a:t>Each stage passes items to the next </a:t>
            </a:r>
            <a:r>
              <a:rPr lang="en-US" altLang="en-US" sz="2800" b="1" dirty="0">
                <a:solidFill>
                  <a:schemeClr val="tx1"/>
                </a:solidFill>
                <a:latin typeface="Arial" panose="020B0604020202020204" pitchFamily="34" charset="0"/>
              </a:rPr>
              <a:t>lazily</a:t>
            </a:r>
            <a:r>
              <a:rPr lang="en-US" altLang="en-US" sz="2800" dirty="0">
                <a:solidFill>
                  <a:schemeClr val="tx1"/>
                </a:solidFill>
                <a:latin typeface="Arial" panose="020B0604020202020204" pitchFamily="34" charset="0"/>
              </a:rPr>
              <a:t>, one by one.</a:t>
            </a:r>
          </a:p>
          <a:p>
            <a:pPr marL="0" lvl="0" indent="0" defTabSz="914400" eaLnBrk="0" fontAlgn="base" hangingPunct="0">
              <a:spcBef>
                <a:spcPct val="0"/>
              </a:spcBef>
              <a:spcAft>
                <a:spcPct val="0"/>
              </a:spcAft>
              <a:buClrTx/>
              <a:buSzTx/>
              <a:buFontTx/>
              <a:buChar char="•"/>
            </a:pPr>
            <a:r>
              <a:rPr lang="en-US" altLang="en-US" sz="2800" dirty="0">
                <a:solidFill>
                  <a:schemeClr val="tx1"/>
                </a:solidFill>
                <a:latin typeface="Arial" panose="020B0604020202020204" pitchFamily="34" charset="0"/>
              </a:rPr>
              <a:t>This is like a </a:t>
            </a:r>
            <a:r>
              <a:rPr lang="en-US" altLang="en-US" sz="2800" b="1" dirty="0">
                <a:solidFill>
                  <a:schemeClr val="tx1"/>
                </a:solidFill>
                <a:latin typeface="Arial" panose="020B0604020202020204" pitchFamily="34" charset="0"/>
              </a:rPr>
              <a:t>factory pipeline</a:t>
            </a:r>
            <a:r>
              <a:rPr lang="en-US" altLang="en-US" sz="2800" dirty="0">
                <a:solidFill>
                  <a:schemeClr val="tx1"/>
                </a:solidFill>
                <a:latin typeface="Arial" panose="020B0604020202020204" pitchFamily="34" charset="0"/>
              </a:rPr>
              <a:t>: raw material → step1 → step2 → step3 → finished product.</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14847535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4EEC2E-E90F-5DE8-1A11-943BB52E3EAA}"/>
              </a:ext>
            </a:extLst>
          </p:cNvPr>
          <p:cNvSpPr>
            <a:spLocks noGrp="1"/>
          </p:cNvSpPr>
          <p:nvPr>
            <p:ph type="title"/>
          </p:nvPr>
        </p:nvSpPr>
        <p:spPr/>
        <p:txBody>
          <a:bodyPr>
            <a:normAutofit/>
          </a:bodyPr>
          <a:lstStyle/>
          <a:p>
            <a:r>
              <a:rPr lang="en-US" dirty="0"/>
              <a:t>Pipeline with eager vs lazy iterators</a:t>
            </a:r>
            <a:br>
              <a:rPr lang="en-US" dirty="0"/>
            </a:br>
            <a:r>
              <a:rPr lang="en-US" sz="2000" dirty="0"/>
              <a:t>Let’s say we want to:  Take numbers 0–9 Keep only even numbers Square them</a:t>
            </a:r>
          </a:p>
        </p:txBody>
      </p:sp>
      <p:sp>
        <p:nvSpPr>
          <p:cNvPr id="3" name="Text Placeholder 2">
            <a:extLst>
              <a:ext uri="{FF2B5EF4-FFF2-40B4-BE49-F238E27FC236}">
                <a16:creationId xmlns:a16="http://schemas.microsoft.com/office/drawing/2014/main" id="{8E3DC292-4B9C-8E64-490F-E8921CABD53C}"/>
              </a:ext>
            </a:extLst>
          </p:cNvPr>
          <p:cNvSpPr>
            <a:spLocks noGrp="1"/>
          </p:cNvSpPr>
          <p:nvPr>
            <p:ph type="body" idx="1"/>
          </p:nvPr>
        </p:nvSpPr>
        <p:spPr>
          <a:xfrm>
            <a:off x="487169" y="1873702"/>
            <a:ext cx="5087075" cy="536005"/>
          </a:xfrm>
        </p:spPr>
        <p:txBody>
          <a:bodyPr/>
          <a:lstStyle/>
          <a:p>
            <a:r>
              <a:rPr lang="en-US" dirty="0"/>
              <a:t>Pipeline(Eagar)</a:t>
            </a:r>
          </a:p>
        </p:txBody>
      </p:sp>
      <p:sp>
        <p:nvSpPr>
          <p:cNvPr id="4" name="Content Placeholder 3">
            <a:extLst>
              <a:ext uri="{FF2B5EF4-FFF2-40B4-BE49-F238E27FC236}">
                <a16:creationId xmlns:a16="http://schemas.microsoft.com/office/drawing/2014/main" id="{713540B2-87A8-1499-2672-1516F079DABB}"/>
              </a:ext>
            </a:extLst>
          </p:cNvPr>
          <p:cNvSpPr>
            <a:spLocks noGrp="1"/>
          </p:cNvSpPr>
          <p:nvPr>
            <p:ph sz="half" idx="2"/>
          </p:nvPr>
        </p:nvSpPr>
        <p:spPr>
          <a:xfrm>
            <a:off x="334154" y="2579347"/>
            <a:ext cx="5529434" cy="2934999"/>
          </a:xfrm>
          <a:ln>
            <a:solidFill>
              <a:schemeClr val="tx1"/>
            </a:solidFill>
          </a:ln>
        </p:spPr>
        <p:txBody>
          <a:bodyPr/>
          <a:lstStyle/>
          <a:p>
            <a:pPr marL="0" indent="0">
              <a:buNone/>
            </a:pPr>
            <a:r>
              <a:rPr lang="en-US" dirty="0"/>
              <a:t>data = list(range(10))           # step 1: full list in memory</a:t>
            </a:r>
          </a:p>
          <a:p>
            <a:pPr marL="0" indent="0">
              <a:buNone/>
            </a:pPr>
            <a:r>
              <a:rPr lang="en-US" dirty="0"/>
              <a:t>evens = [x for x in data if x % 2 == 0]   # step 2: new list</a:t>
            </a:r>
          </a:p>
          <a:p>
            <a:pPr marL="0" indent="0">
              <a:buNone/>
            </a:pPr>
            <a:r>
              <a:rPr lang="en-US" dirty="0"/>
              <a:t>squares = [x**2 for x in evens]     # step 3: another list</a:t>
            </a:r>
          </a:p>
          <a:p>
            <a:pPr marL="0" indent="0">
              <a:buNone/>
            </a:pPr>
            <a:r>
              <a:rPr lang="en-US" dirty="0"/>
              <a:t>print(squares)   # [0, 4, 16, 36, 64]</a:t>
            </a:r>
          </a:p>
          <a:p>
            <a:endParaRPr lang="en-US" dirty="0"/>
          </a:p>
        </p:txBody>
      </p:sp>
      <p:sp>
        <p:nvSpPr>
          <p:cNvPr id="5" name="Text Placeholder 4">
            <a:extLst>
              <a:ext uri="{FF2B5EF4-FFF2-40B4-BE49-F238E27FC236}">
                <a16:creationId xmlns:a16="http://schemas.microsoft.com/office/drawing/2014/main" id="{28749FB9-89CB-8085-E4EF-46D56A80E124}"/>
              </a:ext>
            </a:extLst>
          </p:cNvPr>
          <p:cNvSpPr>
            <a:spLocks noGrp="1"/>
          </p:cNvSpPr>
          <p:nvPr>
            <p:ph type="body" sz="quarter" idx="3"/>
          </p:nvPr>
        </p:nvSpPr>
        <p:spPr>
          <a:xfrm>
            <a:off x="5863590" y="1717990"/>
            <a:ext cx="5747217" cy="988332"/>
          </a:xfrm>
        </p:spPr>
        <p:txBody>
          <a:bodyPr/>
          <a:lstStyle/>
          <a:p>
            <a:r>
              <a:rPr lang="en-US" sz="2400" dirty="0"/>
              <a:t>Pipeline(</a:t>
            </a:r>
            <a:r>
              <a:rPr lang="en-US" sz="2400" dirty="0" err="1"/>
              <a:t>Iazy</a:t>
            </a:r>
            <a:r>
              <a:rPr lang="en-US" sz="2400" dirty="0"/>
              <a:t> Iterators) - </a:t>
            </a:r>
            <a:r>
              <a:rPr lang="en-US" altLang="en-US" sz="2400" dirty="0">
                <a:solidFill>
                  <a:schemeClr val="tx1"/>
                </a:solidFill>
                <a:latin typeface="Arial" panose="020B0604020202020204" pitchFamily="34" charset="0"/>
              </a:rPr>
              <a:t>use </a:t>
            </a:r>
            <a:r>
              <a:rPr lang="en-US" altLang="en-US" sz="2400" dirty="0">
                <a:solidFill>
                  <a:schemeClr val="tx1"/>
                </a:solidFill>
                <a:latin typeface="Arial Unicode MS"/>
              </a:rPr>
              <a:t>filter()</a:t>
            </a:r>
            <a:r>
              <a:rPr lang="en-US" altLang="en-US" sz="2400" dirty="0">
                <a:solidFill>
                  <a:schemeClr val="tx1"/>
                </a:solidFill>
              </a:rPr>
              <a:t>, </a:t>
            </a:r>
            <a:r>
              <a:rPr lang="en-US" altLang="en-US" sz="2400" dirty="0">
                <a:solidFill>
                  <a:schemeClr val="tx1"/>
                </a:solidFill>
                <a:latin typeface="Arial Unicode MS"/>
              </a:rPr>
              <a:t>map()</a:t>
            </a:r>
            <a:r>
              <a:rPr lang="en-US" altLang="en-US" sz="2400" dirty="0">
                <a:solidFill>
                  <a:schemeClr val="tx1"/>
                </a:solidFill>
              </a:rPr>
              <a:t>, or generator expressions. </a:t>
            </a:r>
            <a:endParaRPr lang="en-US" sz="2400" dirty="0"/>
          </a:p>
        </p:txBody>
      </p:sp>
      <p:sp>
        <p:nvSpPr>
          <p:cNvPr id="6" name="Content Placeholder 5">
            <a:extLst>
              <a:ext uri="{FF2B5EF4-FFF2-40B4-BE49-F238E27FC236}">
                <a16:creationId xmlns:a16="http://schemas.microsoft.com/office/drawing/2014/main" id="{8D144471-D498-93E6-5B70-F13B5E33D7D7}"/>
              </a:ext>
            </a:extLst>
          </p:cNvPr>
          <p:cNvSpPr>
            <a:spLocks noGrp="1"/>
          </p:cNvSpPr>
          <p:nvPr>
            <p:ph sz="quarter" idx="4"/>
          </p:nvPr>
        </p:nvSpPr>
        <p:spPr>
          <a:xfrm>
            <a:off x="5967240" y="2728223"/>
            <a:ext cx="5994254" cy="2411788"/>
          </a:xfrm>
          <a:ln>
            <a:solidFill>
              <a:schemeClr val="tx1"/>
            </a:solidFill>
          </a:ln>
        </p:spPr>
        <p:txBody>
          <a:bodyPr/>
          <a:lstStyle/>
          <a:p>
            <a:pPr marL="0" indent="0">
              <a:buNone/>
            </a:pPr>
            <a:r>
              <a:rPr lang="en-US" dirty="0"/>
              <a:t>data = range(10)                              # range is already lazy</a:t>
            </a:r>
          </a:p>
          <a:p>
            <a:pPr marL="0" indent="0">
              <a:buNone/>
            </a:pPr>
            <a:r>
              <a:rPr lang="en-US" dirty="0"/>
              <a:t>evens = filter(lambda x: x % 2 == 0, data)    # lazy filter</a:t>
            </a:r>
          </a:p>
          <a:p>
            <a:pPr marL="0" indent="0">
              <a:buNone/>
            </a:pPr>
            <a:r>
              <a:rPr lang="en-US" dirty="0"/>
              <a:t>squares = map(lambda x: x**2, evens)          # lazy map</a:t>
            </a:r>
          </a:p>
          <a:p>
            <a:pPr marL="0" indent="0">
              <a:buNone/>
            </a:pPr>
            <a:endParaRPr lang="en-US" dirty="0"/>
          </a:p>
          <a:p>
            <a:pPr marL="0" indent="0">
              <a:buNone/>
            </a:pPr>
            <a:r>
              <a:rPr lang="en-US" dirty="0"/>
              <a:t>print(list(squares))   # [0, 4, 16, 36, 64]</a:t>
            </a:r>
          </a:p>
          <a:p>
            <a:pPr marL="0" indent="0">
              <a:buNone/>
            </a:pPr>
            <a:endParaRPr lang="en-US" dirty="0"/>
          </a:p>
        </p:txBody>
      </p:sp>
      <p:sp>
        <p:nvSpPr>
          <p:cNvPr id="10" name="TextBox 9">
            <a:extLst>
              <a:ext uri="{FF2B5EF4-FFF2-40B4-BE49-F238E27FC236}">
                <a16:creationId xmlns:a16="http://schemas.microsoft.com/office/drawing/2014/main" id="{CA471617-8D20-6210-5699-E320C221987F}"/>
              </a:ext>
            </a:extLst>
          </p:cNvPr>
          <p:cNvSpPr txBox="1"/>
          <p:nvPr/>
        </p:nvSpPr>
        <p:spPr>
          <a:xfrm>
            <a:off x="5978670" y="5161912"/>
            <a:ext cx="5865494" cy="1477328"/>
          </a:xfrm>
          <a:prstGeom prst="rect">
            <a:avLst/>
          </a:prstGeom>
          <a:noFill/>
        </p:spPr>
        <p:txBody>
          <a:bodyPr wrap="square">
            <a:spAutoFit/>
          </a:bodyPr>
          <a:lstStyle/>
          <a:p>
            <a:pPr defTabSz="914400" eaLnBrk="0" fontAlgn="base" hangingPunct="0">
              <a:spcBef>
                <a:spcPct val="0"/>
              </a:spcBef>
              <a:spcAft>
                <a:spcPct val="0"/>
              </a:spcAft>
            </a:pPr>
            <a:r>
              <a:rPr lang="en-US" altLang="en-US" dirty="0">
                <a:latin typeface="Arial" panose="020B0604020202020204" pitchFamily="34" charset="0"/>
              </a:rPr>
              <a:t>For each number in </a:t>
            </a:r>
            <a:r>
              <a:rPr lang="en-US" altLang="en-US" dirty="0">
                <a:latin typeface="Arial Unicode MS"/>
              </a:rPr>
              <a:t>range(10)</a:t>
            </a:r>
            <a:r>
              <a:rPr lang="en-US" altLang="en-US" dirty="0"/>
              <a:t>: </a:t>
            </a:r>
            <a:endParaRPr lang="en-US" altLang="en-US" dirty="0">
              <a:latin typeface="Arial" panose="020B0604020202020204" pitchFamily="34" charset="0"/>
            </a:endParaRPr>
          </a:p>
          <a:p>
            <a:pPr lvl="1" defTabSz="914400" eaLnBrk="0" fontAlgn="base" hangingPunct="0">
              <a:spcBef>
                <a:spcPct val="0"/>
              </a:spcBef>
              <a:spcAft>
                <a:spcPct val="0"/>
              </a:spcAft>
              <a:buFontTx/>
              <a:buChar char="•"/>
            </a:pPr>
            <a:r>
              <a:rPr lang="en-US" altLang="en-US" dirty="0">
                <a:latin typeface="Arial Unicode MS"/>
              </a:rPr>
              <a:t>filter checks if it’s even.</a:t>
            </a:r>
          </a:p>
          <a:p>
            <a:pPr lvl="1" defTabSz="914400" eaLnBrk="0" fontAlgn="base" hangingPunct="0">
              <a:spcBef>
                <a:spcPct val="0"/>
              </a:spcBef>
              <a:spcAft>
                <a:spcPct val="0"/>
              </a:spcAft>
              <a:buFontTx/>
              <a:buChar char="•"/>
            </a:pPr>
            <a:r>
              <a:rPr kumimoji="0" lang="en-US" altLang="en-US" b="0" i="0" u="none" strike="noStrike" cap="none" normalizeH="0" baseline="0" dirty="0">
                <a:ln>
                  <a:noFill/>
                </a:ln>
                <a:solidFill>
                  <a:schemeClr val="tx1"/>
                </a:solidFill>
                <a:effectLst/>
                <a:latin typeface="Arial" panose="020B0604020202020204" pitchFamily="34" charset="0"/>
              </a:rPr>
              <a:t>If yes → passes it to </a:t>
            </a:r>
            <a:r>
              <a:rPr kumimoji="0" lang="en-US" altLang="en-US" b="0" i="0" u="none" strike="noStrike" cap="none" normalizeH="0" baseline="0" dirty="0">
                <a:ln>
                  <a:noFill/>
                </a:ln>
                <a:solidFill>
                  <a:schemeClr val="tx1"/>
                </a:solidFill>
                <a:effectLst/>
                <a:latin typeface="Arial Unicode MS"/>
              </a:rPr>
              <a:t>map</a:t>
            </a:r>
            <a:r>
              <a:rPr kumimoji="0" lang="en-US" altLang="en-US" b="0" i="0" u="none" strike="noStrike" cap="none" normalizeH="0" baseline="0" dirty="0">
                <a:ln>
                  <a:noFill/>
                </a:ln>
                <a:solidFill>
                  <a:schemeClr val="tx1"/>
                </a:solidFill>
                <a:effectLst/>
              </a:rPr>
              <a:t>.</a:t>
            </a:r>
            <a:endParaRPr kumimoji="0" lang="en-US" altLang="en-US" b="0" i="0" u="none" strike="noStrike" cap="none" normalizeH="0" baseline="0" dirty="0">
              <a:ln>
                <a:noFill/>
              </a:ln>
              <a:solidFill>
                <a:schemeClr val="tx1"/>
              </a:solidFill>
              <a:effectLst/>
              <a:latin typeface="Arial" panose="020B0604020202020204" pitchFamily="34" charset="0"/>
            </a:endParaRPr>
          </a:p>
          <a:p>
            <a:pPr lvl="1" defTabSz="914400" eaLnBrk="0" fontAlgn="base" hangingPunct="0">
              <a:spcBef>
                <a:spcPct val="0"/>
              </a:spcBef>
              <a:spcAft>
                <a:spcPct val="0"/>
              </a:spcAft>
              <a:buFontTx/>
              <a:buChar char="•"/>
            </a:pPr>
            <a:r>
              <a:rPr kumimoji="0" lang="en-US" altLang="en-US" b="0" i="0" u="none" strike="noStrike" cap="none" normalizeH="0" baseline="0" dirty="0">
                <a:ln>
                  <a:noFill/>
                </a:ln>
                <a:solidFill>
                  <a:schemeClr val="tx1"/>
                </a:solidFill>
                <a:effectLst/>
                <a:latin typeface="Arial Unicode MS"/>
              </a:rPr>
              <a:t>map</a:t>
            </a:r>
            <a:r>
              <a:rPr kumimoji="0" lang="en-US" altLang="en-US" b="0" i="0" u="none" strike="noStrike" cap="none" normalizeH="0" baseline="0" dirty="0">
                <a:ln>
                  <a:noFill/>
                </a:ln>
                <a:solidFill>
                  <a:schemeClr val="tx1"/>
                </a:solidFill>
                <a:effectLst/>
              </a:rPr>
              <a:t> squares it and yields the result.</a:t>
            </a:r>
            <a:endParaRPr kumimoji="0" lang="en-US" altLang="en-US" b="0" i="0" u="none" strike="noStrike" cap="none" normalizeH="0" baseline="0" dirty="0">
              <a:ln>
                <a:noFill/>
              </a:ln>
              <a:solidFill>
                <a:schemeClr val="tx1"/>
              </a:solidFill>
              <a:effectLst/>
              <a:latin typeface="Arial" panose="020B0604020202020204" pitchFamily="34" charset="0"/>
            </a:endParaRPr>
          </a:p>
          <a:p>
            <a:pPr lvl="1" defTabSz="914400" eaLnBrk="0" fontAlgn="base" hangingPunct="0">
              <a:spcBef>
                <a:spcPct val="0"/>
              </a:spcBef>
              <a:spcAft>
                <a:spcPct val="0"/>
              </a:spcAft>
              <a:buFontTx/>
              <a:buChar char="•"/>
            </a:pPr>
            <a:r>
              <a:rPr kumimoji="0" lang="en-US" altLang="en-US" b="0" i="0" u="none" strike="noStrike" cap="none" normalizeH="0" baseline="0" dirty="0">
                <a:ln>
                  <a:noFill/>
                </a:ln>
                <a:solidFill>
                  <a:schemeClr val="tx1"/>
                </a:solidFill>
                <a:effectLst/>
                <a:latin typeface="Arial" panose="020B0604020202020204" pitchFamily="34" charset="0"/>
              </a:rPr>
              <a:t>Only then Python moves to the next number.</a:t>
            </a:r>
          </a:p>
        </p:txBody>
      </p:sp>
    </p:spTree>
    <p:extLst>
      <p:ext uri="{BB962C8B-B14F-4D97-AF65-F5344CB8AC3E}">
        <p14:creationId xmlns:p14="http://schemas.microsoft.com/office/powerpoint/2010/main" val="219328036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4ECD5F-E465-DBC4-553F-9EF218AD042B}"/>
              </a:ext>
            </a:extLst>
          </p:cNvPr>
          <p:cNvSpPr>
            <a:spLocks noGrp="1"/>
          </p:cNvSpPr>
          <p:nvPr>
            <p:ph type="title"/>
          </p:nvPr>
        </p:nvSpPr>
        <p:spPr/>
        <p:txBody>
          <a:bodyPr/>
          <a:lstStyle/>
          <a:p>
            <a:r>
              <a:rPr lang="en-US" dirty="0"/>
              <a:t>Why iterator?</a:t>
            </a:r>
          </a:p>
        </p:txBody>
      </p:sp>
      <p:sp>
        <p:nvSpPr>
          <p:cNvPr id="5" name="Rectangle 1">
            <a:extLst>
              <a:ext uri="{FF2B5EF4-FFF2-40B4-BE49-F238E27FC236}">
                <a16:creationId xmlns:a16="http://schemas.microsoft.com/office/drawing/2014/main" id="{7BE79B0F-DA74-D267-8606-0096895B323D}"/>
              </a:ext>
            </a:extLst>
          </p:cNvPr>
          <p:cNvSpPr>
            <a:spLocks noGrp="1" noChangeArrowheads="1"/>
          </p:cNvSpPr>
          <p:nvPr>
            <p:ph sz="half" idx="1"/>
          </p:nvPr>
        </p:nvSpPr>
        <p:spPr bwMode="auto">
          <a:xfrm>
            <a:off x="581192" y="2274812"/>
            <a:ext cx="11029615" cy="35394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0" i="0" u="none" strike="noStrike" cap="none" normalizeH="0" baseline="0" dirty="0">
                <a:ln>
                  <a:noFill/>
                </a:ln>
                <a:solidFill>
                  <a:schemeClr val="tx1"/>
                </a:solidFill>
                <a:effectLst/>
                <a:latin typeface="Arial" panose="020B0604020202020204" pitchFamily="34" charset="0"/>
              </a:rPr>
              <a:t>If you deal with </a:t>
            </a:r>
            <a:r>
              <a:rPr kumimoji="0" lang="en-US" altLang="en-US" sz="2800" b="1" i="0" u="none" strike="noStrike" cap="none" normalizeH="0" baseline="0" dirty="0">
                <a:ln>
                  <a:noFill/>
                </a:ln>
                <a:solidFill>
                  <a:schemeClr val="tx1"/>
                </a:solidFill>
                <a:effectLst/>
                <a:latin typeface="Arial" panose="020B0604020202020204" pitchFamily="34" charset="0"/>
              </a:rPr>
              <a:t>large datasets</a:t>
            </a:r>
            <a:r>
              <a:rPr kumimoji="0" lang="en-US" altLang="en-US" sz="2800" b="0" i="0" u="none" strike="noStrike" cap="none" normalizeH="0" baseline="0" dirty="0">
                <a:ln>
                  <a:noFill/>
                </a:ln>
                <a:solidFill>
                  <a:schemeClr val="tx1"/>
                </a:solidFill>
                <a:effectLst/>
                <a:latin typeface="Arial" panose="020B0604020202020204" pitchFamily="34" charset="0"/>
              </a:rPr>
              <a:t> (millions of records), eager lists can </a:t>
            </a:r>
            <a:r>
              <a:rPr kumimoji="0" lang="en-US" altLang="en-US" sz="2800" b="1" i="0" u="none" strike="noStrike" cap="none" normalizeH="0" baseline="0" dirty="0">
                <a:ln>
                  <a:noFill/>
                </a:ln>
                <a:solidFill>
                  <a:schemeClr val="tx1"/>
                </a:solidFill>
                <a:effectLst/>
                <a:latin typeface="Arial" panose="020B0604020202020204" pitchFamily="34" charset="0"/>
              </a:rPr>
              <a:t>crash memory</a:t>
            </a:r>
            <a:r>
              <a:rPr kumimoji="0" lang="en-US" altLang="en-US" sz="28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0" i="0" u="none" strike="noStrike" cap="none" normalizeH="0" baseline="0" dirty="0">
                <a:ln>
                  <a:noFill/>
                </a:ln>
                <a:solidFill>
                  <a:schemeClr val="tx1"/>
                </a:solidFill>
                <a:effectLst/>
                <a:latin typeface="Arial" panose="020B0604020202020204" pitchFamily="34" charset="0"/>
              </a:rPr>
              <a:t>Iterators (lazy) let you </a:t>
            </a:r>
            <a:r>
              <a:rPr kumimoji="0" lang="en-US" altLang="en-US" sz="2800" b="1" i="0" u="none" strike="noStrike" cap="none" normalizeH="0" baseline="0" dirty="0">
                <a:ln>
                  <a:noFill/>
                </a:ln>
                <a:solidFill>
                  <a:schemeClr val="tx1"/>
                </a:solidFill>
                <a:effectLst/>
                <a:latin typeface="Arial" panose="020B0604020202020204" pitchFamily="34" charset="0"/>
              </a:rPr>
              <a:t>process streams of data</a:t>
            </a:r>
            <a:r>
              <a:rPr kumimoji="0" lang="en-US" altLang="en-US" sz="2800" b="0" i="0" u="none" strike="noStrike" cap="none" normalizeH="0" baseline="0" dirty="0">
                <a:ln>
                  <a:noFill/>
                </a:ln>
                <a:solidFill>
                  <a:schemeClr val="tx1"/>
                </a:solidFill>
                <a:effectLst/>
                <a:latin typeface="Arial" panose="020B0604020202020204" pitchFamily="34" charset="0"/>
              </a:rPr>
              <a:t> efficiently, like:</a:t>
            </a:r>
          </a:p>
          <a:p>
            <a:pPr marL="324000" lvl="1" indent="0" defTabSz="914400" eaLnBrk="0" fontAlgn="base" hangingPunct="0">
              <a:spcBef>
                <a:spcPct val="0"/>
              </a:spcBef>
              <a:spcAft>
                <a:spcPct val="0"/>
              </a:spcAft>
              <a:buClrTx/>
              <a:buSzTx/>
              <a:buFontTx/>
              <a:buChar char="•"/>
            </a:pPr>
            <a:r>
              <a:rPr kumimoji="0" lang="en-US" altLang="en-US" sz="2600" b="0" i="0" u="none" strike="noStrike" cap="none" normalizeH="0" baseline="0" dirty="0">
                <a:ln>
                  <a:noFill/>
                </a:ln>
                <a:solidFill>
                  <a:schemeClr val="tx1"/>
                </a:solidFill>
                <a:effectLst/>
                <a:latin typeface="Arial" panose="020B0604020202020204" pitchFamily="34" charset="0"/>
              </a:rPr>
              <a:t>Reading files line by line</a:t>
            </a:r>
          </a:p>
          <a:p>
            <a:pPr marL="324000" lvl="1" indent="0" defTabSz="914400" eaLnBrk="0" fontAlgn="base" hangingPunct="0">
              <a:spcBef>
                <a:spcPct val="0"/>
              </a:spcBef>
              <a:spcAft>
                <a:spcPct val="0"/>
              </a:spcAft>
              <a:buClrTx/>
              <a:buSzTx/>
              <a:buFontTx/>
              <a:buChar char="•"/>
            </a:pPr>
            <a:r>
              <a:rPr kumimoji="0" lang="en-US" altLang="en-US" sz="2600" b="0" i="0" u="none" strike="noStrike" cap="none" normalizeH="0" baseline="0" dirty="0">
                <a:ln>
                  <a:noFill/>
                </a:ln>
                <a:solidFill>
                  <a:schemeClr val="tx1"/>
                </a:solidFill>
                <a:effectLst/>
                <a:latin typeface="Arial" panose="020B0604020202020204" pitchFamily="34" charset="0"/>
              </a:rPr>
              <a:t>Streaming logs</a:t>
            </a:r>
          </a:p>
          <a:p>
            <a:pPr marL="324000" lvl="1" indent="0" defTabSz="914400" eaLnBrk="0" fontAlgn="base" hangingPunct="0">
              <a:spcBef>
                <a:spcPct val="0"/>
              </a:spcBef>
              <a:spcAft>
                <a:spcPct val="0"/>
              </a:spcAft>
              <a:buClrTx/>
              <a:buSzTx/>
              <a:buFontTx/>
              <a:buChar char="•"/>
            </a:pPr>
            <a:r>
              <a:rPr kumimoji="0" lang="en-US" altLang="en-US" sz="2600" b="0" i="0" u="none" strike="noStrike" cap="none" normalizeH="0" baseline="0" dirty="0">
                <a:ln>
                  <a:noFill/>
                </a:ln>
                <a:solidFill>
                  <a:schemeClr val="tx1"/>
                </a:solidFill>
                <a:effectLst/>
                <a:latin typeface="Arial" panose="020B0604020202020204" pitchFamily="34" charset="0"/>
              </a:rPr>
              <a:t>Processing data from a database</a:t>
            </a:r>
          </a:p>
          <a:p>
            <a:pPr marL="324000" lvl="1" indent="0" defTabSz="914400" eaLnBrk="0" fontAlgn="base" hangingPunct="0">
              <a:spcBef>
                <a:spcPct val="0"/>
              </a:spcBef>
              <a:spcAft>
                <a:spcPct val="0"/>
              </a:spcAft>
              <a:buClrTx/>
              <a:buSzTx/>
              <a:buFontTx/>
              <a:buChar char="•"/>
            </a:pPr>
            <a:r>
              <a:rPr kumimoji="0" lang="en-US" altLang="en-US" sz="2600" b="0" i="0" u="none" strike="noStrike" cap="none" normalizeH="0" baseline="0" dirty="0">
                <a:ln>
                  <a:noFill/>
                </a:ln>
                <a:solidFill>
                  <a:schemeClr val="tx1"/>
                </a:solidFill>
                <a:effectLst/>
                <a:latin typeface="Arial" panose="020B0604020202020204" pitchFamily="34" charset="0"/>
              </a:rPr>
              <a:t>Infinite sequences (e.g., Fibonacci, counters)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7474601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EA375F-989A-F212-1852-DC0B6B9DE2E1}"/>
            </a:ext>
          </a:extLst>
        </p:cNvPr>
        <p:cNvGrpSpPr/>
        <p:nvPr/>
      </p:nvGrpSpPr>
      <p:grpSpPr>
        <a:xfrm>
          <a:off x="0" y="0"/>
          <a:ext cx="0" cy="0"/>
          <a:chOff x="0" y="0"/>
          <a:chExt cx="0" cy="0"/>
        </a:xfrm>
      </p:grpSpPr>
      <p:pic>
        <p:nvPicPr>
          <p:cNvPr id="7" name="Picture 6" descr="Digital Connections">
            <a:extLst>
              <a:ext uri="{FF2B5EF4-FFF2-40B4-BE49-F238E27FC236}">
                <a16:creationId xmlns:a16="http://schemas.microsoft.com/office/drawing/2014/main" id="{3B98AF1B-ADF3-559B-190A-15509A8F366B}"/>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l="13265" t="9091" r="3502" b="-1"/>
          <a:stretch/>
        </p:blipFill>
        <p:spPr>
          <a:xfrm>
            <a:off x="20" y="10"/>
            <a:ext cx="12191980" cy="6857990"/>
          </a:xfrm>
          <a:prstGeom prst="rect">
            <a:avLst/>
          </a:prstGeom>
        </p:spPr>
      </p:pic>
      <p:sp>
        <p:nvSpPr>
          <p:cNvPr id="2" name="Title 1">
            <a:extLst>
              <a:ext uri="{FF2B5EF4-FFF2-40B4-BE49-F238E27FC236}">
                <a16:creationId xmlns:a16="http://schemas.microsoft.com/office/drawing/2014/main" id="{E8AC4405-79E8-CC78-9BCE-AC6C8C7AB3E2}"/>
              </a:ext>
            </a:extLst>
          </p:cNvPr>
          <p:cNvSpPr>
            <a:spLocks noGrp="1"/>
          </p:cNvSpPr>
          <p:nvPr>
            <p:ph type="ctrTitle"/>
          </p:nvPr>
        </p:nvSpPr>
        <p:spPr>
          <a:xfrm>
            <a:off x="581191" y="3429000"/>
            <a:ext cx="10993549" cy="2038244"/>
          </a:xfrm>
        </p:spPr>
        <p:txBody>
          <a:bodyPr>
            <a:noAutofit/>
          </a:bodyPr>
          <a:lstStyle/>
          <a:p>
            <a:pPr algn="ctr"/>
            <a:r>
              <a:rPr lang="en-US" sz="6000" dirty="0">
                <a:solidFill>
                  <a:schemeClr val="bg1"/>
                </a:solidFill>
                <a:highlight>
                  <a:srgbClr val="000080"/>
                </a:highlight>
              </a:rPr>
              <a:t>generators in python</a:t>
            </a:r>
          </a:p>
        </p:txBody>
      </p:sp>
      <p:sp>
        <p:nvSpPr>
          <p:cNvPr id="3" name="Subtitle 2">
            <a:extLst>
              <a:ext uri="{FF2B5EF4-FFF2-40B4-BE49-F238E27FC236}">
                <a16:creationId xmlns:a16="http://schemas.microsoft.com/office/drawing/2014/main" id="{E7D49B50-911E-0952-6EED-9586D400E467}"/>
              </a:ext>
            </a:extLst>
          </p:cNvPr>
          <p:cNvSpPr>
            <a:spLocks noGrp="1"/>
          </p:cNvSpPr>
          <p:nvPr>
            <p:ph type="subTitle" idx="1"/>
          </p:nvPr>
        </p:nvSpPr>
        <p:spPr>
          <a:xfrm>
            <a:off x="581194" y="5467246"/>
            <a:ext cx="10993546" cy="484822"/>
          </a:xfrm>
        </p:spPr>
        <p:txBody>
          <a:bodyPr>
            <a:normAutofit/>
          </a:bodyPr>
          <a:lstStyle/>
          <a:p>
            <a:pPr algn="ctr"/>
            <a:r>
              <a:rPr lang="en-US" dirty="0">
                <a:solidFill>
                  <a:srgbClr val="7CEBFF"/>
                </a:solidFill>
              </a:rPr>
              <a:t>Dr. Rakhee chhibber</a:t>
            </a:r>
          </a:p>
        </p:txBody>
      </p:sp>
    </p:spTree>
    <p:extLst>
      <p:ext uri="{BB962C8B-B14F-4D97-AF65-F5344CB8AC3E}">
        <p14:creationId xmlns:p14="http://schemas.microsoft.com/office/powerpoint/2010/main" val="241499017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D8011B-C076-B911-029A-E509850ED923}"/>
              </a:ext>
            </a:extLst>
          </p:cNvPr>
          <p:cNvSpPr>
            <a:spLocks noGrp="1"/>
          </p:cNvSpPr>
          <p:nvPr>
            <p:ph type="title"/>
          </p:nvPr>
        </p:nvSpPr>
        <p:spPr/>
        <p:txBody>
          <a:bodyPr/>
          <a:lstStyle/>
          <a:p>
            <a:r>
              <a:rPr lang="en-US" dirty="0"/>
              <a:t>Introduction</a:t>
            </a:r>
          </a:p>
        </p:txBody>
      </p:sp>
      <p:sp>
        <p:nvSpPr>
          <p:cNvPr id="3" name="Content Placeholder 2">
            <a:extLst>
              <a:ext uri="{FF2B5EF4-FFF2-40B4-BE49-F238E27FC236}">
                <a16:creationId xmlns:a16="http://schemas.microsoft.com/office/drawing/2014/main" id="{345ED41F-837E-8150-E386-8C7C6E4C0AB5}"/>
              </a:ext>
            </a:extLst>
          </p:cNvPr>
          <p:cNvSpPr>
            <a:spLocks noGrp="1"/>
          </p:cNvSpPr>
          <p:nvPr>
            <p:ph idx="1"/>
          </p:nvPr>
        </p:nvSpPr>
        <p:spPr>
          <a:xfrm>
            <a:off x="581192" y="1954530"/>
            <a:ext cx="11029615" cy="4606290"/>
          </a:xfrm>
        </p:spPr>
        <p:txBody>
          <a:bodyPr>
            <a:normAutofit/>
          </a:bodyPr>
          <a:lstStyle/>
          <a:p>
            <a:r>
              <a:rPr lang="en-US" sz="2800" dirty="0"/>
              <a:t>Python has a generator that allows you to create your iterator function. A generator is somewhat of a function that returns an iterator object with a succession of values rather than a single item. A </a:t>
            </a:r>
            <a:r>
              <a:rPr lang="en-US" sz="2800" b="1" dirty="0"/>
              <a:t>yield</a:t>
            </a:r>
            <a:r>
              <a:rPr lang="en-US" sz="2800" dirty="0"/>
              <a:t> statement, rather than a return statement, is used in a generator function. </a:t>
            </a:r>
          </a:p>
          <a:p>
            <a:r>
              <a:rPr lang="en-US" sz="2800" dirty="0"/>
              <a:t>The difference is that, although a return statement terminates a function completely, a yield statement pauses the function while storing all of its states and then continues from there on subsequent calls.</a:t>
            </a:r>
          </a:p>
          <a:p>
            <a:endParaRPr lang="en-US" sz="2800" dirty="0"/>
          </a:p>
        </p:txBody>
      </p:sp>
    </p:spTree>
    <p:extLst>
      <p:ext uri="{BB962C8B-B14F-4D97-AF65-F5344CB8AC3E}">
        <p14:creationId xmlns:p14="http://schemas.microsoft.com/office/powerpoint/2010/main" val="19358078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BA36641-6CFC-87BD-9DB3-997F0896CDB5}"/>
              </a:ext>
            </a:extLst>
          </p:cNvPr>
          <p:cNvPicPr>
            <a:picLocks noChangeAspect="1"/>
          </p:cNvPicPr>
          <p:nvPr/>
        </p:nvPicPr>
        <p:blipFill>
          <a:blip r:embed="rId2"/>
          <a:stretch>
            <a:fillRect/>
          </a:stretch>
        </p:blipFill>
        <p:spPr>
          <a:xfrm>
            <a:off x="1475007" y="620713"/>
            <a:ext cx="9241985" cy="6169025"/>
          </a:xfrm>
          <a:prstGeom prst="rect">
            <a:avLst/>
          </a:prstGeom>
          <a:noFill/>
        </p:spPr>
      </p:pic>
    </p:spTree>
    <p:extLst>
      <p:ext uri="{BB962C8B-B14F-4D97-AF65-F5344CB8AC3E}">
        <p14:creationId xmlns:p14="http://schemas.microsoft.com/office/powerpoint/2010/main" val="78453820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FD84B98-831C-5D15-5B68-402576B776CC}"/>
              </a:ext>
            </a:extLst>
          </p:cNvPr>
          <p:cNvPicPr>
            <a:picLocks noChangeAspect="1"/>
          </p:cNvPicPr>
          <p:nvPr/>
        </p:nvPicPr>
        <p:blipFill>
          <a:blip r:embed="rId2"/>
          <a:srcRect b="2174"/>
          <a:stretch>
            <a:fillRect/>
          </a:stretch>
        </p:blipFill>
        <p:spPr>
          <a:xfrm>
            <a:off x="377190" y="594360"/>
            <a:ext cx="11814810" cy="6051482"/>
          </a:xfrm>
          <a:prstGeom prst="rect">
            <a:avLst/>
          </a:prstGeom>
          <a:noFill/>
        </p:spPr>
      </p:pic>
    </p:spTree>
    <p:extLst>
      <p:ext uri="{BB962C8B-B14F-4D97-AF65-F5344CB8AC3E}">
        <p14:creationId xmlns:p14="http://schemas.microsoft.com/office/powerpoint/2010/main" val="241959288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10513E3-B862-6745-08AC-17798F87F1F1}"/>
              </a:ext>
            </a:extLst>
          </p:cNvPr>
          <p:cNvPicPr>
            <a:picLocks noChangeAspect="1"/>
          </p:cNvPicPr>
          <p:nvPr/>
        </p:nvPicPr>
        <p:blipFill>
          <a:blip r:embed="rId2"/>
          <a:stretch>
            <a:fillRect/>
          </a:stretch>
        </p:blipFill>
        <p:spPr>
          <a:xfrm>
            <a:off x="1797028" y="620713"/>
            <a:ext cx="8597943" cy="6169025"/>
          </a:xfrm>
          <a:prstGeom prst="rect">
            <a:avLst/>
          </a:prstGeom>
          <a:noFill/>
        </p:spPr>
      </p:pic>
    </p:spTree>
    <p:extLst>
      <p:ext uri="{BB962C8B-B14F-4D97-AF65-F5344CB8AC3E}">
        <p14:creationId xmlns:p14="http://schemas.microsoft.com/office/powerpoint/2010/main" val="106367638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6C8D6D-5152-4B78-87F1-E7C435934205}"/>
              </a:ext>
            </a:extLst>
          </p:cNvPr>
          <p:cNvSpPr>
            <a:spLocks noGrp="1"/>
          </p:cNvSpPr>
          <p:nvPr>
            <p:ph type="title"/>
          </p:nvPr>
        </p:nvSpPr>
        <p:spPr/>
        <p:txBody>
          <a:bodyPr>
            <a:normAutofit/>
          </a:bodyPr>
          <a:lstStyle/>
          <a:p>
            <a:r>
              <a:rPr lang="en-US" b="1" dirty="0"/>
              <a:t>Why use generators when the return statement is already present?</a:t>
            </a:r>
            <a:endParaRPr lang="en-US" dirty="0"/>
          </a:p>
        </p:txBody>
      </p:sp>
      <p:sp>
        <p:nvSpPr>
          <p:cNvPr id="3" name="Content Placeholder 2">
            <a:extLst>
              <a:ext uri="{FF2B5EF4-FFF2-40B4-BE49-F238E27FC236}">
                <a16:creationId xmlns:a16="http://schemas.microsoft.com/office/drawing/2014/main" id="{BC5FB1B8-82BA-26D9-4F58-72A77572B4E3}"/>
              </a:ext>
            </a:extLst>
          </p:cNvPr>
          <p:cNvSpPr>
            <a:spLocks noGrp="1"/>
          </p:cNvSpPr>
          <p:nvPr>
            <p:ph idx="1"/>
          </p:nvPr>
        </p:nvSpPr>
        <p:spPr/>
        <p:txBody>
          <a:bodyPr>
            <a:normAutofit/>
          </a:bodyPr>
          <a:lstStyle/>
          <a:p>
            <a:pPr marL="0" indent="0">
              <a:buNone/>
            </a:pPr>
            <a:r>
              <a:rPr lang="en-US" sz="2800" dirty="0"/>
              <a:t>The most well-known feature of generators is their excellent memory efficiency. A standard function that returns a sequence will first construct the whole sequence in memory before returning the result. If the number of elements in the sequence is enormous, this is overkill. The generator implementation of such sequences, on the other hand, is memory-friendly and preferable since it only generates one item at a time.</a:t>
            </a:r>
          </a:p>
        </p:txBody>
      </p:sp>
    </p:spTree>
    <p:extLst>
      <p:ext uri="{BB962C8B-B14F-4D97-AF65-F5344CB8AC3E}">
        <p14:creationId xmlns:p14="http://schemas.microsoft.com/office/powerpoint/2010/main" val="173740817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58EA33-699C-C209-FF6B-825B7BF9A03A}"/>
              </a:ext>
            </a:extLst>
          </p:cNvPr>
          <p:cNvSpPr>
            <a:spLocks noGrp="1"/>
          </p:cNvSpPr>
          <p:nvPr>
            <p:ph type="title"/>
          </p:nvPr>
        </p:nvSpPr>
        <p:spPr>
          <a:xfrm>
            <a:off x="581192" y="702156"/>
            <a:ext cx="11029616" cy="1013800"/>
          </a:xfrm>
        </p:spPr>
        <p:txBody>
          <a:bodyPr anchor="b">
            <a:normAutofit/>
          </a:bodyPr>
          <a:lstStyle/>
          <a:p>
            <a:pPr>
              <a:lnSpc>
                <a:spcPct val="90000"/>
              </a:lnSpc>
            </a:pPr>
            <a:r>
              <a:rPr lang="en-US" sz="2400" b="1"/>
              <a:t>Difference Between Iterators and Generators in Python</a:t>
            </a:r>
            <a:br>
              <a:rPr lang="en-US" sz="2400" b="1"/>
            </a:br>
            <a:endParaRPr lang="en-US" sz="2400"/>
          </a:p>
        </p:txBody>
      </p:sp>
      <p:graphicFrame>
        <p:nvGraphicFramePr>
          <p:cNvPr id="6" name="Table 5">
            <a:extLst>
              <a:ext uri="{FF2B5EF4-FFF2-40B4-BE49-F238E27FC236}">
                <a16:creationId xmlns:a16="http://schemas.microsoft.com/office/drawing/2014/main" id="{934ABDBF-29FE-B8EB-D397-4AA222D69FB3}"/>
              </a:ext>
            </a:extLst>
          </p:cNvPr>
          <p:cNvGraphicFramePr>
            <a:graphicFrameLocks noGrp="1"/>
          </p:cNvGraphicFramePr>
          <p:nvPr>
            <p:extLst>
              <p:ext uri="{D42A27DB-BD31-4B8C-83A1-F6EECF244321}">
                <p14:modId xmlns:p14="http://schemas.microsoft.com/office/powerpoint/2010/main" val="70089855"/>
              </p:ext>
            </p:extLst>
          </p:nvPr>
        </p:nvGraphicFramePr>
        <p:xfrm>
          <a:off x="581192" y="1897380"/>
          <a:ext cx="11029616" cy="4928183"/>
        </p:xfrm>
        <a:graphic>
          <a:graphicData uri="http://schemas.openxmlformats.org/drawingml/2006/table">
            <a:tbl>
              <a:tblPr firstRow="1" bandRow="1"/>
              <a:tblGrid>
                <a:gridCol w="5531498">
                  <a:extLst>
                    <a:ext uri="{9D8B030D-6E8A-4147-A177-3AD203B41FA5}">
                      <a16:colId xmlns:a16="http://schemas.microsoft.com/office/drawing/2014/main" val="3355596157"/>
                    </a:ext>
                  </a:extLst>
                </a:gridCol>
                <a:gridCol w="5498118">
                  <a:extLst>
                    <a:ext uri="{9D8B030D-6E8A-4147-A177-3AD203B41FA5}">
                      <a16:colId xmlns:a16="http://schemas.microsoft.com/office/drawing/2014/main" val="2991720409"/>
                    </a:ext>
                  </a:extLst>
                </a:gridCol>
              </a:tblGrid>
              <a:tr h="446179">
                <a:tc>
                  <a:txBody>
                    <a:bodyPr/>
                    <a:lstStyle/>
                    <a:p>
                      <a:pPr algn="ctr" fontAlgn="b">
                        <a:buNone/>
                      </a:pPr>
                      <a:r>
                        <a:rPr lang="en-US" sz="2200" b="1">
                          <a:solidFill>
                            <a:srgbClr val="141414"/>
                          </a:solidFill>
                          <a:effectLst/>
                        </a:rPr>
                        <a:t>Iterators</a:t>
                      </a:r>
                      <a:endParaRPr lang="en-US" sz="2200" b="0">
                        <a:solidFill>
                          <a:srgbClr val="616161"/>
                        </a:solidFill>
                        <a:effectLst/>
                      </a:endParaRPr>
                    </a:p>
                  </a:txBody>
                  <a:tcPr marL="13804" marR="13804" marT="13804" marB="13804" anchor="b">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D9D9D9"/>
                    </a:solidFill>
                  </a:tcPr>
                </a:tc>
                <a:tc>
                  <a:txBody>
                    <a:bodyPr/>
                    <a:lstStyle/>
                    <a:p>
                      <a:pPr algn="ctr" fontAlgn="b">
                        <a:buNone/>
                      </a:pPr>
                      <a:r>
                        <a:rPr lang="en-US" sz="2200" b="1">
                          <a:solidFill>
                            <a:srgbClr val="141414"/>
                          </a:solidFill>
                          <a:effectLst/>
                        </a:rPr>
                        <a:t>Generators</a:t>
                      </a:r>
                      <a:endParaRPr lang="en-US" sz="2200" b="0">
                        <a:solidFill>
                          <a:srgbClr val="616161"/>
                        </a:solidFill>
                        <a:effectLst/>
                      </a:endParaRPr>
                    </a:p>
                  </a:txBody>
                  <a:tcPr marL="13804" marR="13804" marT="13804" marB="13804" anchor="b">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D9D9D9"/>
                    </a:solidFill>
                  </a:tcPr>
                </a:tc>
                <a:extLst>
                  <a:ext uri="{0D108BD9-81ED-4DB2-BD59-A6C34878D82A}">
                    <a16:rowId xmlns:a16="http://schemas.microsoft.com/office/drawing/2014/main" val="570982208"/>
                  </a:ext>
                </a:extLst>
              </a:tr>
              <a:tr h="824582">
                <a:tc>
                  <a:txBody>
                    <a:bodyPr/>
                    <a:lstStyle/>
                    <a:p>
                      <a:pPr fontAlgn="b">
                        <a:buNone/>
                      </a:pPr>
                      <a:r>
                        <a:rPr lang="en-US" sz="2200">
                          <a:solidFill>
                            <a:srgbClr val="000000"/>
                          </a:solidFill>
                          <a:effectLst/>
                        </a:rPr>
                        <a:t>Iterators are the objects that use the next() method to get the next value of the sequence.</a:t>
                      </a:r>
                      <a:endParaRPr lang="en-US" sz="2200">
                        <a:effectLst/>
                      </a:endParaRPr>
                    </a:p>
                  </a:txBody>
                  <a:tcPr marL="13804" marR="13804" marT="13804" marB="13804" anchor="b">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3F3F3"/>
                    </a:solidFill>
                  </a:tcPr>
                </a:tc>
                <a:tc>
                  <a:txBody>
                    <a:bodyPr/>
                    <a:lstStyle/>
                    <a:p>
                      <a:pPr fontAlgn="b">
                        <a:buNone/>
                      </a:pPr>
                      <a:r>
                        <a:rPr lang="en-US" sz="2200">
                          <a:solidFill>
                            <a:srgbClr val="000000"/>
                          </a:solidFill>
                          <a:effectLst/>
                        </a:rPr>
                        <a:t>A generator is a function that produces or yields a sequence of values using a yield statement.</a:t>
                      </a:r>
                      <a:endParaRPr lang="en-US" sz="2200">
                        <a:effectLst/>
                      </a:endParaRPr>
                    </a:p>
                  </a:txBody>
                  <a:tcPr marL="13804" marR="13804" marT="13804" marB="13804" anchor="b">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3F3F3"/>
                    </a:solidFill>
                  </a:tcPr>
                </a:tc>
                <a:extLst>
                  <a:ext uri="{0D108BD9-81ED-4DB2-BD59-A6C34878D82A}">
                    <a16:rowId xmlns:a16="http://schemas.microsoft.com/office/drawing/2014/main" val="608086179"/>
                  </a:ext>
                </a:extLst>
              </a:tr>
              <a:tr h="446179">
                <a:tc>
                  <a:txBody>
                    <a:bodyPr/>
                    <a:lstStyle/>
                    <a:p>
                      <a:pPr fontAlgn="b">
                        <a:buNone/>
                      </a:pPr>
                      <a:r>
                        <a:rPr lang="en-US" sz="2200">
                          <a:solidFill>
                            <a:srgbClr val="000000"/>
                          </a:solidFill>
                          <a:effectLst/>
                        </a:rPr>
                        <a:t>Classes are used to Implement the iterators.</a:t>
                      </a:r>
                      <a:endParaRPr lang="en-US" sz="2200">
                        <a:effectLst/>
                      </a:endParaRPr>
                    </a:p>
                  </a:txBody>
                  <a:tcPr marL="13804" marR="13804" marT="13804" marB="13804" anchor="b">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3F3F3"/>
                    </a:solidFill>
                  </a:tcPr>
                </a:tc>
                <a:tc>
                  <a:txBody>
                    <a:bodyPr/>
                    <a:lstStyle/>
                    <a:p>
                      <a:pPr fontAlgn="b">
                        <a:buNone/>
                      </a:pPr>
                      <a:r>
                        <a:rPr lang="en-US" sz="2200">
                          <a:solidFill>
                            <a:srgbClr val="000000"/>
                          </a:solidFill>
                          <a:effectLst/>
                        </a:rPr>
                        <a:t>Functions are used to implement the generator.</a:t>
                      </a:r>
                      <a:endParaRPr lang="en-US" sz="2200">
                        <a:effectLst/>
                      </a:endParaRPr>
                    </a:p>
                  </a:txBody>
                  <a:tcPr marL="13804" marR="13804" marT="13804" marB="13804" anchor="b">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3F3F3"/>
                    </a:solidFill>
                  </a:tcPr>
                </a:tc>
                <a:extLst>
                  <a:ext uri="{0D108BD9-81ED-4DB2-BD59-A6C34878D82A}">
                    <a16:rowId xmlns:a16="http://schemas.microsoft.com/office/drawing/2014/main" val="3838564459"/>
                  </a:ext>
                </a:extLst>
              </a:tr>
              <a:tr h="446179">
                <a:tc>
                  <a:txBody>
                    <a:bodyPr/>
                    <a:lstStyle/>
                    <a:p>
                      <a:pPr fontAlgn="b">
                        <a:buNone/>
                      </a:pPr>
                      <a:r>
                        <a:rPr lang="en-US" sz="2200">
                          <a:solidFill>
                            <a:srgbClr val="000000"/>
                          </a:solidFill>
                          <a:effectLst/>
                        </a:rPr>
                        <a:t>Every iterator is not a generator.</a:t>
                      </a:r>
                      <a:endParaRPr lang="en-US" sz="2200">
                        <a:effectLst/>
                      </a:endParaRPr>
                    </a:p>
                  </a:txBody>
                  <a:tcPr marL="13804" marR="13804" marT="13804" marB="13804" anchor="b">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3F3F3"/>
                    </a:solidFill>
                  </a:tcPr>
                </a:tc>
                <a:tc>
                  <a:txBody>
                    <a:bodyPr/>
                    <a:lstStyle/>
                    <a:p>
                      <a:pPr fontAlgn="b">
                        <a:buNone/>
                      </a:pPr>
                      <a:r>
                        <a:rPr lang="en-US" sz="2200">
                          <a:solidFill>
                            <a:srgbClr val="000000"/>
                          </a:solidFill>
                          <a:effectLst/>
                        </a:rPr>
                        <a:t>Every generator is an iterator.</a:t>
                      </a:r>
                      <a:endParaRPr lang="en-US" sz="2200">
                        <a:effectLst/>
                      </a:endParaRPr>
                    </a:p>
                  </a:txBody>
                  <a:tcPr marL="13804" marR="13804" marT="13804" marB="13804" anchor="b">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3F3F3"/>
                    </a:solidFill>
                  </a:tcPr>
                </a:tc>
                <a:extLst>
                  <a:ext uri="{0D108BD9-81ED-4DB2-BD59-A6C34878D82A}">
                    <a16:rowId xmlns:a16="http://schemas.microsoft.com/office/drawing/2014/main" val="3781030788"/>
                  </a:ext>
                </a:extLst>
              </a:tr>
              <a:tr h="824582">
                <a:tc>
                  <a:txBody>
                    <a:bodyPr/>
                    <a:lstStyle/>
                    <a:p>
                      <a:pPr fontAlgn="b">
                        <a:buNone/>
                      </a:pPr>
                      <a:r>
                        <a:rPr lang="en-US" sz="2200">
                          <a:solidFill>
                            <a:srgbClr val="000000"/>
                          </a:solidFill>
                          <a:effectLst/>
                        </a:rPr>
                        <a:t>Complex implementation of iterator protocols .i.e., iter() and next().</a:t>
                      </a:r>
                      <a:endParaRPr lang="en-US" sz="2200">
                        <a:effectLst/>
                      </a:endParaRPr>
                    </a:p>
                  </a:txBody>
                  <a:tcPr marL="13804" marR="13804" marT="13804" marB="13804" anchor="b">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3F3F3"/>
                    </a:solidFill>
                  </a:tcPr>
                </a:tc>
                <a:tc>
                  <a:txBody>
                    <a:bodyPr/>
                    <a:lstStyle/>
                    <a:p>
                      <a:pPr fontAlgn="b">
                        <a:buNone/>
                      </a:pPr>
                      <a:r>
                        <a:rPr lang="en-US" sz="2200">
                          <a:solidFill>
                            <a:srgbClr val="000000"/>
                          </a:solidFill>
                          <a:effectLst/>
                        </a:rPr>
                        <a:t>Generators in Python are simpler to code than do the custom iterator using the yield statement.</a:t>
                      </a:r>
                      <a:endParaRPr lang="en-US" sz="2200">
                        <a:effectLst/>
                      </a:endParaRPr>
                    </a:p>
                  </a:txBody>
                  <a:tcPr marL="13804" marR="13804" marT="13804" marB="13804" anchor="b">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3F3F3"/>
                    </a:solidFill>
                  </a:tcPr>
                </a:tc>
                <a:extLst>
                  <a:ext uri="{0D108BD9-81ED-4DB2-BD59-A6C34878D82A}">
                    <a16:rowId xmlns:a16="http://schemas.microsoft.com/office/drawing/2014/main" val="3420025915"/>
                  </a:ext>
                </a:extLst>
              </a:tr>
              <a:tr h="446179">
                <a:tc>
                  <a:txBody>
                    <a:bodyPr/>
                    <a:lstStyle/>
                    <a:p>
                      <a:pPr fontAlgn="b">
                        <a:buNone/>
                      </a:pPr>
                      <a:r>
                        <a:rPr lang="en-US" sz="2200">
                          <a:solidFill>
                            <a:srgbClr val="000000"/>
                          </a:solidFill>
                          <a:effectLst/>
                        </a:rPr>
                        <a:t>Iterators in python are less memory efficient.</a:t>
                      </a:r>
                      <a:endParaRPr lang="en-US" sz="2200">
                        <a:effectLst/>
                      </a:endParaRPr>
                    </a:p>
                  </a:txBody>
                  <a:tcPr marL="13804" marR="13804" marT="13804" marB="13804" anchor="b">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3F3F3"/>
                    </a:solidFill>
                  </a:tcPr>
                </a:tc>
                <a:tc>
                  <a:txBody>
                    <a:bodyPr/>
                    <a:lstStyle/>
                    <a:p>
                      <a:pPr fontAlgn="b">
                        <a:buNone/>
                      </a:pPr>
                      <a:r>
                        <a:rPr lang="en-US" sz="2200">
                          <a:solidFill>
                            <a:srgbClr val="000000"/>
                          </a:solidFill>
                          <a:effectLst/>
                        </a:rPr>
                        <a:t>Generators in Python are more memory efficient.</a:t>
                      </a:r>
                      <a:endParaRPr lang="en-US" sz="2200">
                        <a:effectLst/>
                      </a:endParaRPr>
                    </a:p>
                  </a:txBody>
                  <a:tcPr marL="13804" marR="13804" marT="13804" marB="13804" anchor="b">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3F3F3"/>
                    </a:solidFill>
                  </a:tcPr>
                </a:tc>
                <a:extLst>
                  <a:ext uri="{0D108BD9-81ED-4DB2-BD59-A6C34878D82A}">
                    <a16:rowId xmlns:a16="http://schemas.microsoft.com/office/drawing/2014/main" val="2406225914"/>
                  </a:ext>
                </a:extLst>
              </a:tr>
              <a:tr h="824582">
                <a:tc>
                  <a:txBody>
                    <a:bodyPr/>
                    <a:lstStyle/>
                    <a:p>
                      <a:pPr fontAlgn="b">
                        <a:buNone/>
                      </a:pPr>
                      <a:r>
                        <a:rPr lang="en-US" sz="2200">
                          <a:solidFill>
                            <a:srgbClr val="000000"/>
                          </a:solidFill>
                          <a:effectLst/>
                        </a:rPr>
                        <a:t>No local variables are used in Iterators.</a:t>
                      </a:r>
                      <a:endParaRPr lang="en-US" sz="2200">
                        <a:effectLst/>
                      </a:endParaRPr>
                    </a:p>
                  </a:txBody>
                  <a:tcPr marL="13804" marR="13804" marT="13804" marB="13804" anchor="b">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3F3F3"/>
                    </a:solidFill>
                  </a:tcPr>
                </a:tc>
                <a:tc>
                  <a:txBody>
                    <a:bodyPr/>
                    <a:lstStyle/>
                    <a:p>
                      <a:pPr fontAlgn="b">
                        <a:buNone/>
                      </a:pPr>
                      <a:r>
                        <a:rPr lang="en-US" sz="2200" dirty="0">
                          <a:solidFill>
                            <a:srgbClr val="000000"/>
                          </a:solidFill>
                          <a:effectLst/>
                        </a:rPr>
                        <a:t>All the local variables are stored before the yield statement.</a:t>
                      </a:r>
                      <a:endParaRPr lang="en-US" sz="2200" dirty="0">
                        <a:effectLst/>
                      </a:endParaRPr>
                    </a:p>
                  </a:txBody>
                  <a:tcPr marL="13804" marR="13804" marT="13804" marB="13804" anchor="b">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3F3F3"/>
                    </a:solidFill>
                  </a:tcPr>
                </a:tc>
                <a:extLst>
                  <a:ext uri="{0D108BD9-81ED-4DB2-BD59-A6C34878D82A}">
                    <a16:rowId xmlns:a16="http://schemas.microsoft.com/office/drawing/2014/main" val="725468628"/>
                  </a:ext>
                </a:extLst>
              </a:tr>
            </a:tbl>
          </a:graphicData>
        </a:graphic>
      </p:graphicFrame>
    </p:spTree>
    <p:extLst>
      <p:ext uri="{BB962C8B-B14F-4D97-AF65-F5344CB8AC3E}">
        <p14:creationId xmlns:p14="http://schemas.microsoft.com/office/powerpoint/2010/main" val="220181767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7A558B-1EC7-1DF0-31E6-29142FEC7C0E}"/>
            </a:ext>
          </a:extLst>
        </p:cNvPr>
        <p:cNvGrpSpPr/>
        <p:nvPr/>
      </p:nvGrpSpPr>
      <p:grpSpPr>
        <a:xfrm>
          <a:off x="0" y="0"/>
          <a:ext cx="0" cy="0"/>
          <a:chOff x="0" y="0"/>
          <a:chExt cx="0" cy="0"/>
        </a:xfrm>
      </p:grpSpPr>
      <p:pic>
        <p:nvPicPr>
          <p:cNvPr id="7" name="Picture 6" descr="Digital Connections">
            <a:extLst>
              <a:ext uri="{FF2B5EF4-FFF2-40B4-BE49-F238E27FC236}">
                <a16:creationId xmlns:a16="http://schemas.microsoft.com/office/drawing/2014/main" id="{EC4793CB-03AA-15DB-23A3-6CACC73573CE}"/>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l="13265" t="9091" r="3502" b="-1"/>
          <a:stretch/>
        </p:blipFill>
        <p:spPr>
          <a:xfrm>
            <a:off x="20" y="10"/>
            <a:ext cx="12191980" cy="6857990"/>
          </a:xfrm>
          <a:prstGeom prst="rect">
            <a:avLst/>
          </a:prstGeom>
        </p:spPr>
      </p:pic>
      <p:sp>
        <p:nvSpPr>
          <p:cNvPr id="2" name="Title 1">
            <a:extLst>
              <a:ext uri="{FF2B5EF4-FFF2-40B4-BE49-F238E27FC236}">
                <a16:creationId xmlns:a16="http://schemas.microsoft.com/office/drawing/2014/main" id="{56BF19D0-DDC5-BB1E-94CB-26B1DE8EEBFB}"/>
              </a:ext>
            </a:extLst>
          </p:cNvPr>
          <p:cNvSpPr>
            <a:spLocks noGrp="1"/>
          </p:cNvSpPr>
          <p:nvPr>
            <p:ph type="ctrTitle"/>
          </p:nvPr>
        </p:nvSpPr>
        <p:spPr>
          <a:xfrm>
            <a:off x="581191" y="3429000"/>
            <a:ext cx="10993549" cy="2038244"/>
          </a:xfrm>
        </p:spPr>
        <p:txBody>
          <a:bodyPr>
            <a:noAutofit/>
          </a:bodyPr>
          <a:lstStyle/>
          <a:p>
            <a:pPr algn="ctr"/>
            <a:r>
              <a:rPr lang="en-US" sz="6000" dirty="0">
                <a:solidFill>
                  <a:schemeClr val="bg1"/>
                </a:solidFill>
                <a:highlight>
                  <a:srgbClr val="000080"/>
                </a:highlight>
              </a:rPr>
              <a:t>Modules in python</a:t>
            </a:r>
          </a:p>
        </p:txBody>
      </p:sp>
      <p:sp>
        <p:nvSpPr>
          <p:cNvPr id="3" name="Subtitle 2">
            <a:extLst>
              <a:ext uri="{FF2B5EF4-FFF2-40B4-BE49-F238E27FC236}">
                <a16:creationId xmlns:a16="http://schemas.microsoft.com/office/drawing/2014/main" id="{8B054B3B-0EF4-47CF-DC3C-D14CA2499AF4}"/>
              </a:ext>
            </a:extLst>
          </p:cNvPr>
          <p:cNvSpPr>
            <a:spLocks noGrp="1"/>
          </p:cNvSpPr>
          <p:nvPr>
            <p:ph type="subTitle" idx="1"/>
          </p:nvPr>
        </p:nvSpPr>
        <p:spPr>
          <a:xfrm>
            <a:off x="581194" y="5467246"/>
            <a:ext cx="10993546" cy="484822"/>
          </a:xfrm>
        </p:spPr>
        <p:txBody>
          <a:bodyPr>
            <a:normAutofit/>
          </a:bodyPr>
          <a:lstStyle/>
          <a:p>
            <a:pPr algn="ctr"/>
            <a:r>
              <a:rPr lang="en-US" dirty="0">
                <a:solidFill>
                  <a:srgbClr val="7CEBFF"/>
                </a:solidFill>
              </a:rPr>
              <a:t>Dr. Rakhee chhibber</a:t>
            </a:r>
          </a:p>
        </p:txBody>
      </p:sp>
    </p:spTree>
    <p:extLst>
      <p:ext uri="{BB962C8B-B14F-4D97-AF65-F5344CB8AC3E}">
        <p14:creationId xmlns:p14="http://schemas.microsoft.com/office/powerpoint/2010/main" val="407585434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1E486A-5B7D-C90F-A2E9-1C08A0F0F17B}"/>
              </a:ext>
            </a:extLst>
          </p:cNvPr>
          <p:cNvSpPr>
            <a:spLocks noGrp="1"/>
          </p:cNvSpPr>
          <p:nvPr>
            <p:ph type="title"/>
          </p:nvPr>
        </p:nvSpPr>
        <p:spPr/>
        <p:txBody>
          <a:bodyPr/>
          <a:lstStyle/>
          <a:p>
            <a:r>
              <a:rPr lang="en-US" dirty="0"/>
              <a:t>What is modules?</a:t>
            </a:r>
          </a:p>
        </p:txBody>
      </p:sp>
      <p:sp>
        <p:nvSpPr>
          <p:cNvPr id="3" name="Content Placeholder 2">
            <a:extLst>
              <a:ext uri="{FF2B5EF4-FFF2-40B4-BE49-F238E27FC236}">
                <a16:creationId xmlns:a16="http://schemas.microsoft.com/office/drawing/2014/main" id="{AE6603F2-A51D-DABC-9D99-706AA93F661E}"/>
              </a:ext>
            </a:extLst>
          </p:cNvPr>
          <p:cNvSpPr>
            <a:spLocks noGrp="1"/>
          </p:cNvSpPr>
          <p:nvPr>
            <p:ph idx="1"/>
          </p:nvPr>
        </p:nvSpPr>
        <p:spPr>
          <a:xfrm>
            <a:off x="581192" y="1954530"/>
            <a:ext cx="11029615" cy="4069080"/>
          </a:xfrm>
        </p:spPr>
        <p:txBody>
          <a:bodyPr>
            <a:normAutofit/>
          </a:bodyPr>
          <a:lstStyle/>
          <a:p>
            <a:r>
              <a:rPr lang="en-US" sz="2800" dirty="0"/>
              <a:t>In Python, </a:t>
            </a:r>
            <a:r>
              <a:rPr lang="en-US" sz="2800" b="1" dirty="0"/>
              <a:t>Modules</a:t>
            </a:r>
            <a:r>
              <a:rPr lang="en-US" sz="2800" dirty="0"/>
              <a:t> are simply files with the “.</a:t>
            </a:r>
            <a:r>
              <a:rPr lang="en-US" sz="2800" dirty="0" err="1"/>
              <a:t>py</a:t>
            </a:r>
            <a:r>
              <a:rPr lang="en-US" sz="2800" dirty="0"/>
              <a:t>” extension containing Python code that can be imported inside another Python Modules Operations Program.</a:t>
            </a:r>
          </a:p>
          <a:p>
            <a:r>
              <a:rPr lang="en-US" sz="2800" dirty="0"/>
              <a:t>Module to be the same as a code library or a file that contains a set of functions that you want to include in your application.</a:t>
            </a:r>
          </a:p>
          <a:p>
            <a:r>
              <a:rPr lang="en-US" sz="2800" dirty="0"/>
              <a:t>can organize related functions, classes, or any code block in the same file.</a:t>
            </a:r>
          </a:p>
        </p:txBody>
      </p:sp>
    </p:spTree>
    <p:extLst>
      <p:ext uri="{BB962C8B-B14F-4D97-AF65-F5344CB8AC3E}">
        <p14:creationId xmlns:p14="http://schemas.microsoft.com/office/powerpoint/2010/main" val="68571620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AB0745-E48F-7545-57A0-BF8EDDA726C1}"/>
              </a:ext>
            </a:extLst>
          </p:cNvPr>
          <p:cNvSpPr>
            <a:spLocks noGrp="1"/>
          </p:cNvSpPr>
          <p:nvPr>
            <p:ph type="title"/>
          </p:nvPr>
        </p:nvSpPr>
        <p:spPr/>
        <p:txBody>
          <a:bodyPr/>
          <a:lstStyle/>
          <a:p>
            <a:r>
              <a:rPr lang="en-US" dirty="0"/>
              <a:t>Components of modules</a:t>
            </a:r>
          </a:p>
        </p:txBody>
      </p:sp>
      <p:sp>
        <p:nvSpPr>
          <p:cNvPr id="3" name="Content Placeholder 2">
            <a:extLst>
              <a:ext uri="{FF2B5EF4-FFF2-40B4-BE49-F238E27FC236}">
                <a16:creationId xmlns:a16="http://schemas.microsoft.com/office/drawing/2014/main" id="{0C00A54C-7E37-B570-FEB0-C96554F09466}"/>
              </a:ext>
            </a:extLst>
          </p:cNvPr>
          <p:cNvSpPr>
            <a:spLocks noGrp="1"/>
          </p:cNvSpPr>
          <p:nvPr>
            <p:ph idx="1"/>
          </p:nvPr>
        </p:nvSpPr>
        <p:spPr/>
        <p:txBody>
          <a:bodyPr>
            <a:normAutofit/>
          </a:bodyPr>
          <a:lstStyle/>
          <a:p>
            <a:r>
              <a:rPr lang="en-US" sz="2800" dirty="0"/>
              <a:t>Definitions and implementation of classes,</a:t>
            </a:r>
          </a:p>
          <a:p>
            <a:r>
              <a:rPr lang="en-US" sz="2800" dirty="0"/>
              <a:t>Variables, and</a:t>
            </a:r>
          </a:p>
          <a:p>
            <a:r>
              <a:rPr lang="en-US" sz="2800" dirty="0"/>
              <a:t>Functions that can be used inside another program.</a:t>
            </a:r>
          </a:p>
          <a:p>
            <a:endParaRPr lang="en-US" sz="2800" dirty="0"/>
          </a:p>
        </p:txBody>
      </p:sp>
    </p:spTree>
    <p:extLst>
      <p:ext uri="{BB962C8B-B14F-4D97-AF65-F5344CB8AC3E}">
        <p14:creationId xmlns:p14="http://schemas.microsoft.com/office/powerpoint/2010/main" val="18098799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87D557-3CE6-9DBD-3519-18E672F1BBE3}"/>
              </a:ext>
            </a:extLst>
          </p:cNvPr>
          <p:cNvSpPr>
            <a:spLocks noGrp="1"/>
          </p:cNvSpPr>
          <p:nvPr>
            <p:ph type="title"/>
          </p:nvPr>
        </p:nvSpPr>
        <p:spPr/>
        <p:txBody>
          <a:bodyPr/>
          <a:lstStyle/>
          <a:p>
            <a:r>
              <a:rPr lang="en-US" dirty="0"/>
              <a:t>example</a:t>
            </a:r>
          </a:p>
        </p:txBody>
      </p:sp>
      <p:sp>
        <p:nvSpPr>
          <p:cNvPr id="3" name="Content Placeholder 2">
            <a:extLst>
              <a:ext uri="{FF2B5EF4-FFF2-40B4-BE49-F238E27FC236}">
                <a16:creationId xmlns:a16="http://schemas.microsoft.com/office/drawing/2014/main" id="{BD96F50D-39BF-94F4-8100-EB23DCAAD2A9}"/>
              </a:ext>
            </a:extLst>
          </p:cNvPr>
          <p:cNvSpPr>
            <a:spLocks noGrp="1"/>
          </p:cNvSpPr>
          <p:nvPr>
            <p:ph idx="1"/>
          </p:nvPr>
        </p:nvSpPr>
        <p:spPr>
          <a:xfrm>
            <a:off x="581193" y="1814737"/>
            <a:ext cx="11029615" cy="1351374"/>
          </a:xfrm>
        </p:spPr>
        <p:txBody>
          <a:bodyPr>
            <a:normAutofit lnSpcReduction="10000"/>
          </a:bodyPr>
          <a:lstStyle/>
          <a:p>
            <a:r>
              <a:rPr lang="en-US" sz="2800" dirty="0"/>
              <a:t>Suppose we want to make an application for a calculator. We want to include few operations in our application such as addition, subtraction, multiplication, division, etc.</a:t>
            </a:r>
          </a:p>
        </p:txBody>
      </p:sp>
      <p:pic>
        <p:nvPicPr>
          <p:cNvPr id="5" name="Picture 4">
            <a:extLst>
              <a:ext uri="{FF2B5EF4-FFF2-40B4-BE49-F238E27FC236}">
                <a16:creationId xmlns:a16="http://schemas.microsoft.com/office/drawing/2014/main" id="{91464441-FC45-A8C8-56D3-AF8B02207CDB}"/>
              </a:ext>
            </a:extLst>
          </p:cNvPr>
          <p:cNvPicPr>
            <a:picLocks noChangeAspect="1"/>
          </p:cNvPicPr>
          <p:nvPr/>
        </p:nvPicPr>
        <p:blipFill>
          <a:blip r:embed="rId2"/>
          <a:stretch>
            <a:fillRect/>
          </a:stretch>
        </p:blipFill>
        <p:spPr>
          <a:xfrm>
            <a:off x="2218783" y="3531871"/>
            <a:ext cx="7754432" cy="2657846"/>
          </a:xfrm>
          <a:prstGeom prst="rect">
            <a:avLst/>
          </a:prstGeom>
        </p:spPr>
      </p:pic>
      <p:sp>
        <p:nvSpPr>
          <p:cNvPr id="6" name="Rectangle 5">
            <a:extLst>
              <a:ext uri="{FF2B5EF4-FFF2-40B4-BE49-F238E27FC236}">
                <a16:creationId xmlns:a16="http://schemas.microsoft.com/office/drawing/2014/main" id="{C1FB229A-CD11-CAE7-6A99-FA68F51D1441}"/>
              </a:ext>
            </a:extLst>
          </p:cNvPr>
          <p:cNvSpPr/>
          <p:nvPr/>
        </p:nvSpPr>
        <p:spPr>
          <a:xfrm>
            <a:off x="2218783" y="3703320"/>
            <a:ext cx="1084487" cy="2286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26956863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179371-21A8-95F2-679D-5BF18BDB53EB}"/>
              </a:ext>
            </a:extLst>
          </p:cNvPr>
          <p:cNvSpPr>
            <a:spLocks noGrp="1"/>
          </p:cNvSpPr>
          <p:nvPr>
            <p:ph type="title"/>
          </p:nvPr>
        </p:nvSpPr>
        <p:spPr/>
        <p:txBody>
          <a:bodyPr/>
          <a:lstStyle/>
          <a:p>
            <a:r>
              <a:rPr lang="en-US" dirty="0"/>
              <a:t>Python Built-in Modules</a:t>
            </a:r>
          </a:p>
        </p:txBody>
      </p:sp>
      <p:graphicFrame>
        <p:nvGraphicFramePr>
          <p:cNvPr id="4" name="Table 3">
            <a:extLst>
              <a:ext uri="{FF2B5EF4-FFF2-40B4-BE49-F238E27FC236}">
                <a16:creationId xmlns:a16="http://schemas.microsoft.com/office/drawing/2014/main" id="{7E28F1A3-7952-40F4-4264-AAB534F29648}"/>
              </a:ext>
            </a:extLst>
          </p:cNvPr>
          <p:cNvGraphicFramePr>
            <a:graphicFrameLocks noGrp="1"/>
          </p:cNvGraphicFramePr>
          <p:nvPr>
            <p:extLst>
              <p:ext uri="{D42A27DB-BD31-4B8C-83A1-F6EECF244321}">
                <p14:modId xmlns:p14="http://schemas.microsoft.com/office/powerpoint/2010/main" val="3741225872"/>
              </p:ext>
            </p:extLst>
          </p:nvPr>
        </p:nvGraphicFramePr>
        <p:xfrm>
          <a:off x="581192" y="2091690"/>
          <a:ext cx="11029616" cy="4343400"/>
        </p:xfrm>
        <a:graphic>
          <a:graphicData uri="http://schemas.openxmlformats.org/drawingml/2006/table">
            <a:tbl>
              <a:tblPr/>
              <a:tblGrid>
                <a:gridCol w="1085850">
                  <a:extLst>
                    <a:ext uri="{9D8B030D-6E8A-4147-A177-3AD203B41FA5}">
                      <a16:colId xmlns:a16="http://schemas.microsoft.com/office/drawing/2014/main" val="2511718616"/>
                    </a:ext>
                  </a:extLst>
                </a:gridCol>
                <a:gridCol w="9943766">
                  <a:extLst>
                    <a:ext uri="{9D8B030D-6E8A-4147-A177-3AD203B41FA5}">
                      <a16:colId xmlns:a16="http://schemas.microsoft.com/office/drawing/2014/main" val="1157842168"/>
                    </a:ext>
                  </a:extLst>
                </a:gridCol>
              </a:tblGrid>
              <a:tr h="374962">
                <a:tc>
                  <a:txBody>
                    <a:bodyPr/>
                    <a:lstStyle/>
                    <a:p>
                      <a:pPr algn="l">
                        <a:buNone/>
                      </a:pPr>
                      <a:r>
                        <a:rPr lang="en-US" sz="2400" b="1" dirty="0" err="1">
                          <a:solidFill>
                            <a:srgbClr val="000000"/>
                          </a:solidFill>
                          <a:effectLst/>
                          <a:latin typeface="inherit"/>
                        </a:rPr>
                        <a:t>Sr.No</a:t>
                      </a:r>
                      <a:r>
                        <a:rPr lang="en-US" sz="2400" b="1" dirty="0">
                          <a:solidFill>
                            <a:srgbClr val="000000"/>
                          </a:solidFill>
                          <a:effectLst/>
                          <a:latin typeface="inherit"/>
                        </a:rPr>
                        <a:t>.</a:t>
                      </a:r>
                    </a:p>
                  </a:txBody>
                  <a:tcPr marL="4194" marR="4194" marT="4194" marB="41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2400" b="1">
                          <a:solidFill>
                            <a:srgbClr val="000000"/>
                          </a:solidFill>
                          <a:effectLst/>
                          <a:latin typeface="inherit"/>
                        </a:rPr>
                        <a:t>Name &amp; Brief Description</a:t>
                      </a:r>
                    </a:p>
                  </a:txBody>
                  <a:tcPr marL="4194" marR="4194" marT="4194" marB="41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55345673"/>
                  </a:ext>
                </a:extLst>
              </a:tr>
              <a:tr h="425138">
                <a:tc>
                  <a:txBody>
                    <a:bodyPr/>
                    <a:lstStyle/>
                    <a:p>
                      <a:pPr algn="l">
                        <a:buNone/>
                      </a:pPr>
                      <a:r>
                        <a:rPr lang="en-US" sz="2400">
                          <a:effectLst/>
                        </a:rPr>
                        <a:t>1</a:t>
                      </a:r>
                    </a:p>
                  </a:txBody>
                  <a:tcPr marL="4194" marR="4194" marT="4194" marB="41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en-US" sz="2400" b="1" u="none" strike="noStrike" dirty="0" err="1">
                          <a:solidFill>
                            <a:srgbClr val="008000"/>
                          </a:solidFill>
                          <a:effectLst/>
                          <a:latin typeface="inherit"/>
                          <a:hlinkClick r:id="rId2"/>
                        </a:rPr>
                        <a:t>os</a:t>
                      </a:r>
                      <a:r>
                        <a:rPr lang="en-US" sz="2400" b="1" u="none" strike="noStrike" dirty="0">
                          <a:solidFill>
                            <a:srgbClr val="008000"/>
                          </a:solidFill>
                          <a:effectLst/>
                          <a:latin typeface="inherit"/>
                        </a:rPr>
                        <a:t> - </a:t>
                      </a:r>
                      <a:r>
                        <a:rPr lang="en-US" sz="2400" dirty="0">
                          <a:effectLst/>
                        </a:rPr>
                        <a:t> provides a number of operating system functions.</a:t>
                      </a:r>
                    </a:p>
                  </a:txBody>
                  <a:tcPr marL="4194" marR="4194" marT="4194" marB="41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13104316"/>
                  </a:ext>
                </a:extLst>
              </a:tr>
              <a:tr h="651510">
                <a:tc>
                  <a:txBody>
                    <a:bodyPr/>
                    <a:lstStyle/>
                    <a:p>
                      <a:pPr algn="l">
                        <a:buNone/>
                      </a:pPr>
                      <a:r>
                        <a:rPr lang="en-US" sz="2400">
                          <a:effectLst/>
                        </a:rPr>
                        <a:t>2</a:t>
                      </a:r>
                    </a:p>
                  </a:txBody>
                  <a:tcPr marL="4194" marR="4194" marT="4194" marB="41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en-US" sz="2400" b="1" u="none" strike="noStrike" dirty="0">
                          <a:solidFill>
                            <a:srgbClr val="008000"/>
                          </a:solidFill>
                          <a:effectLst/>
                          <a:latin typeface="inherit"/>
                          <a:hlinkClick r:id="rId3"/>
                        </a:rPr>
                        <a:t>string</a:t>
                      </a:r>
                      <a:r>
                        <a:rPr lang="en-US" sz="2400" b="1" u="none" strike="noStrike" dirty="0">
                          <a:solidFill>
                            <a:srgbClr val="008000"/>
                          </a:solidFill>
                          <a:effectLst/>
                          <a:latin typeface="inherit"/>
                        </a:rPr>
                        <a:t>- </a:t>
                      </a:r>
                      <a:r>
                        <a:rPr lang="en-US" sz="2400" dirty="0">
                          <a:effectLst/>
                        </a:rPr>
                        <a:t>contains a number of functions for string processing</a:t>
                      </a:r>
                    </a:p>
                  </a:txBody>
                  <a:tcPr marL="4194" marR="4194" marT="4194" marB="41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429911086"/>
                  </a:ext>
                </a:extLst>
              </a:tr>
              <a:tr h="480060">
                <a:tc>
                  <a:txBody>
                    <a:bodyPr/>
                    <a:lstStyle/>
                    <a:p>
                      <a:pPr algn="l">
                        <a:buNone/>
                      </a:pPr>
                      <a:r>
                        <a:rPr lang="en-US" sz="2400">
                          <a:effectLst/>
                        </a:rPr>
                        <a:t>3</a:t>
                      </a:r>
                    </a:p>
                  </a:txBody>
                  <a:tcPr marL="4194" marR="4194" marT="4194" marB="41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en-US" sz="2400" b="1" u="none" strike="noStrike" dirty="0">
                          <a:solidFill>
                            <a:srgbClr val="008000"/>
                          </a:solidFill>
                          <a:effectLst/>
                          <a:latin typeface="inherit"/>
                          <a:hlinkClick r:id="rId4"/>
                        </a:rPr>
                        <a:t>re</a:t>
                      </a:r>
                      <a:r>
                        <a:rPr lang="en-US" sz="2400" b="1" u="none" strike="noStrike" dirty="0">
                          <a:solidFill>
                            <a:srgbClr val="008000"/>
                          </a:solidFill>
                          <a:effectLst/>
                          <a:latin typeface="inherit"/>
                        </a:rPr>
                        <a:t>- pro</a:t>
                      </a:r>
                      <a:r>
                        <a:rPr lang="en-US" sz="2400" dirty="0">
                          <a:effectLst/>
                        </a:rPr>
                        <a:t>vides a set of powerful regular expression facilities. Regular expression (</a:t>
                      </a:r>
                      <a:r>
                        <a:rPr lang="en-US" sz="2400" dirty="0" err="1">
                          <a:effectLst/>
                        </a:rPr>
                        <a:t>RegEx</a:t>
                      </a:r>
                      <a:r>
                        <a:rPr lang="en-US" sz="2400" dirty="0">
                          <a:effectLst/>
                        </a:rPr>
                        <a:t>), allows powerful string search and matching for a pattern in a string</a:t>
                      </a:r>
                    </a:p>
                  </a:txBody>
                  <a:tcPr marL="4194" marR="4194" marT="4194" marB="41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82880455"/>
                  </a:ext>
                </a:extLst>
              </a:tr>
              <a:tr h="631692">
                <a:tc>
                  <a:txBody>
                    <a:bodyPr/>
                    <a:lstStyle/>
                    <a:p>
                      <a:pPr algn="l">
                        <a:buNone/>
                      </a:pPr>
                      <a:r>
                        <a:rPr lang="en-US" sz="2400">
                          <a:effectLst/>
                        </a:rPr>
                        <a:t>4</a:t>
                      </a:r>
                    </a:p>
                  </a:txBody>
                  <a:tcPr marL="4194" marR="4194" marT="4194" marB="41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en-US" sz="2400" b="1" u="none" strike="noStrike" dirty="0">
                          <a:solidFill>
                            <a:srgbClr val="008000"/>
                          </a:solidFill>
                          <a:effectLst/>
                          <a:latin typeface="inherit"/>
                          <a:hlinkClick r:id="rId5"/>
                        </a:rPr>
                        <a:t>math</a:t>
                      </a:r>
                      <a:r>
                        <a:rPr lang="en-US" sz="2400" b="1" u="none" strike="noStrike" dirty="0">
                          <a:solidFill>
                            <a:srgbClr val="008000"/>
                          </a:solidFill>
                          <a:effectLst/>
                          <a:latin typeface="inherit"/>
                        </a:rPr>
                        <a:t> -</a:t>
                      </a:r>
                      <a:r>
                        <a:rPr lang="en-US" sz="2400" dirty="0">
                          <a:effectLst/>
                        </a:rPr>
                        <a:t>implements a number of mathematical operations for floating point numbers. </a:t>
                      </a:r>
                    </a:p>
                  </a:txBody>
                  <a:tcPr marL="4194" marR="4194" marT="4194" marB="41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41460569"/>
                  </a:ext>
                </a:extLst>
              </a:tr>
              <a:tr h="440424">
                <a:tc>
                  <a:txBody>
                    <a:bodyPr/>
                    <a:lstStyle/>
                    <a:p>
                      <a:pPr algn="l">
                        <a:buNone/>
                      </a:pPr>
                      <a:r>
                        <a:rPr lang="en-US" sz="2400">
                          <a:effectLst/>
                        </a:rPr>
                        <a:t>6</a:t>
                      </a:r>
                    </a:p>
                  </a:txBody>
                  <a:tcPr marL="4194" marR="4194" marT="4194" marB="41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en-US" sz="2400" b="1" u="none" strike="noStrike" dirty="0">
                          <a:solidFill>
                            <a:srgbClr val="008000"/>
                          </a:solidFill>
                          <a:effectLst/>
                          <a:latin typeface="inherit"/>
                          <a:hlinkClick r:id="rId6"/>
                        </a:rPr>
                        <a:t>Datetime</a:t>
                      </a:r>
                      <a:r>
                        <a:rPr lang="en-US" sz="2400" b="1" u="none" strike="noStrike" dirty="0">
                          <a:solidFill>
                            <a:srgbClr val="008000"/>
                          </a:solidFill>
                          <a:effectLst/>
                          <a:latin typeface="inherit"/>
                        </a:rPr>
                        <a:t> - </a:t>
                      </a:r>
                      <a:r>
                        <a:rPr lang="en-US" sz="2400" dirty="0">
                          <a:effectLst/>
                        </a:rPr>
                        <a:t>provides functions to deal with dates and the time within a day. </a:t>
                      </a:r>
                    </a:p>
                  </a:txBody>
                  <a:tcPr marL="4194" marR="4194" marT="4194" marB="41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90768438"/>
                  </a:ext>
                </a:extLst>
              </a:tr>
              <a:tr h="411480">
                <a:tc>
                  <a:txBody>
                    <a:bodyPr/>
                    <a:lstStyle/>
                    <a:p>
                      <a:pPr algn="l">
                        <a:buNone/>
                      </a:pPr>
                      <a:r>
                        <a:rPr lang="en-US" sz="2400" dirty="0">
                          <a:effectLst/>
                        </a:rPr>
                        <a:t>7</a:t>
                      </a:r>
                    </a:p>
                  </a:txBody>
                  <a:tcPr marL="4194" marR="4194" marT="4194" marB="41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en-US" sz="2400" b="1" u="none" strike="noStrike" dirty="0">
                          <a:solidFill>
                            <a:srgbClr val="008000"/>
                          </a:solidFill>
                          <a:effectLst/>
                          <a:latin typeface="inherit"/>
                          <a:hlinkClick r:id="rId7"/>
                        </a:rPr>
                        <a:t>Sqlite3</a:t>
                      </a:r>
                      <a:r>
                        <a:rPr lang="en-US" sz="2400" b="1" u="none" strike="noStrike" dirty="0">
                          <a:solidFill>
                            <a:srgbClr val="008000"/>
                          </a:solidFill>
                          <a:effectLst/>
                          <a:latin typeface="inherit"/>
                        </a:rPr>
                        <a:t> - </a:t>
                      </a:r>
                      <a:r>
                        <a:rPr lang="en-US" sz="2400" dirty="0">
                          <a:effectLst/>
                        </a:rPr>
                        <a:t>using SQLite 3.x.</a:t>
                      </a:r>
                    </a:p>
                  </a:txBody>
                  <a:tcPr marL="4194" marR="4194" marT="4194" marB="41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02373225"/>
                  </a:ext>
                </a:extLst>
              </a:tr>
              <a:tr h="560070">
                <a:tc>
                  <a:txBody>
                    <a:bodyPr/>
                    <a:lstStyle/>
                    <a:p>
                      <a:pPr algn="l">
                        <a:buNone/>
                      </a:pPr>
                      <a:r>
                        <a:rPr lang="en-US" sz="2400" dirty="0">
                          <a:effectLst/>
                        </a:rPr>
                        <a:t>8</a:t>
                      </a:r>
                    </a:p>
                  </a:txBody>
                  <a:tcPr marL="4194" marR="4194" marT="4194" marB="41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en-US" sz="2400" b="1" u="none" strike="noStrike" dirty="0">
                          <a:solidFill>
                            <a:srgbClr val="008000"/>
                          </a:solidFill>
                          <a:effectLst/>
                          <a:latin typeface="inherit"/>
                          <a:hlinkClick r:id="rId8"/>
                        </a:rPr>
                        <a:t>Statistics</a:t>
                      </a:r>
                      <a:r>
                        <a:rPr lang="en-US" sz="2400" b="1" u="none" strike="noStrike" dirty="0">
                          <a:solidFill>
                            <a:srgbClr val="008000"/>
                          </a:solidFill>
                          <a:effectLst/>
                          <a:latin typeface="inherit"/>
                        </a:rPr>
                        <a:t> - </a:t>
                      </a:r>
                      <a:r>
                        <a:rPr lang="en-US" sz="2400" dirty="0">
                          <a:effectLst/>
                        </a:rPr>
                        <a:t>Mathematical statistics functions</a:t>
                      </a:r>
                    </a:p>
                  </a:txBody>
                  <a:tcPr marL="4194" marR="4194" marT="4194" marB="41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26349648"/>
                  </a:ext>
                </a:extLst>
              </a:tr>
            </a:tbl>
          </a:graphicData>
        </a:graphic>
      </p:graphicFrame>
    </p:spTree>
    <p:extLst>
      <p:ext uri="{BB962C8B-B14F-4D97-AF65-F5344CB8AC3E}">
        <p14:creationId xmlns:p14="http://schemas.microsoft.com/office/powerpoint/2010/main" val="278304178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CFC397-CD46-6446-89EA-A61978A8FBA3}"/>
              </a:ext>
            </a:extLst>
          </p:cNvPr>
          <p:cNvSpPr>
            <a:spLocks noGrp="1"/>
          </p:cNvSpPr>
          <p:nvPr>
            <p:ph type="title"/>
          </p:nvPr>
        </p:nvSpPr>
        <p:spPr/>
        <p:txBody>
          <a:bodyPr/>
          <a:lstStyle/>
          <a:p>
            <a:r>
              <a:rPr lang="en-US" dirty="0"/>
              <a:t>Python User-defined Modules</a:t>
            </a:r>
          </a:p>
        </p:txBody>
      </p:sp>
      <p:sp>
        <p:nvSpPr>
          <p:cNvPr id="3" name="Content Placeholder 2">
            <a:extLst>
              <a:ext uri="{FF2B5EF4-FFF2-40B4-BE49-F238E27FC236}">
                <a16:creationId xmlns:a16="http://schemas.microsoft.com/office/drawing/2014/main" id="{45697AAB-0FBF-3825-BB4C-F4AE07A6F856}"/>
              </a:ext>
            </a:extLst>
          </p:cNvPr>
          <p:cNvSpPr>
            <a:spLocks noGrp="1"/>
          </p:cNvSpPr>
          <p:nvPr>
            <p:ph idx="1"/>
          </p:nvPr>
        </p:nvSpPr>
        <p:spPr/>
        <p:txBody>
          <a:bodyPr>
            <a:normAutofit/>
          </a:bodyPr>
          <a:lstStyle/>
          <a:p>
            <a:pPr marL="0" indent="0" algn="just">
              <a:buNone/>
            </a:pPr>
            <a:r>
              <a:rPr lang="en-US" sz="2800" dirty="0"/>
              <a:t>Any text file with </a:t>
            </a:r>
            <a:r>
              <a:rPr lang="en-US" sz="2800" b="1" dirty="0"/>
              <a:t>.</a:t>
            </a:r>
            <a:r>
              <a:rPr lang="en-US" sz="2800" b="1" dirty="0" err="1"/>
              <a:t>py</a:t>
            </a:r>
            <a:r>
              <a:rPr lang="en-US" sz="2800" dirty="0"/>
              <a:t> extension and containing Python code is basically a module. It can contain definitions of one or more functions, variables, constants as well as classes. Any Python object from a module can be made available to interpreter session or another Python script by import statement. A module can also include runnable code.</a:t>
            </a:r>
          </a:p>
        </p:txBody>
      </p:sp>
    </p:spTree>
    <p:extLst>
      <p:ext uri="{BB962C8B-B14F-4D97-AF65-F5344CB8AC3E}">
        <p14:creationId xmlns:p14="http://schemas.microsoft.com/office/powerpoint/2010/main" val="345448625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69951D-955A-075C-8FFF-9F6095EB5CF3}"/>
              </a:ext>
            </a:extLst>
          </p:cNvPr>
          <p:cNvSpPr>
            <a:spLocks noGrp="1"/>
          </p:cNvSpPr>
          <p:nvPr>
            <p:ph type="title"/>
          </p:nvPr>
        </p:nvSpPr>
        <p:spPr/>
        <p:txBody>
          <a:bodyPr/>
          <a:lstStyle/>
          <a:p>
            <a:r>
              <a:rPr lang="en-US" dirty="0"/>
              <a:t>Creating a Python Module</a:t>
            </a:r>
          </a:p>
        </p:txBody>
      </p:sp>
      <p:sp>
        <p:nvSpPr>
          <p:cNvPr id="3" name="Content Placeholder 2">
            <a:extLst>
              <a:ext uri="{FF2B5EF4-FFF2-40B4-BE49-F238E27FC236}">
                <a16:creationId xmlns:a16="http://schemas.microsoft.com/office/drawing/2014/main" id="{870E5B74-CCF3-ECA2-69F3-398677716CFE}"/>
              </a:ext>
            </a:extLst>
          </p:cNvPr>
          <p:cNvSpPr>
            <a:spLocks noGrp="1"/>
          </p:cNvSpPr>
          <p:nvPr>
            <p:ph idx="1"/>
          </p:nvPr>
        </p:nvSpPr>
        <p:spPr>
          <a:xfrm>
            <a:off x="581193" y="2157637"/>
            <a:ext cx="11029615" cy="3911694"/>
          </a:xfrm>
        </p:spPr>
        <p:txBody>
          <a:bodyPr>
            <a:normAutofit/>
          </a:bodyPr>
          <a:lstStyle/>
          <a:p>
            <a:endParaRPr lang="en-US" b="1" dirty="0"/>
          </a:p>
          <a:p>
            <a:endParaRPr lang="en-US" b="1" dirty="0"/>
          </a:p>
          <a:p>
            <a:r>
              <a:rPr lang="en-US" b="1" dirty="0"/>
              <a:t>mymodule.py</a:t>
            </a:r>
          </a:p>
          <a:p>
            <a:endParaRPr lang="en-US" b="1" dirty="0"/>
          </a:p>
          <a:p>
            <a:endParaRPr lang="en-US" b="1" dirty="0"/>
          </a:p>
          <a:p>
            <a:endParaRPr lang="en-US" b="1" dirty="0"/>
          </a:p>
          <a:p>
            <a:endParaRPr lang="en-US" b="1" dirty="0"/>
          </a:p>
          <a:p>
            <a:endParaRPr lang="en-US" b="1" dirty="0"/>
          </a:p>
          <a:p>
            <a:r>
              <a:rPr lang="en-US" b="1" dirty="0"/>
              <a:t>Example.py</a:t>
            </a:r>
          </a:p>
          <a:p>
            <a:endParaRPr lang="en-US" b="1" dirty="0"/>
          </a:p>
          <a:p>
            <a:endParaRPr lang="en-US" b="1" dirty="0"/>
          </a:p>
          <a:p>
            <a:endParaRPr lang="en-US" dirty="0"/>
          </a:p>
        </p:txBody>
      </p:sp>
      <p:pic>
        <p:nvPicPr>
          <p:cNvPr id="5" name="Picture 4">
            <a:extLst>
              <a:ext uri="{FF2B5EF4-FFF2-40B4-BE49-F238E27FC236}">
                <a16:creationId xmlns:a16="http://schemas.microsoft.com/office/drawing/2014/main" id="{ADAFBF51-059F-1318-76B4-AAD531FEE6E7}"/>
              </a:ext>
            </a:extLst>
          </p:cNvPr>
          <p:cNvPicPr>
            <a:picLocks noChangeAspect="1"/>
          </p:cNvPicPr>
          <p:nvPr/>
        </p:nvPicPr>
        <p:blipFill>
          <a:blip r:embed="rId2"/>
          <a:stretch>
            <a:fillRect/>
          </a:stretch>
        </p:blipFill>
        <p:spPr>
          <a:xfrm>
            <a:off x="962384" y="3138771"/>
            <a:ext cx="8507012" cy="1286054"/>
          </a:xfrm>
          <a:prstGeom prst="rect">
            <a:avLst/>
          </a:prstGeom>
        </p:spPr>
      </p:pic>
      <p:pic>
        <p:nvPicPr>
          <p:cNvPr id="7" name="Picture 6">
            <a:extLst>
              <a:ext uri="{FF2B5EF4-FFF2-40B4-BE49-F238E27FC236}">
                <a16:creationId xmlns:a16="http://schemas.microsoft.com/office/drawing/2014/main" id="{5092D2A1-18FD-430D-6D2E-9599085BB3A7}"/>
              </a:ext>
            </a:extLst>
          </p:cNvPr>
          <p:cNvPicPr>
            <a:picLocks noChangeAspect="1"/>
          </p:cNvPicPr>
          <p:nvPr/>
        </p:nvPicPr>
        <p:blipFill>
          <a:blip r:embed="rId3"/>
          <a:stretch>
            <a:fillRect/>
          </a:stretch>
        </p:blipFill>
        <p:spPr>
          <a:xfrm>
            <a:off x="733784" y="5405958"/>
            <a:ext cx="8640381" cy="1105054"/>
          </a:xfrm>
          <a:prstGeom prst="rect">
            <a:avLst/>
          </a:prstGeom>
        </p:spPr>
      </p:pic>
    </p:spTree>
    <p:extLst>
      <p:ext uri="{BB962C8B-B14F-4D97-AF65-F5344CB8AC3E}">
        <p14:creationId xmlns:p14="http://schemas.microsoft.com/office/powerpoint/2010/main" val="11473154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300EDE-76E4-D497-5AC7-04CDDF31A1A8}"/>
              </a:ext>
            </a:extLst>
          </p:cNvPr>
          <p:cNvSpPr>
            <a:spLocks noGrp="1"/>
          </p:cNvSpPr>
          <p:nvPr>
            <p:ph type="title"/>
          </p:nvPr>
        </p:nvSpPr>
        <p:spPr/>
        <p:txBody>
          <a:bodyPr/>
          <a:lstStyle/>
          <a:p>
            <a:r>
              <a:rPr lang="en-US" dirty="0"/>
              <a:t>Mymodule.py</a:t>
            </a:r>
          </a:p>
        </p:txBody>
      </p:sp>
      <p:pic>
        <p:nvPicPr>
          <p:cNvPr id="5" name="Picture 4">
            <a:extLst>
              <a:ext uri="{FF2B5EF4-FFF2-40B4-BE49-F238E27FC236}">
                <a16:creationId xmlns:a16="http://schemas.microsoft.com/office/drawing/2014/main" id="{6C96A3F5-0FEA-A3FE-DB0B-4B2BFBB04777}"/>
              </a:ext>
            </a:extLst>
          </p:cNvPr>
          <p:cNvPicPr>
            <a:picLocks noChangeAspect="1"/>
          </p:cNvPicPr>
          <p:nvPr/>
        </p:nvPicPr>
        <p:blipFill>
          <a:blip r:embed="rId2"/>
          <a:stretch>
            <a:fillRect/>
          </a:stretch>
        </p:blipFill>
        <p:spPr>
          <a:xfrm>
            <a:off x="676028" y="2133402"/>
            <a:ext cx="5530461" cy="4424369"/>
          </a:xfrm>
          <a:prstGeom prst="rect">
            <a:avLst/>
          </a:prstGeom>
        </p:spPr>
      </p:pic>
      <p:pic>
        <p:nvPicPr>
          <p:cNvPr id="7" name="Picture 6">
            <a:extLst>
              <a:ext uri="{FF2B5EF4-FFF2-40B4-BE49-F238E27FC236}">
                <a16:creationId xmlns:a16="http://schemas.microsoft.com/office/drawing/2014/main" id="{B7F645AE-377D-0FD5-19CC-633309564FC2}"/>
              </a:ext>
            </a:extLst>
          </p:cNvPr>
          <p:cNvPicPr>
            <a:picLocks noChangeAspect="1"/>
          </p:cNvPicPr>
          <p:nvPr/>
        </p:nvPicPr>
        <p:blipFill>
          <a:blip r:embed="rId3"/>
          <a:stretch>
            <a:fillRect/>
          </a:stretch>
        </p:blipFill>
        <p:spPr>
          <a:xfrm>
            <a:off x="6206489" y="4865900"/>
            <a:ext cx="5334744" cy="1657581"/>
          </a:xfrm>
          <a:prstGeom prst="rect">
            <a:avLst/>
          </a:prstGeom>
        </p:spPr>
      </p:pic>
    </p:spTree>
    <p:extLst>
      <p:ext uri="{BB962C8B-B14F-4D97-AF65-F5344CB8AC3E}">
        <p14:creationId xmlns:p14="http://schemas.microsoft.com/office/powerpoint/2010/main" val="196043130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609EB7-72BE-9541-EA35-4569A4CC84AB}"/>
              </a:ext>
            </a:extLst>
          </p:cNvPr>
          <p:cNvSpPr>
            <a:spLocks noGrp="1"/>
          </p:cNvSpPr>
          <p:nvPr>
            <p:ph type="title"/>
          </p:nvPr>
        </p:nvSpPr>
        <p:spPr/>
        <p:txBody>
          <a:bodyPr/>
          <a:lstStyle/>
          <a:p>
            <a:r>
              <a:rPr lang="en-US" dirty="0"/>
              <a:t>The from ... import Statement</a:t>
            </a:r>
          </a:p>
        </p:txBody>
      </p:sp>
      <p:pic>
        <p:nvPicPr>
          <p:cNvPr id="5" name="Picture 4">
            <a:extLst>
              <a:ext uri="{FF2B5EF4-FFF2-40B4-BE49-F238E27FC236}">
                <a16:creationId xmlns:a16="http://schemas.microsoft.com/office/drawing/2014/main" id="{6A0E3012-0521-8401-BB80-CCE46B243CBA}"/>
              </a:ext>
            </a:extLst>
          </p:cNvPr>
          <p:cNvPicPr>
            <a:picLocks noChangeAspect="1"/>
          </p:cNvPicPr>
          <p:nvPr/>
        </p:nvPicPr>
        <p:blipFill>
          <a:blip r:embed="rId2"/>
          <a:stretch>
            <a:fillRect/>
          </a:stretch>
        </p:blipFill>
        <p:spPr>
          <a:xfrm>
            <a:off x="581192" y="2104840"/>
            <a:ext cx="10782714" cy="2730050"/>
          </a:xfrm>
          <a:prstGeom prst="rect">
            <a:avLst/>
          </a:prstGeom>
        </p:spPr>
      </p:pic>
    </p:spTree>
    <p:extLst>
      <p:ext uri="{BB962C8B-B14F-4D97-AF65-F5344CB8AC3E}">
        <p14:creationId xmlns:p14="http://schemas.microsoft.com/office/powerpoint/2010/main" val="35928513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8A5049-AFC4-289E-AC03-4EA582BC072F}"/>
              </a:ext>
            </a:extLst>
          </p:cNvPr>
          <p:cNvSpPr>
            <a:spLocks noGrp="1"/>
          </p:cNvSpPr>
          <p:nvPr>
            <p:ph type="title"/>
          </p:nvPr>
        </p:nvSpPr>
        <p:spPr/>
        <p:txBody>
          <a:bodyPr/>
          <a:lstStyle/>
          <a:p>
            <a:r>
              <a:rPr lang="en-US" dirty="0"/>
              <a:t>The from...import * Statement</a:t>
            </a:r>
          </a:p>
        </p:txBody>
      </p:sp>
      <p:pic>
        <p:nvPicPr>
          <p:cNvPr id="5" name="Picture 4">
            <a:extLst>
              <a:ext uri="{FF2B5EF4-FFF2-40B4-BE49-F238E27FC236}">
                <a16:creationId xmlns:a16="http://schemas.microsoft.com/office/drawing/2014/main" id="{697ACE6B-1078-4433-B3B2-D97C082099CC}"/>
              </a:ext>
            </a:extLst>
          </p:cNvPr>
          <p:cNvPicPr>
            <a:picLocks noChangeAspect="1"/>
          </p:cNvPicPr>
          <p:nvPr/>
        </p:nvPicPr>
        <p:blipFill>
          <a:blip r:embed="rId2"/>
          <a:stretch>
            <a:fillRect/>
          </a:stretch>
        </p:blipFill>
        <p:spPr>
          <a:xfrm>
            <a:off x="1125606" y="2762196"/>
            <a:ext cx="7712739" cy="1649783"/>
          </a:xfrm>
          <a:prstGeom prst="rect">
            <a:avLst/>
          </a:prstGeom>
        </p:spPr>
      </p:pic>
    </p:spTree>
    <p:extLst>
      <p:ext uri="{BB962C8B-B14F-4D97-AF65-F5344CB8AC3E}">
        <p14:creationId xmlns:p14="http://schemas.microsoft.com/office/powerpoint/2010/main" val="311350212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5A7761-3301-630D-C813-334C4AB8E40E}"/>
              </a:ext>
            </a:extLst>
          </p:cNvPr>
          <p:cNvSpPr>
            <a:spLocks noGrp="1"/>
          </p:cNvSpPr>
          <p:nvPr>
            <p:ph type="title"/>
          </p:nvPr>
        </p:nvSpPr>
        <p:spPr/>
        <p:txBody>
          <a:bodyPr/>
          <a:lstStyle/>
          <a:p>
            <a:r>
              <a:rPr lang="en-US" dirty="0"/>
              <a:t>The import ... as Statement</a:t>
            </a:r>
            <a:br>
              <a:rPr lang="en-US" dirty="0"/>
            </a:br>
            <a:endParaRPr lang="en-US" dirty="0"/>
          </a:p>
        </p:txBody>
      </p:sp>
      <p:pic>
        <p:nvPicPr>
          <p:cNvPr id="5" name="Picture 4">
            <a:extLst>
              <a:ext uri="{FF2B5EF4-FFF2-40B4-BE49-F238E27FC236}">
                <a16:creationId xmlns:a16="http://schemas.microsoft.com/office/drawing/2014/main" id="{765EB393-C0B9-2854-171C-E7AA8A457BBD}"/>
              </a:ext>
            </a:extLst>
          </p:cNvPr>
          <p:cNvPicPr>
            <a:picLocks noChangeAspect="1"/>
          </p:cNvPicPr>
          <p:nvPr/>
        </p:nvPicPr>
        <p:blipFill>
          <a:blip r:embed="rId2"/>
          <a:stretch>
            <a:fillRect/>
          </a:stretch>
        </p:blipFill>
        <p:spPr>
          <a:xfrm>
            <a:off x="581192" y="2228746"/>
            <a:ext cx="9968698" cy="3308758"/>
          </a:xfrm>
          <a:prstGeom prst="rect">
            <a:avLst/>
          </a:prstGeom>
        </p:spPr>
      </p:pic>
    </p:spTree>
    <p:extLst>
      <p:ext uri="{BB962C8B-B14F-4D97-AF65-F5344CB8AC3E}">
        <p14:creationId xmlns:p14="http://schemas.microsoft.com/office/powerpoint/2010/main" val="9735174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120303-5EAE-7C81-B894-18E2372571D8}"/>
              </a:ext>
            </a:extLst>
          </p:cNvPr>
          <p:cNvSpPr>
            <a:spLocks noGrp="1"/>
          </p:cNvSpPr>
          <p:nvPr>
            <p:ph type="title"/>
          </p:nvPr>
        </p:nvSpPr>
        <p:spPr/>
        <p:txBody>
          <a:bodyPr/>
          <a:lstStyle/>
          <a:p>
            <a:r>
              <a:rPr lang="en-US" dirty="0"/>
              <a:t>Module Attributes</a:t>
            </a:r>
          </a:p>
        </p:txBody>
      </p:sp>
      <p:pic>
        <p:nvPicPr>
          <p:cNvPr id="5" name="Picture 4">
            <a:extLst>
              <a:ext uri="{FF2B5EF4-FFF2-40B4-BE49-F238E27FC236}">
                <a16:creationId xmlns:a16="http://schemas.microsoft.com/office/drawing/2014/main" id="{C54731A1-1A3E-A96F-6EE7-E878AB7F6D4B}"/>
              </a:ext>
            </a:extLst>
          </p:cNvPr>
          <p:cNvPicPr>
            <a:picLocks noChangeAspect="1"/>
          </p:cNvPicPr>
          <p:nvPr/>
        </p:nvPicPr>
        <p:blipFill>
          <a:blip r:embed="rId2"/>
          <a:stretch>
            <a:fillRect/>
          </a:stretch>
        </p:blipFill>
        <p:spPr>
          <a:xfrm>
            <a:off x="581192" y="2342998"/>
            <a:ext cx="11038299" cy="3177692"/>
          </a:xfrm>
          <a:prstGeom prst="rect">
            <a:avLst/>
          </a:prstGeom>
        </p:spPr>
      </p:pic>
    </p:spTree>
    <p:extLst>
      <p:ext uri="{BB962C8B-B14F-4D97-AF65-F5344CB8AC3E}">
        <p14:creationId xmlns:p14="http://schemas.microsoft.com/office/powerpoint/2010/main" val="211985482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99E381-E8F2-F0F7-A3C5-7E0E577FA3A9}"/>
              </a:ext>
            </a:extLst>
          </p:cNvPr>
          <p:cNvSpPr>
            <a:spLocks noGrp="1"/>
          </p:cNvSpPr>
          <p:nvPr>
            <p:ph type="title"/>
          </p:nvPr>
        </p:nvSpPr>
        <p:spPr/>
        <p:txBody>
          <a:bodyPr/>
          <a:lstStyle/>
          <a:p>
            <a:r>
              <a:rPr lang="en-US" dirty="0"/>
              <a:t>example</a:t>
            </a:r>
          </a:p>
        </p:txBody>
      </p:sp>
      <p:pic>
        <p:nvPicPr>
          <p:cNvPr id="5" name="Picture 4">
            <a:extLst>
              <a:ext uri="{FF2B5EF4-FFF2-40B4-BE49-F238E27FC236}">
                <a16:creationId xmlns:a16="http://schemas.microsoft.com/office/drawing/2014/main" id="{DB9C524C-6391-70F4-5761-C5D43D4352BF}"/>
              </a:ext>
            </a:extLst>
          </p:cNvPr>
          <p:cNvPicPr>
            <a:picLocks noChangeAspect="1"/>
          </p:cNvPicPr>
          <p:nvPr/>
        </p:nvPicPr>
        <p:blipFill>
          <a:blip r:embed="rId2"/>
          <a:stretch>
            <a:fillRect/>
          </a:stretch>
        </p:blipFill>
        <p:spPr>
          <a:xfrm>
            <a:off x="408024" y="2020942"/>
            <a:ext cx="10587635" cy="4640187"/>
          </a:xfrm>
          <a:prstGeom prst="rect">
            <a:avLst/>
          </a:prstGeom>
        </p:spPr>
      </p:pic>
    </p:spTree>
    <p:extLst>
      <p:ext uri="{BB962C8B-B14F-4D97-AF65-F5344CB8AC3E}">
        <p14:creationId xmlns:p14="http://schemas.microsoft.com/office/powerpoint/2010/main" val="192026174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2913AA-1C29-3A87-E95F-3B0D8832561B}"/>
              </a:ext>
            </a:extLst>
          </p:cNvPr>
          <p:cNvSpPr>
            <a:spLocks noGrp="1"/>
          </p:cNvSpPr>
          <p:nvPr>
            <p:ph type="title"/>
          </p:nvPr>
        </p:nvSpPr>
        <p:spPr/>
        <p:txBody>
          <a:bodyPr/>
          <a:lstStyle/>
          <a:p>
            <a:endParaRPr lang="en-US"/>
          </a:p>
        </p:txBody>
      </p:sp>
      <p:pic>
        <p:nvPicPr>
          <p:cNvPr id="5" name="Picture 4">
            <a:extLst>
              <a:ext uri="{FF2B5EF4-FFF2-40B4-BE49-F238E27FC236}">
                <a16:creationId xmlns:a16="http://schemas.microsoft.com/office/drawing/2014/main" id="{62F243B5-323A-394A-62B2-75DF6C407102}"/>
              </a:ext>
            </a:extLst>
          </p:cNvPr>
          <p:cNvPicPr>
            <a:picLocks noChangeAspect="1"/>
          </p:cNvPicPr>
          <p:nvPr/>
        </p:nvPicPr>
        <p:blipFill>
          <a:blip r:embed="rId2"/>
          <a:stretch>
            <a:fillRect/>
          </a:stretch>
        </p:blipFill>
        <p:spPr>
          <a:xfrm>
            <a:off x="581192" y="2219156"/>
            <a:ext cx="10992262" cy="3633004"/>
          </a:xfrm>
          <a:prstGeom prst="rect">
            <a:avLst/>
          </a:prstGeom>
        </p:spPr>
      </p:pic>
    </p:spTree>
    <p:extLst>
      <p:ext uri="{BB962C8B-B14F-4D97-AF65-F5344CB8AC3E}">
        <p14:creationId xmlns:p14="http://schemas.microsoft.com/office/powerpoint/2010/main" val="359082556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8E864A-1298-36C0-9995-69DFF153EF56}"/>
            </a:ext>
          </a:extLst>
        </p:cNvPr>
        <p:cNvGrpSpPr/>
        <p:nvPr/>
      </p:nvGrpSpPr>
      <p:grpSpPr>
        <a:xfrm>
          <a:off x="0" y="0"/>
          <a:ext cx="0" cy="0"/>
          <a:chOff x="0" y="0"/>
          <a:chExt cx="0" cy="0"/>
        </a:xfrm>
      </p:grpSpPr>
      <p:pic>
        <p:nvPicPr>
          <p:cNvPr id="7" name="Picture 6" descr="Digital Connections">
            <a:extLst>
              <a:ext uri="{FF2B5EF4-FFF2-40B4-BE49-F238E27FC236}">
                <a16:creationId xmlns:a16="http://schemas.microsoft.com/office/drawing/2014/main" id="{77F48D10-EDAE-5702-3D66-F3E9E0F21A94}"/>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l="13265" t="9091" r="3502" b="-1"/>
          <a:stretch/>
        </p:blipFill>
        <p:spPr>
          <a:xfrm>
            <a:off x="20" y="10"/>
            <a:ext cx="12191980" cy="6857990"/>
          </a:xfrm>
          <a:prstGeom prst="rect">
            <a:avLst/>
          </a:prstGeom>
        </p:spPr>
      </p:pic>
      <p:sp>
        <p:nvSpPr>
          <p:cNvPr id="2" name="Title 1">
            <a:extLst>
              <a:ext uri="{FF2B5EF4-FFF2-40B4-BE49-F238E27FC236}">
                <a16:creationId xmlns:a16="http://schemas.microsoft.com/office/drawing/2014/main" id="{02470A00-5B16-B97F-CAAB-EF43382F7C01}"/>
              </a:ext>
            </a:extLst>
          </p:cNvPr>
          <p:cNvSpPr>
            <a:spLocks noGrp="1"/>
          </p:cNvSpPr>
          <p:nvPr>
            <p:ph type="ctrTitle"/>
          </p:nvPr>
        </p:nvSpPr>
        <p:spPr>
          <a:xfrm>
            <a:off x="581191" y="3429000"/>
            <a:ext cx="10993549" cy="2038244"/>
          </a:xfrm>
        </p:spPr>
        <p:txBody>
          <a:bodyPr>
            <a:noAutofit/>
          </a:bodyPr>
          <a:lstStyle/>
          <a:p>
            <a:pPr algn="ctr"/>
            <a:r>
              <a:rPr lang="en-US" sz="6000" dirty="0">
                <a:solidFill>
                  <a:schemeClr val="bg1"/>
                </a:solidFill>
                <a:highlight>
                  <a:srgbClr val="000080"/>
                </a:highlight>
              </a:rPr>
              <a:t>Files in python</a:t>
            </a:r>
          </a:p>
        </p:txBody>
      </p:sp>
      <p:sp>
        <p:nvSpPr>
          <p:cNvPr id="3" name="Subtitle 2">
            <a:extLst>
              <a:ext uri="{FF2B5EF4-FFF2-40B4-BE49-F238E27FC236}">
                <a16:creationId xmlns:a16="http://schemas.microsoft.com/office/drawing/2014/main" id="{D6829B2F-2B90-B8D2-568A-BFADB95D6FAD}"/>
              </a:ext>
            </a:extLst>
          </p:cNvPr>
          <p:cNvSpPr>
            <a:spLocks noGrp="1"/>
          </p:cNvSpPr>
          <p:nvPr>
            <p:ph type="subTitle" idx="1"/>
          </p:nvPr>
        </p:nvSpPr>
        <p:spPr>
          <a:xfrm>
            <a:off x="581194" y="5467246"/>
            <a:ext cx="10993546" cy="484822"/>
          </a:xfrm>
        </p:spPr>
        <p:txBody>
          <a:bodyPr>
            <a:normAutofit/>
          </a:bodyPr>
          <a:lstStyle/>
          <a:p>
            <a:pPr algn="ctr"/>
            <a:r>
              <a:rPr lang="en-US" dirty="0">
                <a:solidFill>
                  <a:srgbClr val="7CEBFF"/>
                </a:solidFill>
              </a:rPr>
              <a:t>Dr. Rakhee chhibber</a:t>
            </a:r>
          </a:p>
        </p:txBody>
      </p:sp>
    </p:spTree>
    <p:extLst>
      <p:ext uri="{BB962C8B-B14F-4D97-AF65-F5344CB8AC3E}">
        <p14:creationId xmlns:p14="http://schemas.microsoft.com/office/powerpoint/2010/main" val="298978628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D67F4C-6A70-88EF-9019-E936DFC3F7B7}"/>
              </a:ext>
            </a:extLst>
          </p:cNvPr>
          <p:cNvSpPr>
            <a:spLocks noGrp="1"/>
          </p:cNvSpPr>
          <p:nvPr>
            <p:ph type="title"/>
          </p:nvPr>
        </p:nvSpPr>
        <p:spPr/>
        <p:txBody>
          <a:bodyPr/>
          <a:lstStyle/>
          <a:p>
            <a:r>
              <a:rPr lang="en-US" dirty="0"/>
              <a:t>Introduction</a:t>
            </a:r>
          </a:p>
        </p:txBody>
      </p:sp>
      <p:sp>
        <p:nvSpPr>
          <p:cNvPr id="3" name="Content Placeholder 2">
            <a:extLst>
              <a:ext uri="{FF2B5EF4-FFF2-40B4-BE49-F238E27FC236}">
                <a16:creationId xmlns:a16="http://schemas.microsoft.com/office/drawing/2014/main" id="{898216A2-DD1C-6B62-2053-B0D000723F0D}"/>
              </a:ext>
            </a:extLst>
          </p:cNvPr>
          <p:cNvSpPr>
            <a:spLocks noGrp="1"/>
          </p:cNvSpPr>
          <p:nvPr>
            <p:ph idx="1"/>
          </p:nvPr>
        </p:nvSpPr>
        <p:spPr>
          <a:xfrm>
            <a:off x="581192" y="2180496"/>
            <a:ext cx="11029615" cy="4323174"/>
          </a:xfrm>
        </p:spPr>
        <p:txBody>
          <a:bodyPr>
            <a:noAutofit/>
          </a:bodyPr>
          <a:lstStyle/>
          <a:p>
            <a:pPr marL="0" indent="0">
              <a:buNone/>
            </a:pPr>
            <a:r>
              <a:rPr lang="en-US" sz="2400" dirty="0"/>
              <a:t>File handling in Python involves interacting with files on your computer to read data from them or write data to them</a:t>
            </a:r>
          </a:p>
          <a:p>
            <a:pPr marL="324000" lvl="1" indent="0">
              <a:buNone/>
            </a:pPr>
            <a:r>
              <a:rPr lang="en-US" sz="2400" dirty="0"/>
              <a:t>1. Opening a File in Python</a:t>
            </a:r>
          </a:p>
          <a:p>
            <a:pPr marL="324000" lvl="1" indent="0">
              <a:buNone/>
            </a:pPr>
            <a:r>
              <a:rPr lang="en-US" sz="2400" dirty="0"/>
              <a:t>2. Reading a File in Python</a:t>
            </a:r>
          </a:p>
          <a:p>
            <a:pPr marL="324000" lvl="1" indent="0">
              <a:buNone/>
            </a:pPr>
            <a:r>
              <a:rPr lang="en-US" sz="2400" dirty="0"/>
              <a:t>3. Writing to a File in Python</a:t>
            </a:r>
          </a:p>
          <a:p>
            <a:pPr marL="324000" lvl="1" indent="0">
              <a:buNone/>
            </a:pPr>
            <a:r>
              <a:rPr lang="en-US" sz="2400" dirty="0"/>
              <a:t>4. Closing a File in Python</a:t>
            </a:r>
          </a:p>
          <a:p>
            <a:pPr marL="0" indent="0">
              <a:buNone/>
            </a:pPr>
            <a:endParaRPr lang="en-US" sz="2400" dirty="0"/>
          </a:p>
        </p:txBody>
      </p:sp>
    </p:spTree>
    <p:extLst>
      <p:ext uri="{BB962C8B-B14F-4D97-AF65-F5344CB8AC3E}">
        <p14:creationId xmlns:p14="http://schemas.microsoft.com/office/powerpoint/2010/main" val="99827538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F3C488-D4A5-FD0C-A6D3-A95F56EA0791}"/>
              </a:ext>
            </a:extLst>
          </p:cNvPr>
          <p:cNvSpPr>
            <a:spLocks noGrp="1"/>
          </p:cNvSpPr>
          <p:nvPr>
            <p:ph type="title"/>
          </p:nvPr>
        </p:nvSpPr>
        <p:spPr/>
        <p:txBody>
          <a:bodyPr/>
          <a:lstStyle/>
          <a:p>
            <a:r>
              <a:rPr lang="en-US" dirty="0"/>
              <a:t>Opening a file</a:t>
            </a:r>
          </a:p>
        </p:txBody>
      </p:sp>
      <p:sp>
        <p:nvSpPr>
          <p:cNvPr id="3" name="Content Placeholder 2">
            <a:extLst>
              <a:ext uri="{FF2B5EF4-FFF2-40B4-BE49-F238E27FC236}">
                <a16:creationId xmlns:a16="http://schemas.microsoft.com/office/drawing/2014/main" id="{EA7ECBD6-A3C2-C999-5CC3-835699A3170D}"/>
              </a:ext>
            </a:extLst>
          </p:cNvPr>
          <p:cNvSpPr>
            <a:spLocks noGrp="1"/>
          </p:cNvSpPr>
          <p:nvPr>
            <p:ph idx="1"/>
          </p:nvPr>
        </p:nvSpPr>
        <p:spPr>
          <a:xfrm>
            <a:off x="718352" y="2274570"/>
            <a:ext cx="11029615" cy="1371601"/>
          </a:xfrm>
        </p:spPr>
        <p:txBody>
          <a:bodyPr>
            <a:noAutofit/>
          </a:bodyPr>
          <a:lstStyle/>
          <a:p>
            <a:pPr marL="0" indent="0">
              <a:buNone/>
            </a:pPr>
            <a:r>
              <a:rPr lang="en-US" sz="3600" dirty="0"/>
              <a:t>file = open("filename", "mode")</a:t>
            </a:r>
          </a:p>
          <a:p>
            <a:pPr marL="0" indent="0">
              <a:buNone/>
            </a:pPr>
            <a:endParaRPr lang="en-US" sz="3600" dirty="0"/>
          </a:p>
        </p:txBody>
      </p:sp>
    </p:spTree>
    <p:extLst>
      <p:ext uri="{BB962C8B-B14F-4D97-AF65-F5344CB8AC3E}">
        <p14:creationId xmlns:p14="http://schemas.microsoft.com/office/powerpoint/2010/main" val="31204573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24161C56-605F-F7E4-84B9-1A6CBA9F6B6C}"/>
              </a:ext>
            </a:extLst>
          </p:cNvPr>
          <p:cNvGraphicFramePr>
            <a:graphicFrameLocks noGrp="1"/>
          </p:cNvGraphicFramePr>
          <p:nvPr>
            <p:extLst>
              <p:ext uri="{D42A27DB-BD31-4B8C-83A1-F6EECF244321}">
                <p14:modId xmlns:p14="http://schemas.microsoft.com/office/powerpoint/2010/main" val="1027373788"/>
              </p:ext>
            </p:extLst>
          </p:nvPr>
        </p:nvGraphicFramePr>
        <p:xfrm>
          <a:off x="455462" y="605792"/>
          <a:ext cx="11523178" cy="5973312"/>
        </p:xfrm>
        <a:graphic>
          <a:graphicData uri="http://schemas.openxmlformats.org/drawingml/2006/table">
            <a:tbl>
              <a:tblPr/>
              <a:tblGrid>
                <a:gridCol w="1144738">
                  <a:extLst>
                    <a:ext uri="{9D8B030D-6E8A-4147-A177-3AD203B41FA5}">
                      <a16:colId xmlns:a16="http://schemas.microsoft.com/office/drawing/2014/main" val="1789689355"/>
                    </a:ext>
                  </a:extLst>
                </a:gridCol>
                <a:gridCol w="10378440">
                  <a:extLst>
                    <a:ext uri="{9D8B030D-6E8A-4147-A177-3AD203B41FA5}">
                      <a16:colId xmlns:a16="http://schemas.microsoft.com/office/drawing/2014/main" val="446334488"/>
                    </a:ext>
                  </a:extLst>
                </a:gridCol>
              </a:tblGrid>
              <a:tr h="42894">
                <a:tc>
                  <a:txBody>
                    <a:bodyPr/>
                    <a:lstStyle/>
                    <a:p>
                      <a:pPr algn="ctr">
                        <a:buNone/>
                      </a:pPr>
                      <a:r>
                        <a:rPr lang="en-US" sz="2400" b="1" dirty="0">
                          <a:solidFill>
                            <a:srgbClr val="000000"/>
                          </a:solidFill>
                          <a:effectLst/>
                          <a:latin typeface="inherit"/>
                        </a:rPr>
                        <a:t>Mode </a:t>
                      </a:r>
                    </a:p>
                  </a:txBody>
                  <a:tcPr marL="5048" marR="5048" marT="5048" marB="504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2400" b="1" dirty="0">
                          <a:solidFill>
                            <a:srgbClr val="000000"/>
                          </a:solidFill>
                          <a:effectLst/>
                          <a:latin typeface="inherit"/>
                        </a:rPr>
                        <a:t> Description</a:t>
                      </a:r>
                    </a:p>
                  </a:txBody>
                  <a:tcPr marL="5048" marR="5048" marT="5048" marB="504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096498570"/>
                  </a:ext>
                </a:extLst>
              </a:tr>
              <a:tr h="212372">
                <a:tc>
                  <a:txBody>
                    <a:bodyPr/>
                    <a:lstStyle/>
                    <a:p>
                      <a:pPr algn="l">
                        <a:buNone/>
                      </a:pPr>
                      <a:r>
                        <a:rPr lang="en-US" sz="2400" dirty="0">
                          <a:effectLst/>
                        </a:rPr>
                        <a:t>r</a:t>
                      </a:r>
                    </a:p>
                  </a:txBody>
                  <a:tcPr marL="5048" marR="5048" marT="5048" marB="504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en-US" sz="2400" dirty="0">
                          <a:effectLst/>
                        </a:rPr>
                        <a:t>reading only and file pointer is placed at the </a:t>
                      </a:r>
                      <a:r>
                        <a:rPr lang="en-US" sz="2400" dirty="0" err="1">
                          <a:effectLst/>
                        </a:rPr>
                        <a:t>bof</a:t>
                      </a:r>
                      <a:r>
                        <a:rPr lang="en-US" sz="2400" dirty="0">
                          <a:effectLst/>
                        </a:rPr>
                        <a:t>. Default mode</a:t>
                      </a:r>
                    </a:p>
                  </a:txBody>
                  <a:tcPr marL="5048" marR="5048" marT="5048" marB="504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461285615"/>
                  </a:ext>
                </a:extLst>
              </a:tr>
              <a:tr h="241187">
                <a:tc>
                  <a:txBody>
                    <a:bodyPr/>
                    <a:lstStyle/>
                    <a:p>
                      <a:pPr algn="l">
                        <a:buNone/>
                      </a:pPr>
                      <a:r>
                        <a:rPr lang="en-US" sz="2400" dirty="0" err="1">
                          <a:effectLst/>
                        </a:rPr>
                        <a:t>rb</a:t>
                      </a:r>
                      <a:endParaRPr lang="en-US" sz="2400" dirty="0">
                        <a:effectLst/>
                      </a:endParaRPr>
                    </a:p>
                  </a:txBody>
                  <a:tcPr marL="5048" marR="5048" marT="5048" marB="504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en-US" sz="2400" dirty="0">
                          <a:effectLst/>
                        </a:rPr>
                        <a:t>reading only in binary format. The file pointer is placed at the </a:t>
                      </a:r>
                      <a:r>
                        <a:rPr lang="en-US" sz="2400" dirty="0" err="1">
                          <a:effectLst/>
                        </a:rPr>
                        <a:t>bof</a:t>
                      </a:r>
                      <a:endParaRPr lang="en-US" sz="2400" dirty="0">
                        <a:effectLst/>
                      </a:endParaRPr>
                    </a:p>
                  </a:txBody>
                  <a:tcPr marL="5048" marR="5048" marT="5048" marB="504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828505906"/>
                  </a:ext>
                </a:extLst>
              </a:tr>
              <a:tr h="183558">
                <a:tc>
                  <a:txBody>
                    <a:bodyPr/>
                    <a:lstStyle/>
                    <a:p>
                      <a:pPr algn="l">
                        <a:buNone/>
                      </a:pPr>
                      <a:r>
                        <a:rPr lang="en-US" sz="2400" dirty="0">
                          <a:effectLst/>
                        </a:rPr>
                        <a:t>r+</a:t>
                      </a:r>
                    </a:p>
                  </a:txBody>
                  <a:tcPr marL="5048" marR="5048" marT="5048" marB="504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en-US" sz="2400" dirty="0">
                          <a:effectLst/>
                        </a:rPr>
                        <a:t>both reading and writing. The file pointer placed at the </a:t>
                      </a:r>
                      <a:r>
                        <a:rPr lang="en-US" sz="2400" dirty="0" err="1">
                          <a:effectLst/>
                        </a:rPr>
                        <a:t>bof</a:t>
                      </a:r>
                      <a:endParaRPr lang="en-US" sz="2400" dirty="0">
                        <a:effectLst/>
                      </a:endParaRPr>
                    </a:p>
                  </a:txBody>
                  <a:tcPr marL="5048" marR="5048" marT="5048" marB="504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71418688"/>
                  </a:ext>
                </a:extLst>
              </a:tr>
              <a:tr h="212372">
                <a:tc>
                  <a:txBody>
                    <a:bodyPr/>
                    <a:lstStyle/>
                    <a:p>
                      <a:pPr algn="l">
                        <a:buNone/>
                      </a:pPr>
                      <a:r>
                        <a:rPr lang="en-US" sz="2400" dirty="0" err="1">
                          <a:effectLst/>
                        </a:rPr>
                        <a:t>rb</a:t>
                      </a:r>
                      <a:r>
                        <a:rPr lang="en-US" sz="2400" dirty="0">
                          <a:effectLst/>
                        </a:rPr>
                        <a:t>+</a:t>
                      </a:r>
                    </a:p>
                  </a:txBody>
                  <a:tcPr marL="5048" marR="5048" marT="5048" marB="504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en-US" sz="2400" dirty="0">
                          <a:effectLst/>
                        </a:rPr>
                        <a:t>both reading and writing in binary format. The file pointer placed at </a:t>
                      </a:r>
                      <a:r>
                        <a:rPr lang="en-US" sz="2400" dirty="0" err="1">
                          <a:effectLst/>
                        </a:rPr>
                        <a:t>bof</a:t>
                      </a:r>
                      <a:endParaRPr lang="en-US" sz="2400" dirty="0">
                        <a:effectLst/>
                      </a:endParaRPr>
                    </a:p>
                  </a:txBody>
                  <a:tcPr marL="5048" marR="5048" marT="5048" marB="504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71066418"/>
                  </a:ext>
                </a:extLst>
              </a:tr>
              <a:tr h="241187">
                <a:tc>
                  <a:txBody>
                    <a:bodyPr/>
                    <a:lstStyle/>
                    <a:p>
                      <a:pPr algn="l">
                        <a:buNone/>
                      </a:pPr>
                      <a:r>
                        <a:rPr lang="en-US" sz="2400" dirty="0">
                          <a:effectLst/>
                        </a:rPr>
                        <a:t>w</a:t>
                      </a:r>
                    </a:p>
                  </a:txBody>
                  <a:tcPr marL="5048" marR="5048" marT="5048" marB="504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en-US" sz="2400" dirty="0">
                          <a:effectLst/>
                        </a:rPr>
                        <a:t>writing only. Overwrites the file if the file exists. If the file does not exist, creates a new file for writing.</a:t>
                      </a:r>
                    </a:p>
                  </a:txBody>
                  <a:tcPr marL="5048" marR="5048" marT="5048" marB="504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67268765"/>
                  </a:ext>
                </a:extLst>
              </a:tr>
              <a:tr h="97115">
                <a:tc>
                  <a:txBody>
                    <a:bodyPr/>
                    <a:lstStyle/>
                    <a:p>
                      <a:pPr algn="l">
                        <a:buNone/>
                      </a:pPr>
                      <a:r>
                        <a:rPr lang="en-US" sz="2400" dirty="0">
                          <a:effectLst/>
                        </a:rPr>
                        <a:t>b</a:t>
                      </a:r>
                    </a:p>
                  </a:txBody>
                  <a:tcPr marL="5048" marR="5048" marT="5048" marB="504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en-US" sz="2400" dirty="0">
                          <a:effectLst/>
                        </a:rPr>
                        <a:t>file in binary mode</a:t>
                      </a:r>
                    </a:p>
                  </a:txBody>
                  <a:tcPr marL="5048" marR="5048" marT="5048" marB="504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95445882"/>
                  </a:ext>
                </a:extLst>
              </a:tr>
              <a:tr h="241187">
                <a:tc>
                  <a:txBody>
                    <a:bodyPr/>
                    <a:lstStyle/>
                    <a:p>
                      <a:pPr algn="l">
                        <a:buNone/>
                      </a:pPr>
                      <a:r>
                        <a:rPr lang="en-US" sz="2400" dirty="0" err="1">
                          <a:effectLst/>
                        </a:rPr>
                        <a:t>wb</a:t>
                      </a:r>
                      <a:endParaRPr lang="en-US" sz="2400" dirty="0">
                        <a:effectLst/>
                      </a:endParaRPr>
                    </a:p>
                  </a:txBody>
                  <a:tcPr marL="5048" marR="5048" marT="5048" marB="504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en-US" sz="2400" dirty="0">
                          <a:effectLst/>
                        </a:rPr>
                        <a:t>writing only in binary format. Overwrites the file if the file exists. If the file does not exist, creates a new file for writing.</a:t>
                      </a:r>
                    </a:p>
                  </a:txBody>
                  <a:tcPr marL="5048" marR="5048" marT="5048" marB="504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48728533"/>
                  </a:ext>
                </a:extLst>
              </a:tr>
              <a:tr h="270001">
                <a:tc>
                  <a:txBody>
                    <a:bodyPr/>
                    <a:lstStyle/>
                    <a:p>
                      <a:pPr algn="l">
                        <a:buNone/>
                      </a:pPr>
                      <a:r>
                        <a:rPr lang="en-US" sz="2400" dirty="0">
                          <a:effectLst/>
                        </a:rPr>
                        <a:t>w+</a:t>
                      </a:r>
                    </a:p>
                  </a:txBody>
                  <a:tcPr marL="5048" marR="5048" marT="5048" marB="504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en-US" sz="2400" dirty="0">
                          <a:effectLst/>
                        </a:rPr>
                        <a:t>file for both writing and reading. Overwrites the existing file if the file exists. If the file does not exist, creates a new file for reading and writing.</a:t>
                      </a:r>
                    </a:p>
                  </a:txBody>
                  <a:tcPr marL="5048" marR="5048" marT="5048" marB="504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6992298"/>
                  </a:ext>
                </a:extLst>
              </a:tr>
              <a:tr h="298815">
                <a:tc>
                  <a:txBody>
                    <a:bodyPr/>
                    <a:lstStyle/>
                    <a:p>
                      <a:pPr algn="l">
                        <a:buNone/>
                      </a:pPr>
                      <a:r>
                        <a:rPr lang="en-US" sz="2400" dirty="0" err="1">
                          <a:effectLst/>
                        </a:rPr>
                        <a:t>wb</a:t>
                      </a:r>
                      <a:r>
                        <a:rPr lang="en-US" sz="2400" dirty="0">
                          <a:effectLst/>
                        </a:rPr>
                        <a:t>+</a:t>
                      </a:r>
                    </a:p>
                  </a:txBody>
                  <a:tcPr marL="5048" marR="5048" marT="5048" marB="504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en-US" sz="2400" dirty="0">
                          <a:effectLst/>
                        </a:rPr>
                        <a:t>both writing and reading in binary format. Overwrites the existing file if the file exists. If the file does not exist, creates a new file for reading and writing.</a:t>
                      </a:r>
                    </a:p>
                  </a:txBody>
                  <a:tcPr marL="5048" marR="5048" marT="5048" marB="504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998057642"/>
                  </a:ext>
                </a:extLst>
              </a:tr>
              <a:tr h="298815">
                <a:tc>
                  <a:txBody>
                    <a:bodyPr/>
                    <a:lstStyle/>
                    <a:p>
                      <a:pPr algn="l">
                        <a:buNone/>
                      </a:pPr>
                      <a:r>
                        <a:rPr lang="en-US" sz="2400" dirty="0">
                          <a:effectLst/>
                        </a:rPr>
                        <a:t>a</a:t>
                      </a:r>
                    </a:p>
                  </a:txBody>
                  <a:tcPr marL="5048" marR="5048" marT="5048" marB="504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en-US" sz="2400" dirty="0">
                          <a:effectLst/>
                        </a:rPr>
                        <a:t>a file for appending. The file pointer is at the end of the file if the file exists. </a:t>
                      </a:r>
                    </a:p>
                  </a:txBody>
                  <a:tcPr marL="5048" marR="5048" marT="5048" marB="504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62140780"/>
                  </a:ext>
                </a:extLst>
              </a:tr>
              <a:tr h="327630">
                <a:tc>
                  <a:txBody>
                    <a:bodyPr/>
                    <a:lstStyle/>
                    <a:p>
                      <a:pPr algn="l">
                        <a:buNone/>
                      </a:pPr>
                      <a:r>
                        <a:rPr lang="en-US" sz="2400" dirty="0">
                          <a:effectLst/>
                        </a:rPr>
                        <a:t>ab</a:t>
                      </a:r>
                    </a:p>
                  </a:txBody>
                  <a:tcPr marL="5048" marR="5048" marT="5048" marB="504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en-US" sz="2400" dirty="0">
                          <a:effectLst/>
                        </a:rPr>
                        <a:t>file for appending in binary format. The file pointer is at the </a:t>
                      </a:r>
                      <a:r>
                        <a:rPr lang="en-US" sz="2400" dirty="0" err="1">
                          <a:effectLst/>
                        </a:rPr>
                        <a:t>eof</a:t>
                      </a:r>
                      <a:r>
                        <a:rPr lang="en-US" sz="2400" dirty="0">
                          <a:effectLst/>
                        </a:rPr>
                        <a:t>.</a:t>
                      </a:r>
                    </a:p>
                  </a:txBody>
                  <a:tcPr marL="5048" marR="5048" marT="5048" marB="504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50375607"/>
                  </a:ext>
                </a:extLst>
              </a:tr>
            </a:tbl>
          </a:graphicData>
        </a:graphic>
      </p:graphicFrame>
    </p:spTree>
    <p:extLst>
      <p:ext uri="{BB962C8B-B14F-4D97-AF65-F5344CB8AC3E}">
        <p14:creationId xmlns:p14="http://schemas.microsoft.com/office/powerpoint/2010/main" val="310314784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0B08D1-4DF6-A2C9-273F-13EBA45DA7A3}"/>
              </a:ext>
            </a:extLst>
          </p:cNvPr>
          <p:cNvSpPr>
            <a:spLocks noGrp="1"/>
          </p:cNvSpPr>
          <p:nvPr>
            <p:ph type="title"/>
          </p:nvPr>
        </p:nvSpPr>
        <p:spPr/>
        <p:txBody>
          <a:bodyPr/>
          <a:lstStyle/>
          <a:p>
            <a:r>
              <a:rPr lang="en-US" dirty="0"/>
              <a:t>Example 1</a:t>
            </a:r>
            <a:br>
              <a:rPr lang="en-US" dirty="0"/>
            </a:br>
            <a:endParaRPr lang="en-US" dirty="0"/>
          </a:p>
        </p:txBody>
      </p:sp>
      <p:pic>
        <p:nvPicPr>
          <p:cNvPr id="5" name="Picture 4">
            <a:extLst>
              <a:ext uri="{FF2B5EF4-FFF2-40B4-BE49-F238E27FC236}">
                <a16:creationId xmlns:a16="http://schemas.microsoft.com/office/drawing/2014/main" id="{5E1A0591-42B9-FA22-E046-E53CCBCEBA9C}"/>
              </a:ext>
            </a:extLst>
          </p:cNvPr>
          <p:cNvPicPr>
            <a:picLocks noChangeAspect="1"/>
          </p:cNvPicPr>
          <p:nvPr/>
        </p:nvPicPr>
        <p:blipFill>
          <a:blip r:embed="rId2"/>
          <a:stretch>
            <a:fillRect/>
          </a:stretch>
        </p:blipFill>
        <p:spPr>
          <a:xfrm>
            <a:off x="1237779" y="1937118"/>
            <a:ext cx="9232101" cy="4716272"/>
          </a:xfrm>
          <a:prstGeom prst="rect">
            <a:avLst/>
          </a:prstGeom>
        </p:spPr>
      </p:pic>
    </p:spTree>
    <p:extLst>
      <p:ext uri="{BB962C8B-B14F-4D97-AF65-F5344CB8AC3E}">
        <p14:creationId xmlns:p14="http://schemas.microsoft.com/office/powerpoint/2010/main" val="415248094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A17AE3-AC48-8E71-4FE2-820358B5265C}"/>
              </a:ext>
            </a:extLst>
          </p:cNvPr>
          <p:cNvSpPr>
            <a:spLocks noGrp="1"/>
          </p:cNvSpPr>
          <p:nvPr>
            <p:ph type="title"/>
          </p:nvPr>
        </p:nvSpPr>
        <p:spPr/>
        <p:txBody>
          <a:bodyPr/>
          <a:lstStyle/>
          <a:p>
            <a:r>
              <a:rPr lang="en-US" dirty="0"/>
              <a:t>Example 2</a:t>
            </a:r>
            <a:br>
              <a:rPr lang="en-US" dirty="0"/>
            </a:br>
            <a:r>
              <a:rPr lang="en-US" dirty="0"/>
              <a:t>	</a:t>
            </a:r>
          </a:p>
        </p:txBody>
      </p:sp>
      <p:pic>
        <p:nvPicPr>
          <p:cNvPr id="5" name="Picture 4">
            <a:extLst>
              <a:ext uri="{FF2B5EF4-FFF2-40B4-BE49-F238E27FC236}">
                <a16:creationId xmlns:a16="http://schemas.microsoft.com/office/drawing/2014/main" id="{8024590E-494F-5D24-F65C-C99B8BDCB85B}"/>
              </a:ext>
            </a:extLst>
          </p:cNvPr>
          <p:cNvPicPr>
            <a:picLocks noChangeAspect="1"/>
          </p:cNvPicPr>
          <p:nvPr/>
        </p:nvPicPr>
        <p:blipFill>
          <a:blip r:embed="rId2"/>
          <a:stretch>
            <a:fillRect/>
          </a:stretch>
        </p:blipFill>
        <p:spPr>
          <a:xfrm>
            <a:off x="1301740" y="2217268"/>
            <a:ext cx="8299460" cy="3431261"/>
          </a:xfrm>
          <a:prstGeom prst="rect">
            <a:avLst/>
          </a:prstGeom>
        </p:spPr>
      </p:pic>
    </p:spTree>
    <p:extLst>
      <p:ext uri="{BB962C8B-B14F-4D97-AF65-F5344CB8AC3E}">
        <p14:creationId xmlns:p14="http://schemas.microsoft.com/office/powerpoint/2010/main" val="231120741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84BA36-85CA-B097-1B8C-77C1045B9E3A}"/>
              </a:ext>
            </a:extLst>
          </p:cNvPr>
          <p:cNvSpPr>
            <a:spLocks noGrp="1"/>
          </p:cNvSpPr>
          <p:nvPr>
            <p:ph type="title"/>
          </p:nvPr>
        </p:nvSpPr>
        <p:spPr/>
        <p:txBody>
          <a:bodyPr/>
          <a:lstStyle/>
          <a:p>
            <a:r>
              <a:rPr lang="en-US" dirty="0"/>
              <a:t>Reading a File in Python</a:t>
            </a:r>
          </a:p>
        </p:txBody>
      </p:sp>
      <p:sp>
        <p:nvSpPr>
          <p:cNvPr id="3" name="Content Placeholder 2">
            <a:extLst>
              <a:ext uri="{FF2B5EF4-FFF2-40B4-BE49-F238E27FC236}">
                <a16:creationId xmlns:a16="http://schemas.microsoft.com/office/drawing/2014/main" id="{714C9036-C657-9DEF-2737-5C15F359A83E}"/>
              </a:ext>
            </a:extLst>
          </p:cNvPr>
          <p:cNvSpPr>
            <a:spLocks noGrp="1"/>
          </p:cNvSpPr>
          <p:nvPr>
            <p:ph idx="1"/>
          </p:nvPr>
        </p:nvSpPr>
        <p:spPr>
          <a:xfrm>
            <a:off x="581192" y="2180497"/>
            <a:ext cx="11029615" cy="2002884"/>
          </a:xfrm>
        </p:spPr>
        <p:txBody>
          <a:bodyPr>
            <a:normAutofit/>
          </a:bodyPr>
          <a:lstStyle/>
          <a:p>
            <a:r>
              <a:rPr lang="en-US" sz="2400" b="1" dirty="0"/>
              <a:t>read() −</a:t>
            </a:r>
            <a:r>
              <a:rPr lang="en-US" sz="2400" dirty="0"/>
              <a:t> Reads the entire file.</a:t>
            </a:r>
          </a:p>
          <a:p>
            <a:r>
              <a:rPr lang="en-US" sz="2400" b="1" dirty="0" err="1"/>
              <a:t>readline</a:t>
            </a:r>
            <a:r>
              <a:rPr lang="en-US" sz="2400" b="1" dirty="0"/>
              <a:t>() −</a:t>
            </a:r>
            <a:r>
              <a:rPr lang="en-US" sz="2400" dirty="0"/>
              <a:t> Reads one line at a time.</a:t>
            </a:r>
          </a:p>
          <a:p>
            <a:r>
              <a:rPr lang="en-US" sz="2400" b="1" dirty="0" err="1"/>
              <a:t>readlines</a:t>
            </a:r>
            <a:r>
              <a:rPr lang="en-US" sz="2400" b="1" dirty="0"/>
              <a:t> −</a:t>
            </a:r>
            <a:r>
              <a:rPr lang="en-US" sz="2400" dirty="0"/>
              <a:t> Reads all lines into a list.</a:t>
            </a:r>
          </a:p>
          <a:p>
            <a:endParaRPr lang="en-US" sz="2400" dirty="0"/>
          </a:p>
        </p:txBody>
      </p:sp>
      <p:pic>
        <p:nvPicPr>
          <p:cNvPr id="5" name="Picture 4">
            <a:extLst>
              <a:ext uri="{FF2B5EF4-FFF2-40B4-BE49-F238E27FC236}">
                <a16:creationId xmlns:a16="http://schemas.microsoft.com/office/drawing/2014/main" id="{DDD0760C-D29D-21DD-FA70-AD078F19D5A8}"/>
              </a:ext>
            </a:extLst>
          </p:cNvPr>
          <p:cNvPicPr>
            <a:picLocks noChangeAspect="1"/>
          </p:cNvPicPr>
          <p:nvPr/>
        </p:nvPicPr>
        <p:blipFill>
          <a:blip r:embed="rId2"/>
          <a:stretch>
            <a:fillRect/>
          </a:stretch>
        </p:blipFill>
        <p:spPr>
          <a:xfrm>
            <a:off x="984559" y="4011858"/>
            <a:ext cx="9727339" cy="2143986"/>
          </a:xfrm>
          <a:prstGeom prst="rect">
            <a:avLst/>
          </a:prstGeom>
        </p:spPr>
      </p:pic>
    </p:spTree>
    <p:extLst>
      <p:ext uri="{BB962C8B-B14F-4D97-AF65-F5344CB8AC3E}">
        <p14:creationId xmlns:p14="http://schemas.microsoft.com/office/powerpoint/2010/main" val="340162032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BA767F3-CFD7-1C4E-5E11-C3BA174FC49D}"/>
              </a:ext>
            </a:extLst>
          </p:cNvPr>
          <p:cNvPicPr>
            <a:picLocks noChangeAspect="1"/>
          </p:cNvPicPr>
          <p:nvPr/>
        </p:nvPicPr>
        <p:blipFill>
          <a:blip r:embed="rId2"/>
          <a:stretch>
            <a:fillRect/>
          </a:stretch>
        </p:blipFill>
        <p:spPr>
          <a:xfrm>
            <a:off x="705420" y="662820"/>
            <a:ext cx="7887084" cy="2469000"/>
          </a:xfrm>
          <a:prstGeom prst="rect">
            <a:avLst/>
          </a:prstGeom>
        </p:spPr>
      </p:pic>
      <p:pic>
        <p:nvPicPr>
          <p:cNvPr id="5" name="Picture 4">
            <a:extLst>
              <a:ext uri="{FF2B5EF4-FFF2-40B4-BE49-F238E27FC236}">
                <a16:creationId xmlns:a16="http://schemas.microsoft.com/office/drawing/2014/main" id="{4EB51A0E-8FBB-4A9D-60B0-04B8DA4A69CA}"/>
              </a:ext>
            </a:extLst>
          </p:cNvPr>
          <p:cNvPicPr>
            <a:picLocks noChangeAspect="1"/>
          </p:cNvPicPr>
          <p:nvPr/>
        </p:nvPicPr>
        <p:blipFill>
          <a:blip r:embed="rId3"/>
          <a:stretch>
            <a:fillRect/>
          </a:stretch>
        </p:blipFill>
        <p:spPr>
          <a:xfrm>
            <a:off x="705420" y="3816560"/>
            <a:ext cx="8038530" cy="2414558"/>
          </a:xfrm>
          <a:prstGeom prst="rect">
            <a:avLst/>
          </a:prstGeom>
        </p:spPr>
      </p:pic>
    </p:spTree>
    <p:extLst>
      <p:ext uri="{BB962C8B-B14F-4D97-AF65-F5344CB8AC3E}">
        <p14:creationId xmlns:p14="http://schemas.microsoft.com/office/powerpoint/2010/main" val="350359736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BEC295-EDF6-75CA-5573-6A0B6CF42DFC}"/>
              </a:ext>
            </a:extLst>
          </p:cNvPr>
          <p:cNvSpPr>
            <a:spLocks noGrp="1"/>
          </p:cNvSpPr>
          <p:nvPr>
            <p:ph type="title"/>
          </p:nvPr>
        </p:nvSpPr>
        <p:spPr/>
        <p:txBody>
          <a:bodyPr/>
          <a:lstStyle/>
          <a:p>
            <a:r>
              <a:rPr lang="en-US" dirty="0"/>
              <a:t>Writing to a File in Python</a:t>
            </a:r>
            <a:br>
              <a:rPr lang="en-US" dirty="0"/>
            </a:br>
            <a:endParaRPr lang="en-US" dirty="0"/>
          </a:p>
        </p:txBody>
      </p:sp>
      <p:pic>
        <p:nvPicPr>
          <p:cNvPr id="5" name="Content Placeholder 4">
            <a:extLst>
              <a:ext uri="{FF2B5EF4-FFF2-40B4-BE49-F238E27FC236}">
                <a16:creationId xmlns:a16="http://schemas.microsoft.com/office/drawing/2014/main" id="{CEDA27E8-DF20-686B-C659-FF73487C4C39}"/>
              </a:ext>
            </a:extLst>
          </p:cNvPr>
          <p:cNvPicPr>
            <a:picLocks noGrp="1" noChangeAspect="1"/>
          </p:cNvPicPr>
          <p:nvPr>
            <p:ph idx="1"/>
          </p:nvPr>
        </p:nvPicPr>
        <p:blipFill>
          <a:blip r:embed="rId2"/>
          <a:stretch>
            <a:fillRect/>
          </a:stretch>
        </p:blipFill>
        <p:spPr>
          <a:xfrm>
            <a:off x="1232702" y="2029401"/>
            <a:ext cx="9291696" cy="1848036"/>
          </a:xfrm>
        </p:spPr>
      </p:pic>
      <p:pic>
        <p:nvPicPr>
          <p:cNvPr id="7" name="Picture 6">
            <a:extLst>
              <a:ext uri="{FF2B5EF4-FFF2-40B4-BE49-F238E27FC236}">
                <a16:creationId xmlns:a16="http://schemas.microsoft.com/office/drawing/2014/main" id="{08B47855-8112-4ED5-1655-0B9FCDAA7F8A}"/>
              </a:ext>
            </a:extLst>
          </p:cNvPr>
          <p:cNvPicPr>
            <a:picLocks noChangeAspect="1"/>
          </p:cNvPicPr>
          <p:nvPr/>
        </p:nvPicPr>
        <p:blipFill>
          <a:blip r:embed="rId3"/>
          <a:stretch>
            <a:fillRect/>
          </a:stretch>
        </p:blipFill>
        <p:spPr>
          <a:xfrm>
            <a:off x="1232702" y="4190882"/>
            <a:ext cx="9291697" cy="2209917"/>
          </a:xfrm>
          <a:prstGeom prst="rect">
            <a:avLst/>
          </a:prstGeom>
        </p:spPr>
      </p:pic>
    </p:spTree>
    <p:extLst>
      <p:ext uri="{BB962C8B-B14F-4D97-AF65-F5344CB8AC3E}">
        <p14:creationId xmlns:p14="http://schemas.microsoft.com/office/powerpoint/2010/main" val="380905689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570B65-F53C-FE04-A32C-C0ABB98002CA}"/>
              </a:ext>
            </a:extLst>
          </p:cNvPr>
          <p:cNvSpPr>
            <a:spLocks noGrp="1"/>
          </p:cNvSpPr>
          <p:nvPr>
            <p:ph type="title"/>
          </p:nvPr>
        </p:nvSpPr>
        <p:spPr/>
        <p:txBody>
          <a:bodyPr/>
          <a:lstStyle/>
          <a:p>
            <a:r>
              <a:rPr lang="en-US" dirty="0"/>
              <a:t>Closing a File in Python</a:t>
            </a:r>
            <a:br>
              <a:rPr lang="en-US" dirty="0"/>
            </a:br>
            <a:endParaRPr lang="en-US" dirty="0"/>
          </a:p>
        </p:txBody>
      </p:sp>
      <p:pic>
        <p:nvPicPr>
          <p:cNvPr id="5" name="Picture 4">
            <a:extLst>
              <a:ext uri="{FF2B5EF4-FFF2-40B4-BE49-F238E27FC236}">
                <a16:creationId xmlns:a16="http://schemas.microsoft.com/office/drawing/2014/main" id="{8B4A1704-AA1E-138B-CA88-61AA333B25AB}"/>
              </a:ext>
            </a:extLst>
          </p:cNvPr>
          <p:cNvPicPr>
            <a:picLocks noChangeAspect="1"/>
          </p:cNvPicPr>
          <p:nvPr/>
        </p:nvPicPr>
        <p:blipFill>
          <a:blip r:embed="rId2"/>
          <a:stretch>
            <a:fillRect/>
          </a:stretch>
        </p:blipFill>
        <p:spPr>
          <a:xfrm>
            <a:off x="1239858" y="2209693"/>
            <a:ext cx="8783347" cy="3150977"/>
          </a:xfrm>
          <a:prstGeom prst="rect">
            <a:avLst/>
          </a:prstGeom>
        </p:spPr>
      </p:pic>
    </p:spTree>
    <p:extLst>
      <p:ext uri="{BB962C8B-B14F-4D97-AF65-F5344CB8AC3E}">
        <p14:creationId xmlns:p14="http://schemas.microsoft.com/office/powerpoint/2010/main" val="409539176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EB9FAF-5FB7-8A13-E1C4-0F8ABC2C9E06}"/>
              </a:ext>
            </a:extLst>
          </p:cNvPr>
          <p:cNvSpPr>
            <a:spLocks noGrp="1"/>
          </p:cNvSpPr>
          <p:nvPr>
            <p:ph type="title"/>
          </p:nvPr>
        </p:nvSpPr>
        <p:spPr/>
        <p:txBody>
          <a:bodyPr/>
          <a:lstStyle/>
          <a:p>
            <a:r>
              <a:rPr lang="en-US" dirty="0"/>
              <a:t>Using "with" Statement for Automatic File Closing</a:t>
            </a:r>
            <a:br>
              <a:rPr lang="en-US" dirty="0"/>
            </a:br>
            <a:endParaRPr lang="en-US" dirty="0"/>
          </a:p>
        </p:txBody>
      </p:sp>
      <p:pic>
        <p:nvPicPr>
          <p:cNvPr id="5" name="Picture 4">
            <a:extLst>
              <a:ext uri="{FF2B5EF4-FFF2-40B4-BE49-F238E27FC236}">
                <a16:creationId xmlns:a16="http://schemas.microsoft.com/office/drawing/2014/main" id="{D64DB7F1-F422-702D-5E0E-5DF0ED093367}"/>
              </a:ext>
            </a:extLst>
          </p:cNvPr>
          <p:cNvPicPr>
            <a:picLocks noChangeAspect="1"/>
          </p:cNvPicPr>
          <p:nvPr/>
        </p:nvPicPr>
        <p:blipFill>
          <a:blip r:embed="rId2"/>
          <a:stretch>
            <a:fillRect/>
          </a:stretch>
        </p:blipFill>
        <p:spPr>
          <a:xfrm>
            <a:off x="581192" y="2349728"/>
            <a:ext cx="10999100" cy="2085112"/>
          </a:xfrm>
          <a:prstGeom prst="rect">
            <a:avLst/>
          </a:prstGeom>
        </p:spPr>
      </p:pic>
    </p:spTree>
    <p:extLst>
      <p:ext uri="{BB962C8B-B14F-4D97-AF65-F5344CB8AC3E}">
        <p14:creationId xmlns:p14="http://schemas.microsoft.com/office/powerpoint/2010/main" val="68161631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379F11E2-8BA5-4C5C-AE7C-361E5EA011F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7C00E1DA-EC7C-40FC-95E3-11FDCD2E429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42147" y="723899"/>
            <a:ext cx="3703320" cy="5666666"/>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nvGrpSpPr>
          <p:cNvPr id="14" name="Group 13">
            <a:extLst>
              <a:ext uri="{FF2B5EF4-FFF2-40B4-BE49-F238E27FC236}">
                <a16:creationId xmlns:a16="http://schemas.microsoft.com/office/drawing/2014/main" id="{9A421166-2996-41A7-B094-AE5316F347D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46534" y="453643"/>
            <a:ext cx="11298933" cy="98554"/>
            <a:chOff x="446534" y="453643"/>
            <a:chExt cx="11298933" cy="98554"/>
          </a:xfrm>
        </p:grpSpPr>
        <p:sp>
          <p:nvSpPr>
            <p:cNvPr id="15" name="Rectangle 14">
              <a:extLst>
                <a:ext uri="{FF2B5EF4-FFF2-40B4-BE49-F238E27FC236}">
                  <a16:creationId xmlns:a16="http://schemas.microsoft.com/office/drawing/2014/main" id="{FDBB1B92-A3EB-43E4-8FAB-D20E8ED14CE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6" name="Rectangle 15">
              <a:extLst>
                <a:ext uri="{FF2B5EF4-FFF2-40B4-BE49-F238E27FC236}">
                  <a16:creationId xmlns:a16="http://schemas.microsoft.com/office/drawing/2014/main" id="{3F3972F4-FE7E-48EA-AAD8-9BE5750A667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7" name="Rectangle 16">
              <a:extLst>
                <a:ext uri="{FF2B5EF4-FFF2-40B4-BE49-F238E27FC236}">
                  <a16:creationId xmlns:a16="http://schemas.microsoft.com/office/drawing/2014/main" id="{221614E5-870B-4D5E-A43B-8FF7E532348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sp>
        <p:nvSpPr>
          <p:cNvPr id="2" name="Title 1">
            <a:extLst>
              <a:ext uri="{FF2B5EF4-FFF2-40B4-BE49-F238E27FC236}">
                <a16:creationId xmlns:a16="http://schemas.microsoft.com/office/drawing/2014/main" id="{0F87E73C-2B1A-4602-BFBE-CFE1E55D9B38}"/>
              </a:ext>
            </a:extLst>
          </p:cNvPr>
          <p:cNvSpPr>
            <a:spLocks noGrp="1"/>
          </p:cNvSpPr>
          <p:nvPr>
            <p:ph type="ctrTitle"/>
          </p:nvPr>
        </p:nvSpPr>
        <p:spPr>
          <a:xfrm>
            <a:off x="8296275" y="1419226"/>
            <a:ext cx="3081576" cy="1746762"/>
          </a:xfrm>
        </p:spPr>
        <p:txBody>
          <a:bodyPr>
            <a:normAutofit/>
          </a:bodyPr>
          <a:lstStyle/>
          <a:p>
            <a:r>
              <a:rPr lang="en-US" dirty="0">
                <a:solidFill>
                  <a:srgbClr val="FFFFFF"/>
                </a:solidFill>
              </a:rPr>
              <a:t>Thank You</a:t>
            </a:r>
          </a:p>
        </p:txBody>
      </p:sp>
      <p:pic>
        <p:nvPicPr>
          <p:cNvPr id="5" name="Picture 4" descr="Digital Numbers">
            <a:extLst>
              <a:ext uri="{FF2B5EF4-FFF2-40B4-BE49-F238E27FC236}">
                <a16:creationId xmlns:a16="http://schemas.microsoft.com/office/drawing/2014/main" id="{A21EA617-6D48-425F-97A8-7FEC82C8F401}"/>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l="2189" r="9642" b="1"/>
          <a:stretch/>
        </p:blipFill>
        <p:spPr>
          <a:xfrm>
            <a:off x="446534" y="723899"/>
            <a:ext cx="7498616" cy="5676901"/>
          </a:xfrm>
          <a:prstGeom prst="rect">
            <a:avLst/>
          </a:prstGeom>
        </p:spPr>
      </p:pic>
      <p:sp>
        <p:nvSpPr>
          <p:cNvPr id="6" name="Subtitle 5">
            <a:extLst>
              <a:ext uri="{FF2B5EF4-FFF2-40B4-BE49-F238E27FC236}">
                <a16:creationId xmlns:a16="http://schemas.microsoft.com/office/drawing/2014/main" id="{1B786E1C-9EC8-2A90-6EF8-7DA4394670B9}"/>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3501347425"/>
      </p:ext>
    </p:extLst>
  </p:cSld>
  <p:clrMapOvr>
    <a:masterClrMapping/>
  </p:clrMapOvr>
</p:sld>
</file>

<file path=ppt/theme/theme1.xml><?xml version="1.0" encoding="utf-8"?>
<a:theme xmlns:a="http://schemas.openxmlformats.org/drawingml/2006/main" name="Custom">
  <a:themeElements>
    <a:clrScheme name="Dividend">
      <a:dk1>
        <a:sysClr val="windowText" lastClr="000000"/>
      </a:dk1>
      <a:lt1>
        <a:sysClr val="window" lastClr="FFFFFF"/>
      </a:lt1>
      <a:dk2>
        <a:srgbClr val="3D3D3D"/>
      </a:dk2>
      <a:lt2>
        <a:srgbClr val="EBEBEB"/>
      </a:lt2>
      <a:accent1>
        <a:srgbClr val="1A3260"/>
      </a:accent1>
      <a:accent2>
        <a:srgbClr val="4590B8"/>
      </a:accent2>
      <a:accent3>
        <a:srgbClr val="45CBE8"/>
      </a:accent3>
      <a:accent4>
        <a:srgbClr val="969FA7"/>
      </a:accent4>
      <a:accent5>
        <a:srgbClr val="A2C777"/>
      </a:accent5>
      <a:accent6>
        <a:srgbClr val="42955F"/>
      </a:accent6>
      <a:hlink>
        <a:srgbClr val="828282"/>
      </a:hlink>
      <a:folHlink>
        <a:srgbClr val="A5A5A5"/>
      </a:folHlink>
    </a:clrScheme>
    <a:fontScheme name="Dividend">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tf56390039_win32_fixed.potx" id="{08D75CB0-AD9B-4834-8559-901094BB0ABE}" vid="{3B3EDB20-B381-4B6C-99AC-7C5CDA2B40F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7" ma:contentTypeDescription="Create a new document." ma:contentTypeScope="" ma:versionID="c6f9a84f66a9c8b9a21755b9ffafb945">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27df39e3e7036dff54f89ddd5805ce72"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3791575F-4C21-47C4-8D13-EB9BE66B536F}">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2.xml><?xml version="1.0" encoding="utf-8"?>
<ds:datastoreItem xmlns:ds="http://schemas.openxmlformats.org/officeDocument/2006/customXml" ds:itemID="{342D3C2F-55A5-48C0-9D5A-95C7FF0389D0}">
  <ds:schemaRefs>
    <ds:schemaRef ds:uri="http://schemas.microsoft.com/sharepoint/v3/contenttype/forms"/>
  </ds:schemaRefs>
</ds:datastoreItem>
</file>

<file path=customXml/itemProps3.xml><?xml version="1.0" encoding="utf-8"?>
<ds:datastoreItem xmlns:ds="http://schemas.openxmlformats.org/officeDocument/2006/customXml" ds:itemID="{792209EB-3212-4116-B574-D1F56C7C492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Tech design</Template>
  <TotalTime>1499</TotalTime>
  <Words>2005</Words>
  <Application>Microsoft Office PowerPoint</Application>
  <PresentationFormat>Widescreen</PresentationFormat>
  <Paragraphs>223</Paragraphs>
  <Slides>51</Slides>
  <Notes>5</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51</vt:i4>
      </vt:variant>
    </vt:vector>
  </HeadingPairs>
  <TitlesOfParts>
    <vt:vector size="60" baseType="lpstr">
      <vt:lpstr>Arial</vt:lpstr>
      <vt:lpstr>Arial Unicode MS</vt:lpstr>
      <vt:lpstr>Calibri</vt:lpstr>
      <vt:lpstr>Gill Sans MT</vt:lpstr>
      <vt:lpstr>inherit</vt:lpstr>
      <vt:lpstr>Roboto</vt:lpstr>
      <vt:lpstr>Roboto Mono</vt:lpstr>
      <vt:lpstr>Wingdings 2</vt:lpstr>
      <vt:lpstr>Custom</vt:lpstr>
      <vt:lpstr>Iterators and Generators in python</vt:lpstr>
      <vt:lpstr>iterators</vt:lpstr>
      <vt:lpstr>Strings as iterable objects</vt:lpstr>
      <vt:lpstr>Loops  as - an iterator</vt:lpstr>
      <vt:lpstr>PowerPoint Presentation</vt:lpstr>
      <vt:lpstr>PowerPoint Presentation</vt:lpstr>
      <vt:lpstr>PowerPoint Presentation</vt:lpstr>
      <vt:lpstr>PowerPoint Presentation</vt:lpstr>
      <vt:lpstr>Loops vs Iterators</vt:lpstr>
      <vt:lpstr>Why iterators </vt:lpstr>
      <vt:lpstr>1. Memory Efficiency (Lazy Evaluation)</vt:lpstr>
      <vt:lpstr>Eager vs lazy evaluation</vt:lpstr>
      <vt:lpstr>Memory Comparison</vt:lpstr>
      <vt:lpstr>2. Work with Infinite Data</vt:lpstr>
      <vt:lpstr>3. Consistency</vt:lpstr>
      <vt:lpstr>4. Pipeline Processing</vt:lpstr>
      <vt:lpstr>Pipeline with eager vs lazy iterators Let’s say we want to:  Take numbers 0–9 Keep only even numbers Square them</vt:lpstr>
      <vt:lpstr>Why iterator?</vt:lpstr>
      <vt:lpstr>generators in python</vt:lpstr>
      <vt:lpstr>Introduction</vt:lpstr>
      <vt:lpstr>PowerPoint Presentation</vt:lpstr>
      <vt:lpstr>PowerPoint Presentation</vt:lpstr>
      <vt:lpstr>PowerPoint Presentation</vt:lpstr>
      <vt:lpstr>Why use generators when the return statement is already present?</vt:lpstr>
      <vt:lpstr>Difference Between Iterators and Generators in Python </vt:lpstr>
      <vt:lpstr>Modules in python</vt:lpstr>
      <vt:lpstr>What is modules?</vt:lpstr>
      <vt:lpstr>Components of modules</vt:lpstr>
      <vt:lpstr>example</vt:lpstr>
      <vt:lpstr>Python Built-in Modules</vt:lpstr>
      <vt:lpstr>Python User-defined Modules</vt:lpstr>
      <vt:lpstr>Creating a Python Module</vt:lpstr>
      <vt:lpstr>Mymodule.py</vt:lpstr>
      <vt:lpstr>The from ... import Statement</vt:lpstr>
      <vt:lpstr>The from...import * Statement</vt:lpstr>
      <vt:lpstr>The import ... as Statement </vt:lpstr>
      <vt:lpstr>Module Attributes</vt:lpstr>
      <vt:lpstr>example</vt:lpstr>
      <vt:lpstr>PowerPoint Presentation</vt:lpstr>
      <vt:lpstr>Files in python</vt:lpstr>
      <vt:lpstr>Introduction</vt:lpstr>
      <vt:lpstr>Opening a file</vt:lpstr>
      <vt:lpstr>PowerPoint Presentation</vt:lpstr>
      <vt:lpstr>Example 1 </vt:lpstr>
      <vt:lpstr>Example 2  </vt:lpstr>
      <vt:lpstr>Reading a File in Python</vt:lpstr>
      <vt:lpstr>PowerPoint Presentation</vt:lpstr>
      <vt:lpstr>Writing to a File in Python </vt:lpstr>
      <vt:lpstr>Closing a File in Python </vt:lpstr>
      <vt:lpstr>Using "with" Statement for Automatic File Closing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rakhee chhibber</dc:creator>
  <cp:lastModifiedBy>rakhee chhibber</cp:lastModifiedBy>
  <cp:revision>5</cp:revision>
  <dcterms:created xsi:type="dcterms:W3CDTF">2025-08-23T16:18:55Z</dcterms:created>
  <dcterms:modified xsi:type="dcterms:W3CDTF">2025-08-24T17:18:18Z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