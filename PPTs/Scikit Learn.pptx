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77" r:id="rId6"/>
    <p:sldId id="261" r:id="rId7"/>
    <p:sldId id="262" r:id="rId8"/>
    <p:sldId id="263" r:id="rId9"/>
    <p:sldId id="258" r:id="rId10"/>
    <p:sldId id="264" r:id="rId11"/>
    <p:sldId id="266" r:id="rId12"/>
    <p:sldId id="265" r:id="rId13"/>
    <p:sldId id="267" r:id="rId14"/>
    <p:sldId id="268" r:id="rId15"/>
    <p:sldId id="269" r:id="rId16"/>
    <p:sldId id="270" r:id="rId17"/>
    <p:sldId id="271" r:id="rId18"/>
    <p:sldId id="272" r:id="rId19"/>
    <p:sldId id="273" r:id="rId20"/>
    <p:sldId id="274" r:id="rId21"/>
    <p:sldId id="278" r:id="rId22"/>
    <p:sldId id="280" r:id="rId23"/>
    <p:sldId id="279" r:id="rId24"/>
    <p:sldId id="281"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AC5769-1EAD-43D5-900D-71EF2977B865}" v="38" dt="2025-12-04T15:43:50.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C47668-8E9D-44B0-AEA3-8675AE8B035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FA9BAF9-CFF2-4753-9FBF-090DB4B6CA88}">
      <dgm:prSet/>
      <dgm:spPr/>
      <dgm:t>
        <a:bodyPr/>
        <a:lstStyle/>
        <a:p>
          <a:r>
            <a:rPr lang="en-US"/>
            <a:t>Scikit-learn is an open-source Python library that simplifies the process of building machine learning models. It offers a clean and consistent interface that helps both beginners and experienced users work efficiently.</a:t>
          </a:r>
        </a:p>
      </dgm:t>
    </dgm:pt>
    <dgm:pt modelId="{79401A24-1051-49A6-B50B-919E0490CA03}" type="parTrans" cxnId="{C1DF2941-AA1A-4076-9105-7B197C33BD75}">
      <dgm:prSet/>
      <dgm:spPr/>
      <dgm:t>
        <a:bodyPr/>
        <a:lstStyle/>
        <a:p>
          <a:endParaRPr lang="en-US"/>
        </a:p>
      </dgm:t>
    </dgm:pt>
    <dgm:pt modelId="{D50B0AFA-4C41-4A74-8340-BA4041B49C4B}" type="sibTrans" cxnId="{C1DF2941-AA1A-4076-9105-7B197C33BD75}">
      <dgm:prSet/>
      <dgm:spPr/>
      <dgm:t>
        <a:bodyPr/>
        <a:lstStyle/>
        <a:p>
          <a:endParaRPr lang="en-US"/>
        </a:p>
      </dgm:t>
    </dgm:pt>
    <dgm:pt modelId="{BF197402-401B-4DDC-B535-2EC19C9A1000}">
      <dgm:prSet/>
      <dgm:spPr/>
      <dgm:t>
        <a:bodyPr/>
        <a:lstStyle/>
        <a:p>
          <a:r>
            <a:rPr lang="en-US"/>
            <a:t>Supports tasks like classification, regression, clustering and preprocessing</a:t>
          </a:r>
        </a:p>
      </dgm:t>
    </dgm:pt>
    <dgm:pt modelId="{D909FFE3-F0E0-4F8D-900B-4FCD3CD6779B}" type="parTrans" cxnId="{D63E2D43-FB1A-48FB-A53F-C9F31839EAB1}">
      <dgm:prSet/>
      <dgm:spPr/>
      <dgm:t>
        <a:bodyPr/>
        <a:lstStyle/>
        <a:p>
          <a:endParaRPr lang="en-US"/>
        </a:p>
      </dgm:t>
    </dgm:pt>
    <dgm:pt modelId="{CE9BB08B-C713-4E76-BCFE-6A8F2596210C}" type="sibTrans" cxnId="{D63E2D43-FB1A-48FB-A53F-C9F31839EAB1}">
      <dgm:prSet/>
      <dgm:spPr/>
      <dgm:t>
        <a:bodyPr/>
        <a:lstStyle/>
        <a:p>
          <a:endParaRPr lang="en-US"/>
        </a:p>
      </dgm:t>
    </dgm:pt>
    <dgm:pt modelId="{22E0D1F4-2CDA-4E0A-AF64-98A4703F9510}">
      <dgm:prSet/>
      <dgm:spPr/>
      <dgm:t>
        <a:bodyPr/>
        <a:lstStyle/>
        <a:p>
          <a:r>
            <a:rPr lang="en-US"/>
            <a:t>Makes model building fast and reliable</a:t>
          </a:r>
        </a:p>
      </dgm:t>
    </dgm:pt>
    <dgm:pt modelId="{BDFBDB86-FCCC-4E3A-894C-9AE528C277ED}" type="parTrans" cxnId="{A06154AC-45C0-49DD-8BD9-4FD8DC4A3A1E}">
      <dgm:prSet/>
      <dgm:spPr/>
      <dgm:t>
        <a:bodyPr/>
        <a:lstStyle/>
        <a:p>
          <a:endParaRPr lang="en-US"/>
        </a:p>
      </dgm:t>
    </dgm:pt>
    <dgm:pt modelId="{2D1E6971-C4EE-4B85-B43B-39657410F7AE}" type="sibTrans" cxnId="{A06154AC-45C0-49DD-8BD9-4FD8DC4A3A1E}">
      <dgm:prSet/>
      <dgm:spPr/>
      <dgm:t>
        <a:bodyPr/>
        <a:lstStyle/>
        <a:p>
          <a:endParaRPr lang="en-US"/>
        </a:p>
      </dgm:t>
    </dgm:pt>
    <dgm:pt modelId="{3C11B060-5C36-4FD5-AE41-25752381D0D5}">
      <dgm:prSet/>
      <dgm:spPr/>
      <dgm:t>
        <a:bodyPr/>
        <a:lstStyle/>
        <a:p>
          <a:r>
            <a:rPr lang="en-US"/>
            <a:t>Provides ready-to-use tools for training and evaluation</a:t>
          </a:r>
        </a:p>
      </dgm:t>
    </dgm:pt>
    <dgm:pt modelId="{A2779926-F276-4D6C-9B18-94EF46C51201}" type="parTrans" cxnId="{3C49BD01-3279-4A7D-A3D4-39CDCD18ED9E}">
      <dgm:prSet/>
      <dgm:spPr/>
      <dgm:t>
        <a:bodyPr/>
        <a:lstStyle/>
        <a:p>
          <a:endParaRPr lang="en-US"/>
        </a:p>
      </dgm:t>
    </dgm:pt>
    <dgm:pt modelId="{E47F8D98-0460-4267-A4EF-2C11698E3929}" type="sibTrans" cxnId="{3C49BD01-3279-4A7D-A3D4-39CDCD18ED9E}">
      <dgm:prSet/>
      <dgm:spPr/>
      <dgm:t>
        <a:bodyPr/>
        <a:lstStyle/>
        <a:p>
          <a:endParaRPr lang="en-US"/>
        </a:p>
      </dgm:t>
    </dgm:pt>
    <dgm:pt modelId="{A4B7B3F6-0656-42A7-90F2-DD8A2E82B735}">
      <dgm:prSet/>
      <dgm:spPr/>
      <dgm:t>
        <a:bodyPr/>
        <a:lstStyle/>
        <a:p>
          <a:r>
            <a:rPr lang="en-US"/>
            <a:t>Reduces complexity by avoiding manual implementation of algorithms</a:t>
          </a:r>
        </a:p>
      </dgm:t>
    </dgm:pt>
    <dgm:pt modelId="{AB93AF14-3F9A-4CFF-A1D5-5AA9384853E6}" type="parTrans" cxnId="{2A826068-66C5-417D-9D96-C139A73E4E72}">
      <dgm:prSet/>
      <dgm:spPr/>
      <dgm:t>
        <a:bodyPr/>
        <a:lstStyle/>
        <a:p>
          <a:endParaRPr lang="en-US"/>
        </a:p>
      </dgm:t>
    </dgm:pt>
    <dgm:pt modelId="{38A65BCD-A4BF-4D40-90AE-C45106CDC7E8}" type="sibTrans" cxnId="{2A826068-66C5-417D-9D96-C139A73E4E72}">
      <dgm:prSet/>
      <dgm:spPr/>
      <dgm:t>
        <a:bodyPr/>
        <a:lstStyle/>
        <a:p>
          <a:endParaRPr lang="en-US"/>
        </a:p>
      </dgm:t>
    </dgm:pt>
    <dgm:pt modelId="{BF86B4BA-71A5-43B3-93BC-0C2F05624B27}" type="pres">
      <dgm:prSet presAssocID="{FDC47668-8E9D-44B0-AEA3-8675AE8B035E}" presName="root" presStyleCnt="0">
        <dgm:presLayoutVars>
          <dgm:dir/>
          <dgm:resizeHandles val="exact"/>
        </dgm:presLayoutVars>
      </dgm:prSet>
      <dgm:spPr/>
    </dgm:pt>
    <dgm:pt modelId="{21689495-441D-4FE6-811F-FA2620DBC9AE}" type="pres">
      <dgm:prSet presAssocID="{6FA9BAF9-CFF2-4753-9FBF-090DB4B6CA88}" presName="compNode" presStyleCnt="0"/>
      <dgm:spPr/>
    </dgm:pt>
    <dgm:pt modelId="{CD7D17E4-8B69-44F4-AF5A-A820442EC17A}" type="pres">
      <dgm:prSet presAssocID="{6FA9BAF9-CFF2-4753-9FBF-090DB4B6CA88}" presName="bgRect" presStyleLbl="bgShp" presStyleIdx="0" presStyleCnt="5"/>
      <dgm:spPr/>
    </dgm:pt>
    <dgm:pt modelId="{807DE45D-5B92-41F3-8B18-79775A20EC18}" type="pres">
      <dgm:prSet presAssocID="{6FA9BAF9-CFF2-4753-9FBF-090DB4B6CA8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050E7A0F-F7D6-4F85-81EE-28A8B745EC1B}" type="pres">
      <dgm:prSet presAssocID="{6FA9BAF9-CFF2-4753-9FBF-090DB4B6CA88}" presName="spaceRect" presStyleCnt="0"/>
      <dgm:spPr/>
    </dgm:pt>
    <dgm:pt modelId="{5F2E09B7-07C9-4835-AEFC-57EA6C4AF811}" type="pres">
      <dgm:prSet presAssocID="{6FA9BAF9-CFF2-4753-9FBF-090DB4B6CA88}" presName="parTx" presStyleLbl="revTx" presStyleIdx="0" presStyleCnt="5">
        <dgm:presLayoutVars>
          <dgm:chMax val="0"/>
          <dgm:chPref val="0"/>
        </dgm:presLayoutVars>
      </dgm:prSet>
      <dgm:spPr/>
    </dgm:pt>
    <dgm:pt modelId="{1D39F46B-F654-49A3-AB40-74CCD8C6A2C3}" type="pres">
      <dgm:prSet presAssocID="{D50B0AFA-4C41-4A74-8340-BA4041B49C4B}" presName="sibTrans" presStyleCnt="0"/>
      <dgm:spPr/>
    </dgm:pt>
    <dgm:pt modelId="{347B0813-46A7-4696-85F0-FD4FDC2CB48B}" type="pres">
      <dgm:prSet presAssocID="{BF197402-401B-4DDC-B535-2EC19C9A1000}" presName="compNode" presStyleCnt="0"/>
      <dgm:spPr/>
    </dgm:pt>
    <dgm:pt modelId="{B0B8FF13-A91A-41B3-9AEC-820A242BF792}" type="pres">
      <dgm:prSet presAssocID="{BF197402-401B-4DDC-B535-2EC19C9A1000}" presName="bgRect" presStyleLbl="bgShp" presStyleIdx="1" presStyleCnt="5"/>
      <dgm:spPr/>
    </dgm:pt>
    <dgm:pt modelId="{717BC294-BE02-4B93-8CB6-5DA402227B74}" type="pres">
      <dgm:prSet presAssocID="{BF197402-401B-4DDC-B535-2EC19C9A100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nn Diagram"/>
        </a:ext>
      </dgm:extLst>
    </dgm:pt>
    <dgm:pt modelId="{AF4CCCDE-4238-4806-8F1C-FC6FEB29FEA1}" type="pres">
      <dgm:prSet presAssocID="{BF197402-401B-4DDC-B535-2EC19C9A1000}" presName="spaceRect" presStyleCnt="0"/>
      <dgm:spPr/>
    </dgm:pt>
    <dgm:pt modelId="{35549DB9-AE74-408F-AA8D-0ED91C5F7978}" type="pres">
      <dgm:prSet presAssocID="{BF197402-401B-4DDC-B535-2EC19C9A1000}" presName="parTx" presStyleLbl="revTx" presStyleIdx="1" presStyleCnt="5">
        <dgm:presLayoutVars>
          <dgm:chMax val="0"/>
          <dgm:chPref val="0"/>
        </dgm:presLayoutVars>
      </dgm:prSet>
      <dgm:spPr/>
    </dgm:pt>
    <dgm:pt modelId="{507BC961-7455-465C-B020-088DE7B5CC93}" type="pres">
      <dgm:prSet presAssocID="{CE9BB08B-C713-4E76-BCFE-6A8F2596210C}" presName="sibTrans" presStyleCnt="0"/>
      <dgm:spPr/>
    </dgm:pt>
    <dgm:pt modelId="{F852FBA8-6617-4D28-AC3B-2992CE97F2A0}" type="pres">
      <dgm:prSet presAssocID="{22E0D1F4-2CDA-4E0A-AF64-98A4703F9510}" presName="compNode" presStyleCnt="0"/>
      <dgm:spPr/>
    </dgm:pt>
    <dgm:pt modelId="{6414EACB-6E14-42C8-B725-147A1D234FA7}" type="pres">
      <dgm:prSet presAssocID="{22E0D1F4-2CDA-4E0A-AF64-98A4703F9510}" presName="bgRect" presStyleLbl="bgShp" presStyleIdx="2" presStyleCnt="5"/>
      <dgm:spPr/>
    </dgm:pt>
    <dgm:pt modelId="{5FA68107-F7B2-45DA-A575-9760B10277DA}" type="pres">
      <dgm:prSet presAssocID="{22E0D1F4-2CDA-4E0A-AF64-98A4703F951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91E4CB77-35EE-4274-8492-CE76A914DADB}" type="pres">
      <dgm:prSet presAssocID="{22E0D1F4-2CDA-4E0A-AF64-98A4703F9510}" presName="spaceRect" presStyleCnt="0"/>
      <dgm:spPr/>
    </dgm:pt>
    <dgm:pt modelId="{BC75487C-8FCF-4EFC-B9E7-4C9DC8B8188B}" type="pres">
      <dgm:prSet presAssocID="{22E0D1F4-2CDA-4E0A-AF64-98A4703F9510}" presName="parTx" presStyleLbl="revTx" presStyleIdx="2" presStyleCnt="5">
        <dgm:presLayoutVars>
          <dgm:chMax val="0"/>
          <dgm:chPref val="0"/>
        </dgm:presLayoutVars>
      </dgm:prSet>
      <dgm:spPr/>
    </dgm:pt>
    <dgm:pt modelId="{EC658B0E-1A72-4ECE-858C-C65DD5D880BA}" type="pres">
      <dgm:prSet presAssocID="{2D1E6971-C4EE-4B85-B43B-39657410F7AE}" presName="sibTrans" presStyleCnt="0"/>
      <dgm:spPr/>
    </dgm:pt>
    <dgm:pt modelId="{256051D6-F8C6-43D7-9ABE-11EB67191AA8}" type="pres">
      <dgm:prSet presAssocID="{3C11B060-5C36-4FD5-AE41-25752381D0D5}" presName="compNode" presStyleCnt="0"/>
      <dgm:spPr/>
    </dgm:pt>
    <dgm:pt modelId="{6AB433A1-66A5-4408-A3C1-490938306750}" type="pres">
      <dgm:prSet presAssocID="{3C11B060-5C36-4FD5-AE41-25752381D0D5}" presName="bgRect" presStyleLbl="bgShp" presStyleIdx="3" presStyleCnt="5"/>
      <dgm:spPr/>
    </dgm:pt>
    <dgm:pt modelId="{1A201F68-0526-4793-8298-1DE39651D84F}" type="pres">
      <dgm:prSet presAssocID="{3C11B060-5C36-4FD5-AE41-25752381D0D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E1326657-9DE8-412B-9A9B-507BCE04CC79}" type="pres">
      <dgm:prSet presAssocID="{3C11B060-5C36-4FD5-AE41-25752381D0D5}" presName="spaceRect" presStyleCnt="0"/>
      <dgm:spPr/>
    </dgm:pt>
    <dgm:pt modelId="{D7338518-3562-4B43-BFED-ECA171D8D3F9}" type="pres">
      <dgm:prSet presAssocID="{3C11B060-5C36-4FD5-AE41-25752381D0D5}" presName="parTx" presStyleLbl="revTx" presStyleIdx="3" presStyleCnt="5">
        <dgm:presLayoutVars>
          <dgm:chMax val="0"/>
          <dgm:chPref val="0"/>
        </dgm:presLayoutVars>
      </dgm:prSet>
      <dgm:spPr/>
    </dgm:pt>
    <dgm:pt modelId="{22D8C1EC-DAA9-45D0-8D81-FD8B5ED2C06B}" type="pres">
      <dgm:prSet presAssocID="{E47F8D98-0460-4267-A4EF-2C11698E3929}" presName="sibTrans" presStyleCnt="0"/>
      <dgm:spPr/>
    </dgm:pt>
    <dgm:pt modelId="{CE880891-2773-4159-B1C3-320738690C86}" type="pres">
      <dgm:prSet presAssocID="{A4B7B3F6-0656-42A7-90F2-DD8A2E82B735}" presName="compNode" presStyleCnt="0"/>
      <dgm:spPr/>
    </dgm:pt>
    <dgm:pt modelId="{63DB1ED4-C3EB-4B7D-BA4D-57012801F2B5}" type="pres">
      <dgm:prSet presAssocID="{A4B7B3F6-0656-42A7-90F2-DD8A2E82B735}" presName="bgRect" presStyleLbl="bgShp" presStyleIdx="4" presStyleCnt="5"/>
      <dgm:spPr/>
    </dgm:pt>
    <dgm:pt modelId="{3C3795D2-8DC8-42C7-8504-41FB294DDBB6}" type="pres">
      <dgm:prSet presAssocID="{A4B7B3F6-0656-42A7-90F2-DD8A2E82B73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ears"/>
        </a:ext>
      </dgm:extLst>
    </dgm:pt>
    <dgm:pt modelId="{033B1B70-2895-4BA6-81B7-567899DF9801}" type="pres">
      <dgm:prSet presAssocID="{A4B7B3F6-0656-42A7-90F2-DD8A2E82B735}" presName="spaceRect" presStyleCnt="0"/>
      <dgm:spPr/>
    </dgm:pt>
    <dgm:pt modelId="{0325C5BE-D625-460A-B2CE-0105AC634220}" type="pres">
      <dgm:prSet presAssocID="{A4B7B3F6-0656-42A7-90F2-DD8A2E82B735}" presName="parTx" presStyleLbl="revTx" presStyleIdx="4" presStyleCnt="5">
        <dgm:presLayoutVars>
          <dgm:chMax val="0"/>
          <dgm:chPref val="0"/>
        </dgm:presLayoutVars>
      </dgm:prSet>
      <dgm:spPr/>
    </dgm:pt>
  </dgm:ptLst>
  <dgm:cxnLst>
    <dgm:cxn modelId="{3C49BD01-3279-4A7D-A3D4-39CDCD18ED9E}" srcId="{FDC47668-8E9D-44B0-AEA3-8675AE8B035E}" destId="{3C11B060-5C36-4FD5-AE41-25752381D0D5}" srcOrd="3" destOrd="0" parTransId="{A2779926-F276-4D6C-9B18-94EF46C51201}" sibTransId="{E47F8D98-0460-4267-A4EF-2C11698E3929}"/>
    <dgm:cxn modelId="{C37AAD1F-49C2-4062-9B53-B0F35DB2EC63}" type="presOf" srcId="{A4B7B3F6-0656-42A7-90F2-DD8A2E82B735}" destId="{0325C5BE-D625-460A-B2CE-0105AC634220}" srcOrd="0" destOrd="0" presId="urn:microsoft.com/office/officeart/2018/2/layout/IconVerticalSolidList"/>
    <dgm:cxn modelId="{C1DF2941-AA1A-4076-9105-7B197C33BD75}" srcId="{FDC47668-8E9D-44B0-AEA3-8675AE8B035E}" destId="{6FA9BAF9-CFF2-4753-9FBF-090DB4B6CA88}" srcOrd="0" destOrd="0" parTransId="{79401A24-1051-49A6-B50B-919E0490CA03}" sibTransId="{D50B0AFA-4C41-4A74-8340-BA4041B49C4B}"/>
    <dgm:cxn modelId="{D63E2D43-FB1A-48FB-A53F-C9F31839EAB1}" srcId="{FDC47668-8E9D-44B0-AEA3-8675AE8B035E}" destId="{BF197402-401B-4DDC-B535-2EC19C9A1000}" srcOrd="1" destOrd="0" parTransId="{D909FFE3-F0E0-4F8D-900B-4FCD3CD6779B}" sibTransId="{CE9BB08B-C713-4E76-BCFE-6A8F2596210C}"/>
    <dgm:cxn modelId="{AF190F47-7677-47E0-9DFF-FFB1F3C75140}" type="presOf" srcId="{3C11B060-5C36-4FD5-AE41-25752381D0D5}" destId="{D7338518-3562-4B43-BFED-ECA171D8D3F9}" srcOrd="0" destOrd="0" presId="urn:microsoft.com/office/officeart/2018/2/layout/IconVerticalSolidList"/>
    <dgm:cxn modelId="{2A826068-66C5-417D-9D96-C139A73E4E72}" srcId="{FDC47668-8E9D-44B0-AEA3-8675AE8B035E}" destId="{A4B7B3F6-0656-42A7-90F2-DD8A2E82B735}" srcOrd="4" destOrd="0" parTransId="{AB93AF14-3F9A-4CFF-A1D5-5AA9384853E6}" sibTransId="{38A65BCD-A4BF-4D40-90AE-C45106CDC7E8}"/>
    <dgm:cxn modelId="{961E5C4D-4C15-4C07-8E7C-9732B8826901}" type="presOf" srcId="{22E0D1F4-2CDA-4E0A-AF64-98A4703F9510}" destId="{BC75487C-8FCF-4EFC-B9E7-4C9DC8B8188B}" srcOrd="0" destOrd="0" presId="urn:microsoft.com/office/officeart/2018/2/layout/IconVerticalSolidList"/>
    <dgm:cxn modelId="{14A92750-C3DD-4E1C-9E8D-B7A0D3CA7383}" type="presOf" srcId="{FDC47668-8E9D-44B0-AEA3-8675AE8B035E}" destId="{BF86B4BA-71A5-43B3-93BC-0C2F05624B27}" srcOrd="0" destOrd="0" presId="urn:microsoft.com/office/officeart/2018/2/layout/IconVerticalSolidList"/>
    <dgm:cxn modelId="{C1B133A1-957C-42EE-BA2C-E0D14F6096C3}" type="presOf" srcId="{BF197402-401B-4DDC-B535-2EC19C9A1000}" destId="{35549DB9-AE74-408F-AA8D-0ED91C5F7978}" srcOrd="0" destOrd="0" presId="urn:microsoft.com/office/officeart/2018/2/layout/IconVerticalSolidList"/>
    <dgm:cxn modelId="{A06154AC-45C0-49DD-8BD9-4FD8DC4A3A1E}" srcId="{FDC47668-8E9D-44B0-AEA3-8675AE8B035E}" destId="{22E0D1F4-2CDA-4E0A-AF64-98A4703F9510}" srcOrd="2" destOrd="0" parTransId="{BDFBDB86-FCCC-4E3A-894C-9AE528C277ED}" sibTransId="{2D1E6971-C4EE-4B85-B43B-39657410F7AE}"/>
    <dgm:cxn modelId="{7FE034EE-E936-45DD-AC11-D7D07C1B160B}" type="presOf" srcId="{6FA9BAF9-CFF2-4753-9FBF-090DB4B6CA88}" destId="{5F2E09B7-07C9-4835-AEFC-57EA6C4AF811}" srcOrd="0" destOrd="0" presId="urn:microsoft.com/office/officeart/2018/2/layout/IconVerticalSolidList"/>
    <dgm:cxn modelId="{17B93F7C-B551-4BC1-BB47-70CA604F09CE}" type="presParOf" srcId="{BF86B4BA-71A5-43B3-93BC-0C2F05624B27}" destId="{21689495-441D-4FE6-811F-FA2620DBC9AE}" srcOrd="0" destOrd="0" presId="urn:microsoft.com/office/officeart/2018/2/layout/IconVerticalSolidList"/>
    <dgm:cxn modelId="{49A2A367-DA07-494B-A8CF-C905531ECA60}" type="presParOf" srcId="{21689495-441D-4FE6-811F-FA2620DBC9AE}" destId="{CD7D17E4-8B69-44F4-AF5A-A820442EC17A}" srcOrd="0" destOrd="0" presId="urn:microsoft.com/office/officeart/2018/2/layout/IconVerticalSolidList"/>
    <dgm:cxn modelId="{91197515-41AE-4049-837D-915D241E093C}" type="presParOf" srcId="{21689495-441D-4FE6-811F-FA2620DBC9AE}" destId="{807DE45D-5B92-41F3-8B18-79775A20EC18}" srcOrd="1" destOrd="0" presId="urn:microsoft.com/office/officeart/2018/2/layout/IconVerticalSolidList"/>
    <dgm:cxn modelId="{4D8FA375-35B9-4A5B-9EFB-1D8BBB3ACC6C}" type="presParOf" srcId="{21689495-441D-4FE6-811F-FA2620DBC9AE}" destId="{050E7A0F-F7D6-4F85-81EE-28A8B745EC1B}" srcOrd="2" destOrd="0" presId="urn:microsoft.com/office/officeart/2018/2/layout/IconVerticalSolidList"/>
    <dgm:cxn modelId="{BEA64CB2-4C55-4136-91AB-5926CE012FFE}" type="presParOf" srcId="{21689495-441D-4FE6-811F-FA2620DBC9AE}" destId="{5F2E09B7-07C9-4835-AEFC-57EA6C4AF811}" srcOrd="3" destOrd="0" presId="urn:microsoft.com/office/officeart/2018/2/layout/IconVerticalSolidList"/>
    <dgm:cxn modelId="{18882E4C-CA9F-4823-9A3B-D6B2B1731568}" type="presParOf" srcId="{BF86B4BA-71A5-43B3-93BC-0C2F05624B27}" destId="{1D39F46B-F654-49A3-AB40-74CCD8C6A2C3}" srcOrd="1" destOrd="0" presId="urn:microsoft.com/office/officeart/2018/2/layout/IconVerticalSolidList"/>
    <dgm:cxn modelId="{A3DE98B3-9C4B-4768-AC9B-F207B12EF3F6}" type="presParOf" srcId="{BF86B4BA-71A5-43B3-93BC-0C2F05624B27}" destId="{347B0813-46A7-4696-85F0-FD4FDC2CB48B}" srcOrd="2" destOrd="0" presId="urn:microsoft.com/office/officeart/2018/2/layout/IconVerticalSolidList"/>
    <dgm:cxn modelId="{ABC1609B-759F-4783-9F5B-13910088EB18}" type="presParOf" srcId="{347B0813-46A7-4696-85F0-FD4FDC2CB48B}" destId="{B0B8FF13-A91A-41B3-9AEC-820A242BF792}" srcOrd="0" destOrd="0" presId="urn:microsoft.com/office/officeart/2018/2/layout/IconVerticalSolidList"/>
    <dgm:cxn modelId="{43A50A83-9866-4209-965F-CC257D7C931D}" type="presParOf" srcId="{347B0813-46A7-4696-85F0-FD4FDC2CB48B}" destId="{717BC294-BE02-4B93-8CB6-5DA402227B74}" srcOrd="1" destOrd="0" presId="urn:microsoft.com/office/officeart/2018/2/layout/IconVerticalSolidList"/>
    <dgm:cxn modelId="{C38C149E-E420-4616-9A83-545BDFC01D26}" type="presParOf" srcId="{347B0813-46A7-4696-85F0-FD4FDC2CB48B}" destId="{AF4CCCDE-4238-4806-8F1C-FC6FEB29FEA1}" srcOrd="2" destOrd="0" presId="urn:microsoft.com/office/officeart/2018/2/layout/IconVerticalSolidList"/>
    <dgm:cxn modelId="{1CF57678-7F85-4C33-B821-9F312B47911F}" type="presParOf" srcId="{347B0813-46A7-4696-85F0-FD4FDC2CB48B}" destId="{35549DB9-AE74-408F-AA8D-0ED91C5F7978}" srcOrd="3" destOrd="0" presId="urn:microsoft.com/office/officeart/2018/2/layout/IconVerticalSolidList"/>
    <dgm:cxn modelId="{ADE5C0B7-4E30-4C3B-AB3B-1638F04F3D99}" type="presParOf" srcId="{BF86B4BA-71A5-43B3-93BC-0C2F05624B27}" destId="{507BC961-7455-465C-B020-088DE7B5CC93}" srcOrd="3" destOrd="0" presId="urn:microsoft.com/office/officeart/2018/2/layout/IconVerticalSolidList"/>
    <dgm:cxn modelId="{61B2A2CA-74FA-4CE9-86B5-AC243D1AD971}" type="presParOf" srcId="{BF86B4BA-71A5-43B3-93BC-0C2F05624B27}" destId="{F852FBA8-6617-4D28-AC3B-2992CE97F2A0}" srcOrd="4" destOrd="0" presId="urn:microsoft.com/office/officeart/2018/2/layout/IconVerticalSolidList"/>
    <dgm:cxn modelId="{2F28FD47-52E1-4D32-AF8D-967E230F8D87}" type="presParOf" srcId="{F852FBA8-6617-4D28-AC3B-2992CE97F2A0}" destId="{6414EACB-6E14-42C8-B725-147A1D234FA7}" srcOrd="0" destOrd="0" presId="urn:microsoft.com/office/officeart/2018/2/layout/IconVerticalSolidList"/>
    <dgm:cxn modelId="{0D82E0E9-07F1-42B3-BD65-31D1396F2C1F}" type="presParOf" srcId="{F852FBA8-6617-4D28-AC3B-2992CE97F2A0}" destId="{5FA68107-F7B2-45DA-A575-9760B10277DA}" srcOrd="1" destOrd="0" presId="urn:microsoft.com/office/officeart/2018/2/layout/IconVerticalSolidList"/>
    <dgm:cxn modelId="{F6411234-4486-40BC-BD65-86587B6AA24A}" type="presParOf" srcId="{F852FBA8-6617-4D28-AC3B-2992CE97F2A0}" destId="{91E4CB77-35EE-4274-8492-CE76A914DADB}" srcOrd="2" destOrd="0" presId="urn:microsoft.com/office/officeart/2018/2/layout/IconVerticalSolidList"/>
    <dgm:cxn modelId="{4340912D-0029-42D0-AD89-C44C0CECA510}" type="presParOf" srcId="{F852FBA8-6617-4D28-AC3B-2992CE97F2A0}" destId="{BC75487C-8FCF-4EFC-B9E7-4C9DC8B8188B}" srcOrd="3" destOrd="0" presId="urn:microsoft.com/office/officeart/2018/2/layout/IconVerticalSolidList"/>
    <dgm:cxn modelId="{3106AAB5-35A6-48F4-A144-E040591C71C0}" type="presParOf" srcId="{BF86B4BA-71A5-43B3-93BC-0C2F05624B27}" destId="{EC658B0E-1A72-4ECE-858C-C65DD5D880BA}" srcOrd="5" destOrd="0" presId="urn:microsoft.com/office/officeart/2018/2/layout/IconVerticalSolidList"/>
    <dgm:cxn modelId="{D4B6C133-0708-412E-A0FF-F307628AF60D}" type="presParOf" srcId="{BF86B4BA-71A5-43B3-93BC-0C2F05624B27}" destId="{256051D6-F8C6-43D7-9ABE-11EB67191AA8}" srcOrd="6" destOrd="0" presId="urn:microsoft.com/office/officeart/2018/2/layout/IconVerticalSolidList"/>
    <dgm:cxn modelId="{8D550389-B992-4F36-AB2D-D695187BF828}" type="presParOf" srcId="{256051D6-F8C6-43D7-9ABE-11EB67191AA8}" destId="{6AB433A1-66A5-4408-A3C1-490938306750}" srcOrd="0" destOrd="0" presId="urn:microsoft.com/office/officeart/2018/2/layout/IconVerticalSolidList"/>
    <dgm:cxn modelId="{B7074A6A-194E-474D-A45F-B1EE9B5250E5}" type="presParOf" srcId="{256051D6-F8C6-43D7-9ABE-11EB67191AA8}" destId="{1A201F68-0526-4793-8298-1DE39651D84F}" srcOrd="1" destOrd="0" presId="urn:microsoft.com/office/officeart/2018/2/layout/IconVerticalSolidList"/>
    <dgm:cxn modelId="{B8542AF8-00F3-4165-8CB4-6F574967AE50}" type="presParOf" srcId="{256051D6-F8C6-43D7-9ABE-11EB67191AA8}" destId="{E1326657-9DE8-412B-9A9B-507BCE04CC79}" srcOrd="2" destOrd="0" presId="urn:microsoft.com/office/officeart/2018/2/layout/IconVerticalSolidList"/>
    <dgm:cxn modelId="{5A03F169-2C75-48D0-BA30-6293CE81F649}" type="presParOf" srcId="{256051D6-F8C6-43D7-9ABE-11EB67191AA8}" destId="{D7338518-3562-4B43-BFED-ECA171D8D3F9}" srcOrd="3" destOrd="0" presId="urn:microsoft.com/office/officeart/2018/2/layout/IconVerticalSolidList"/>
    <dgm:cxn modelId="{10984CB2-AF86-4201-B57A-EC5E9D7CE2D7}" type="presParOf" srcId="{BF86B4BA-71A5-43B3-93BC-0C2F05624B27}" destId="{22D8C1EC-DAA9-45D0-8D81-FD8B5ED2C06B}" srcOrd="7" destOrd="0" presId="urn:microsoft.com/office/officeart/2018/2/layout/IconVerticalSolidList"/>
    <dgm:cxn modelId="{82D3E79C-47FB-4B31-8221-FD8BC418FFCF}" type="presParOf" srcId="{BF86B4BA-71A5-43B3-93BC-0C2F05624B27}" destId="{CE880891-2773-4159-B1C3-320738690C86}" srcOrd="8" destOrd="0" presId="urn:microsoft.com/office/officeart/2018/2/layout/IconVerticalSolidList"/>
    <dgm:cxn modelId="{5DA4CBD8-3CDA-41E1-A2D5-00585E57A6AE}" type="presParOf" srcId="{CE880891-2773-4159-B1C3-320738690C86}" destId="{63DB1ED4-C3EB-4B7D-BA4D-57012801F2B5}" srcOrd="0" destOrd="0" presId="urn:microsoft.com/office/officeart/2018/2/layout/IconVerticalSolidList"/>
    <dgm:cxn modelId="{D312A6C7-2413-4E07-89C1-412AE477498A}" type="presParOf" srcId="{CE880891-2773-4159-B1C3-320738690C86}" destId="{3C3795D2-8DC8-42C7-8504-41FB294DDBB6}" srcOrd="1" destOrd="0" presId="urn:microsoft.com/office/officeart/2018/2/layout/IconVerticalSolidList"/>
    <dgm:cxn modelId="{A3595352-16A9-4166-AD79-F3B379D20B4A}" type="presParOf" srcId="{CE880891-2773-4159-B1C3-320738690C86}" destId="{033B1B70-2895-4BA6-81B7-567899DF9801}" srcOrd="2" destOrd="0" presId="urn:microsoft.com/office/officeart/2018/2/layout/IconVerticalSolidList"/>
    <dgm:cxn modelId="{30E2B0D2-3F73-4B15-935C-03F4E8C6DCD7}" type="presParOf" srcId="{CE880891-2773-4159-B1C3-320738690C86}" destId="{0325C5BE-D625-460A-B2CE-0105AC63422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D17E4-8B69-44F4-AF5A-A820442EC17A}">
      <dsp:nvSpPr>
        <dsp:cNvPr id="0" name=""/>
        <dsp:cNvSpPr/>
      </dsp:nvSpPr>
      <dsp:spPr>
        <a:xfrm>
          <a:off x="0" y="7458"/>
          <a:ext cx="6301601" cy="947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7DE45D-5B92-41F3-8B18-79775A20EC18}">
      <dsp:nvSpPr>
        <dsp:cNvPr id="0" name=""/>
        <dsp:cNvSpPr/>
      </dsp:nvSpPr>
      <dsp:spPr>
        <a:xfrm>
          <a:off x="286679" y="220691"/>
          <a:ext cx="521744" cy="5212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2E09B7-07C9-4835-AEFC-57EA6C4AF811}">
      <dsp:nvSpPr>
        <dsp:cNvPr id="0" name=""/>
        <dsp:cNvSpPr/>
      </dsp:nvSpPr>
      <dsp:spPr>
        <a:xfrm>
          <a:off x="1095102" y="7458"/>
          <a:ext cx="5189633" cy="97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33" tIns="103433" rIns="103433" bIns="103433" numCol="1" spcCol="1270" anchor="ctr" anchorCtr="0">
          <a:noAutofit/>
        </a:bodyPr>
        <a:lstStyle/>
        <a:p>
          <a:pPr marL="0" lvl="0" indent="0" algn="l" defTabSz="622300">
            <a:lnSpc>
              <a:spcPct val="90000"/>
            </a:lnSpc>
            <a:spcBef>
              <a:spcPct val="0"/>
            </a:spcBef>
            <a:spcAft>
              <a:spcPct val="35000"/>
            </a:spcAft>
            <a:buNone/>
          </a:pPr>
          <a:r>
            <a:rPr lang="en-US" sz="1400" kern="1200"/>
            <a:t>Scikit-learn is an open-source Python library that simplifies the process of building machine learning models. It offers a clean and consistent interface that helps both beginners and experienced users work efficiently.</a:t>
          </a:r>
        </a:p>
      </dsp:txBody>
      <dsp:txXfrm>
        <a:off x="1095102" y="7458"/>
        <a:ext cx="5189633" cy="977315"/>
      </dsp:txXfrm>
    </dsp:sp>
    <dsp:sp modelId="{B0B8FF13-A91A-41B3-9AEC-820A242BF792}">
      <dsp:nvSpPr>
        <dsp:cNvPr id="0" name=""/>
        <dsp:cNvSpPr/>
      </dsp:nvSpPr>
      <dsp:spPr>
        <a:xfrm>
          <a:off x="0" y="1229102"/>
          <a:ext cx="6301601" cy="947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7BC294-BE02-4B93-8CB6-5DA402227B74}">
      <dsp:nvSpPr>
        <dsp:cNvPr id="0" name=""/>
        <dsp:cNvSpPr/>
      </dsp:nvSpPr>
      <dsp:spPr>
        <a:xfrm>
          <a:off x="286679" y="1442335"/>
          <a:ext cx="521744" cy="5212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549DB9-AE74-408F-AA8D-0ED91C5F7978}">
      <dsp:nvSpPr>
        <dsp:cNvPr id="0" name=""/>
        <dsp:cNvSpPr/>
      </dsp:nvSpPr>
      <dsp:spPr>
        <a:xfrm>
          <a:off x="1095102" y="1229102"/>
          <a:ext cx="5189633" cy="97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33" tIns="103433" rIns="103433" bIns="103433" numCol="1" spcCol="1270" anchor="ctr" anchorCtr="0">
          <a:noAutofit/>
        </a:bodyPr>
        <a:lstStyle/>
        <a:p>
          <a:pPr marL="0" lvl="0" indent="0" algn="l" defTabSz="622300">
            <a:lnSpc>
              <a:spcPct val="90000"/>
            </a:lnSpc>
            <a:spcBef>
              <a:spcPct val="0"/>
            </a:spcBef>
            <a:spcAft>
              <a:spcPct val="35000"/>
            </a:spcAft>
            <a:buNone/>
          </a:pPr>
          <a:r>
            <a:rPr lang="en-US" sz="1400" kern="1200"/>
            <a:t>Supports tasks like classification, regression, clustering and preprocessing</a:t>
          </a:r>
        </a:p>
      </dsp:txBody>
      <dsp:txXfrm>
        <a:off x="1095102" y="1229102"/>
        <a:ext cx="5189633" cy="977315"/>
      </dsp:txXfrm>
    </dsp:sp>
    <dsp:sp modelId="{6414EACB-6E14-42C8-B725-147A1D234FA7}">
      <dsp:nvSpPr>
        <dsp:cNvPr id="0" name=""/>
        <dsp:cNvSpPr/>
      </dsp:nvSpPr>
      <dsp:spPr>
        <a:xfrm>
          <a:off x="0" y="2450746"/>
          <a:ext cx="6301601" cy="947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A68107-F7B2-45DA-A575-9760B10277DA}">
      <dsp:nvSpPr>
        <dsp:cNvPr id="0" name=""/>
        <dsp:cNvSpPr/>
      </dsp:nvSpPr>
      <dsp:spPr>
        <a:xfrm>
          <a:off x="286679" y="2663979"/>
          <a:ext cx="521744" cy="5212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75487C-8FCF-4EFC-B9E7-4C9DC8B8188B}">
      <dsp:nvSpPr>
        <dsp:cNvPr id="0" name=""/>
        <dsp:cNvSpPr/>
      </dsp:nvSpPr>
      <dsp:spPr>
        <a:xfrm>
          <a:off x="1095102" y="2450746"/>
          <a:ext cx="5189633" cy="97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33" tIns="103433" rIns="103433" bIns="103433" numCol="1" spcCol="1270" anchor="ctr" anchorCtr="0">
          <a:noAutofit/>
        </a:bodyPr>
        <a:lstStyle/>
        <a:p>
          <a:pPr marL="0" lvl="0" indent="0" algn="l" defTabSz="622300">
            <a:lnSpc>
              <a:spcPct val="90000"/>
            </a:lnSpc>
            <a:spcBef>
              <a:spcPct val="0"/>
            </a:spcBef>
            <a:spcAft>
              <a:spcPct val="35000"/>
            </a:spcAft>
            <a:buNone/>
          </a:pPr>
          <a:r>
            <a:rPr lang="en-US" sz="1400" kern="1200"/>
            <a:t>Makes model building fast and reliable</a:t>
          </a:r>
        </a:p>
      </dsp:txBody>
      <dsp:txXfrm>
        <a:off x="1095102" y="2450746"/>
        <a:ext cx="5189633" cy="977315"/>
      </dsp:txXfrm>
    </dsp:sp>
    <dsp:sp modelId="{6AB433A1-66A5-4408-A3C1-490938306750}">
      <dsp:nvSpPr>
        <dsp:cNvPr id="0" name=""/>
        <dsp:cNvSpPr/>
      </dsp:nvSpPr>
      <dsp:spPr>
        <a:xfrm>
          <a:off x="0" y="3672390"/>
          <a:ext cx="6301601" cy="947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201F68-0526-4793-8298-1DE39651D84F}">
      <dsp:nvSpPr>
        <dsp:cNvPr id="0" name=""/>
        <dsp:cNvSpPr/>
      </dsp:nvSpPr>
      <dsp:spPr>
        <a:xfrm>
          <a:off x="286679" y="3885623"/>
          <a:ext cx="521744" cy="5212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338518-3562-4B43-BFED-ECA171D8D3F9}">
      <dsp:nvSpPr>
        <dsp:cNvPr id="0" name=""/>
        <dsp:cNvSpPr/>
      </dsp:nvSpPr>
      <dsp:spPr>
        <a:xfrm>
          <a:off x="1095102" y="3672390"/>
          <a:ext cx="5189633" cy="97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33" tIns="103433" rIns="103433" bIns="103433" numCol="1" spcCol="1270" anchor="ctr" anchorCtr="0">
          <a:noAutofit/>
        </a:bodyPr>
        <a:lstStyle/>
        <a:p>
          <a:pPr marL="0" lvl="0" indent="0" algn="l" defTabSz="622300">
            <a:lnSpc>
              <a:spcPct val="90000"/>
            </a:lnSpc>
            <a:spcBef>
              <a:spcPct val="0"/>
            </a:spcBef>
            <a:spcAft>
              <a:spcPct val="35000"/>
            </a:spcAft>
            <a:buNone/>
          </a:pPr>
          <a:r>
            <a:rPr lang="en-US" sz="1400" kern="1200"/>
            <a:t>Provides ready-to-use tools for training and evaluation</a:t>
          </a:r>
        </a:p>
      </dsp:txBody>
      <dsp:txXfrm>
        <a:off x="1095102" y="3672390"/>
        <a:ext cx="5189633" cy="977315"/>
      </dsp:txXfrm>
    </dsp:sp>
    <dsp:sp modelId="{63DB1ED4-C3EB-4B7D-BA4D-57012801F2B5}">
      <dsp:nvSpPr>
        <dsp:cNvPr id="0" name=""/>
        <dsp:cNvSpPr/>
      </dsp:nvSpPr>
      <dsp:spPr>
        <a:xfrm>
          <a:off x="0" y="4894034"/>
          <a:ext cx="6301601" cy="947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3795D2-8DC8-42C7-8504-41FB294DDBB6}">
      <dsp:nvSpPr>
        <dsp:cNvPr id="0" name=""/>
        <dsp:cNvSpPr/>
      </dsp:nvSpPr>
      <dsp:spPr>
        <a:xfrm>
          <a:off x="286679" y="5107267"/>
          <a:ext cx="521744" cy="5212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25C5BE-D625-460A-B2CE-0105AC634220}">
      <dsp:nvSpPr>
        <dsp:cNvPr id="0" name=""/>
        <dsp:cNvSpPr/>
      </dsp:nvSpPr>
      <dsp:spPr>
        <a:xfrm>
          <a:off x="1095102" y="4894034"/>
          <a:ext cx="5189633" cy="97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33" tIns="103433" rIns="103433" bIns="103433" numCol="1" spcCol="1270" anchor="ctr" anchorCtr="0">
          <a:noAutofit/>
        </a:bodyPr>
        <a:lstStyle/>
        <a:p>
          <a:pPr marL="0" lvl="0" indent="0" algn="l" defTabSz="622300">
            <a:lnSpc>
              <a:spcPct val="90000"/>
            </a:lnSpc>
            <a:spcBef>
              <a:spcPct val="0"/>
            </a:spcBef>
            <a:spcAft>
              <a:spcPct val="35000"/>
            </a:spcAft>
            <a:buNone/>
          </a:pPr>
          <a:r>
            <a:rPr lang="en-US" sz="1400" kern="1200"/>
            <a:t>Reduces complexity by avoiding manual implementation of algorithms</a:t>
          </a:r>
        </a:p>
      </dsp:txBody>
      <dsp:txXfrm>
        <a:off x="1095102" y="4894034"/>
        <a:ext cx="5189633" cy="97731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8931-A902-E407-16C9-7A1950CFFA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317956-B7B9-1D3D-B23F-83BD30069B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5B82439-EA78-9B2F-C923-0E6B62A694A5}"/>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5" name="Footer Placeholder 4">
            <a:extLst>
              <a:ext uri="{FF2B5EF4-FFF2-40B4-BE49-F238E27FC236}">
                <a16:creationId xmlns:a16="http://schemas.microsoft.com/office/drawing/2014/main" id="{3061169F-B01E-798F-F726-2670ADF44F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2FB753-997E-1D0C-1D23-C2E133E645C4}"/>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415157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EEEA4-B11C-7D05-080E-CA4FD28BCC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430CE2-ED25-C16E-4D8C-D54A725604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887BE9-E549-9ECE-5210-11C53CB0ED2F}"/>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5" name="Footer Placeholder 4">
            <a:extLst>
              <a:ext uri="{FF2B5EF4-FFF2-40B4-BE49-F238E27FC236}">
                <a16:creationId xmlns:a16="http://schemas.microsoft.com/office/drawing/2014/main" id="{0819372F-DD80-C104-8435-10D7C6C897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882594-F5D2-6ECA-A9CD-5E04C40121A0}"/>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2017476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682E7-129B-7890-0001-665349FB2B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F76B6D-D9C0-D2C2-64B8-C868D0CC93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25179E-8E91-7750-99D4-8F3B330CA919}"/>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5" name="Footer Placeholder 4">
            <a:extLst>
              <a:ext uri="{FF2B5EF4-FFF2-40B4-BE49-F238E27FC236}">
                <a16:creationId xmlns:a16="http://schemas.microsoft.com/office/drawing/2014/main" id="{43155469-20F9-39B1-00BB-F0D940FBEB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74040A-2167-2993-DC19-A9571BBC6CA0}"/>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3092306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773E-DECD-B933-9793-FDDA4C79DD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29778D-0CFD-0DDA-B46F-818BC8CAA4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B01BF99-1E62-F88C-D7E1-18B28799B9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BDCCC1-43AB-0906-73F3-781E21234FA7}"/>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6" name="Footer Placeholder 5">
            <a:extLst>
              <a:ext uri="{FF2B5EF4-FFF2-40B4-BE49-F238E27FC236}">
                <a16:creationId xmlns:a16="http://schemas.microsoft.com/office/drawing/2014/main" id="{AE318289-808D-53A9-CA56-D41ED7E5AB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316492-7AE0-1149-005F-2AFD6A59BBD6}"/>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3869060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B4743-7DE8-1ABD-CE95-D814635F4E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9E7310-3BB9-9F9F-CE81-8185A2BDC3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DF6BCE-B510-0D94-AD14-A34E493CE6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94DCBF-EB72-3B20-CB0F-67F2A5CDD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B4ECDA-43B7-F28D-8E43-60D4CD90E6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D793A6-65DA-3172-EF6F-7493DF639E05}"/>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8" name="Footer Placeholder 7">
            <a:extLst>
              <a:ext uri="{FF2B5EF4-FFF2-40B4-BE49-F238E27FC236}">
                <a16:creationId xmlns:a16="http://schemas.microsoft.com/office/drawing/2014/main" id="{A143E230-9852-6C47-5993-273088E828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EF443D-2B73-A557-B739-3F7D8E00F587}"/>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1349397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3B03-5A15-D626-5276-8CF83049F0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9674B5-D9DF-367F-A606-5A2B4897B7C5}"/>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4" name="Footer Placeholder 3">
            <a:extLst>
              <a:ext uri="{FF2B5EF4-FFF2-40B4-BE49-F238E27FC236}">
                <a16:creationId xmlns:a16="http://schemas.microsoft.com/office/drawing/2014/main" id="{BD4B8DCA-14AB-E4A9-42D3-2BC43A911B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AFFE04-2239-3C11-6AD8-83E5E9DE33C7}"/>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3233272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BDE8E-DB10-80D8-6104-51E08BD95AE6}"/>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3" name="Footer Placeholder 2">
            <a:extLst>
              <a:ext uri="{FF2B5EF4-FFF2-40B4-BE49-F238E27FC236}">
                <a16:creationId xmlns:a16="http://schemas.microsoft.com/office/drawing/2014/main" id="{D0AB312F-530E-BBB9-7B3D-B89C5E6374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F4F1690-772B-1629-BA11-1602772A1E0C}"/>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2624417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965F5-91CE-79C7-CDF5-09BC5853D9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558DDAB-924D-48C1-BB34-A0751A48FD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712FDC-001F-4811-F7E2-629619610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854D58-5D98-CECA-47A6-8E83525ADF6A}"/>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6" name="Footer Placeholder 5">
            <a:extLst>
              <a:ext uri="{FF2B5EF4-FFF2-40B4-BE49-F238E27FC236}">
                <a16:creationId xmlns:a16="http://schemas.microsoft.com/office/drawing/2014/main" id="{6AFBF585-1A1D-6135-8837-915F4B3348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AE9AF8-B494-5D8D-83AF-396B07B1456B}"/>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38874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2ECA-2B56-C822-15D7-64B8FC180A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94BC260-C573-50EA-8A46-28AB8F2DAD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BCD7AE-49DA-FFAC-63F7-36FF0A71F3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E7DB22-0B38-5F3A-DEC1-9A73377A6285}"/>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6" name="Footer Placeholder 5">
            <a:extLst>
              <a:ext uri="{FF2B5EF4-FFF2-40B4-BE49-F238E27FC236}">
                <a16:creationId xmlns:a16="http://schemas.microsoft.com/office/drawing/2014/main" id="{60BE8A82-BBB9-2D69-E57A-14AA9EDE92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CAB918-2B76-D10D-A186-78C4E4C7DCE5}"/>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4023686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095F7-12CF-D8C7-8E7D-08040B55BC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7339EB-07F1-7F18-E1BA-048CC07BF5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676830-DDE2-7C61-44A3-E983BAB20055}"/>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5" name="Footer Placeholder 4">
            <a:extLst>
              <a:ext uri="{FF2B5EF4-FFF2-40B4-BE49-F238E27FC236}">
                <a16:creationId xmlns:a16="http://schemas.microsoft.com/office/drawing/2014/main" id="{A7772148-0F51-E199-DD50-22BB17A0CF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042EE0-726D-B6F0-9614-0BCB07F3E1B6}"/>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2546797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25AD44-E84A-EA80-4672-1431FB3AA5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946697-F92F-52D4-344A-C1B6AAAE07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24BD33-B138-751E-A02A-A0A77B75BAD0}"/>
              </a:ext>
            </a:extLst>
          </p:cNvPr>
          <p:cNvSpPr>
            <a:spLocks noGrp="1"/>
          </p:cNvSpPr>
          <p:nvPr>
            <p:ph type="dt" sz="half" idx="10"/>
          </p:nvPr>
        </p:nvSpPr>
        <p:spPr/>
        <p:txBody>
          <a:bodyPr/>
          <a:lstStyle/>
          <a:p>
            <a:fld id="{9888DA3C-B4E8-4C66-902B-3097B7BD6C72}" type="datetimeFigureOut">
              <a:rPr lang="en-IN" smtClean="0"/>
              <a:t>04-03-2026</a:t>
            </a:fld>
            <a:endParaRPr lang="en-IN"/>
          </a:p>
        </p:txBody>
      </p:sp>
      <p:sp>
        <p:nvSpPr>
          <p:cNvPr id="5" name="Footer Placeholder 4">
            <a:extLst>
              <a:ext uri="{FF2B5EF4-FFF2-40B4-BE49-F238E27FC236}">
                <a16:creationId xmlns:a16="http://schemas.microsoft.com/office/drawing/2014/main" id="{3FECA7AB-C376-7C14-35EF-A49D2098A2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F0B1D2-1D86-37F6-DF5E-46B3893703D9}"/>
              </a:ext>
            </a:extLst>
          </p:cNvPr>
          <p:cNvSpPr>
            <a:spLocks noGrp="1"/>
          </p:cNvSpPr>
          <p:nvPr>
            <p:ph type="sldNum" sz="quarter" idx="12"/>
          </p:nvPr>
        </p:nvSpPr>
        <p:spPr/>
        <p:txBody>
          <a:bodyPr/>
          <a:lstStyle/>
          <a:p>
            <a:fld id="{1AF02B39-688C-4DC9-8C3E-543EA35231B8}" type="slidenum">
              <a:rPr lang="en-IN" smtClean="0"/>
              <a:t>‹#›</a:t>
            </a:fld>
            <a:endParaRPr lang="en-IN"/>
          </a:p>
        </p:txBody>
      </p:sp>
    </p:spTree>
    <p:extLst>
      <p:ext uri="{BB962C8B-B14F-4D97-AF65-F5344CB8AC3E}">
        <p14:creationId xmlns:p14="http://schemas.microsoft.com/office/powerpoint/2010/main" val="3495928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D1F6CE-80EC-79C3-AE3E-1F9DCD76B4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352D50-3D0D-3B59-8E1F-4DC0FA23CC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69BF63-9400-4635-F946-4F6750EE37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88DA3C-B4E8-4C66-902B-3097B7BD6C72}" type="datetimeFigureOut">
              <a:rPr lang="en-IN" smtClean="0"/>
              <a:t>04-03-2026</a:t>
            </a:fld>
            <a:endParaRPr lang="en-IN"/>
          </a:p>
        </p:txBody>
      </p:sp>
      <p:sp>
        <p:nvSpPr>
          <p:cNvPr id="5" name="Footer Placeholder 4">
            <a:extLst>
              <a:ext uri="{FF2B5EF4-FFF2-40B4-BE49-F238E27FC236}">
                <a16:creationId xmlns:a16="http://schemas.microsoft.com/office/drawing/2014/main" id="{F2ABF23D-D538-0D44-F187-E6ED254584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318EA30-50AB-8B4E-29BF-7B4C221B35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F02B39-688C-4DC9-8C3E-543EA35231B8}" type="slidenum">
              <a:rPr lang="en-IN" smtClean="0"/>
              <a:t>‹#›</a:t>
            </a:fld>
            <a:endParaRPr lang="en-IN"/>
          </a:p>
        </p:txBody>
      </p:sp>
    </p:spTree>
    <p:extLst>
      <p:ext uri="{BB962C8B-B14F-4D97-AF65-F5344CB8AC3E}">
        <p14:creationId xmlns:p14="http://schemas.microsoft.com/office/powerpoint/2010/main" val="2825785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machine-learning/ml-one-hot-encoding/" TargetMode="External"/><Relationship Id="rId2" Type="http://schemas.openxmlformats.org/officeDocument/2006/relationships/hyperlink" Target="https://www.geeksforgeeks.org/machine-learning/ml-label-encoding-of-datasets-in-pyth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machine-learning/understanding-logistic-regressio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C9E4CCB-62AE-56E3-425D-528E311F63FC}"/>
              </a:ext>
            </a:extLst>
          </p:cNvPr>
          <p:cNvSpPr>
            <a:spLocks noGrp="1"/>
          </p:cNvSpPr>
          <p:nvPr>
            <p:ph type="ctrTitle"/>
          </p:nvPr>
        </p:nvSpPr>
        <p:spPr>
          <a:xfrm>
            <a:off x="1314824" y="735106"/>
            <a:ext cx="10053763" cy="2928470"/>
          </a:xfrm>
        </p:spPr>
        <p:txBody>
          <a:bodyPr anchor="b">
            <a:normAutofit/>
          </a:bodyPr>
          <a:lstStyle/>
          <a:p>
            <a:pPr algn="l"/>
            <a:r>
              <a:rPr lang="en-IN" sz="4800">
                <a:solidFill>
                  <a:srgbClr val="FFFFFF"/>
                </a:solidFill>
              </a:rPr>
              <a:t>Scikit Learn</a:t>
            </a:r>
          </a:p>
        </p:txBody>
      </p:sp>
      <p:sp>
        <p:nvSpPr>
          <p:cNvPr id="3" name="Subtitle 2">
            <a:extLst>
              <a:ext uri="{FF2B5EF4-FFF2-40B4-BE49-F238E27FC236}">
                <a16:creationId xmlns:a16="http://schemas.microsoft.com/office/drawing/2014/main" id="{AF5D7EE0-8714-C666-3F33-073E0F286BE3}"/>
              </a:ext>
            </a:extLst>
          </p:cNvPr>
          <p:cNvSpPr>
            <a:spLocks noGrp="1"/>
          </p:cNvSpPr>
          <p:nvPr>
            <p:ph type="subTitle" idx="1"/>
          </p:nvPr>
        </p:nvSpPr>
        <p:spPr>
          <a:xfrm>
            <a:off x="1350682" y="4870824"/>
            <a:ext cx="10005951" cy="1458258"/>
          </a:xfrm>
        </p:spPr>
        <p:txBody>
          <a:bodyPr anchor="ctr">
            <a:normAutofit/>
          </a:bodyPr>
          <a:lstStyle/>
          <a:p>
            <a:pPr algn="l"/>
            <a:r>
              <a:rPr lang="en-IN" dirty="0"/>
              <a:t>Dr. Rakhee Chhibber</a:t>
            </a:r>
            <a:endParaRPr lang="en-IN"/>
          </a:p>
        </p:txBody>
      </p:sp>
    </p:spTree>
    <p:extLst>
      <p:ext uri="{BB962C8B-B14F-4D97-AF65-F5344CB8AC3E}">
        <p14:creationId xmlns:p14="http://schemas.microsoft.com/office/powerpoint/2010/main" val="66745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2DEC8B-4BD6-D3E0-9A75-1565F10F7C05}"/>
              </a:ext>
            </a:extLst>
          </p:cNvPr>
          <p:cNvSpPr>
            <a:spLocks noGrp="1"/>
          </p:cNvSpPr>
          <p:nvPr>
            <p:ph type="title"/>
          </p:nvPr>
        </p:nvSpPr>
        <p:spPr>
          <a:xfrm>
            <a:off x="826396" y="586855"/>
            <a:ext cx="4230100" cy="3387497"/>
          </a:xfrm>
        </p:spPr>
        <p:txBody>
          <a:bodyPr anchor="b">
            <a:normAutofit/>
          </a:bodyPr>
          <a:lstStyle/>
          <a:p>
            <a:pPr algn="r"/>
            <a:r>
              <a:rPr lang="en-IN" sz="4000">
                <a:solidFill>
                  <a:srgbClr val="FFFFFF"/>
                </a:solidFill>
              </a:rPr>
              <a:t>Link for documentation</a:t>
            </a:r>
          </a:p>
        </p:txBody>
      </p:sp>
      <p:sp>
        <p:nvSpPr>
          <p:cNvPr id="3" name="Content Placeholder 2">
            <a:extLst>
              <a:ext uri="{FF2B5EF4-FFF2-40B4-BE49-F238E27FC236}">
                <a16:creationId xmlns:a16="http://schemas.microsoft.com/office/drawing/2014/main" id="{DB8A98EB-1F01-8E42-D04C-8B4E5AB4DF56}"/>
              </a:ext>
            </a:extLst>
          </p:cNvPr>
          <p:cNvSpPr>
            <a:spLocks noGrp="1"/>
          </p:cNvSpPr>
          <p:nvPr>
            <p:ph idx="1"/>
          </p:nvPr>
        </p:nvSpPr>
        <p:spPr>
          <a:xfrm>
            <a:off x="6503158" y="649480"/>
            <a:ext cx="4862447" cy="5546047"/>
          </a:xfrm>
        </p:spPr>
        <p:txBody>
          <a:bodyPr anchor="ctr">
            <a:normAutofit/>
          </a:bodyPr>
          <a:lstStyle/>
          <a:p>
            <a:r>
              <a:rPr lang="en-IN" sz="2000"/>
              <a:t>https://scikit-learn.org/stable/</a:t>
            </a:r>
          </a:p>
        </p:txBody>
      </p:sp>
    </p:spTree>
    <p:extLst>
      <p:ext uri="{BB962C8B-B14F-4D97-AF65-F5344CB8AC3E}">
        <p14:creationId xmlns:p14="http://schemas.microsoft.com/office/powerpoint/2010/main" val="123798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58F270D-5BD6-345C-4E34-32C68F62430C}"/>
              </a:ext>
            </a:extLst>
          </p:cNvPr>
          <p:cNvSpPr>
            <a:spLocks noGrp="1"/>
          </p:cNvSpPr>
          <p:nvPr>
            <p:ph type="title"/>
          </p:nvPr>
        </p:nvSpPr>
        <p:spPr>
          <a:xfrm>
            <a:off x="838200" y="1195697"/>
            <a:ext cx="3200400" cy="4238118"/>
          </a:xfrm>
        </p:spPr>
        <p:txBody>
          <a:bodyPr>
            <a:normAutofit/>
          </a:bodyPr>
          <a:lstStyle/>
          <a:p>
            <a:r>
              <a:rPr lang="en-IN">
                <a:solidFill>
                  <a:schemeClr val="bg1"/>
                </a:solidFill>
              </a:rPr>
              <a:t>Introduction</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79772BA4-07AB-AA42-9AC6-113F1F014714}"/>
              </a:ext>
            </a:extLst>
          </p:cNvPr>
          <p:cNvGraphicFramePr>
            <a:graphicFrameLocks noGrp="1"/>
          </p:cNvGraphicFramePr>
          <p:nvPr>
            <p:ph idx="1"/>
            <p:extLst>
              <p:ext uri="{D42A27DB-BD31-4B8C-83A1-F6EECF244321}">
                <p14:modId xmlns:p14="http://schemas.microsoft.com/office/powerpoint/2010/main" val="2219392726"/>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7543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23F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EE0F8B4C-EDAC-5CEF-4A45-793DAEAB8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012" y="902970"/>
            <a:ext cx="11237976" cy="5177790"/>
          </a:xfrm>
          <a:prstGeom prst="rect">
            <a:avLst/>
          </a:prstGeom>
        </p:spPr>
      </p:pic>
    </p:spTree>
    <p:extLst>
      <p:ext uri="{BB962C8B-B14F-4D97-AF65-F5344CB8AC3E}">
        <p14:creationId xmlns:p14="http://schemas.microsoft.com/office/powerpoint/2010/main" val="894997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602D4F7F-7DF2-A5BE-6BAB-5B0C7BA7B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817" y="1296162"/>
            <a:ext cx="11277600" cy="4059935"/>
          </a:xfrm>
          <a:prstGeom prst="rect">
            <a:avLst/>
          </a:prstGeom>
        </p:spPr>
      </p:pic>
    </p:spTree>
    <p:extLst>
      <p:ext uri="{BB962C8B-B14F-4D97-AF65-F5344CB8AC3E}">
        <p14:creationId xmlns:p14="http://schemas.microsoft.com/office/powerpoint/2010/main" val="748567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een square with white text&#10;&#10;AI-generated content may be incorrect.">
            <a:extLst>
              <a:ext uri="{FF2B5EF4-FFF2-40B4-BE49-F238E27FC236}">
                <a16:creationId xmlns:a16="http://schemas.microsoft.com/office/drawing/2014/main" id="{2E816E7B-8C88-88D8-284A-7C4436219A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04317"/>
            <a:ext cx="11277600" cy="4849366"/>
          </a:xfrm>
          <a:prstGeom prst="rect">
            <a:avLst/>
          </a:prstGeom>
        </p:spPr>
      </p:pic>
    </p:spTree>
    <p:extLst>
      <p:ext uri="{BB962C8B-B14F-4D97-AF65-F5344CB8AC3E}">
        <p14:creationId xmlns:p14="http://schemas.microsoft.com/office/powerpoint/2010/main" val="1223443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data processing process&#10;&#10;AI-generated content may be incorrect.">
            <a:extLst>
              <a:ext uri="{FF2B5EF4-FFF2-40B4-BE49-F238E27FC236}">
                <a16:creationId xmlns:a16="http://schemas.microsoft.com/office/drawing/2014/main" id="{3CE9C9E4-623E-0B00-DBC6-C6EB4565ED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778765"/>
            <a:ext cx="11277600" cy="5300469"/>
          </a:xfrm>
          <a:prstGeom prst="rect">
            <a:avLst/>
          </a:prstGeom>
        </p:spPr>
      </p:pic>
    </p:spTree>
    <p:extLst>
      <p:ext uri="{BB962C8B-B14F-4D97-AF65-F5344CB8AC3E}">
        <p14:creationId xmlns:p14="http://schemas.microsoft.com/office/powerpoint/2010/main" val="3034176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een puzzle with white text&#10;&#10;AI-generated content may be incorrect.">
            <a:extLst>
              <a:ext uri="{FF2B5EF4-FFF2-40B4-BE49-F238E27FC236}">
                <a16:creationId xmlns:a16="http://schemas.microsoft.com/office/drawing/2014/main" id="{49788A1E-2607-A629-C969-D0150C8EE9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877444"/>
            <a:ext cx="11277600" cy="5103112"/>
          </a:xfrm>
          <a:prstGeom prst="rect">
            <a:avLst/>
          </a:prstGeom>
        </p:spPr>
      </p:pic>
    </p:spTree>
    <p:extLst>
      <p:ext uri="{BB962C8B-B14F-4D97-AF65-F5344CB8AC3E}">
        <p14:creationId xmlns:p14="http://schemas.microsoft.com/office/powerpoint/2010/main" val="319910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6436D4-2855-B412-221F-686529F0140E}"/>
              </a:ext>
            </a:extLst>
          </p:cNvPr>
          <p:cNvSpPr>
            <a:spLocks noGrp="1"/>
          </p:cNvSpPr>
          <p:nvPr>
            <p:ph type="title"/>
          </p:nvPr>
        </p:nvSpPr>
        <p:spPr>
          <a:xfrm>
            <a:off x="1043631" y="809898"/>
            <a:ext cx="9942716" cy="1554480"/>
          </a:xfrm>
        </p:spPr>
        <p:txBody>
          <a:bodyPr anchor="ctr">
            <a:normAutofit/>
          </a:bodyPr>
          <a:lstStyle/>
          <a:p>
            <a:r>
              <a:rPr lang="en-US" sz="4800" b="1"/>
              <a:t>Step 1: Loading a Dataset</a:t>
            </a:r>
            <a:br>
              <a:rPr lang="en-US" sz="4800" b="1"/>
            </a:br>
            <a:endParaRPr lang="en-IN" sz="4800"/>
          </a:p>
        </p:txBody>
      </p:sp>
      <p:sp>
        <p:nvSpPr>
          <p:cNvPr id="4" name="Rectangle 1">
            <a:extLst>
              <a:ext uri="{FF2B5EF4-FFF2-40B4-BE49-F238E27FC236}">
                <a16:creationId xmlns:a16="http://schemas.microsoft.com/office/drawing/2014/main" id="{6C203766-02E0-3FF8-72BC-CDB38A1D22BD}"/>
              </a:ext>
            </a:extLst>
          </p:cNvPr>
          <p:cNvSpPr>
            <a:spLocks noGrp="1" noChangeArrowheads="1"/>
          </p:cNvSpPr>
          <p:nvPr>
            <p:ph idx="1"/>
          </p:nvPr>
        </p:nvSpPr>
        <p:spPr bwMode="auto">
          <a:xfrm>
            <a:off x="1045028" y="2914650"/>
            <a:ext cx="9941319" cy="322753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152352"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en-US" altLang="en-US" sz="1900" b="0" i="0" u="none" strike="noStrike" cap="none" normalizeH="0" baseline="0" dirty="0">
                <a:ln>
                  <a:noFill/>
                </a:ln>
                <a:effectLst/>
                <a:latin typeface="Nunito" pitchFamily="2" charset="0"/>
              </a:rPr>
              <a:t>A dataset consists of:</a:t>
            </a:r>
            <a:endParaRPr kumimoji="0" lang="en-US" altLang="en-US" sz="19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dirty="0">
                <a:ln>
                  <a:noFill/>
                </a:ln>
                <a:effectLst/>
                <a:latin typeface="Nunito" pitchFamily="2" charset="0"/>
              </a:rPr>
              <a:t>Features (X):</a:t>
            </a:r>
            <a:r>
              <a:rPr kumimoji="0" lang="en-US" altLang="en-US" sz="1900" b="0" i="0" u="none" strike="noStrike" cap="none" normalizeH="0" baseline="0" dirty="0">
                <a:ln>
                  <a:noFill/>
                </a:ln>
                <a:effectLst/>
                <a:latin typeface="Nunito" pitchFamily="2" charset="0"/>
              </a:rPr>
              <a:t> Input variables that describe the data</a:t>
            </a:r>
          </a:p>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dirty="0">
                <a:ln>
                  <a:noFill/>
                </a:ln>
                <a:effectLst/>
                <a:latin typeface="Nunito" pitchFamily="2" charset="0"/>
              </a:rPr>
              <a:t>Target (y): </a:t>
            </a:r>
            <a:r>
              <a:rPr kumimoji="0" lang="en-US" altLang="en-US" sz="1900" b="0" i="0" u="none" strike="noStrike" cap="none" normalizeH="0" baseline="0" dirty="0">
                <a:ln>
                  <a:noFill/>
                </a:ln>
                <a:effectLst/>
                <a:latin typeface="Nunito" pitchFamily="2" charset="0"/>
              </a:rPr>
              <a:t>The value we want to predict</a:t>
            </a:r>
          </a:p>
          <a:p>
            <a:pPr marL="0" marR="0" lvl="0" indent="0" defTabSz="914400" rtl="0" eaLnBrk="0" fontAlgn="base" latinLnBrk="0" hangingPunct="0">
              <a:spcBef>
                <a:spcPct val="0"/>
              </a:spcBef>
              <a:spcAft>
                <a:spcPts val="600"/>
              </a:spcAft>
              <a:buClrTx/>
              <a:buSzTx/>
              <a:buFontTx/>
              <a:buNone/>
              <a:tabLst/>
            </a:pPr>
            <a:r>
              <a:rPr kumimoji="0" lang="en-US" altLang="en-US" sz="1900" b="0" i="0" u="none" strike="noStrike" cap="none" normalizeH="0" baseline="0" dirty="0">
                <a:ln>
                  <a:noFill/>
                </a:ln>
                <a:effectLst/>
                <a:latin typeface="Nunito" pitchFamily="2" charset="0"/>
              </a:rPr>
              <a:t>Scikit-learn provides built-in datasets like Iris, Digits and Boston Housing. Using the Iris dataset:</a:t>
            </a:r>
            <a:endParaRPr kumimoji="0" lang="en-US" altLang="en-US" sz="19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900" b="0" i="0" u="none" strike="noStrike" cap="none" normalizeH="0" baseline="0" dirty="0" err="1">
                <a:ln>
                  <a:noFill/>
                </a:ln>
                <a:effectLst/>
                <a:latin typeface="Nunito" pitchFamily="2" charset="0"/>
              </a:rPr>
              <a:t>load_iris</a:t>
            </a:r>
            <a:r>
              <a:rPr kumimoji="0" lang="en-US" altLang="en-US" sz="1900" b="0" i="0" u="none" strike="noStrike" cap="none" normalizeH="0" baseline="0" dirty="0">
                <a:ln>
                  <a:noFill/>
                </a:ln>
                <a:effectLst/>
                <a:latin typeface="Nunito" pitchFamily="2" charset="0"/>
              </a:rPr>
              <a:t>() loads the data</a:t>
            </a:r>
          </a:p>
          <a:p>
            <a:pPr marL="0" marR="0" lvl="0" indent="0" defTabSz="914400" rtl="0" eaLnBrk="0" fontAlgn="base" latinLnBrk="0" hangingPunct="0">
              <a:spcBef>
                <a:spcPct val="0"/>
              </a:spcBef>
              <a:spcAft>
                <a:spcPts val="600"/>
              </a:spcAft>
              <a:buClrTx/>
              <a:buSzTx/>
              <a:buFontTx/>
              <a:buChar char="•"/>
              <a:tabLst/>
            </a:pPr>
            <a:r>
              <a:rPr kumimoji="0" lang="en-US" altLang="en-US" sz="1900" b="0" i="0" u="none" strike="noStrike" cap="none" normalizeH="0" baseline="0" dirty="0">
                <a:ln>
                  <a:noFill/>
                </a:ln>
                <a:effectLst/>
                <a:latin typeface="Nunito" pitchFamily="2" charset="0"/>
              </a:rPr>
              <a:t>X stores feature data</a:t>
            </a:r>
          </a:p>
          <a:p>
            <a:pPr marL="0" marR="0" lvl="0" indent="0" defTabSz="914400" rtl="0" eaLnBrk="0" fontAlgn="base" latinLnBrk="0" hangingPunct="0">
              <a:spcBef>
                <a:spcPct val="0"/>
              </a:spcBef>
              <a:spcAft>
                <a:spcPts val="600"/>
              </a:spcAft>
              <a:buClrTx/>
              <a:buSzTx/>
              <a:buFontTx/>
              <a:buChar char="•"/>
              <a:tabLst/>
            </a:pPr>
            <a:r>
              <a:rPr kumimoji="0" lang="en-US" altLang="en-US" sz="1900" b="0" i="0" u="none" strike="noStrike" cap="none" normalizeH="0" baseline="0" dirty="0">
                <a:ln>
                  <a:noFill/>
                </a:ln>
                <a:effectLst/>
                <a:latin typeface="Nunito" pitchFamily="2" charset="0"/>
              </a:rPr>
              <a:t>y stores target labels</a:t>
            </a:r>
          </a:p>
          <a:p>
            <a:pPr marL="0" marR="0" lvl="0" indent="0" defTabSz="914400" rtl="0" eaLnBrk="0" fontAlgn="base" latinLnBrk="0" hangingPunct="0">
              <a:spcBef>
                <a:spcPct val="0"/>
              </a:spcBef>
              <a:spcAft>
                <a:spcPts val="600"/>
              </a:spcAft>
              <a:buClrTx/>
              <a:buSzTx/>
              <a:buFontTx/>
              <a:buChar char="•"/>
              <a:tabLst/>
            </a:pPr>
            <a:r>
              <a:rPr kumimoji="0" lang="en-US" altLang="en-US" sz="1900" b="0" i="0" u="none" strike="noStrike" cap="none" normalizeH="0" baseline="0" dirty="0" err="1">
                <a:ln>
                  <a:noFill/>
                </a:ln>
                <a:effectLst/>
                <a:latin typeface="Nunito" pitchFamily="2" charset="0"/>
              </a:rPr>
              <a:t>feature_names</a:t>
            </a:r>
            <a:r>
              <a:rPr kumimoji="0" lang="en-US" altLang="en-US" sz="1900" b="0" i="0" u="none" strike="noStrike" cap="none" normalizeH="0" baseline="0" dirty="0">
                <a:ln>
                  <a:noFill/>
                </a:ln>
                <a:effectLst/>
                <a:latin typeface="Nunito" pitchFamily="2" charset="0"/>
              </a:rPr>
              <a:t> and </a:t>
            </a:r>
            <a:r>
              <a:rPr kumimoji="0" lang="en-US" altLang="en-US" sz="1900" b="0" i="0" u="none" strike="noStrike" cap="none" normalizeH="0" baseline="0" dirty="0" err="1">
                <a:ln>
                  <a:noFill/>
                </a:ln>
                <a:effectLst/>
                <a:latin typeface="Nunito" pitchFamily="2" charset="0"/>
              </a:rPr>
              <a:t>target_names</a:t>
            </a:r>
            <a:r>
              <a:rPr kumimoji="0" lang="en-US" altLang="en-US" sz="1900" b="0" i="0" u="none" strike="noStrike" cap="none" normalizeH="0" baseline="0" dirty="0">
                <a:ln>
                  <a:noFill/>
                </a:ln>
                <a:effectLst/>
                <a:latin typeface="Nunito" pitchFamily="2" charset="0"/>
              </a:rPr>
              <a:t> give descriptive names</a:t>
            </a:r>
          </a:p>
          <a:p>
            <a:pPr marL="0" marR="0" lvl="0" indent="0" defTabSz="914400" rtl="0" eaLnBrk="0" fontAlgn="base" latinLnBrk="0" hangingPunct="0">
              <a:spcBef>
                <a:spcPct val="0"/>
              </a:spcBef>
              <a:spcAft>
                <a:spcPts val="600"/>
              </a:spcAft>
              <a:buClrTx/>
              <a:buSzTx/>
              <a:buFontTx/>
              <a:buNone/>
              <a:tabLst/>
            </a:pPr>
            <a:endParaRPr kumimoji="0" lang="en-US" altLang="en-US" sz="1900" b="0" i="0" u="none" strike="noStrike" cap="none" normalizeH="0" baseline="0" dirty="0">
              <a:ln>
                <a:noFill/>
              </a:ln>
              <a:effectLst/>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2276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7E3981-B91A-F19A-8C2E-87B79E28A766}"/>
              </a:ext>
            </a:extLst>
          </p:cNvPr>
          <p:cNvSpPr txBox="1"/>
          <p:nvPr/>
        </p:nvSpPr>
        <p:spPr>
          <a:xfrm>
            <a:off x="1074420" y="788670"/>
            <a:ext cx="10001250" cy="5262979"/>
          </a:xfrm>
          <a:prstGeom prst="rect">
            <a:avLst/>
          </a:prstGeom>
          <a:noFill/>
        </p:spPr>
        <p:txBody>
          <a:bodyPr wrap="square">
            <a:spAutoFit/>
          </a:bodyPr>
          <a:lstStyle/>
          <a:p>
            <a:r>
              <a:rPr lang="en-IN" sz="2400" dirty="0"/>
              <a:t>from </a:t>
            </a:r>
            <a:r>
              <a:rPr lang="en-IN" sz="2400" dirty="0" err="1"/>
              <a:t>sklearn.datasets</a:t>
            </a:r>
            <a:r>
              <a:rPr lang="en-IN" sz="2400" dirty="0"/>
              <a:t> import </a:t>
            </a:r>
            <a:r>
              <a:rPr lang="en-IN" sz="2400" dirty="0" err="1"/>
              <a:t>load_iris</a:t>
            </a:r>
            <a:r>
              <a:rPr lang="en-IN" sz="2400" dirty="0"/>
              <a:t> </a:t>
            </a:r>
          </a:p>
          <a:p>
            <a:r>
              <a:rPr lang="en-IN" sz="2400" dirty="0"/>
              <a:t>iris = </a:t>
            </a:r>
            <a:r>
              <a:rPr lang="en-IN" sz="2400" dirty="0" err="1"/>
              <a:t>load_iris</a:t>
            </a:r>
            <a:r>
              <a:rPr lang="en-IN" sz="2400" dirty="0"/>
              <a:t>() </a:t>
            </a:r>
          </a:p>
          <a:p>
            <a:r>
              <a:rPr lang="en-IN" sz="2400"/>
              <a:t>X </a:t>
            </a:r>
            <a:r>
              <a:rPr lang="en-IN" sz="2400" dirty="0"/>
              <a:t>= </a:t>
            </a:r>
            <a:r>
              <a:rPr lang="en-IN" sz="2400" dirty="0" err="1"/>
              <a:t>iris.data</a:t>
            </a:r>
            <a:r>
              <a:rPr lang="en-IN" sz="2400" dirty="0"/>
              <a:t> </a:t>
            </a:r>
          </a:p>
          <a:p>
            <a:r>
              <a:rPr lang="en-IN" sz="2400" dirty="0"/>
              <a:t>y = </a:t>
            </a:r>
            <a:r>
              <a:rPr lang="en-IN" sz="2400" dirty="0" err="1"/>
              <a:t>iris.target</a:t>
            </a:r>
            <a:r>
              <a:rPr lang="en-IN" sz="2400" dirty="0"/>
              <a:t> </a:t>
            </a:r>
          </a:p>
          <a:p>
            <a:r>
              <a:rPr lang="en-IN" sz="2400" dirty="0"/>
              <a:t>  </a:t>
            </a:r>
          </a:p>
          <a:p>
            <a:r>
              <a:rPr lang="en-IN" sz="2400" dirty="0" err="1"/>
              <a:t>feature_names</a:t>
            </a:r>
            <a:r>
              <a:rPr lang="en-IN" sz="2400" dirty="0"/>
              <a:t> = </a:t>
            </a:r>
            <a:r>
              <a:rPr lang="en-IN" sz="2400" dirty="0" err="1"/>
              <a:t>iris.feature_names</a:t>
            </a:r>
            <a:r>
              <a:rPr lang="en-IN" sz="2400" dirty="0"/>
              <a:t> </a:t>
            </a:r>
          </a:p>
          <a:p>
            <a:r>
              <a:rPr lang="en-IN" sz="2400" dirty="0" err="1"/>
              <a:t>target_names</a:t>
            </a:r>
            <a:r>
              <a:rPr lang="en-IN" sz="2400" dirty="0"/>
              <a:t> = </a:t>
            </a:r>
            <a:r>
              <a:rPr lang="en-IN" sz="2400" dirty="0" err="1"/>
              <a:t>iris.target_names</a:t>
            </a:r>
            <a:r>
              <a:rPr lang="en-IN" sz="2400" dirty="0"/>
              <a:t> </a:t>
            </a:r>
          </a:p>
          <a:p>
            <a:r>
              <a:rPr lang="en-IN" sz="2400" dirty="0"/>
              <a:t>  </a:t>
            </a:r>
          </a:p>
          <a:p>
            <a:r>
              <a:rPr lang="en-IN" sz="2400" dirty="0"/>
              <a:t>print("Feature names:", </a:t>
            </a:r>
            <a:r>
              <a:rPr lang="en-IN" sz="2400" dirty="0" err="1"/>
              <a:t>feature_names</a:t>
            </a:r>
            <a:r>
              <a:rPr lang="en-IN" sz="2400" dirty="0"/>
              <a:t>) </a:t>
            </a:r>
          </a:p>
          <a:p>
            <a:r>
              <a:rPr lang="en-IN" sz="2400" dirty="0"/>
              <a:t>print("Target names:", </a:t>
            </a:r>
            <a:r>
              <a:rPr lang="en-IN" sz="2400" dirty="0" err="1"/>
              <a:t>target_names</a:t>
            </a:r>
            <a:r>
              <a:rPr lang="en-IN" sz="2400" dirty="0"/>
              <a:t>) </a:t>
            </a:r>
          </a:p>
          <a:p>
            <a:endParaRPr lang="en-IN" sz="2400" dirty="0"/>
          </a:p>
          <a:p>
            <a:r>
              <a:rPr lang="en-IN" sz="2400" dirty="0"/>
              <a:t>print("\</a:t>
            </a:r>
            <a:r>
              <a:rPr lang="en-IN" sz="2400" dirty="0" err="1"/>
              <a:t>nType</a:t>
            </a:r>
            <a:r>
              <a:rPr lang="en-IN" sz="2400" dirty="0"/>
              <a:t> of X is:", type(X)) </a:t>
            </a:r>
          </a:p>
          <a:p>
            <a:endParaRPr lang="en-IN" sz="2400" dirty="0"/>
          </a:p>
          <a:p>
            <a:r>
              <a:rPr lang="en-IN" sz="2400" dirty="0"/>
              <a:t>print("\</a:t>
            </a:r>
            <a:r>
              <a:rPr lang="en-IN" sz="2400" dirty="0" err="1"/>
              <a:t>nFirst</a:t>
            </a:r>
            <a:r>
              <a:rPr lang="en-IN" sz="2400" dirty="0"/>
              <a:t> 5 rows of X:\n", X[:5])</a:t>
            </a:r>
          </a:p>
        </p:txBody>
      </p:sp>
    </p:spTree>
    <p:extLst>
      <p:ext uri="{BB962C8B-B14F-4D97-AF65-F5344CB8AC3E}">
        <p14:creationId xmlns:p14="http://schemas.microsoft.com/office/powerpoint/2010/main" val="3569477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32D5D4-0803-E89A-6FB2-AA4EAA05D5B7}"/>
              </a:ext>
            </a:extLst>
          </p:cNvPr>
          <p:cNvSpPr>
            <a:spLocks noGrp="1"/>
          </p:cNvSpPr>
          <p:nvPr>
            <p:ph type="title"/>
          </p:nvPr>
        </p:nvSpPr>
        <p:spPr>
          <a:xfrm>
            <a:off x="1043631" y="809898"/>
            <a:ext cx="9942716" cy="1554480"/>
          </a:xfrm>
        </p:spPr>
        <p:txBody>
          <a:bodyPr anchor="ctr">
            <a:normAutofit/>
          </a:bodyPr>
          <a:lstStyle/>
          <a:p>
            <a:r>
              <a:rPr lang="en-US" sz="4800" b="1"/>
              <a:t>Step 2: Splitting the Dataset</a:t>
            </a:r>
            <a:br>
              <a:rPr lang="en-US" sz="4800" b="1"/>
            </a:br>
            <a:endParaRPr lang="en-IN" sz="4800"/>
          </a:p>
        </p:txBody>
      </p:sp>
      <p:sp>
        <p:nvSpPr>
          <p:cNvPr id="3" name="Content Placeholder 2">
            <a:extLst>
              <a:ext uri="{FF2B5EF4-FFF2-40B4-BE49-F238E27FC236}">
                <a16:creationId xmlns:a16="http://schemas.microsoft.com/office/drawing/2014/main" id="{F028A9F8-B064-8B79-9910-2CD15ACE680D}"/>
              </a:ext>
            </a:extLst>
          </p:cNvPr>
          <p:cNvSpPr>
            <a:spLocks noGrp="1"/>
          </p:cNvSpPr>
          <p:nvPr>
            <p:ph idx="1"/>
          </p:nvPr>
        </p:nvSpPr>
        <p:spPr>
          <a:xfrm>
            <a:off x="1045028" y="2560321"/>
            <a:ext cx="9941319" cy="3781293"/>
          </a:xfrm>
        </p:spPr>
        <p:txBody>
          <a:bodyPr anchor="ctr">
            <a:noAutofit/>
          </a:bodyPr>
          <a:lstStyle/>
          <a:p>
            <a:pPr fontAlgn="base"/>
            <a:r>
              <a:rPr lang="en-US" sz="2400" dirty="0"/>
              <a:t>To evaluate a model fairly, we split data into:</a:t>
            </a:r>
          </a:p>
          <a:p>
            <a:pPr fontAlgn="base"/>
            <a:r>
              <a:rPr lang="en-US" sz="2400" dirty="0"/>
              <a:t>Training set: Used to train the model</a:t>
            </a:r>
          </a:p>
          <a:p>
            <a:pPr fontAlgn="base"/>
            <a:r>
              <a:rPr lang="en-US" sz="2400" dirty="0"/>
              <a:t>Testing set: Used to evaluate how well the model generalizes</a:t>
            </a:r>
          </a:p>
          <a:p>
            <a:pPr fontAlgn="base"/>
            <a:r>
              <a:rPr lang="en-US" sz="2400" dirty="0"/>
              <a:t>Using </a:t>
            </a:r>
            <a:r>
              <a:rPr lang="en-US" sz="2400" dirty="0" err="1"/>
              <a:t>train_test_split</a:t>
            </a:r>
            <a:r>
              <a:rPr lang="en-US" sz="2400" dirty="0"/>
              <a:t>, we split the Iris dataset so that 60% is for training and 40% for testing (</a:t>
            </a:r>
            <a:r>
              <a:rPr lang="en-US" sz="2400" dirty="0" err="1"/>
              <a:t>test_size</a:t>
            </a:r>
            <a:r>
              <a:rPr lang="en-US" sz="2400" dirty="0"/>
              <a:t>=0.4). </a:t>
            </a:r>
            <a:r>
              <a:rPr lang="en-US" sz="2400" dirty="0" err="1"/>
              <a:t>random_state</a:t>
            </a:r>
            <a:r>
              <a:rPr lang="en-US" sz="2400" dirty="0"/>
              <a:t>=1 ensures reproducibility.</a:t>
            </a:r>
          </a:p>
          <a:p>
            <a:pPr fontAlgn="base"/>
            <a:r>
              <a:rPr lang="en-US" sz="2400" dirty="0"/>
              <a:t>After splitting, we get:</a:t>
            </a:r>
          </a:p>
          <a:p>
            <a:pPr fontAlgn="base"/>
            <a:r>
              <a:rPr lang="en-US" sz="2400" dirty="0" err="1"/>
              <a:t>X_train</a:t>
            </a:r>
            <a:r>
              <a:rPr lang="en-US" sz="2400" dirty="0"/>
              <a:t>, </a:t>
            </a:r>
            <a:r>
              <a:rPr lang="en-US" sz="2400" dirty="0" err="1"/>
              <a:t>y_train</a:t>
            </a:r>
            <a:r>
              <a:rPr lang="en-US" sz="2400" dirty="0"/>
              <a:t> -&gt; Training data</a:t>
            </a:r>
          </a:p>
          <a:p>
            <a:pPr fontAlgn="base"/>
            <a:r>
              <a:rPr lang="en-US" sz="2400" dirty="0" err="1"/>
              <a:t>X_test</a:t>
            </a:r>
            <a:r>
              <a:rPr lang="en-US" sz="2400" dirty="0"/>
              <a:t>, </a:t>
            </a:r>
            <a:r>
              <a:rPr lang="en-US" sz="2400" dirty="0" err="1"/>
              <a:t>y_test</a:t>
            </a:r>
            <a:r>
              <a:rPr lang="en-US" sz="2400" dirty="0"/>
              <a:t> -&gt; Testing data</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2189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2D5D7E-EA14-6733-AE28-D8B31347FA40}"/>
              </a:ext>
            </a:extLst>
          </p:cNvPr>
          <p:cNvSpPr txBox="1"/>
          <p:nvPr/>
        </p:nvSpPr>
        <p:spPr>
          <a:xfrm>
            <a:off x="1654492" y="858410"/>
            <a:ext cx="8678227" cy="1200329"/>
          </a:xfrm>
          <a:prstGeom prst="rect">
            <a:avLst/>
          </a:prstGeom>
          <a:noFill/>
        </p:spPr>
        <p:txBody>
          <a:bodyPr wrap="square">
            <a:spAutoFit/>
          </a:bodyPr>
          <a:lstStyle/>
          <a:p>
            <a:r>
              <a:rPr lang="en-IN" sz="2400" dirty="0"/>
              <a:t>from </a:t>
            </a:r>
            <a:r>
              <a:rPr lang="en-IN" sz="2400" dirty="0" err="1"/>
              <a:t>sklearn.model_selection</a:t>
            </a:r>
            <a:r>
              <a:rPr lang="en-IN" sz="2400" dirty="0"/>
              <a:t> import </a:t>
            </a:r>
            <a:r>
              <a:rPr lang="en-IN" sz="2400" dirty="0" err="1"/>
              <a:t>train_test_split</a:t>
            </a:r>
            <a:endParaRPr lang="en-IN" sz="2400" dirty="0"/>
          </a:p>
          <a:p>
            <a:r>
              <a:rPr lang="en-IN" sz="2400" dirty="0" err="1"/>
              <a:t>X_train</a:t>
            </a:r>
            <a:r>
              <a:rPr lang="en-IN" sz="2400" dirty="0"/>
              <a:t>, </a:t>
            </a:r>
            <a:r>
              <a:rPr lang="en-IN" sz="2400" dirty="0" err="1"/>
              <a:t>X_test</a:t>
            </a:r>
            <a:r>
              <a:rPr lang="en-IN" sz="2400" dirty="0"/>
              <a:t>, </a:t>
            </a:r>
            <a:r>
              <a:rPr lang="en-IN" sz="2400" dirty="0" err="1"/>
              <a:t>y_train</a:t>
            </a:r>
            <a:r>
              <a:rPr lang="en-IN" sz="2400" dirty="0"/>
              <a:t>, </a:t>
            </a:r>
            <a:r>
              <a:rPr lang="en-IN" sz="2400" dirty="0" err="1"/>
              <a:t>y_test</a:t>
            </a:r>
            <a:r>
              <a:rPr lang="en-IN" sz="2400" dirty="0"/>
              <a:t> = </a:t>
            </a:r>
            <a:r>
              <a:rPr lang="en-IN" sz="2400" dirty="0" err="1"/>
              <a:t>train_test_split</a:t>
            </a:r>
            <a:r>
              <a:rPr lang="en-IN" sz="2400" dirty="0"/>
              <a:t>(X, y, </a:t>
            </a:r>
            <a:r>
              <a:rPr lang="en-IN" sz="2400" dirty="0" err="1"/>
              <a:t>test_size</a:t>
            </a:r>
            <a:r>
              <a:rPr lang="en-IN" sz="2400" dirty="0"/>
              <a:t>=0.4, </a:t>
            </a:r>
            <a:r>
              <a:rPr lang="en-IN" sz="2400" dirty="0" err="1"/>
              <a:t>random_state</a:t>
            </a:r>
            <a:r>
              <a:rPr lang="en-IN" sz="2400" dirty="0"/>
              <a:t>=1)</a:t>
            </a:r>
          </a:p>
        </p:txBody>
      </p:sp>
      <p:sp>
        <p:nvSpPr>
          <p:cNvPr id="7" name="TextBox 6">
            <a:extLst>
              <a:ext uri="{FF2B5EF4-FFF2-40B4-BE49-F238E27FC236}">
                <a16:creationId xmlns:a16="http://schemas.microsoft.com/office/drawing/2014/main" id="{6DF8B4EE-6497-436C-B7C3-0F29444D6A97}"/>
              </a:ext>
            </a:extLst>
          </p:cNvPr>
          <p:cNvSpPr txBox="1"/>
          <p:nvPr/>
        </p:nvSpPr>
        <p:spPr>
          <a:xfrm>
            <a:off x="1654492" y="2120176"/>
            <a:ext cx="7603807" cy="1569660"/>
          </a:xfrm>
          <a:prstGeom prst="rect">
            <a:avLst/>
          </a:prstGeom>
          <a:noFill/>
        </p:spPr>
        <p:txBody>
          <a:bodyPr wrap="square">
            <a:spAutoFit/>
          </a:bodyPr>
          <a:lstStyle/>
          <a:p>
            <a:r>
              <a:rPr lang="en-IN" sz="2400" dirty="0"/>
              <a:t>print("</a:t>
            </a:r>
            <a:r>
              <a:rPr lang="en-IN" sz="2400" dirty="0" err="1"/>
              <a:t>X_train</a:t>
            </a:r>
            <a:r>
              <a:rPr lang="en-IN" sz="2400" dirty="0"/>
              <a:t> Shape:",  </a:t>
            </a:r>
            <a:r>
              <a:rPr lang="en-IN" sz="2400" dirty="0" err="1"/>
              <a:t>X_train.shape</a:t>
            </a:r>
            <a:r>
              <a:rPr lang="en-IN" sz="2400" dirty="0"/>
              <a:t>)</a:t>
            </a:r>
          </a:p>
          <a:p>
            <a:r>
              <a:rPr lang="en-IN" sz="2400" dirty="0"/>
              <a:t>print("</a:t>
            </a:r>
            <a:r>
              <a:rPr lang="en-IN" sz="2400" dirty="0" err="1"/>
              <a:t>X_test</a:t>
            </a:r>
            <a:r>
              <a:rPr lang="en-IN" sz="2400" dirty="0"/>
              <a:t> Shape:", </a:t>
            </a:r>
            <a:r>
              <a:rPr lang="en-IN" sz="2400" dirty="0" err="1"/>
              <a:t>X_test.shape</a:t>
            </a:r>
            <a:r>
              <a:rPr lang="en-IN" sz="2400" dirty="0"/>
              <a:t>)</a:t>
            </a:r>
          </a:p>
          <a:p>
            <a:r>
              <a:rPr lang="en-IN" sz="2400" dirty="0"/>
              <a:t>print("</a:t>
            </a:r>
            <a:r>
              <a:rPr lang="en-IN" sz="2400" dirty="0" err="1"/>
              <a:t>Y_train</a:t>
            </a:r>
            <a:r>
              <a:rPr lang="en-IN" sz="2400" dirty="0"/>
              <a:t> Shape:", </a:t>
            </a:r>
            <a:r>
              <a:rPr lang="en-IN" sz="2400" dirty="0" err="1"/>
              <a:t>y_train.shape</a:t>
            </a:r>
            <a:r>
              <a:rPr lang="en-IN" sz="2400" dirty="0"/>
              <a:t>)</a:t>
            </a:r>
          </a:p>
          <a:p>
            <a:r>
              <a:rPr lang="en-IN" sz="2400" dirty="0"/>
              <a:t>print("</a:t>
            </a:r>
            <a:r>
              <a:rPr lang="en-IN" sz="2400" dirty="0" err="1"/>
              <a:t>Y_test</a:t>
            </a:r>
            <a:r>
              <a:rPr lang="en-IN" sz="2400" dirty="0"/>
              <a:t> Shape:", </a:t>
            </a:r>
            <a:r>
              <a:rPr lang="en-IN" sz="2400" dirty="0" err="1"/>
              <a:t>y_test.shape</a:t>
            </a:r>
            <a:r>
              <a:rPr lang="en-IN" sz="2400" dirty="0"/>
              <a:t>)</a:t>
            </a:r>
          </a:p>
        </p:txBody>
      </p:sp>
    </p:spTree>
    <p:extLst>
      <p:ext uri="{BB962C8B-B14F-4D97-AF65-F5344CB8AC3E}">
        <p14:creationId xmlns:p14="http://schemas.microsoft.com/office/powerpoint/2010/main" val="2646301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D0C7-FF85-2848-DC1E-563A3215B7B5}"/>
              </a:ext>
            </a:extLst>
          </p:cNvPr>
          <p:cNvSpPr>
            <a:spLocks noGrp="1"/>
          </p:cNvSpPr>
          <p:nvPr>
            <p:ph type="title"/>
          </p:nvPr>
        </p:nvSpPr>
        <p:spPr/>
        <p:txBody>
          <a:bodyPr/>
          <a:lstStyle/>
          <a:p>
            <a:r>
              <a:rPr lang="en-US" b="1" dirty="0"/>
              <a:t>Step 3: Handling Categorical Data</a:t>
            </a:r>
            <a:br>
              <a:rPr lang="en-US" b="1" dirty="0"/>
            </a:br>
            <a:endParaRPr lang="en-IN" dirty="0"/>
          </a:p>
        </p:txBody>
      </p:sp>
      <p:sp>
        <p:nvSpPr>
          <p:cNvPr id="3" name="Content Placeholder 2">
            <a:extLst>
              <a:ext uri="{FF2B5EF4-FFF2-40B4-BE49-F238E27FC236}">
                <a16:creationId xmlns:a16="http://schemas.microsoft.com/office/drawing/2014/main" id="{34EB6BFC-0C55-B23A-7F13-6686605AB8D4}"/>
              </a:ext>
            </a:extLst>
          </p:cNvPr>
          <p:cNvSpPr>
            <a:spLocks noGrp="1"/>
          </p:cNvSpPr>
          <p:nvPr>
            <p:ph idx="1"/>
          </p:nvPr>
        </p:nvSpPr>
        <p:spPr/>
        <p:txBody>
          <a:bodyPr/>
          <a:lstStyle/>
          <a:p>
            <a:pPr marL="0" indent="0">
              <a:buNone/>
            </a:pPr>
            <a:r>
              <a:rPr lang="en-IN" b="1" dirty="0"/>
              <a:t>1. </a:t>
            </a:r>
            <a:r>
              <a:rPr lang="en-IN" b="1" u="sng" dirty="0">
                <a:hlinkClick r:id="rId2"/>
              </a:rPr>
              <a:t>Label Encoding</a:t>
            </a:r>
            <a:r>
              <a:rPr lang="en-IN" dirty="0"/>
              <a:t>:</a:t>
            </a:r>
          </a:p>
          <a:p>
            <a:pPr marL="0" indent="0">
              <a:buNone/>
            </a:pPr>
            <a:r>
              <a:rPr lang="en-IN" b="1" dirty="0"/>
              <a:t>2. </a:t>
            </a:r>
            <a:r>
              <a:rPr lang="en-IN" b="1" u="sng" dirty="0">
                <a:hlinkClick r:id="rId3"/>
              </a:rPr>
              <a:t>One-Hot Encoding</a:t>
            </a:r>
            <a:r>
              <a:rPr lang="en-IN" u="sng" dirty="0">
                <a:hlinkClick r:id="rId3"/>
              </a:rPr>
              <a:t>:</a:t>
            </a:r>
            <a:r>
              <a:rPr lang="en-IN" dirty="0"/>
              <a:t> </a:t>
            </a:r>
          </a:p>
        </p:txBody>
      </p:sp>
    </p:spTree>
    <p:extLst>
      <p:ext uri="{BB962C8B-B14F-4D97-AF65-F5344CB8AC3E}">
        <p14:creationId xmlns:p14="http://schemas.microsoft.com/office/powerpoint/2010/main" val="286957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E57E-7929-86E9-5658-D7720782BFFA}"/>
              </a:ext>
            </a:extLst>
          </p:cNvPr>
          <p:cNvSpPr>
            <a:spLocks noGrp="1"/>
          </p:cNvSpPr>
          <p:nvPr>
            <p:ph type="title"/>
          </p:nvPr>
        </p:nvSpPr>
        <p:spPr>
          <a:xfrm>
            <a:off x="1043631" y="809898"/>
            <a:ext cx="9942716" cy="1554480"/>
          </a:xfrm>
        </p:spPr>
        <p:txBody>
          <a:bodyPr anchor="ctr">
            <a:normAutofit/>
          </a:bodyPr>
          <a:lstStyle/>
          <a:p>
            <a:r>
              <a:rPr lang="en-US" sz="4800" b="1"/>
              <a:t>Step 4: Training the Model</a:t>
            </a:r>
            <a:br>
              <a:rPr lang="en-US" sz="4800" b="1"/>
            </a:br>
            <a:endParaRPr lang="en-IN" sz="4800"/>
          </a:p>
        </p:txBody>
      </p:sp>
      <p:sp>
        <p:nvSpPr>
          <p:cNvPr id="3" name="Content Placeholder 2">
            <a:extLst>
              <a:ext uri="{FF2B5EF4-FFF2-40B4-BE49-F238E27FC236}">
                <a16:creationId xmlns:a16="http://schemas.microsoft.com/office/drawing/2014/main" id="{ADD79FAD-A515-8B89-24C1-C0E1EB6A576A}"/>
              </a:ext>
            </a:extLst>
          </p:cNvPr>
          <p:cNvSpPr>
            <a:spLocks noGrp="1"/>
          </p:cNvSpPr>
          <p:nvPr>
            <p:ph idx="1"/>
          </p:nvPr>
        </p:nvSpPr>
        <p:spPr>
          <a:xfrm>
            <a:off x="1045028" y="2704014"/>
            <a:ext cx="9941319" cy="3438166"/>
          </a:xfrm>
        </p:spPr>
        <p:txBody>
          <a:bodyPr anchor="ctr">
            <a:normAutofit/>
          </a:bodyPr>
          <a:lstStyle/>
          <a:p>
            <a:pPr fontAlgn="base"/>
            <a:r>
              <a:rPr lang="en-US" sz="2000" dirty="0"/>
              <a:t>Now that our data is ready, it’s time to train a machine learning model. Scikit-learn has many algorithms with a consistent interface for training, prediction and evaluation. Here we’ll use </a:t>
            </a:r>
            <a:r>
              <a:rPr lang="en-US" sz="2000" u="sng" dirty="0">
                <a:hlinkClick r:id="rId2"/>
              </a:rPr>
              <a:t>Logistic Regression</a:t>
            </a:r>
            <a:r>
              <a:rPr lang="en-US" sz="2000" dirty="0"/>
              <a:t> as an example.</a:t>
            </a:r>
          </a:p>
          <a:p>
            <a:pPr fontAlgn="base"/>
            <a:r>
              <a:rPr lang="en-US" sz="2000" b="1" i="1" dirty="0"/>
              <a:t>Note</a:t>
            </a:r>
            <a:r>
              <a:rPr lang="en-US" sz="2000" i="1" dirty="0"/>
              <a:t>: We will not go into the details of how the algorithm works as we are interested in understanding its implementation only. </a:t>
            </a:r>
          </a:p>
          <a:p>
            <a:pPr fontAlgn="base"/>
            <a:r>
              <a:rPr lang="en-US" sz="2000" b="1" dirty="0" err="1"/>
              <a:t>log_reg</a:t>
            </a:r>
            <a:r>
              <a:rPr lang="en-US" sz="2000" b="1" dirty="0"/>
              <a:t> = </a:t>
            </a:r>
            <a:r>
              <a:rPr lang="en-US" sz="2000" b="1" dirty="0" err="1"/>
              <a:t>LogisticRegression</a:t>
            </a:r>
            <a:r>
              <a:rPr lang="en-US" sz="2000" b="1" dirty="0"/>
              <a:t>(</a:t>
            </a:r>
            <a:r>
              <a:rPr lang="en-US" sz="2000" b="1" dirty="0" err="1"/>
              <a:t>max_iter</a:t>
            </a:r>
            <a:r>
              <a:rPr lang="en-US" sz="2000" b="1" dirty="0"/>
              <a:t>=200): </a:t>
            </a:r>
            <a:r>
              <a:rPr lang="en-US" sz="2000" dirty="0"/>
              <a:t>Creating a logistic regression classifier object.</a:t>
            </a:r>
          </a:p>
          <a:p>
            <a:pPr fontAlgn="base"/>
            <a:r>
              <a:rPr lang="en-US" sz="2000" b="1" dirty="0" err="1"/>
              <a:t>log_reg.fit</a:t>
            </a:r>
            <a:r>
              <a:rPr lang="en-US" sz="2000" b="1" dirty="0"/>
              <a:t>(</a:t>
            </a:r>
            <a:r>
              <a:rPr lang="en-US" sz="2000" b="1" dirty="0" err="1"/>
              <a:t>X_train</a:t>
            </a:r>
            <a:r>
              <a:rPr lang="en-US" sz="2000" b="1" dirty="0"/>
              <a:t>, </a:t>
            </a:r>
            <a:r>
              <a:rPr lang="en-US" sz="2000" b="1" dirty="0" err="1"/>
              <a:t>y_train</a:t>
            </a:r>
            <a:r>
              <a:rPr lang="en-US" sz="2000" b="1" dirty="0"/>
              <a:t>): </a:t>
            </a:r>
            <a:r>
              <a:rPr lang="en-US" sz="2000" dirty="0"/>
              <a:t>Using this</a:t>
            </a:r>
            <a:r>
              <a:rPr lang="en-US" sz="2000" b="1" dirty="0"/>
              <a:t> </a:t>
            </a:r>
            <a:r>
              <a:rPr lang="en-US" sz="2000" dirty="0"/>
              <a:t>the logistic regression model adjusts the model’s parameters to best fit the data.</a:t>
            </a:r>
          </a:p>
          <a:p>
            <a:endParaRPr lang="en-IN"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440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EC6AF2-7F0F-C2CE-5D97-E8606B3B9880}"/>
              </a:ext>
            </a:extLst>
          </p:cNvPr>
          <p:cNvSpPr txBox="1"/>
          <p:nvPr/>
        </p:nvSpPr>
        <p:spPr>
          <a:xfrm>
            <a:off x="1643062" y="1264264"/>
            <a:ext cx="7626667" cy="1200329"/>
          </a:xfrm>
          <a:prstGeom prst="rect">
            <a:avLst/>
          </a:prstGeom>
          <a:noFill/>
        </p:spPr>
        <p:txBody>
          <a:bodyPr wrap="square">
            <a:spAutoFit/>
          </a:bodyPr>
          <a:lstStyle/>
          <a:p>
            <a:r>
              <a:rPr lang="en-IN" sz="2400" dirty="0"/>
              <a:t>from </a:t>
            </a:r>
            <a:r>
              <a:rPr lang="en-IN" sz="2400" dirty="0" err="1"/>
              <a:t>sklearn.linear_model</a:t>
            </a:r>
            <a:r>
              <a:rPr lang="en-IN" sz="2400" dirty="0"/>
              <a:t> import </a:t>
            </a:r>
            <a:r>
              <a:rPr lang="en-IN" sz="2400" dirty="0" err="1"/>
              <a:t>LogisticRegression</a:t>
            </a:r>
            <a:endParaRPr lang="en-IN" sz="2400" dirty="0"/>
          </a:p>
          <a:p>
            <a:r>
              <a:rPr lang="en-IN" sz="2400" dirty="0" err="1"/>
              <a:t>log_reg</a:t>
            </a:r>
            <a:r>
              <a:rPr lang="en-IN" sz="2400" dirty="0"/>
              <a:t> = </a:t>
            </a:r>
            <a:r>
              <a:rPr lang="en-IN" sz="2400" dirty="0" err="1"/>
              <a:t>LogisticRegression</a:t>
            </a:r>
            <a:r>
              <a:rPr lang="en-IN" sz="2400" dirty="0"/>
              <a:t>(</a:t>
            </a:r>
            <a:r>
              <a:rPr lang="en-IN" sz="2400" dirty="0" err="1"/>
              <a:t>max_iter</a:t>
            </a:r>
            <a:r>
              <a:rPr lang="en-IN" sz="2400" dirty="0"/>
              <a:t>=200)</a:t>
            </a:r>
          </a:p>
          <a:p>
            <a:r>
              <a:rPr lang="en-IN" sz="2400" dirty="0" err="1"/>
              <a:t>log_reg.fit</a:t>
            </a:r>
            <a:r>
              <a:rPr lang="en-IN" sz="2400" dirty="0"/>
              <a:t>(</a:t>
            </a:r>
            <a:r>
              <a:rPr lang="en-IN" sz="2400" dirty="0" err="1"/>
              <a:t>X_train</a:t>
            </a:r>
            <a:r>
              <a:rPr lang="en-IN" sz="2400" dirty="0"/>
              <a:t>, </a:t>
            </a:r>
            <a:r>
              <a:rPr lang="en-IN" sz="2400" dirty="0" err="1"/>
              <a:t>y_train</a:t>
            </a:r>
            <a:r>
              <a:rPr lang="en-IN" sz="2400" dirty="0"/>
              <a:t>)</a:t>
            </a:r>
          </a:p>
        </p:txBody>
      </p:sp>
    </p:spTree>
    <p:extLst>
      <p:ext uri="{BB962C8B-B14F-4D97-AF65-F5344CB8AC3E}">
        <p14:creationId xmlns:p14="http://schemas.microsoft.com/office/powerpoint/2010/main" val="264172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E98DF6-1D8A-FA1D-F48E-E372CEE202D0}"/>
              </a:ext>
            </a:extLst>
          </p:cNvPr>
          <p:cNvSpPr>
            <a:spLocks noGrp="1"/>
          </p:cNvSpPr>
          <p:nvPr>
            <p:ph type="title"/>
          </p:nvPr>
        </p:nvSpPr>
        <p:spPr>
          <a:xfrm>
            <a:off x="1043631" y="809898"/>
            <a:ext cx="9942716" cy="1554480"/>
          </a:xfrm>
        </p:spPr>
        <p:txBody>
          <a:bodyPr anchor="ctr">
            <a:normAutofit/>
          </a:bodyPr>
          <a:lstStyle/>
          <a:p>
            <a:r>
              <a:rPr lang="en-IN" sz="4800" b="1"/>
              <a:t>Step 5: Make Predictions</a:t>
            </a:r>
            <a:br>
              <a:rPr lang="en-IN" sz="4800" b="1"/>
            </a:br>
            <a:endParaRPr lang="en-IN" sz="4800"/>
          </a:p>
        </p:txBody>
      </p:sp>
      <p:sp>
        <p:nvSpPr>
          <p:cNvPr id="3" name="Content Placeholder 2">
            <a:extLst>
              <a:ext uri="{FF2B5EF4-FFF2-40B4-BE49-F238E27FC236}">
                <a16:creationId xmlns:a16="http://schemas.microsoft.com/office/drawing/2014/main" id="{CE385570-B29E-0C02-4EEA-265CD333E1ED}"/>
              </a:ext>
            </a:extLst>
          </p:cNvPr>
          <p:cNvSpPr>
            <a:spLocks noGrp="1"/>
          </p:cNvSpPr>
          <p:nvPr>
            <p:ph idx="1"/>
          </p:nvPr>
        </p:nvSpPr>
        <p:spPr>
          <a:xfrm>
            <a:off x="1045028" y="3017522"/>
            <a:ext cx="9941319" cy="3124658"/>
          </a:xfrm>
        </p:spPr>
        <p:txBody>
          <a:bodyPr anchor="ctr">
            <a:normAutofit/>
          </a:bodyPr>
          <a:lstStyle/>
          <a:p>
            <a:pPr fontAlgn="base"/>
            <a:r>
              <a:rPr lang="en-US" sz="2400"/>
              <a:t>Once trained we use the model to make predictions on the test data X_test by calling the predict method. This returns predicted labels y_pred.</a:t>
            </a:r>
          </a:p>
          <a:p>
            <a:pPr fontAlgn="base"/>
            <a:r>
              <a:rPr lang="en-US" sz="2400" b="1"/>
              <a:t>log_reg.predict:</a:t>
            </a:r>
            <a:r>
              <a:rPr lang="en-US" sz="2400"/>
              <a:t> It uses trained logistic regression model to predict labels for the test data X_test.</a:t>
            </a:r>
          </a:p>
          <a:p>
            <a:r>
              <a:rPr lang="en-US" sz="2400"/>
              <a:t>y_pred = log_reg.predict(X_test)</a:t>
            </a:r>
            <a:endParaRPr lang="en-IN"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9467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A8BBF8-9D32-6437-52AA-09ACE449D8E7}"/>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b="1" kern="1200">
                <a:solidFill>
                  <a:schemeClr val="accent1"/>
                </a:solidFill>
                <a:latin typeface="+mj-lt"/>
                <a:ea typeface="+mj-ea"/>
                <a:cs typeface="+mj-cs"/>
              </a:rPr>
              <a:t>Step 6: Evaluating Model Accuracy</a:t>
            </a:r>
            <a:br>
              <a:rPr lang="en-US" b="1" kern="1200">
                <a:solidFill>
                  <a:schemeClr val="accent1"/>
                </a:solidFill>
                <a:latin typeface="+mj-lt"/>
                <a:ea typeface="+mj-ea"/>
                <a:cs typeface="+mj-cs"/>
              </a:rPr>
            </a:br>
            <a:endParaRPr lang="en-US" kern="1200">
              <a:solidFill>
                <a:schemeClr val="accent1"/>
              </a:solidFill>
              <a:latin typeface="+mj-lt"/>
              <a:ea typeface="+mj-ea"/>
              <a:cs typeface="+mj-cs"/>
            </a:endParaRPr>
          </a:p>
        </p:txBody>
      </p:sp>
      <p:cxnSp>
        <p:nvCxnSpPr>
          <p:cNvPr id="12" name="Straight Connector 11">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D7E563F-6BCD-24C9-D981-D5CDF684F7D7}"/>
              </a:ext>
            </a:extLst>
          </p:cNvPr>
          <p:cNvSpPr>
            <a:spLocks noGrp="1"/>
          </p:cNvSpPr>
          <p:nvPr>
            <p:ph idx="1"/>
          </p:nvPr>
        </p:nvSpPr>
        <p:spPr>
          <a:xfrm>
            <a:off x="4976030" y="963507"/>
            <a:ext cx="6250940" cy="2304627"/>
          </a:xfrm>
        </p:spPr>
        <p:txBody>
          <a:bodyPr vert="horz" lIns="91440" tIns="45720" rIns="91440" bIns="45720" rtlCol="0" anchor="b">
            <a:normAutofit/>
          </a:bodyPr>
          <a:lstStyle/>
          <a:p>
            <a:r>
              <a:rPr lang="en-US" sz="2000" dirty="0"/>
              <a:t>Check how well our model is performing by comparing </a:t>
            </a:r>
            <a:r>
              <a:rPr lang="en-US" sz="2000" dirty="0" err="1"/>
              <a:t>y_test</a:t>
            </a:r>
            <a:r>
              <a:rPr lang="en-US" sz="2000" dirty="0"/>
              <a:t> and </a:t>
            </a:r>
            <a:r>
              <a:rPr lang="en-US" sz="2000" dirty="0" err="1"/>
              <a:t>y_pred</a:t>
            </a:r>
            <a:r>
              <a:rPr lang="en-US" sz="2000" dirty="0"/>
              <a:t>. Here we are using the metrics module's method </a:t>
            </a:r>
            <a:r>
              <a:rPr lang="en-US" sz="2000" dirty="0" err="1"/>
              <a:t>accuracy_score</a:t>
            </a:r>
            <a:r>
              <a:rPr lang="en-US" sz="2000" dirty="0"/>
              <a:t>.</a:t>
            </a:r>
          </a:p>
          <a:p>
            <a:r>
              <a:rPr lang="en-US" sz="2000" dirty="0"/>
              <a:t>from </a:t>
            </a:r>
            <a:r>
              <a:rPr lang="en-US" sz="2000" dirty="0" err="1"/>
              <a:t>sklearn</a:t>
            </a:r>
            <a:r>
              <a:rPr lang="en-US" sz="2000" dirty="0"/>
              <a:t> import metrics</a:t>
            </a:r>
          </a:p>
          <a:p>
            <a:r>
              <a:rPr lang="en-US" sz="2000" dirty="0"/>
              <a:t>print("Logistic Regression model accuracy:", </a:t>
            </a:r>
            <a:r>
              <a:rPr lang="en-US" sz="2000" dirty="0" err="1"/>
              <a:t>metrics.accuracy_score</a:t>
            </a:r>
            <a:r>
              <a:rPr lang="en-US" sz="2000" dirty="0"/>
              <a:t>(</a:t>
            </a:r>
            <a:r>
              <a:rPr lang="en-US" sz="2000" dirty="0" err="1"/>
              <a:t>y_test</a:t>
            </a:r>
            <a:r>
              <a:rPr lang="en-US" sz="2000" dirty="0"/>
              <a:t>, </a:t>
            </a:r>
            <a:r>
              <a:rPr lang="en-US" sz="2000" dirty="0" err="1"/>
              <a:t>y_pred</a:t>
            </a:r>
            <a:r>
              <a:rPr lang="en-US" sz="2000" dirty="0"/>
              <a:t>))</a:t>
            </a:r>
          </a:p>
        </p:txBody>
      </p:sp>
      <p:sp>
        <p:nvSpPr>
          <p:cNvPr id="5" name="TextBox 4">
            <a:extLst>
              <a:ext uri="{FF2B5EF4-FFF2-40B4-BE49-F238E27FC236}">
                <a16:creationId xmlns:a16="http://schemas.microsoft.com/office/drawing/2014/main" id="{6F312F27-8108-4209-1533-2A79CAA04787}"/>
              </a:ext>
            </a:extLst>
          </p:cNvPr>
          <p:cNvSpPr txBox="1"/>
          <p:nvPr/>
        </p:nvSpPr>
        <p:spPr>
          <a:xfrm>
            <a:off x="4976030" y="3589866"/>
            <a:ext cx="6250940" cy="2304628"/>
          </a:xfrm>
          <a:prstGeom prst="rect">
            <a:avLst/>
          </a:prstGeom>
        </p:spPr>
        <p:txBody>
          <a:bodyPr vert="horz" lIns="91440" tIns="45720" rIns="91440" bIns="45720" rtlCol="0">
            <a:normAutofit/>
          </a:bodyPr>
          <a:lstStyle/>
          <a:p>
            <a:pPr indent="-228600" fontAlgn="base">
              <a:lnSpc>
                <a:spcPct val="90000"/>
              </a:lnSpc>
              <a:spcBef>
                <a:spcPts val="750"/>
              </a:spcBef>
              <a:spcAft>
                <a:spcPts val="750"/>
              </a:spcAft>
              <a:buFont typeface="Arial" panose="020B0604020202020204" pitchFamily="34" charset="0"/>
              <a:buChar char="•"/>
            </a:pPr>
            <a:r>
              <a:rPr lang="en-US" sz="2000" b="0" i="1">
                <a:effectLst/>
              </a:rPr>
              <a:t>Logistic Regression model accuracy: 0.9666666666666667</a:t>
            </a:r>
          </a:p>
          <a:p>
            <a:pPr indent="-228600" fontAlgn="base">
              <a:lnSpc>
                <a:spcPct val="90000"/>
              </a:lnSpc>
              <a:spcAft>
                <a:spcPts val="750"/>
              </a:spcAft>
              <a:buFont typeface="Arial" panose="020B0604020202020204" pitchFamily="34" charset="0"/>
              <a:buChar char="•"/>
            </a:pPr>
            <a:r>
              <a:rPr lang="en-US" sz="2000" b="0" i="0">
                <a:effectLst/>
              </a:rPr>
              <a:t>Now we want our model to make predictions on new sample data. Then the sample input can simply be passed in the same way as we pass any feature matrix. Here we used it as sample = [[3, 5, 4, 2], [2, 3, 5, 4]]</a:t>
            </a:r>
          </a:p>
        </p:txBody>
      </p:sp>
    </p:spTree>
    <p:extLst>
      <p:ext uri="{BB962C8B-B14F-4D97-AF65-F5344CB8AC3E}">
        <p14:creationId xmlns:p14="http://schemas.microsoft.com/office/powerpoint/2010/main" val="3940190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100E8D-E2F6-1AA6-5E81-77471C7A1DBE}"/>
              </a:ext>
            </a:extLst>
          </p:cNvPr>
          <p:cNvSpPr>
            <a:spLocks noGrp="1"/>
          </p:cNvSpPr>
          <p:nvPr>
            <p:ph idx="1"/>
          </p:nvPr>
        </p:nvSpPr>
        <p:spPr>
          <a:xfrm>
            <a:off x="838200" y="1825625"/>
            <a:ext cx="10515600" cy="1843405"/>
          </a:xfrm>
        </p:spPr>
        <p:txBody>
          <a:bodyPr>
            <a:normAutofit fontScale="92500" lnSpcReduction="10000"/>
          </a:bodyPr>
          <a:lstStyle/>
          <a:p>
            <a:pPr marL="0" indent="0">
              <a:buNone/>
            </a:pPr>
            <a:r>
              <a:rPr lang="en-US" dirty="0"/>
              <a:t>sample = [[3, 5, 4, 2], [2, 3, 5, 4]]</a:t>
            </a:r>
          </a:p>
          <a:p>
            <a:pPr marL="0" indent="0">
              <a:buNone/>
            </a:pPr>
            <a:r>
              <a:rPr lang="en-US" dirty="0"/>
              <a:t>preds = </a:t>
            </a:r>
            <a:r>
              <a:rPr lang="en-US" dirty="0" err="1"/>
              <a:t>log_reg.predict</a:t>
            </a:r>
            <a:r>
              <a:rPr lang="en-US" dirty="0"/>
              <a:t>(sample)</a:t>
            </a:r>
          </a:p>
          <a:p>
            <a:pPr marL="0" indent="0">
              <a:buNone/>
            </a:pPr>
            <a:r>
              <a:rPr lang="en-US" dirty="0" err="1"/>
              <a:t>pred_species</a:t>
            </a:r>
            <a:r>
              <a:rPr lang="en-US" dirty="0"/>
              <a:t> = [</a:t>
            </a:r>
            <a:r>
              <a:rPr lang="en-US" dirty="0" err="1"/>
              <a:t>iris.target_names</a:t>
            </a:r>
            <a:r>
              <a:rPr lang="en-US" dirty="0"/>
              <a:t>[p] for p in preds]</a:t>
            </a:r>
          </a:p>
          <a:p>
            <a:pPr marL="0" indent="0">
              <a:buNone/>
            </a:pPr>
            <a:r>
              <a:rPr lang="en-US" dirty="0"/>
              <a:t>print("Predictions:", </a:t>
            </a:r>
            <a:r>
              <a:rPr lang="en-US" dirty="0" err="1"/>
              <a:t>pred_species</a:t>
            </a:r>
            <a:r>
              <a:rPr lang="en-US" dirty="0"/>
              <a:t>)</a:t>
            </a:r>
            <a:endParaRPr lang="en-IN" dirty="0"/>
          </a:p>
        </p:txBody>
      </p:sp>
      <p:sp>
        <p:nvSpPr>
          <p:cNvPr id="5" name="TextBox 4">
            <a:extLst>
              <a:ext uri="{FF2B5EF4-FFF2-40B4-BE49-F238E27FC236}">
                <a16:creationId xmlns:a16="http://schemas.microsoft.com/office/drawing/2014/main" id="{AA02CB64-ED6C-A1BF-094A-78D0A6E8DD7F}"/>
              </a:ext>
            </a:extLst>
          </p:cNvPr>
          <p:cNvSpPr txBox="1"/>
          <p:nvPr/>
        </p:nvSpPr>
        <p:spPr>
          <a:xfrm>
            <a:off x="838200" y="4307324"/>
            <a:ext cx="6097904" cy="369332"/>
          </a:xfrm>
          <a:prstGeom prst="rect">
            <a:avLst/>
          </a:prstGeom>
          <a:noFill/>
        </p:spPr>
        <p:txBody>
          <a:bodyPr wrap="square">
            <a:spAutoFit/>
          </a:bodyPr>
          <a:lstStyle/>
          <a:p>
            <a:r>
              <a:rPr lang="en-IN" b="0" i="1" dirty="0">
                <a:solidFill>
                  <a:srgbClr val="273239"/>
                </a:solidFill>
                <a:effectLst/>
                <a:latin typeface="Nunito" pitchFamily="2" charset="0"/>
              </a:rPr>
              <a:t>Predictions: [</a:t>
            </a:r>
            <a:r>
              <a:rPr lang="en-IN" b="0" i="1" dirty="0" err="1">
                <a:solidFill>
                  <a:srgbClr val="273239"/>
                </a:solidFill>
                <a:effectLst/>
                <a:latin typeface="Nunito" pitchFamily="2" charset="0"/>
              </a:rPr>
              <a:t>np.str</a:t>
            </a:r>
            <a:r>
              <a:rPr lang="en-IN" b="0" i="1" dirty="0">
                <a:solidFill>
                  <a:srgbClr val="273239"/>
                </a:solidFill>
                <a:effectLst/>
                <a:latin typeface="Nunito" pitchFamily="2" charset="0"/>
              </a:rPr>
              <a:t>_('virginica'), </a:t>
            </a:r>
            <a:r>
              <a:rPr lang="en-IN" b="0" i="1" dirty="0" err="1">
                <a:solidFill>
                  <a:srgbClr val="273239"/>
                </a:solidFill>
                <a:effectLst/>
                <a:latin typeface="Nunito" pitchFamily="2" charset="0"/>
              </a:rPr>
              <a:t>np.str</a:t>
            </a:r>
            <a:r>
              <a:rPr lang="en-IN" b="0" i="1" dirty="0">
                <a:solidFill>
                  <a:srgbClr val="273239"/>
                </a:solidFill>
                <a:effectLst/>
                <a:latin typeface="Nunito" pitchFamily="2" charset="0"/>
              </a:rPr>
              <a:t>_('virginica')]</a:t>
            </a:r>
            <a:endParaRPr lang="en-IN" dirty="0"/>
          </a:p>
        </p:txBody>
      </p:sp>
    </p:spTree>
    <p:extLst>
      <p:ext uri="{BB962C8B-B14F-4D97-AF65-F5344CB8AC3E}">
        <p14:creationId xmlns:p14="http://schemas.microsoft.com/office/powerpoint/2010/main" val="849362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29E86-B56D-0875-D20A-A6FD66F8B7C9}"/>
              </a:ext>
            </a:extLst>
          </p:cNvPr>
          <p:cNvSpPr>
            <a:spLocks noGrp="1"/>
          </p:cNvSpPr>
          <p:nvPr>
            <p:ph type="title"/>
          </p:nvPr>
        </p:nvSpPr>
        <p:spPr>
          <a:xfrm>
            <a:off x="1371599" y="294538"/>
            <a:ext cx="9895951" cy="1033669"/>
          </a:xfrm>
        </p:spPr>
        <p:txBody>
          <a:bodyPr>
            <a:normAutofit/>
          </a:bodyPr>
          <a:lstStyle/>
          <a:p>
            <a:r>
              <a:rPr lang="en-IN" sz="3400" b="1">
                <a:solidFill>
                  <a:srgbClr val="FFFFFF"/>
                </a:solidFill>
              </a:rPr>
              <a:t>Features of Scikit-learn</a:t>
            </a:r>
            <a:br>
              <a:rPr lang="en-IN" sz="3400" b="1">
                <a:solidFill>
                  <a:srgbClr val="FFFFFF"/>
                </a:solidFill>
              </a:rPr>
            </a:br>
            <a:endParaRPr lang="en-IN" sz="3400">
              <a:solidFill>
                <a:srgbClr val="FFFFFF"/>
              </a:solidFill>
            </a:endParaRPr>
          </a:p>
        </p:txBody>
      </p:sp>
      <p:sp>
        <p:nvSpPr>
          <p:cNvPr id="3" name="Content Placeholder 2">
            <a:extLst>
              <a:ext uri="{FF2B5EF4-FFF2-40B4-BE49-F238E27FC236}">
                <a16:creationId xmlns:a16="http://schemas.microsoft.com/office/drawing/2014/main" id="{77961846-EFC1-561D-C0C1-8F7C65A9E705}"/>
              </a:ext>
            </a:extLst>
          </p:cNvPr>
          <p:cNvSpPr>
            <a:spLocks noGrp="1"/>
          </p:cNvSpPr>
          <p:nvPr>
            <p:ph idx="1"/>
          </p:nvPr>
        </p:nvSpPr>
        <p:spPr>
          <a:xfrm>
            <a:off x="1371599" y="2318197"/>
            <a:ext cx="9724031" cy="3683358"/>
          </a:xfrm>
        </p:spPr>
        <p:txBody>
          <a:bodyPr anchor="ctr">
            <a:normAutofit/>
          </a:bodyPr>
          <a:lstStyle/>
          <a:p>
            <a:pPr fontAlgn="base"/>
            <a:r>
              <a:rPr lang="en-US" sz="1600" b="1"/>
              <a:t>Ready-to-Use Tools</a:t>
            </a:r>
            <a:r>
              <a:rPr lang="en-US" sz="1600"/>
              <a:t>: built-in functions for common tasks like data preprocessing, training models and making predictions.</a:t>
            </a:r>
          </a:p>
          <a:p>
            <a:pPr fontAlgn="base"/>
            <a:r>
              <a:rPr lang="en-US" sz="1600" b="1"/>
              <a:t>Easy Model Evaluation</a:t>
            </a:r>
            <a:r>
              <a:rPr lang="en-US" sz="1600"/>
              <a:t>: With tools like cross-validation and performance metrics it helps to measure how well our model works and identify areas for improvement.</a:t>
            </a:r>
          </a:p>
          <a:p>
            <a:pPr fontAlgn="base"/>
            <a:r>
              <a:rPr lang="en-US" sz="1600" b="1"/>
              <a:t>Wide Algorithm Support</a:t>
            </a:r>
            <a:r>
              <a:rPr lang="en-US" sz="1600"/>
              <a:t>: It offers many popular machine learning algorithms including classification, regression and clustering which gives us flexibility to choose the right model for our problem.</a:t>
            </a:r>
          </a:p>
          <a:p>
            <a:pPr fontAlgn="base"/>
            <a:r>
              <a:rPr lang="en-US" sz="1600" b="1"/>
              <a:t>Smooth Integration</a:t>
            </a:r>
            <a:r>
              <a:rPr lang="en-US" sz="1600"/>
              <a:t>: Built on top of important Python libraries like NumPy and SciPy so it fits into our existing data analysis workflow.</a:t>
            </a:r>
          </a:p>
          <a:p>
            <a:pPr fontAlgn="base"/>
            <a:r>
              <a:rPr lang="en-US" sz="1600" b="1"/>
              <a:t>Simple and Consistent Interface</a:t>
            </a:r>
            <a:r>
              <a:rPr lang="en-US" sz="1600"/>
              <a:t>: The same straightforward syntax works across different models helps in making it easier to learn and switch between algorithms.</a:t>
            </a:r>
          </a:p>
          <a:p>
            <a:pPr fontAlgn="base"/>
            <a:r>
              <a:rPr lang="en-US" sz="1600" b="1"/>
              <a:t>Model Tuning Made Easy</a:t>
            </a:r>
            <a:r>
              <a:rPr lang="en-US" sz="1600"/>
              <a:t>: Tools like grid search help us fine-tune our model’s settings to improve accuracy without extra hassle.</a:t>
            </a:r>
            <a:endParaRPr lang="en-IN" sz="1600"/>
          </a:p>
        </p:txBody>
      </p:sp>
    </p:spTree>
    <p:extLst>
      <p:ext uri="{BB962C8B-B14F-4D97-AF65-F5344CB8AC3E}">
        <p14:creationId xmlns:p14="http://schemas.microsoft.com/office/powerpoint/2010/main" val="4174075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9B08B1-40C3-DFAB-DD2B-96BDA061E677}"/>
              </a:ext>
            </a:extLst>
          </p:cNvPr>
          <p:cNvSpPr>
            <a:spLocks noGrp="1"/>
          </p:cNvSpPr>
          <p:nvPr>
            <p:ph type="title"/>
          </p:nvPr>
        </p:nvSpPr>
        <p:spPr>
          <a:xfrm>
            <a:off x="1371599" y="294538"/>
            <a:ext cx="9895951" cy="1033669"/>
          </a:xfrm>
        </p:spPr>
        <p:txBody>
          <a:bodyPr>
            <a:normAutofit/>
          </a:bodyPr>
          <a:lstStyle/>
          <a:p>
            <a:r>
              <a:rPr lang="en-IN" sz="4000" b="1">
                <a:solidFill>
                  <a:srgbClr val="FFFFFF"/>
                </a:solidFill>
              </a:rPr>
              <a:t>Benefits of using Scikit-learn</a:t>
            </a:r>
            <a:endParaRPr lang="en-IN" sz="4000">
              <a:solidFill>
                <a:srgbClr val="FFFFFF"/>
              </a:solidFill>
            </a:endParaRPr>
          </a:p>
        </p:txBody>
      </p:sp>
      <p:sp>
        <p:nvSpPr>
          <p:cNvPr id="3" name="Content Placeholder 2">
            <a:extLst>
              <a:ext uri="{FF2B5EF4-FFF2-40B4-BE49-F238E27FC236}">
                <a16:creationId xmlns:a16="http://schemas.microsoft.com/office/drawing/2014/main" id="{91927A67-629A-3B74-7BEA-C5FC660F3677}"/>
              </a:ext>
            </a:extLst>
          </p:cNvPr>
          <p:cNvSpPr>
            <a:spLocks noGrp="1"/>
          </p:cNvSpPr>
          <p:nvPr>
            <p:ph idx="1"/>
          </p:nvPr>
        </p:nvSpPr>
        <p:spPr>
          <a:xfrm>
            <a:off x="1371599" y="2318197"/>
            <a:ext cx="9724031" cy="3683358"/>
          </a:xfrm>
        </p:spPr>
        <p:txBody>
          <a:bodyPr anchor="ctr">
            <a:normAutofit/>
          </a:bodyPr>
          <a:lstStyle/>
          <a:p>
            <a:pPr fontAlgn="base"/>
            <a:r>
              <a:rPr lang="en-US" sz="2000" b="1"/>
              <a:t>User-Friendly</a:t>
            </a:r>
            <a:r>
              <a:rPr lang="en-US" sz="2000"/>
              <a:t>: Scikit-learn’s consistent and simple interface makes it accessible for beginners and best for experts.</a:t>
            </a:r>
          </a:p>
          <a:p>
            <a:pPr fontAlgn="base"/>
            <a:r>
              <a:rPr lang="en-US" sz="2000" b="1"/>
              <a:t>Time-Saving: </a:t>
            </a:r>
            <a:r>
              <a:rPr lang="en-US" sz="2000"/>
              <a:t>Pre-built tools and algorithms reduce development time which allows us to focus more on solving problems than coding details.</a:t>
            </a:r>
          </a:p>
          <a:p>
            <a:pPr fontAlgn="base"/>
            <a:r>
              <a:rPr lang="en-US" sz="2000" b="1"/>
              <a:t>Better Model Performance</a:t>
            </a:r>
            <a:r>
              <a:rPr lang="en-US" sz="2000"/>
              <a:t>: Easy-to-use tuning and evaluation tools helps in improving model accuracy and reliability.</a:t>
            </a:r>
          </a:p>
          <a:p>
            <a:pPr fontAlgn="base"/>
            <a:r>
              <a:rPr lang="en-US" sz="2000" b="1"/>
              <a:t>Flexible and Scalable</a:t>
            </a:r>
            <a:r>
              <a:rPr lang="en-US" sz="2000"/>
              <a:t>: Supports a wide range of algorithms and integrates smoothly with other Python libraries helps in making it suitable for projects of any size.</a:t>
            </a:r>
          </a:p>
          <a:p>
            <a:pPr fontAlgn="base"/>
            <a:r>
              <a:rPr lang="en-US" sz="2000" b="1"/>
              <a:t>Strong Community Support</a:t>
            </a:r>
            <a:r>
              <a:rPr lang="en-US" sz="2000"/>
              <a:t>: A large, active community ensures regular updates, extensive documentation and plenty of resources to help when we get stuck.</a:t>
            </a:r>
          </a:p>
        </p:txBody>
      </p:sp>
    </p:spTree>
    <p:extLst>
      <p:ext uri="{BB962C8B-B14F-4D97-AF65-F5344CB8AC3E}">
        <p14:creationId xmlns:p14="http://schemas.microsoft.com/office/powerpoint/2010/main" val="2368883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5D202-A2A1-5CF2-AED9-7A744B18DE3E}"/>
              </a:ext>
            </a:extLst>
          </p:cNvPr>
          <p:cNvSpPr>
            <a:spLocks noGrp="1"/>
          </p:cNvSpPr>
          <p:nvPr>
            <p:ph type="title"/>
          </p:nvPr>
        </p:nvSpPr>
        <p:spPr/>
        <p:txBody>
          <a:bodyPr/>
          <a:lstStyle/>
          <a:p>
            <a:r>
              <a:rPr lang="en-IN" dirty="0"/>
              <a:t>Questions </a:t>
            </a:r>
          </a:p>
        </p:txBody>
      </p:sp>
      <p:sp>
        <p:nvSpPr>
          <p:cNvPr id="4" name="Rectangle 1">
            <a:extLst>
              <a:ext uri="{FF2B5EF4-FFF2-40B4-BE49-F238E27FC236}">
                <a16:creationId xmlns:a16="http://schemas.microsoft.com/office/drawing/2014/main" id="{DC3B336D-0985-8AB7-9F5C-2BA0101B63C3}"/>
              </a:ext>
            </a:extLst>
          </p:cNvPr>
          <p:cNvSpPr>
            <a:spLocks noGrp="1" noChangeArrowheads="1"/>
          </p:cNvSpPr>
          <p:nvPr>
            <p:ph idx="1"/>
          </p:nvPr>
        </p:nvSpPr>
        <p:spPr bwMode="auto">
          <a:xfrm>
            <a:off x="838200" y="1595021"/>
            <a:ext cx="980313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Display the first 5 rows of the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Show summary statistics (</a:t>
            </a:r>
            <a:r>
              <a:rPr kumimoji="0" lang="en-US" altLang="en-US" sz="2400" b="0" i="0" u="none" strike="noStrike" cap="none" normalizeH="0" baseline="0" dirty="0">
                <a:ln>
                  <a:noFill/>
                </a:ln>
                <a:solidFill>
                  <a:schemeClr val="tx1"/>
                </a:solidFill>
                <a:effectLst/>
                <a:latin typeface="Arial Unicode MS"/>
              </a:rPr>
              <a:t>describe()</a:t>
            </a:r>
            <a:r>
              <a:rPr kumimoji="0" lang="en-US" altLang="en-US" sz="2400" b="0" i="0" u="none" strike="noStrike" cap="none" normalizeH="0" baseline="0" dirty="0">
                <a:ln>
                  <a:noFill/>
                </a:ln>
                <a:solidFill>
                  <a:schemeClr val="tx1"/>
                </a:solidFill>
                <a:effectLst/>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Check data types of all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Count missing values in the dataset.</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Find all rows where the category is </a:t>
            </a:r>
            <a:r>
              <a:rPr lang="en-US" altLang="en-US" sz="2400" b="1" dirty="0">
                <a:latin typeface="Arial" panose="020B0604020202020204" pitchFamily="34" charset="0"/>
              </a:rPr>
              <a:t>Electronics</a:t>
            </a:r>
            <a:r>
              <a:rPr lang="en-US" altLang="en-US" sz="2400" dirty="0">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Get orders with </a:t>
            </a:r>
            <a:r>
              <a:rPr lang="en-US" altLang="en-US" sz="2400" b="1" dirty="0">
                <a:latin typeface="Arial" panose="020B0604020202020204" pitchFamily="34" charset="0"/>
              </a:rPr>
              <a:t>quantity greater than 1</a:t>
            </a:r>
            <a:r>
              <a:rPr lang="en-US" altLang="en-US" sz="2400" dirty="0">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Sort the dataset by </a:t>
            </a:r>
            <a:r>
              <a:rPr lang="en-US" altLang="en-US" sz="2400" dirty="0" err="1">
                <a:latin typeface="Arial Unicode MS"/>
              </a:rPr>
              <a:t>unit_price</a:t>
            </a:r>
            <a:r>
              <a:rPr lang="en-US" altLang="en-US" sz="2400" dirty="0"/>
              <a:t> descending.</a:t>
            </a: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Show orders placed </a:t>
            </a:r>
            <a:r>
              <a:rPr lang="en-US" altLang="en-US" sz="2400" b="1" dirty="0">
                <a:latin typeface="Arial" panose="020B0604020202020204" pitchFamily="34" charset="0"/>
              </a:rPr>
              <a:t>after Jan 20, 2024</a:t>
            </a:r>
            <a:r>
              <a:rPr lang="en-US" altLang="en-US" sz="2400" dirty="0">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Create a new column </a:t>
            </a:r>
            <a:r>
              <a:rPr lang="en-US" altLang="en-US" sz="2400" b="1" dirty="0" err="1">
                <a:latin typeface="Arial" panose="020B0604020202020204" pitchFamily="34" charset="0"/>
              </a:rPr>
              <a:t>total_price</a:t>
            </a:r>
            <a:r>
              <a:rPr lang="en-US" altLang="en-US" sz="2400" b="1" dirty="0">
                <a:latin typeface="Arial" panose="020B0604020202020204" pitchFamily="34" charset="0"/>
              </a:rPr>
              <a:t> = quantity × </a:t>
            </a:r>
            <a:r>
              <a:rPr lang="en-US" altLang="en-US" sz="2400" b="1" dirty="0" err="1">
                <a:latin typeface="Arial" panose="020B0604020202020204" pitchFamily="34" charset="0"/>
              </a:rPr>
              <a:t>unit_price</a:t>
            </a:r>
            <a:r>
              <a:rPr lang="en-US" altLang="en-US" sz="2400" dirty="0">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Add a column showing </a:t>
            </a:r>
            <a:r>
              <a:rPr lang="en-US" altLang="en-US" sz="2400" b="1" dirty="0">
                <a:latin typeface="Arial" panose="020B0604020202020204" pitchFamily="34" charset="0"/>
              </a:rPr>
              <a:t>day of week</a:t>
            </a:r>
            <a:r>
              <a:rPr lang="en-US" altLang="en-US" sz="2400" dirty="0">
                <a:latin typeface="Arial" panose="020B0604020202020204" pitchFamily="34" charset="0"/>
              </a:rPr>
              <a:t> from </a:t>
            </a:r>
            <a:r>
              <a:rPr lang="en-US" altLang="en-US" sz="2400" dirty="0" err="1">
                <a:latin typeface="Arial Unicode MS"/>
              </a:rPr>
              <a:t>order_date</a:t>
            </a:r>
            <a:r>
              <a:rPr lang="en-US" altLang="en-US" sz="2400" dirty="0"/>
              <a:t>.</a:t>
            </a: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Replace the region names with uppercase text.</a:t>
            </a:r>
          </a:p>
          <a:p>
            <a:pPr marL="0" lvl="0" indent="0" eaLnBrk="0" fontAlgn="base" hangingPunct="0">
              <a:lnSpc>
                <a:spcPct val="100000"/>
              </a:lnSpc>
              <a:spcBef>
                <a:spcPct val="0"/>
              </a:spcBef>
              <a:spcAft>
                <a:spcPct val="0"/>
              </a:spcAft>
              <a:buFontTx/>
              <a:buChar char="•"/>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5794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10AE2-54A8-C2F5-34DF-5D0FF8581485}"/>
              </a:ext>
            </a:extLst>
          </p:cNvPr>
          <p:cNvSpPr>
            <a:spLocks noGrp="1"/>
          </p:cNvSpPr>
          <p:nvPr>
            <p:ph type="title"/>
          </p:nvPr>
        </p:nvSpPr>
        <p:spPr>
          <a:xfrm>
            <a:off x="838200" y="-80645"/>
            <a:ext cx="10515600" cy="1325563"/>
          </a:xfrm>
        </p:spPr>
        <p:txBody>
          <a:bodyPr/>
          <a:lstStyle/>
          <a:p>
            <a:r>
              <a:rPr lang="en-IN" dirty="0"/>
              <a:t>Answers</a:t>
            </a:r>
          </a:p>
        </p:txBody>
      </p:sp>
      <p:sp>
        <p:nvSpPr>
          <p:cNvPr id="3" name="Content Placeholder 2">
            <a:extLst>
              <a:ext uri="{FF2B5EF4-FFF2-40B4-BE49-F238E27FC236}">
                <a16:creationId xmlns:a16="http://schemas.microsoft.com/office/drawing/2014/main" id="{E4F1859B-2DAD-071A-5736-55507454B592}"/>
              </a:ext>
            </a:extLst>
          </p:cNvPr>
          <p:cNvSpPr>
            <a:spLocks noGrp="1"/>
          </p:cNvSpPr>
          <p:nvPr>
            <p:ph idx="1"/>
          </p:nvPr>
        </p:nvSpPr>
        <p:spPr>
          <a:xfrm>
            <a:off x="723900" y="1105534"/>
            <a:ext cx="10515600" cy="5318125"/>
          </a:xfrm>
        </p:spPr>
        <p:txBody>
          <a:bodyPr>
            <a:noAutofit/>
          </a:bodyPr>
          <a:lstStyle/>
          <a:p>
            <a:pPr marL="0" indent="0">
              <a:buNone/>
            </a:pPr>
            <a:r>
              <a:rPr lang="en-IN" sz="2000" dirty="0"/>
              <a:t>import pandas as pd</a:t>
            </a:r>
          </a:p>
          <a:p>
            <a:pPr marL="0" indent="0">
              <a:buNone/>
            </a:pPr>
            <a:r>
              <a:rPr lang="en-IN" sz="2000" dirty="0" err="1"/>
              <a:t>df</a:t>
            </a:r>
            <a:r>
              <a:rPr lang="en-IN" sz="2000" dirty="0"/>
              <a:t> = </a:t>
            </a:r>
            <a:r>
              <a:rPr lang="en-IN" sz="2000" dirty="0" err="1"/>
              <a:t>pd.read_csv</a:t>
            </a:r>
            <a:r>
              <a:rPr lang="en-IN" sz="2000" dirty="0"/>
              <a:t>("sales_data.csv", </a:t>
            </a:r>
            <a:r>
              <a:rPr lang="en-IN" sz="2000" dirty="0" err="1"/>
              <a:t>parse_dates</a:t>
            </a:r>
            <a:r>
              <a:rPr lang="en-IN" sz="2000" dirty="0"/>
              <a:t>=["</a:t>
            </a:r>
            <a:r>
              <a:rPr lang="en-IN" sz="2000" dirty="0" err="1"/>
              <a:t>order_date</a:t>
            </a:r>
            <a:r>
              <a:rPr lang="en-IN" sz="2000" dirty="0"/>
              <a:t>"])</a:t>
            </a:r>
          </a:p>
          <a:p>
            <a:pPr marL="0" indent="0">
              <a:buNone/>
            </a:pPr>
            <a:r>
              <a:rPr lang="en-IN" sz="2000" dirty="0" err="1"/>
              <a:t>df.head</a:t>
            </a:r>
            <a:r>
              <a:rPr lang="en-IN" sz="2000" dirty="0"/>
              <a:t>()</a:t>
            </a:r>
          </a:p>
          <a:p>
            <a:pPr marL="0" indent="0">
              <a:buNone/>
            </a:pPr>
            <a:r>
              <a:rPr lang="en-IN" sz="2000" dirty="0" err="1"/>
              <a:t>df.describe</a:t>
            </a:r>
            <a:r>
              <a:rPr lang="en-IN" sz="2000" dirty="0"/>
              <a:t>()</a:t>
            </a:r>
          </a:p>
          <a:p>
            <a:pPr marL="0" indent="0">
              <a:buNone/>
            </a:pPr>
            <a:r>
              <a:rPr lang="en-IN" sz="2000" dirty="0" err="1"/>
              <a:t>df.dtypes</a:t>
            </a:r>
            <a:endParaRPr lang="en-IN" sz="2000" dirty="0"/>
          </a:p>
          <a:p>
            <a:pPr marL="0" indent="0">
              <a:buNone/>
            </a:pPr>
            <a:r>
              <a:rPr lang="en-IN" sz="2000" dirty="0" err="1"/>
              <a:t>df.isna</a:t>
            </a:r>
            <a:r>
              <a:rPr lang="en-IN" sz="2000" dirty="0"/>
              <a:t>().sum()</a:t>
            </a:r>
          </a:p>
          <a:p>
            <a:pPr marL="0" indent="0">
              <a:buNone/>
            </a:pPr>
            <a:r>
              <a:rPr lang="en-IN" sz="2000" dirty="0" err="1"/>
              <a:t>df</a:t>
            </a:r>
            <a:r>
              <a:rPr lang="en-IN" sz="2000" dirty="0"/>
              <a:t>[</a:t>
            </a:r>
            <a:r>
              <a:rPr lang="en-IN" sz="2000" dirty="0" err="1"/>
              <a:t>df</a:t>
            </a:r>
            <a:r>
              <a:rPr lang="en-IN" sz="2000" dirty="0"/>
              <a:t>["category"] == "Electronics"]</a:t>
            </a:r>
          </a:p>
          <a:p>
            <a:pPr marL="0" indent="0">
              <a:buNone/>
            </a:pPr>
            <a:r>
              <a:rPr lang="en-IN" sz="2000" dirty="0" err="1"/>
              <a:t>df</a:t>
            </a:r>
            <a:r>
              <a:rPr lang="en-IN" sz="2000" dirty="0"/>
              <a:t>[</a:t>
            </a:r>
            <a:r>
              <a:rPr lang="en-IN" sz="2000" dirty="0" err="1"/>
              <a:t>df</a:t>
            </a:r>
            <a:r>
              <a:rPr lang="en-IN" sz="2000" dirty="0"/>
              <a:t>["quantity"] &gt; 1]</a:t>
            </a:r>
          </a:p>
          <a:p>
            <a:pPr marL="0" indent="0">
              <a:buNone/>
            </a:pPr>
            <a:r>
              <a:rPr lang="en-US" sz="2000" dirty="0" err="1"/>
              <a:t>df.sort_values</a:t>
            </a:r>
            <a:r>
              <a:rPr lang="en-US" sz="2000" dirty="0"/>
              <a:t>("</a:t>
            </a:r>
            <a:r>
              <a:rPr lang="en-US" sz="2000" dirty="0" err="1"/>
              <a:t>unit_price</a:t>
            </a:r>
            <a:r>
              <a:rPr lang="en-US" sz="2000" dirty="0"/>
              <a:t>", ascending=False)</a:t>
            </a:r>
          </a:p>
          <a:p>
            <a:pPr marL="0" indent="0">
              <a:buNone/>
            </a:pPr>
            <a:r>
              <a:rPr lang="en-US" sz="2000" dirty="0" err="1"/>
              <a:t>df</a:t>
            </a:r>
            <a:r>
              <a:rPr lang="en-US" sz="2000" dirty="0"/>
              <a:t>[</a:t>
            </a:r>
            <a:r>
              <a:rPr lang="en-US" sz="2000" dirty="0" err="1"/>
              <a:t>df</a:t>
            </a:r>
            <a:r>
              <a:rPr lang="en-US" sz="2000" dirty="0"/>
              <a:t>["</a:t>
            </a:r>
            <a:r>
              <a:rPr lang="en-US" sz="2000" dirty="0" err="1"/>
              <a:t>order_date</a:t>
            </a:r>
            <a:r>
              <a:rPr lang="en-US" sz="2000" dirty="0"/>
              <a:t>"] &gt; "2024-01-20"]</a:t>
            </a:r>
          </a:p>
          <a:p>
            <a:pPr marL="0" indent="0">
              <a:buNone/>
            </a:pPr>
            <a:r>
              <a:rPr lang="en-US" sz="2000" dirty="0" err="1"/>
              <a:t>df</a:t>
            </a:r>
            <a:r>
              <a:rPr lang="en-US" sz="2000" dirty="0"/>
              <a:t>["</a:t>
            </a:r>
            <a:r>
              <a:rPr lang="en-US" sz="2000" dirty="0" err="1"/>
              <a:t>total_price</a:t>
            </a:r>
            <a:r>
              <a:rPr lang="en-US" sz="2000" dirty="0"/>
              <a:t>"] = </a:t>
            </a:r>
            <a:r>
              <a:rPr lang="en-US" sz="2000" dirty="0" err="1"/>
              <a:t>df</a:t>
            </a:r>
            <a:r>
              <a:rPr lang="en-US" sz="2000" dirty="0"/>
              <a:t>["quantity"] * </a:t>
            </a:r>
            <a:r>
              <a:rPr lang="en-US" sz="2000" dirty="0" err="1"/>
              <a:t>df</a:t>
            </a:r>
            <a:r>
              <a:rPr lang="en-US" sz="2000" dirty="0"/>
              <a:t>["</a:t>
            </a:r>
            <a:r>
              <a:rPr lang="en-US" sz="2000" dirty="0" err="1"/>
              <a:t>unit_price</a:t>
            </a:r>
            <a:r>
              <a:rPr lang="en-US" sz="2000" dirty="0"/>
              <a:t>"]</a:t>
            </a:r>
          </a:p>
          <a:p>
            <a:pPr marL="0" indent="0">
              <a:buNone/>
            </a:pPr>
            <a:r>
              <a:rPr lang="en-US" sz="2000" dirty="0" err="1"/>
              <a:t>df</a:t>
            </a:r>
            <a:r>
              <a:rPr lang="en-US" sz="2000" dirty="0"/>
              <a:t>["</a:t>
            </a:r>
            <a:r>
              <a:rPr lang="en-US" sz="2000" dirty="0" err="1"/>
              <a:t>day_of_week</a:t>
            </a:r>
            <a:r>
              <a:rPr lang="en-US" sz="2000" dirty="0"/>
              <a:t>"] = </a:t>
            </a:r>
            <a:r>
              <a:rPr lang="en-US" sz="2000" dirty="0" err="1"/>
              <a:t>df</a:t>
            </a:r>
            <a:r>
              <a:rPr lang="en-US" sz="2000" dirty="0"/>
              <a:t>["</a:t>
            </a:r>
            <a:r>
              <a:rPr lang="en-US" sz="2000" dirty="0" err="1"/>
              <a:t>order_date</a:t>
            </a:r>
            <a:r>
              <a:rPr lang="en-US" sz="2000" dirty="0"/>
              <a:t>"].</a:t>
            </a:r>
            <a:r>
              <a:rPr lang="en-US" sz="2000" dirty="0" err="1"/>
              <a:t>dt.day_name</a:t>
            </a:r>
            <a:r>
              <a:rPr lang="en-US" sz="2000" dirty="0"/>
              <a:t>()</a:t>
            </a:r>
          </a:p>
          <a:p>
            <a:pPr marL="0" indent="0">
              <a:buNone/>
            </a:pPr>
            <a:r>
              <a:rPr lang="sv-SE" sz="2000" dirty="0"/>
              <a:t>df["region_upper"] = df["region"].str.upper()</a:t>
            </a:r>
            <a:endParaRPr lang="en-US" sz="2000" dirty="0"/>
          </a:p>
          <a:p>
            <a:endParaRPr lang="en-IN" sz="2000" dirty="0"/>
          </a:p>
        </p:txBody>
      </p:sp>
    </p:spTree>
    <p:extLst>
      <p:ext uri="{BB962C8B-B14F-4D97-AF65-F5344CB8AC3E}">
        <p14:creationId xmlns:p14="http://schemas.microsoft.com/office/powerpoint/2010/main" val="3149938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0BB0-65E8-B842-6C6B-2821341B4AB6}"/>
              </a:ext>
            </a:extLst>
          </p:cNvPr>
          <p:cNvSpPr>
            <a:spLocks noGrp="1"/>
          </p:cNvSpPr>
          <p:nvPr>
            <p:ph type="title"/>
          </p:nvPr>
        </p:nvSpPr>
        <p:spPr>
          <a:xfrm>
            <a:off x="838200" y="164173"/>
            <a:ext cx="10515600" cy="1325563"/>
          </a:xfrm>
        </p:spPr>
        <p:txBody>
          <a:bodyPr/>
          <a:lstStyle/>
          <a:p>
            <a:r>
              <a:rPr lang="en-IN" dirty="0"/>
              <a:t>Questions	</a:t>
            </a:r>
          </a:p>
        </p:txBody>
      </p:sp>
      <p:sp>
        <p:nvSpPr>
          <p:cNvPr id="4" name="Rectangle 1">
            <a:extLst>
              <a:ext uri="{FF2B5EF4-FFF2-40B4-BE49-F238E27FC236}">
                <a16:creationId xmlns:a16="http://schemas.microsoft.com/office/drawing/2014/main" id="{BE622DF4-21C9-37DA-09D7-ECE0B2887A0D}"/>
              </a:ext>
            </a:extLst>
          </p:cNvPr>
          <p:cNvSpPr>
            <a:spLocks noGrp="1" noChangeArrowheads="1"/>
          </p:cNvSpPr>
          <p:nvPr>
            <p:ph idx="1"/>
          </p:nvPr>
        </p:nvSpPr>
        <p:spPr bwMode="auto">
          <a:xfrm>
            <a:off x="838200" y="1308763"/>
            <a:ext cx="10088852" cy="5385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Calculate </a:t>
            </a:r>
            <a:r>
              <a:rPr kumimoji="0" lang="en-US" altLang="en-US" sz="2400" b="1" i="0" u="none" strike="noStrike" cap="none" normalizeH="0" baseline="0" dirty="0">
                <a:ln>
                  <a:noFill/>
                </a:ln>
                <a:solidFill>
                  <a:schemeClr val="tx1"/>
                </a:solidFill>
                <a:effectLst/>
                <a:latin typeface="Arial" panose="020B0604020202020204" pitchFamily="34" charset="0"/>
              </a:rPr>
              <a:t>total revenue per region</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Find </a:t>
            </a:r>
            <a:r>
              <a:rPr kumimoji="0" lang="en-US" altLang="en-US" sz="2400" b="1" i="0" u="none" strike="noStrike" cap="none" normalizeH="0" baseline="0" dirty="0">
                <a:ln>
                  <a:noFill/>
                </a:ln>
                <a:solidFill>
                  <a:schemeClr val="tx1"/>
                </a:solidFill>
                <a:effectLst/>
                <a:latin typeface="Arial" panose="020B0604020202020204" pitchFamily="34" charset="0"/>
              </a:rPr>
              <a:t>total quantity sold</a:t>
            </a:r>
            <a:r>
              <a:rPr kumimoji="0" lang="en-US" altLang="en-US" sz="2400" b="0" i="0" u="none" strike="noStrike" cap="none" normalizeH="0" baseline="0" dirty="0">
                <a:ln>
                  <a:noFill/>
                </a:ln>
                <a:solidFill>
                  <a:schemeClr val="tx1"/>
                </a:solidFill>
                <a:effectLst/>
                <a:latin typeface="Arial" panose="020B0604020202020204" pitchFamily="34" charset="0"/>
              </a:rPr>
              <a:t> for each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Which </a:t>
            </a:r>
            <a:r>
              <a:rPr kumimoji="0" lang="en-US" altLang="en-US" sz="2400" b="1" i="0" u="none" strike="noStrike" cap="none" normalizeH="0" baseline="0" dirty="0">
                <a:ln>
                  <a:noFill/>
                </a:ln>
                <a:solidFill>
                  <a:schemeClr val="tx1"/>
                </a:solidFill>
                <a:effectLst/>
                <a:latin typeface="Arial" panose="020B0604020202020204" pitchFamily="34" charset="0"/>
              </a:rPr>
              <a:t>customer spent the most</a:t>
            </a:r>
            <a:r>
              <a:rPr kumimoji="0" lang="en-US" altLang="en-US" sz="2400" b="0" i="0" u="none" strike="noStrike" cap="none" normalizeH="0" baseline="0" dirty="0">
                <a:ln>
                  <a:noFill/>
                </a:ln>
                <a:solidFill>
                  <a:schemeClr val="tx1"/>
                </a:solidFill>
                <a:effectLst/>
                <a:latin typeface="Arial" panose="020B0604020202020204" pitchFamily="34" charset="0"/>
              </a:rPr>
              <a:t> overall?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What is the </a:t>
            </a:r>
            <a:r>
              <a:rPr kumimoji="0" lang="en-US" altLang="en-US" sz="2400" b="1" i="0" u="none" strike="noStrike" cap="none" normalizeH="0" baseline="0" dirty="0">
                <a:ln>
                  <a:noFill/>
                </a:ln>
                <a:solidFill>
                  <a:schemeClr val="tx1"/>
                </a:solidFill>
                <a:effectLst/>
                <a:latin typeface="Arial" panose="020B0604020202020204" pitchFamily="34" charset="0"/>
              </a:rPr>
              <a:t>average unit price</a:t>
            </a:r>
            <a:r>
              <a:rPr kumimoji="0" lang="en-US" altLang="en-US" sz="2400" b="0" i="0" u="none" strike="noStrike" cap="none" normalizeH="0" baseline="0" dirty="0">
                <a:ln>
                  <a:noFill/>
                </a:ln>
                <a:solidFill>
                  <a:schemeClr val="tx1"/>
                </a:solidFill>
                <a:effectLst/>
                <a:latin typeface="Arial" panose="020B0604020202020204" pitchFamily="34" charset="0"/>
              </a:rPr>
              <a:t> per product?</a:t>
            </a:r>
          </a:p>
          <a:p>
            <a:r>
              <a:rPr lang="en-US" sz="2400" dirty="0"/>
              <a:t>Identify the </a:t>
            </a:r>
            <a:r>
              <a:rPr lang="en-US" sz="2400" b="1" dirty="0"/>
              <a:t>top 3 most expensive orders</a:t>
            </a:r>
            <a:r>
              <a:rPr lang="en-US" sz="2400" dirty="0"/>
              <a:t>.</a:t>
            </a:r>
          </a:p>
          <a:p>
            <a:r>
              <a:rPr lang="en-US" sz="2400" dirty="0"/>
              <a:t>Find customers who made </a:t>
            </a:r>
            <a:r>
              <a:rPr lang="en-US" sz="2400" b="1" dirty="0"/>
              <a:t>more than one purchase</a:t>
            </a:r>
            <a:r>
              <a:rPr lang="en-US" sz="2400" dirty="0"/>
              <a:t>.</a:t>
            </a:r>
          </a:p>
          <a:p>
            <a:r>
              <a:rPr lang="en-US" sz="2400" dirty="0"/>
              <a:t>For each category, compute:</a:t>
            </a:r>
          </a:p>
          <a:p>
            <a:pPr lvl="1"/>
            <a:r>
              <a:rPr lang="en-US" dirty="0"/>
              <a:t>total revenue</a:t>
            </a:r>
          </a:p>
          <a:p>
            <a:pPr lvl="1"/>
            <a:r>
              <a:rPr lang="en-US" dirty="0"/>
              <a:t>average quantity</a:t>
            </a:r>
          </a:p>
          <a:p>
            <a:pPr lvl="1"/>
            <a:r>
              <a:rPr lang="en-US" dirty="0"/>
              <a:t>number of unique customers</a:t>
            </a:r>
          </a:p>
          <a:p>
            <a:r>
              <a:rPr lang="en-US" sz="2400" dirty="0"/>
              <a:t>Pivot the table to show </a:t>
            </a:r>
            <a:r>
              <a:rPr lang="en-US" sz="2400" b="1" dirty="0"/>
              <a:t>region vs category</a:t>
            </a:r>
            <a:r>
              <a:rPr lang="en-US" sz="2400" dirty="0"/>
              <a:t> total revenue.</a:t>
            </a:r>
          </a:p>
          <a:p>
            <a:r>
              <a:rPr lang="en-US" sz="2400" dirty="0"/>
              <a:t>Convert the dataset into monthly revenue summary (resample by month).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406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BF33F0-46E9-DE23-D7CB-3403D6F3174F}"/>
              </a:ext>
            </a:extLst>
          </p:cNvPr>
          <p:cNvSpPr>
            <a:spLocks noGrp="1"/>
          </p:cNvSpPr>
          <p:nvPr>
            <p:ph idx="1"/>
          </p:nvPr>
        </p:nvSpPr>
        <p:spPr>
          <a:xfrm>
            <a:off x="838200" y="331470"/>
            <a:ext cx="10515600" cy="6263640"/>
          </a:xfrm>
        </p:spPr>
        <p:txBody>
          <a:bodyPr>
            <a:normAutofit fontScale="85000" lnSpcReduction="20000"/>
          </a:bodyPr>
          <a:lstStyle/>
          <a:p>
            <a:r>
              <a:rPr lang="en-US" dirty="0" err="1"/>
              <a:t>df.groupby</a:t>
            </a:r>
            <a:r>
              <a:rPr lang="en-US" dirty="0"/>
              <a:t>("region")["</a:t>
            </a:r>
            <a:r>
              <a:rPr lang="en-US" dirty="0" err="1"/>
              <a:t>total_price</a:t>
            </a:r>
            <a:r>
              <a:rPr lang="en-US" dirty="0"/>
              <a:t>"].sum()</a:t>
            </a:r>
          </a:p>
          <a:p>
            <a:r>
              <a:rPr lang="en-US" dirty="0" err="1"/>
              <a:t>df.groupby</a:t>
            </a:r>
            <a:r>
              <a:rPr lang="en-US" dirty="0"/>
              <a:t>("category")["quantity"].sum()</a:t>
            </a:r>
          </a:p>
          <a:p>
            <a:r>
              <a:rPr lang="en-US" dirty="0" err="1"/>
              <a:t>df.groupby</a:t>
            </a:r>
            <a:r>
              <a:rPr lang="en-US" dirty="0"/>
              <a:t>("customer")["</a:t>
            </a:r>
            <a:r>
              <a:rPr lang="en-US" dirty="0" err="1"/>
              <a:t>total_price</a:t>
            </a:r>
            <a:r>
              <a:rPr lang="en-US" dirty="0"/>
              <a:t>"].sum().</a:t>
            </a:r>
            <a:r>
              <a:rPr lang="en-US" dirty="0" err="1"/>
              <a:t>sort_values</a:t>
            </a:r>
            <a:r>
              <a:rPr lang="en-US" dirty="0"/>
              <a:t>(ascending=False)</a:t>
            </a:r>
          </a:p>
          <a:p>
            <a:r>
              <a:rPr lang="en-US" dirty="0" err="1"/>
              <a:t>df.groupby</a:t>
            </a:r>
            <a:r>
              <a:rPr lang="en-US" dirty="0"/>
              <a:t>("product")["</a:t>
            </a:r>
            <a:r>
              <a:rPr lang="en-US" dirty="0" err="1"/>
              <a:t>unit_price</a:t>
            </a:r>
            <a:r>
              <a:rPr lang="en-US" dirty="0"/>
              <a:t>"].mean()</a:t>
            </a:r>
          </a:p>
          <a:p>
            <a:r>
              <a:rPr lang="en-US" dirty="0" err="1"/>
              <a:t>df.nlargest</a:t>
            </a:r>
            <a:r>
              <a:rPr lang="en-US" dirty="0"/>
              <a:t>(3, "</a:t>
            </a:r>
            <a:r>
              <a:rPr lang="en-US" dirty="0" err="1"/>
              <a:t>total_price</a:t>
            </a:r>
            <a:r>
              <a:rPr lang="en-US" dirty="0"/>
              <a:t>")</a:t>
            </a:r>
          </a:p>
          <a:p>
            <a:r>
              <a:rPr lang="en-US" dirty="0" err="1"/>
              <a:t>df</a:t>
            </a:r>
            <a:r>
              <a:rPr lang="en-US" dirty="0"/>
              <a:t>["customer"].</a:t>
            </a:r>
            <a:r>
              <a:rPr lang="en-US" dirty="0" err="1"/>
              <a:t>value_counts</a:t>
            </a:r>
            <a:r>
              <a:rPr lang="en-US" dirty="0"/>
              <a:t>()[lambda x: x &gt; 1]</a:t>
            </a:r>
          </a:p>
          <a:p>
            <a:r>
              <a:rPr lang="en-US" dirty="0" err="1"/>
              <a:t>df.groupby</a:t>
            </a:r>
            <a:r>
              <a:rPr lang="en-US" dirty="0"/>
              <a:t>("category").</a:t>
            </a:r>
            <a:r>
              <a:rPr lang="en-US" dirty="0" err="1"/>
              <a:t>agg</a:t>
            </a:r>
            <a:r>
              <a:rPr lang="en-US" dirty="0"/>
              <a:t>(</a:t>
            </a:r>
          </a:p>
          <a:p>
            <a:pPr marL="457200" lvl="1" indent="0">
              <a:buNone/>
            </a:pPr>
            <a:r>
              <a:rPr lang="en-US" dirty="0"/>
              <a:t>    </a:t>
            </a:r>
            <a:r>
              <a:rPr lang="en-US" dirty="0" err="1"/>
              <a:t>total_revenue</a:t>
            </a:r>
            <a:r>
              <a:rPr lang="en-US" dirty="0"/>
              <a:t>=("</a:t>
            </a:r>
            <a:r>
              <a:rPr lang="en-US" dirty="0" err="1"/>
              <a:t>total_price</a:t>
            </a:r>
            <a:r>
              <a:rPr lang="en-US" dirty="0"/>
              <a:t>", "sum"),</a:t>
            </a:r>
          </a:p>
          <a:p>
            <a:pPr marL="457200" lvl="1" indent="0">
              <a:buNone/>
            </a:pPr>
            <a:r>
              <a:rPr lang="en-US" dirty="0"/>
              <a:t>    </a:t>
            </a:r>
            <a:r>
              <a:rPr lang="en-US" dirty="0" err="1"/>
              <a:t>avg_quantity</a:t>
            </a:r>
            <a:r>
              <a:rPr lang="en-US" dirty="0"/>
              <a:t>=("quantity", "mean"),</a:t>
            </a:r>
          </a:p>
          <a:p>
            <a:pPr marL="457200" lvl="1" indent="0">
              <a:buNone/>
            </a:pPr>
            <a:r>
              <a:rPr lang="en-US" dirty="0"/>
              <a:t>    </a:t>
            </a:r>
            <a:r>
              <a:rPr lang="en-US" dirty="0" err="1"/>
              <a:t>unique_customers</a:t>
            </a:r>
            <a:r>
              <a:rPr lang="en-US" dirty="0"/>
              <a:t>=("customer", "</a:t>
            </a:r>
            <a:r>
              <a:rPr lang="en-US" dirty="0" err="1"/>
              <a:t>nunique</a:t>
            </a:r>
            <a:r>
              <a:rPr lang="en-US" dirty="0"/>
              <a:t>")</a:t>
            </a:r>
          </a:p>
          <a:p>
            <a:pPr marL="457200" lvl="1" indent="0">
              <a:buNone/>
            </a:pPr>
            <a:r>
              <a:rPr lang="en-US" dirty="0"/>
              <a:t>)</a:t>
            </a:r>
          </a:p>
          <a:p>
            <a:r>
              <a:rPr lang="en-US" dirty="0" err="1"/>
              <a:t>df.pivot_table</a:t>
            </a:r>
            <a:r>
              <a:rPr lang="en-US" dirty="0"/>
              <a:t>(</a:t>
            </a:r>
          </a:p>
          <a:p>
            <a:pPr marL="457200" lvl="1" indent="0">
              <a:buNone/>
            </a:pPr>
            <a:r>
              <a:rPr lang="en-US" dirty="0"/>
              <a:t>    index="region",</a:t>
            </a:r>
          </a:p>
          <a:p>
            <a:pPr marL="457200" lvl="1" indent="0">
              <a:buNone/>
            </a:pPr>
            <a:r>
              <a:rPr lang="en-US" dirty="0"/>
              <a:t>    columns="category",</a:t>
            </a:r>
          </a:p>
          <a:p>
            <a:pPr marL="457200" lvl="1" indent="0">
              <a:buNone/>
            </a:pPr>
            <a:r>
              <a:rPr lang="en-US" dirty="0"/>
              <a:t>    values="</a:t>
            </a:r>
            <a:r>
              <a:rPr lang="en-US" dirty="0" err="1"/>
              <a:t>total_price</a:t>
            </a:r>
            <a:r>
              <a:rPr lang="en-US" dirty="0"/>
              <a:t>",</a:t>
            </a:r>
          </a:p>
          <a:p>
            <a:pPr marL="457200" lvl="1" indent="0">
              <a:buNone/>
            </a:pPr>
            <a:r>
              <a:rPr lang="en-US" dirty="0"/>
              <a:t>    </a:t>
            </a:r>
            <a:r>
              <a:rPr lang="en-US" dirty="0" err="1"/>
              <a:t>aggfunc</a:t>
            </a:r>
            <a:r>
              <a:rPr lang="en-US" dirty="0"/>
              <a:t>="sum"</a:t>
            </a:r>
          </a:p>
          <a:p>
            <a:pPr marL="0" indent="0">
              <a:buNone/>
            </a:pPr>
            <a:r>
              <a:rPr lang="en-US" dirty="0"/>
              <a:t>)</a:t>
            </a:r>
          </a:p>
          <a:p>
            <a:r>
              <a:rPr lang="en-US" dirty="0" err="1"/>
              <a:t>df.set_index</a:t>
            </a:r>
            <a:r>
              <a:rPr lang="en-US" dirty="0"/>
              <a:t>("</a:t>
            </a:r>
            <a:r>
              <a:rPr lang="en-US" dirty="0" err="1"/>
              <a:t>order_date</a:t>
            </a:r>
            <a:r>
              <a:rPr lang="en-US" dirty="0"/>
              <a:t>").resample("M")["</a:t>
            </a:r>
            <a:r>
              <a:rPr lang="en-US" dirty="0" err="1"/>
              <a:t>total_price</a:t>
            </a:r>
            <a:r>
              <a:rPr lang="en-US" dirty="0"/>
              <a:t>"].sum()</a:t>
            </a:r>
          </a:p>
          <a:p>
            <a:endParaRPr lang="en-US" dirty="0"/>
          </a:p>
          <a:p>
            <a:endParaRPr lang="en-IN" dirty="0"/>
          </a:p>
        </p:txBody>
      </p:sp>
    </p:spTree>
    <p:extLst>
      <p:ext uri="{BB962C8B-B14F-4D97-AF65-F5344CB8AC3E}">
        <p14:creationId xmlns:p14="http://schemas.microsoft.com/office/powerpoint/2010/main" val="705263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0A94EB-1B2D-26CD-9A52-F5EF852F883F}"/>
              </a:ext>
            </a:extLst>
          </p:cNvPr>
          <p:cNvSpPr>
            <a:spLocks noGrp="1"/>
          </p:cNvSpPr>
          <p:nvPr>
            <p:ph type="title"/>
          </p:nvPr>
        </p:nvSpPr>
        <p:spPr>
          <a:xfrm>
            <a:off x="4162567" y="818984"/>
            <a:ext cx="6714699" cy="3178689"/>
          </a:xfrm>
        </p:spPr>
        <p:txBody>
          <a:bodyPr vert="horz" lIns="91440" tIns="45720" rIns="91440" bIns="45720" rtlCol="0" anchor="b">
            <a:normAutofit/>
          </a:bodyPr>
          <a:lstStyle/>
          <a:p>
            <a:r>
              <a:rPr lang="en-US" sz="4800" kern="1200" dirty="0">
                <a:solidFill>
                  <a:srgbClr val="FFFFFF"/>
                </a:solidFill>
                <a:latin typeface="+mj-lt"/>
                <a:ea typeface="+mj-ea"/>
                <a:cs typeface="+mj-cs"/>
              </a:rPr>
              <a:t>Thank You</a:t>
            </a: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2170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1649</Words>
  <Application>Microsoft Office PowerPoint</Application>
  <PresentationFormat>Widescreen</PresentationFormat>
  <Paragraphs>145</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Scikit Learn</vt:lpstr>
      <vt:lpstr>Link for documentation</vt:lpstr>
      <vt:lpstr>Introduction</vt:lpstr>
      <vt:lpstr>PowerPoint Presentation</vt:lpstr>
      <vt:lpstr>PowerPoint Presentation</vt:lpstr>
      <vt:lpstr>PowerPoint Presentation</vt:lpstr>
      <vt:lpstr>PowerPoint Presentation</vt:lpstr>
      <vt:lpstr>PowerPoint Presentation</vt:lpstr>
      <vt:lpstr>Step 1: Loading a Dataset </vt:lpstr>
      <vt:lpstr>PowerPoint Presentation</vt:lpstr>
      <vt:lpstr>Step 2: Splitting the Dataset </vt:lpstr>
      <vt:lpstr>PowerPoint Presentation</vt:lpstr>
      <vt:lpstr>Step 3: Handling Categorical Data </vt:lpstr>
      <vt:lpstr>Step 4: Training the Model </vt:lpstr>
      <vt:lpstr>PowerPoint Presentation</vt:lpstr>
      <vt:lpstr>Step 5: Make Predictions </vt:lpstr>
      <vt:lpstr>Step 6: Evaluating Model Accuracy </vt:lpstr>
      <vt:lpstr>PowerPoint Presentation</vt:lpstr>
      <vt:lpstr>Features of Scikit-learn </vt:lpstr>
      <vt:lpstr>Benefits of using Scikit-learn</vt:lpstr>
      <vt:lpstr>Questions </vt:lpstr>
      <vt:lpstr>Answers</vt:lpstr>
      <vt:lpstr>Questions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3</cp:revision>
  <dcterms:created xsi:type="dcterms:W3CDTF">2025-12-04T04:04:37Z</dcterms:created>
  <dcterms:modified xsi:type="dcterms:W3CDTF">2026-03-04T15:12:27Z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f997de24-b6e8-44d5-b7c3-7c61a048827a</vt:lpwstr>
  </property>
  <property fmtid="{D5CDD505-2E9C-101B-9397-08002B2CF9AE}" pid="3" name="HCLClassification">
    <vt:lpwstr>HCL_Cla5s_1nt3rnal</vt:lpwstr>
  </property>
  <property fmtid="{D5CDD505-2E9C-101B-9397-08002B2CF9AE}" pid="4" name="HCLClassD6">
    <vt:lpwstr>False</vt:lpwstr>
  </property>
</Properties>
</file>