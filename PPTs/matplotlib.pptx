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09" r:id="rId3"/>
    <p:sldId id="306" r:id="rId4"/>
    <p:sldId id="290" r:id="rId5"/>
    <p:sldId id="307" r:id="rId6"/>
    <p:sldId id="318" r:id="rId7"/>
    <p:sldId id="320" r:id="rId8"/>
    <p:sldId id="310" r:id="rId9"/>
    <p:sldId id="319" r:id="rId10"/>
    <p:sldId id="294" r:id="rId11"/>
    <p:sldId id="308" r:id="rId12"/>
    <p:sldId id="292" r:id="rId13"/>
    <p:sldId id="291" r:id="rId14"/>
    <p:sldId id="295" r:id="rId15"/>
    <p:sldId id="296" r:id="rId16"/>
    <p:sldId id="297" r:id="rId17"/>
    <p:sldId id="312" r:id="rId18"/>
    <p:sldId id="313" r:id="rId19"/>
    <p:sldId id="298" r:id="rId20"/>
    <p:sldId id="300" r:id="rId21"/>
    <p:sldId id="315" r:id="rId22"/>
    <p:sldId id="314" r:id="rId23"/>
    <p:sldId id="301" r:id="rId24"/>
    <p:sldId id="302" r:id="rId25"/>
    <p:sldId id="304" r:id="rId26"/>
    <p:sldId id="316" r:id="rId27"/>
    <p:sldId id="31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3A8A"/>
    <a:srgbClr val="DC62E1"/>
    <a:srgbClr val="859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E28EE-BA29-4401-BD5A-7C6D018C3FE2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65537-8977-4085-8470-8324F5D5A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52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5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0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1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6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3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8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4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6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1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F79FE5D-4A83-4095-8235-CEA9DAF1EDC5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5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CE558-C476-4373-B415-9E6F3874D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0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7030A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graph-plotting-in-python-set-1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reference/api/pandas.DataFrame.plot.html" TargetMode="External"/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otly.com/python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3.2.1/api/pyplot_summary.html" TargetMode="External"/><Relationship Id="rId7" Type="http://schemas.openxmlformats.org/officeDocument/2006/relationships/hyperlink" Target="https://www.packtpub.com/big-data-and-business-intelligence/mastering-matplotlib" TargetMode="External"/><Relationship Id="rId2" Type="http://schemas.openxmlformats.org/officeDocument/2006/relationships/hyperlink" Target="https://matplotlib.org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3Fp1zn5ao2M&amp;feature=plcp" TargetMode="External"/><Relationship Id="rId5" Type="http://schemas.openxmlformats.org/officeDocument/2006/relationships/hyperlink" Target="https://matplotlib.org/gallery/index.html" TargetMode="External"/><Relationship Id="rId4" Type="http://schemas.openxmlformats.org/officeDocument/2006/relationships/hyperlink" Target="https://matplotlib.org/tutorials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19200"/>
            <a:ext cx="7391400" cy="2286000"/>
          </a:xfrm>
        </p:spPr>
        <p:txBody>
          <a:bodyPr>
            <a:normAutofit/>
          </a:bodyPr>
          <a:lstStyle/>
          <a:p>
            <a:r>
              <a:rPr lang="en-US" sz="4800" dirty="0"/>
              <a:t>Intro. to Data Visualization</a:t>
            </a:r>
            <a:br>
              <a:rPr lang="en-US" dirty="0"/>
            </a:br>
            <a:r>
              <a:rPr lang="en-US" sz="3600" b="0" i="1" dirty="0"/>
              <a:t>Simple Graphs in Python</a:t>
            </a:r>
            <a:br>
              <a:rPr lang="en-US" sz="3600" b="0" i="1" dirty="0"/>
            </a:br>
            <a:r>
              <a:rPr lang="en-US" sz="3600" b="0" i="1" dirty="0"/>
              <a:t>using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3500" y="3886200"/>
            <a:ext cx="6400800" cy="1752600"/>
          </a:xfrm>
        </p:spPr>
        <p:txBody>
          <a:bodyPr>
            <a:normAutofit fontScale="77500" lnSpcReduction="20000"/>
          </a:bodyPr>
          <a:lstStyle/>
          <a:p>
            <a:r>
              <a:rPr lang="en-US" sz="4100" dirty="0" err="1">
                <a:solidFill>
                  <a:srgbClr val="0070C0"/>
                </a:solidFill>
              </a:rPr>
              <a:t>matplotlib</a:t>
            </a:r>
            <a:r>
              <a:rPr lang="en-US" sz="4100" dirty="0">
                <a:solidFill>
                  <a:schemeClr val="tx1"/>
                </a:solidFill>
              </a:rPr>
              <a:t> and </a:t>
            </a:r>
            <a:r>
              <a:rPr lang="en-US" sz="4600" dirty="0" err="1">
                <a:solidFill>
                  <a:srgbClr val="0070C0"/>
                </a:solidFill>
              </a:rPr>
              <a:t>pyplot</a:t>
            </a:r>
            <a:endParaRPr lang="en-US" sz="4600" dirty="0">
              <a:solidFill>
                <a:srgbClr val="0070C0"/>
              </a:solidFill>
            </a:endParaRPr>
          </a:p>
          <a:p>
            <a:endParaRPr lang="en-US" sz="3600" dirty="0">
              <a:solidFill>
                <a:srgbClr val="0070C0"/>
              </a:solidFill>
            </a:endParaRPr>
          </a:p>
          <a:p>
            <a:br>
              <a:rPr lang="en-US" sz="3600" i="1" dirty="0">
                <a:solidFill>
                  <a:srgbClr val="C00000"/>
                </a:solidFill>
              </a:rPr>
            </a:br>
            <a:r>
              <a:rPr lang="en-US" sz="3600" i="1" dirty="0">
                <a:solidFill>
                  <a:srgbClr val="C00000"/>
                </a:solidFill>
              </a:rPr>
              <a:t>Dr. Rakhee Chhibber</a:t>
            </a:r>
            <a:endParaRPr 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41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1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What is data visualization?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43057"/>
            <a:ext cx="8686800" cy="363374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Data visualization </a:t>
            </a:r>
            <a:r>
              <a:rPr lang="en-US" sz="2400" dirty="0"/>
              <a:t>is the </a:t>
            </a:r>
            <a:r>
              <a:rPr lang="en-US" sz="2400" dirty="0">
                <a:solidFill>
                  <a:srgbClr val="FF0000"/>
                </a:solidFill>
              </a:rPr>
              <a:t>graphical representation </a:t>
            </a:r>
            <a:r>
              <a:rPr lang="en-US" sz="2400" dirty="0"/>
              <a:t>of information and data. </a:t>
            </a:r>
          </a:p>
          <a:p>
            <a:pPr lvl="1"/>
            <a:r>
              <a:rPr lang="en-US" sz="2000" dirty="0"/>
              <a:t>Can be achieved using visual elements like </a:t>
            </a:r>
            <a:r>
              <a:rPr lang="en-US" sz="2000" dirty="0">
                <a:solidFill>
                  <a:srgbClr val="FF0000"/>
                </a:solidFill>
              </a:rPr>
              <a:t>figures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charts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graphs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maps</a:t>
            </a:r>
            <a:r>
              <a:rPr lang="en-US" sz="2000" dirty="0"/>
              <a:t>, and more.</a:t>
            </a:r>
          </a:p>
          <a:p>
            <a:r>
              <a:rPr lang="en-US" sz="2400" dirty="0"/>
              <a:t>Data visualization </a:t>
            </a:r>
            <a:r>
              <a:rPr lang="en-US" sz="2400" dirty="0">
                <a:solidFill>
                  <a:srgbClr val="FF0000"/>
                </a:solidFill>
              </a:rPr>
              <a:t>tools</a:t>
            </a:r>
            <a:r>
              <a:rPr lang="en-US" sz="2400" dirty="0"/>
              <a:t> provide a way to present these figures and graphs.</a:t>
            </a:r>
          </a:p>
          <a:p>
            <a:r>
              <a:rPr lang="en-US" sz="2400" dirty="0"/>
              <a:t>Often, it is essential to </a:t>
            </a:r>
            <a:r>
              <a:rPr lang="en-US" sz="2400" dirty="0">
                <a:solidFill>
                  <a:srgbClr val="FF0000"/>
                </a:solidFill>
              </a:rPr>
              <a:t>analyze massive amounts </a:t>
            </a:r>
            <a:r>
              <a:rPr lang="en-US" sz="2400" dirty="0"/>
              <a:t>of information and make </a:t>
            </a:r>
            <a:r>
              <a:rPr lang="en-US" sz="2400" dirty="0">
                <a:solidFill>
                  <a:srgbClr val="FF0000"/>
                </a:solidFill>
              </a:rPr>
              <a:t>data-driven decisions</a:t>
            </a:r>
            <a:r>
              <a:rPr lang="en-US" sz="2400" dirty="0"/>
              <a:t>.</a:t>
            </a:r>
          </a:p>
          <a:p>
            <a:pPr lvl="1"/>
            <a:r>
              <a:rPr lang="en-US" sz="2000" dirty="0"/>
              <a:t>converting complex data into an easy to understand representation.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990600" y="4953000"/>
            <a:ext cx="7391400" cy="1600200"/>
            <a:chOff x="768096" y="3581401"/>
            <a:chExt cx="7977452" cy="200813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8096" y="3733800"/>
              <a:ext cx="2199030" cy="179920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9588" y="3581401"/>
              <a:ext cx="2454065" cy="200787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9850" y="3581401"/>
              <a:ext cx="2765698" cy="2008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0424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"/>
            <a:ext cx="8229600" cy="1143000"/>
          </a:xfrm>
        </p:spPr>
        <p:txBody>
          <a:bodyPr/>
          <a:lstStyle/>
          <a:p>
            <a:r>
              <a:rPr lang="en-US" dirty="0" err="1"/>
              <a:t>Matplotlib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>
                <a:solidFill>
                  <a:srgbClr val="0070C0"/>
                </a:solidFill>
              </a:rPr>
              <a:t>Matplotlib</a:t>
            </a:r>
            <a:r>
              <a:rPr lang="en-US" sz="2400" dirty="0"/>
              <a:t> is one of the most powerful tools for data visualization in Python.</a:t>
            </a:r>
          </a:p>
          <a:p>
            <a:r>
              <a:rPr lang="en-US" sz="2400" b="1" dirty="0" err="1">
                <a:solidFill>
                  <a:srgbClr val="0070C0"/>
                </a:solidFill>
              </a:rPr>
              <a:t>Matplotlib</a:t>
            </a:r>
            <a:r>
              <a:rPr lang="en-US" sz="2400" dirty="0"/>
              <a:t> is an incredibly powerful (and beautiful!) </a:t>
            </a:r>
            <a:r>
              <a:rPr lang="en-US" sz="2400" dirty="0">
                <a:solidFill>
                  <a:srgbClr val="FF0000"/>
                </a:solidFill>
              </a:rPr>
              <a:t>2-D</a:t>
            </a:r>
            <a:r>
              <a:rPr lang="en-US" sz="2400" dirty="0"/>
              <a:t> plotting library. </a:t>
            </a:r>
          </a:p>
          <a:p>
            <a:pPr lvl="1"/>
            <a:r>
              <a:rPr lang="en-US" sz="2000" dirty="0"/>
              <a:t>It is easy to use and provides a huge number of examples for tackling unique problems </a:t>
            </a:r>
          </a:p>
          <a:p>
            <a:r>
              <a:rPr lang="en-US" sz="2000" dirty="0"/>
              <a:t>In order to get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2000" dirty="0"/>
              <a:t> into your script, </a:t>
            </a:r>
          </a:p>
          <a:p>
            <a:pPr lvl="1"/>
            <a:r>
              <a:rPr lang="en-US" sz="1600" dirty="0"/>
              <a:t>first you need to import it, for example:</a:t>
            </a:r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import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However, if it is not installed, you may need to install it:</a:t>
            </a:r>
          </a:p>
          <a:p>
            <a:pPr lvl="1"/>
            <a:r>
              <a:rPr lang="en-US" sz="2000" dirty="0"/>
              <a:t>Easiest way to install </a:t>
            </a:r>
            <a:r>
              <a:rPr lang="en-US" sz="2000" b="1" dirty="0" err="1">
                <a:solidFill>
                  <a:srgbClr val="0070C0"/>
                </a:solidFill>
              </a:rPr>
              <a:t>matplotlib</a:t>
            </a:r>
            <a:r>
              <a:rPr lang="en-US" sz="2000" dirty="0"/>
              <a:t> is using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Type the following command in the command prompt (</a:t>
            </a:r>
            <a:r>
              <a:rPr lang="en-US" sz="2000" dirty="0" err="1"/>
              <a:t>cmd</a:t>
            </a:r>
            <a:r>
              <a:rPr lang="en-US" sz="2000" dirty="0"/>
              <a:t>) or your Linux shell; </a:t>
            </a:r>
          </a:p>
          <a:p>
            <a:pPr lvl="2"/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endParaRPr 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2000" i="1" dirty="0">
                <a:solidFill>
                  <a:srgbClr val="FF0000"/>
                </a:solidFill>
              </a:rPr>
              <a:t>Note</a:t>
            </a:r>
            <a:r>
              <a:rPr lang="en-US" sz="2000" i="1" dirty="0"/>
              <a:t> that you may need to run the above </a:t>
            </a:r>
            <a:r>
              <a:rPr lang="en-US" sz="2000" i="1" dirty="0" err="1"/>
              <a:t>cmd</a:t>
            </a:r>
            <a:r>
              <a:rPr lang="en-US" sz="2000" i="1" dirty="0"/>
              <a:t> as an administrator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4877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6383"/>
            <a:ext cx="8229600" cy="1143000"/>
          </a:xfrm>
        </p:spPr>
        <p:txBody>
          <a:bodyPr/>
          <a:lstStyle/>
          <a:p>
            <a:r>
              <a:rPr lang="en-US" dirty="0" err="1"/>
              <a:t>matplotlib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26865"/>
            <a:ext cx="8686800" cy="3505200"/>
          </a:xfrm>
        </p:spPr>
        <p:txBody>
          <a:bodyPr>
            <a:noAutofit/>
          </a:bodyPr>
          <a:lstStyle/>
          <a:p>
            <a:r>
              <a:rPr lang="en-US" sz="2000" dirty="0"/>
              <a:t>Strives to emulate MATLAB</a:t>
            </a:r>
          </a:p>
          <a:p>
            <a:pPr lvl="1"/>
            <a:r>
              <a:rPr 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1800" dirty="0"/>
              <a:t> is a collection of command style functions that make </a:t>
            </a:r>
            <a:r>
              <a:rPr 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1800" dirty="0"/>
              <a:t> work like </a:t>
            </a:r>
            <a:r>
              <a:rPr lang="en-US" sz="1800" b="1" dirty="0"/>
              <a:t>MATLAB</a:t>
            </a:r>
            <a:r>
              <a:rPr lang="en-US" sz="1800" dirty="0"/>
              <a:t>.</a:t>
            </a:r>
          </a:p>
          <a:p>
            <a:r>
              <a:rPr lang="en-US" sz="2000" dirty="0"/>
              <a:t>Each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pyplot</a:t>
            </a:r>
            <a:r>
              <a:rPr lang="en-US" sz="2000" dirty="0"/>
              <a:t> function makes some change to the figure:</a:t>
            </a:r>
          </a:p>
          <a:p>
            <a:pPr lvl="1"/>
            <a:r>
              <a:rPr lang="en-US" sz="2000" dirty="0"/>
              <a:t>e.g., </a:t>
            </a:r>
          </a:p>
          <a:p>
            <a:pPr lvl="2"/>
            <a:r>
              <a:rPr lang="en-US" sz="1800" dirty="0"/>
              <a:t>creates a figure, </a:t>
            </a:r>
          </a:p>
          <a:p>
            <a:pPr lvl="2"/>
            <a:r>
              <a:rPr lang="en-US" sz="1800" dirty="0"/>
              <a:t>creates a plotting area in the figure, </a:t>
            </a:r>
          </a:p>
          <a:p>
            <a:pPr lvl="2"/>
            <a:r>
              <a:rPr lang="en-US" sz="1800" dirty="0"/>
              <a:t>plots some lines in the plotting area, </a:t>
            </a:r>
          </a:p>
          <a:p>
            <a:pPr lvl="2"/>
            <a:r>
              <a:rPr lang="en-US" sz="1800" dirty="0"/>
              <a:t>decorates the plot with labels, etc.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Note</a:t>
            </a:r>
            <a:r>
              <a:rPr lang="en-US" sz="2000" dirty="0"/>
              <a:t> that </a:t>
            </a:r>
            <a:r>
              <a:rPr lang="en-US" sz="2000" b="1" u="sng" dirty="0"/>
              <a:t>various states</a:t>
            </a:r>
            <a:r>
              <a:rPr lang="en-US" sz="2000" b="1" dirty="0"/>
              <a:t> </a:t>
            </a:r>
            <a:r>
              <a:rPr lang="en-US" sz="2000" dirty="0"/>
              <a:t>are preserved </a:t>
            </a:r>
            <a:r>
              <a:rPr lang="en-US" sz="2000" b="1" u="sng" dirty="0"/>
              <a:t>across function calls</a:t>
            </a:r>
          </a:p>
          <a:p>
            <a:endParaRPr lang="en-US" sz="2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13360" y="4432065"/>
            <a:ext cx="8702040" cy="2316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Whenever you plot with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2000" dirty="0"/>
              <a:t>, the two main code lines should be considered:</a:t>
            </a:r>
          </a:p>
          <a:p>
            <a:pPr lvl="1"/>
            <a:r>
              <a:rPr lang="en-US" sz="1800" dirty="0"/>
              <a:t>Type of graph</a:t>
            </a:r>
          </a:p>
          <a:p>
            <a:pPr lvl="2"/>
            <a:r>
              <a:rPr lang="en-US" sz="1600" dirty="0"/>
              <a:t>this is where you </a:t>
            </a:r>
            <a:r>
              <a:rPr lang="en-US" sz="1600" dirty="0">
                <a:solidFill>
                  <a:srgbClr val="FF0000"/>
                </a:solidFill>
              </a:rPr>
              <a:t>define</a:t>
            </a:r>
            <a:r>
              <a:rPr lang="en-US" sz="1600" dirty="0"/>
              <a:t> a </a:t>
            </a:r>
            <a:r>
              <a:rPr lang="en-US" sz="1600" dirty="0">
                <a:solidFill>
                  <a:srgbClr val="FF0000"/>
                </a:solidFill>
              </a:rPr>
              <a:t>bar</a:t>
            </a:r>
            <a:r>
              <a:rPr lang="en-US" sz="1600" dirty="0"/>
              <a:t> chart, </a:t>
            </a:r>
            <a:r>
              <a:rPr lang="en-US" sz="1600" dirty="0">
                <a:solidFill>
                  <a:srgbClr val="FF0000"/>
                </a:solidFill>
              </a:rPr>
              <a:t>line</a:t>
            </a:r>
            <a:r>
              <a:rPr lang="en-US" sz="1600" dirty="0"/>
              <a:t> chart, </a:t>
            </a:r>
            <a:r>
              <a:rPr lang="en-US" sz="1600" dirty="0">
                <a:solidFill>
                  <a:srgbClr val="FF0000"/>
                </a:solidFill>
              </a:rPr>
              <a:t>etc</a:t>
            </a:r>
            <a:r>
              <a:rPr lang="en-US" sz="1600" dirty="0"/>
              <a:t>.</a:t>
            </a:r>
          </a:p>
          <a:p>
            <a:pPr lvl="1"/>
            <a:r>
              <a:rPr lang="en-US" sz="1800" dirty="0"/>
              <a:t>Show the graph</a:t>
            </a:r>
          </a:p>
          <a:p>
            <a:pPr lvl="2"/>
            <a:r>
              <a:rPr lang="en-US" sz="1600" dirty="0"/>
              <a:t>this is to </a:t>
            </a:r>
            <a:r>
              <a:rPr lang="en-US" sz="1600" dirty="0">
                <a:solidFill>
                  <a:srgbClr val="FF0000"/>
                </a:solidFill>
              </a:rPr>
              <a:t>display</a:t>
            </a:r>
            <a:r>
              <a:rPr lang="en-US" sz="1600" dirty="0"/>
              <a:t> the graph</a:t>
            </a:r>
          </a:p>
        </p:txBody>
      </p:sp>
    </p:spTree>
    <p:extLst>
      <p:ext uri="{BB962C8B-B14F-4D97-AF65-F5344CB8AC3E}">
        <p14:creationId xmlns:p14="http://schemas.microsoft.com/office/powerpoint/2010/main" val="383887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591" y="39288"/>
            <a:ext cx="8229600" cy="877824"/>
          </a:xfrm>
        </p:spPr>
        <p:txBody>
          <a:bodyPr>
            <a:noAutofit/>
          </a:bodyPr>
          <a:lstStyle/>
          <a:p>
            <a:r>
              <a:rPr lang="en-US" sz="5400" dirty="0"/>
              <a:t>E.g. </a:t>
            </a:r>
            <a:r>
              <a:rPr lang="en-US" sz="5400" dirty="0" err="1"/>
              <a:t>Matplotlib</a:t>
            </a:r>
            <a:endParaRPr lang="en-US" sz="5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8" y="2724285"/>
            <a:ext cx="2895600" cy="21816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325" y="917112"/>
            <a:ext cx="2379339" cy="1689676"/>
          </a:xfrm>
          <a:prstGeom prst="rect">
            <a:avLst/>
          </a:prstGeom>
        </p:spPr>
      </p:pic>
      <p:pic>
        <p:nvPicPr>
          <p:cNvPr id="6" name="Picture 2" descr="mp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349" y="4893764"/>
            <a:ext cx="2522846" cy="178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p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094" y="4845747"/>
            <a:ext cx="2451652" cy="178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p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976" y="2693805"/>
            <a:ext cx="2961640" cy="211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mp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95" y="2827787"/>
            <a:ext cx="2370736" cy="172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mp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4" y="4883355"/>
            <a:ext cx="2558808" cy="182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67494" y="917113"/>
            <a:ext cx="63758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2400" dirty="0"/>
              <a:t> allows you to make easy things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can generate </a:t>
            </a:r>
            <a:r>
              <a:rPr lang="en-US" sz="2400" b="1" dirty="0"/>
              <a:t>plots</a:t>
            </a:r>
            <a:r>
              <a:rPr lang="en-US" sz="2400" dirty="0"/>
              <a:t>, </a:t>
            </a:r>
            <a:r>
              <a:rPr lang="en-US" sz="2400" b="1" dirty="0"/>
              <a:t>histograms</a:t>
            </a:r>
            <a:r>
              <a:rPr lang="en-US" sz="2400" dirty="0"/>
              <a:t>, </a:t>
            </a:r>
            <a:r>
              <a:rPr lang="en-US" sz="2400" b="1" dirty="0"/>
              <a:t>power spectra</a:t>
            </a:r>
            <a:r>
              <a:rPr lang="en-US" sz="2400" dirty="0"/>
              <a:t>, </a:t>
            </a:r>
            <a:r>
              <a:rPr lang="en-US" sz="2400" b="1" dirty="0"/>
              <a:t>bar charts</a:t>
            </a:r>
            <a:r>
              <a:rPr lang="en-US" sz="2400" dirty="0"/>
              <a:t>, </a:t>
            </a:r>
            <a:r>
              <a:rPr lang="en-US" sz="2400" b="1" dirty="0" err="1"/>
              <a:t>errorcharts</a:t>
            </a:r>
            <a:r>
              <a:rPr lang="en-US" sz="2400" dirty="0"/>
              <a:t>, </a:t>
            </a:r>
            <a:r>
              <a:rPr lang="en-US" sz="2400" b="1" dirty="0"/>
              <a:t>scatterplots</a:t>
            </a:r>
            <a:r>
              <a:rPr lang="en-US" sz="2400" dirty="0"/>
              <a:t>, etc., with just a few lines of code.</a:t>
            </a:r>
          </a:p>
        </p:txBody>
      </p:sp>
    </p:spTree>
    <p:extLst>
      <p:ext uri="{BB962C8B-B14F-4D97-AF65-F5344CB8AC3E}">
        <p14:creationId xmlns:p14="http://schemas.microsoft.com/office/powerpoint/2010/main" val="256423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1D18-356F-E564-C869-7E802DBB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Components or Parts of Matplotlib Figure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13D6DD18-2173-67C4-DEAA-C81502C1C2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42"/>
          <a:stretch>
            <a:fillRect/>
          </a:stretch>
        </p:blipFill>
        <p:spPr bwMode="auto">
          <a:xfrm>
            <a:off x="457200" y="1524000"/>
            <a:ext cx="8382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65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0178-FF4B-0CF7-FD6D-C74D5D46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 Types of Plots in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9A758-2492-CCC1-07D1-AE603BF3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1. Line Graph</a:t>
            </a:r>
          </a:p>
          <a:p>
            <a:pPr fontAlgn="base"/>
            <a:r>
              <a:rPr lang="en-US" dirty="0"/>
              <a:t>2. Bar Chart</a:t>
            </a:r>
          </a:p>
          <a:p>
            <a:pPr fontAlgn="base"/>
            <a:r>
              <a:rPr lang="en-US" dirty="0"/>
              <a:t>3. Histogram</a:t>
            </a:r>
          </a:p>
          <a:p>
            <a:pPr fontAlgn="base"/>
            <a:r>
              <a:rPr lang="en-US" dirty="0"/>
              <a:t>4. Scatter Plot</a:t>
            </a:r>
          </a:p>
          <a:p>
            <a:pPr fontAlgn="base"/>
            <a:r>
              <a:rPr lang="en-US" dirty="0"/>
              <a:t>5. Pie Chart</a:t>
            </a:r>
          </a:p>
          <a:p>
            <a:pPr fontAlgn="base"/>
            <a:r>
              <a:rPr lang="en-US" dirty="0"/>
              <a:t>6. 3D Plot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2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Line Graphs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3400" y="990600"/>
            <a:ext cx="6172200" cy="3447098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  <a:effectLst/>
        </p:spPr>
        <p:txBody>
          <a:bodyPr vert="horz" wrap="square" lIns="0" tIns="9144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b="1" dirty="0">
                <a:solidFill>
                  <a:srgbClr val="A23A8A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matplotlib.pyplot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plt</a:t>
            </a:r>
            <a:endParaRPr lang="en-US" b="1" dirty="0">
              <a:latin typeface="Courier New"/>
              <a:cs typeface="Courier New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#create data for plotting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x_values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[0, 1, 2, 3, 4, 5 ]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y_values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[0, 1, 4, 9, 16,25]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#the default graph style for plot is a line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x_values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y_values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#display the graph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1" name="Picture 3" descr="https://miro.medium.com/max/368/1*jO_SGH86FknOlNwwNuD9d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443794"/>
            <a:ext cx="35052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23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AEC79-B03F-8994-5A2B-94AB75607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"/>
            <a:ext cx="6935168" cy="4324954"/>
          </a:xfrm>
          <a:prstGeom prst="rect">
            <a:avLst/>
          </a:prstGeom>
        </p:spPr>
      </p:pic>
      <p:pic>
        <p:nvPicPr>
          <p:cNvPr id="2050" name="Picture 2" descr="Screenshot-2024-12-05-124934">
            <a:extLst>
              <a:ext uri="{FF2B5EF4-FFF2-40B4-BE49-F238E27FC236}">
                <a16:creationId xmlns:a16="http://schemas.microsoft.com/office/drawing/2014/main" id="{717A3DC1-96C9-50B2-A7A8-5E24BF8C2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140" y="3260931"/>
            <a:ext cx="4434840" cy="357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9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87472"/>
          </a:xfrm>
        </p:spPr>
        <p:txBody>
          <a:bodyPr>
            <a:normAutofit/>
          </a:bodyPr>
          <a:lstStyle/>
          <a:p>
            <a:r>
              <a:rPr lang="en-US" dirty="0"/>
              <a:t>More on Line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4343400" cy="460181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Note</a:t>
            </a:r>
            <a:r>
              <a:rPr lang="en-US" sz="2000" dirty="0"/>
              <a:t>: if you provide a single list or array to the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plot()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/>
              <a:t>command, </a:t>
            </a:r>
          </a:p>
          <a:p>
            <a:pPr lvl="1"/>
            <a:endParaRPr lang="en-US" sz="1000" dirty="0"/>
          </a:p>
          <a:p>
            <a:pPr lvl="1"/>
            <a:r>
              <a:rPr lang="en-US" sz="1600" dirty="0"/>
              <a:t>then 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</a:t>
            </a:r>
            <a:r>
              <a:rPr lang="en-US" sz="1600" dirty="0"/>
              <a:t> assumes it is a sequence of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values</a:t>
            </a:r>
            <a:r>
              <a:rPr lang="en-US" sz="1600" dirty="0"/>
              <a:t>, and </a:t>
            </a:r>
          </a:p>
          <a:p>
            <a:pPr lvl="1"/>
            <a:endParaRPr lang="en-US" sz="1000" dirty="0"/>
          </a:p>
          <a:p>
            <a:pPr lvl="1"/>
            <a:r>
              <a:rPr lang="en-US" sz="1600" dirty="0"/>
              <a:t>automatically generates the</a:t>
            </a:r>
            <a:br>
              <a:rPr lang="en-US" sz="1600" dirty="0"/>
            </a:b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values </a:t>
            </a:r>
            <a:r>
              <a:rPr lang="en-US" sz="1600" dirty="0"/>
              <a:t>for you. </a:t>
            </a:r>
          </a:p>
          <a:p>
            <a:endParaRPr lang="en-US" sz="1050" dirty="0"/>
          </a:p>
          <a:p>
            <a:r>
              <a:rPr lang="en-US" sz="2000" dirty="0"/>
              <a:t>Since python ranges start with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dirty="0"/>
              <a:t>,</a:t>
            </a:r>
            <a:br>
              <a:rPr lang="en-US" sz="2000" dirty="0"/>
            </a:br>
            <a:r>
              <a:rPr lang="en-US" sz="2000" dirty="0"/>
              <a:t>the default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000" dirty="0"/>
              <a:t> vector has the same length as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000" dirty="0"/>
              <a:t> but starts with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dirty="0"/>
              <a:t>. </a:t>
            </a:r>
          </a:p>
          <a:p>
            <a:endParaRPr lang="en-US" sz="1000" dirty="0"/>
          </a:p>
          <a:p>
            <a:pPr lvl="1"/>
            <a:r>
              <a:rPr lang="en-US" sz="1600" dirty="0"/>
              <a:t>Hence the 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/>
              <a:t> data are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[0, 1, 2, 3]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48200" y="1599854"/>
            <a:ext cx="4038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([1, 2, 3, 4])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 numbers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038273"/>
            <a:ext cx="43942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8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9" y="76200"/>
            <a:ext cx="8229600" cy="1143000"/>
          </a:xfrm>
        </p:spPr>
        <p:txBody>
          <a:bodyPr/>
          <a:lstStyle/>
          <a:p>
            <a:r>
              <a:rPr lang="en-US" dirty="0" err="1"/>
              <a:t>pyplot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49069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text()  </a:t>
            </a:r>
            <a:r>
              <a:rPr lang="en-US" sz="2400" dirty="0"/>
              <a:t>: </a:t>
            </a:r>
            <a:r>
              <a:rPr lang="en-US" sz="2400" u="sng" dirty="0"/>
              <a:t>adds</a:t>
            </a:r>
            <a:r>
              <a:rPr lang="en-US" sz="2400" dirty="0"/>
              <a:t> text in an </a:t>
            </a:r>
            <a:r>
              <a:rPr lang="en-US" sz="2400" dirty="0">
                <a:solidFill>
                  <a:srgbClr val="FF0000"/>
                </a:solidFill>
              </a:rPr>
              <a:t>arbitrary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location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/>
              <a:t>: </a:t>
            </a:r>
            <a:r>
              <a:rPr lang="en-US" sz="2400" u="sng" dirty="0"/>
              <a:t>adds</a:t>
            </a:r>
            <a:r>
              <a:rPr lang="en-US" sz="2400" dirty="0"/>
              <a:t> text to the </a:t>
            </a:r>
            <a:r>
              <a:rPr lang="en-US" sz="2400" dirty="0">
                <a:solidFill>
                  <a:srgbClr val="FF0000"/>
                </a:solidFill>
              </a:rPr>
              <a:t>x-axis</a:t>
            </a:r>
            <a:endParaRPr lang="en-US" sz="2400" dirty="0"/>
          </a:p>
          <a:p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/>
              <a:t>: </a:t>
            </a:r>
            <a:r>
              <a:rPr lang="en-US" sz="2400" u="sng" dirty="0"/>
              <a:t>adds</a:t>
            </a:r>
            <a:r>
              <a:rPr lang="en-US" sz="2400" dirty="0"/>
              <a:t> text to the </a:t>
            </a:r>
            <a:r>
              <a:rPr lang="en-US" sz="2400" dirty="0">
                <a:solidFill>
                  <a:srgbClr val="FF0000"/>
                </a:solidFill>
              </a:rPr>
              <a:t>y-axis</a:t>
            </a:r>
            <a:endParaRPr lang="en-US" sz="2400" dirty="0"/>
          </a:p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title() </a:t>
            </a:r>
            <a:r>
              <a:rPr lang="en-US" sz="2400" dirty="0"/>
              <a:t>: </a:t>
            </a:r>
            <a:r>
              <a:rPr lang="en-US" sz="2400" u="sng" dirty="0"/>
              <a:t>adds</a:t>
            </a:r>
            <a:r>
              <a:rPr lang="en-US" sz="2400" dirty="0"/>
              <a:t> title to the </a:t>
            </a:r>
            <a:r>
              <a:rPr lang="en-US" sz="2400" dirty="0">
                <a:solidFill>
                  <a:srgbClr val="FF0000"/>
                </a:solidFill>
              </a:rPr>
              <a:t>plot</a:t>
            </a:r>
            <a:endParaRPr lang="en-US" sz="2400" dirty="0"/>
          </a:p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clear() </a:t>
            </a:r>
            <a:r>
              <a:rPr lang="en-US" sz="2400" dirty="0"/>
              <a:t>: </a:t>
            </a:r>
            <a:r>
              <a:rPr lang="en-US" sz="2400" u="sng" dirty="0"/>
              <a:t>removes</a:t>
            </a:r>
            <a:r>
              <a:rPr lang="en-US" sz="2400" dirty="0"/>
              <a:t> all plots from the axes. 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savefig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/>
              <a:t>: saves your figure to a file</a:t>
            </a:r>
          </a:p>
          <a:p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legend() </a:t>
            </a:r>
            <a:r>
              <a:rPr lang="en-US" sz="2400" dirty="0"/>
              <a:t>: shows a legend on the plot </a:t>
            </a:r>
          </a:p>
          <a:p>
            <a:pPr marL="0" indent="0">
              <a:buNone/>
            </a:pPr>
            <a:r>
              <a:rPr lang="en-US" sz="2400" dirty="0"/>
              <a:t>All methods are available on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pyplot</a:t>
            </a:r>
            <a:r>
              <a:rPr lang="en-US" sz="2400" dirty="0"/>
              <a:t> and on the axes instance generally. </a:t>
            </a:r>
          </a:p>
        </p:txBody>
      </p:sp>
    </p:spTree>
    <p:extLst>
      <p:ext uri="{BB962C8B-B14F-4D97-AF65-F5344CB8AC3E}">
        <p14:creationId xmlns:p14="http://schemas.microsoft.com/office/powerpoint/2010/main" val="3176976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156" y="381000"/>
            <a:ext cx="8732644" cy="6324600"/>
          </a:xfr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sz="2000" b="1" dirty="0">
                <a:solidFill>
                  <a:srgbClr val="A23A8A"/>
                </a:solidFill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matplotlib.pyplot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plt</a:t>
            </a:r>
            <a:endParaRPr lang="en-US" sz="20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b="1" dirty="0">
                <a:latin typeface="Courier New"/>
                <a:cs typeface="Courier New"/>
              </a:rPr>
              <a:t>y1 =[]</a:t>
            </a:r>
          </a:p>
          <a:p>
            <a:pPr marL="0" indent="0">
              <a:buNone/>
            </a:pPr>
            <a:r>
              <a:rPr lang="en-US" sz="2000" b="1" dirty="0">
                <a:latin typeface="Courier New"/>
                <a:cs typeface="Courier New"/>
              </a:rPr>
              <a:t>y2 =[]</a:t>
            </a:r>
          </a:p>
          <a:p>
            <a:pPr marL="0" indent="0">
              <a:buNone/>
            </a:pPr>
            <a:r>
              <a:rPr lang="en-US" sz="2000" b="1" dirty="0">
                <a:latin typeface="Courier New"/>
                <a:cs typeface="Courier New"/>
              </a:rPr>
              <a:t>x = range(-100,100,10)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859040"/>
                </a:solidFill>
                <a:latin typeface="Courier New"/>
                <a:cs typeface="Courier New"/>
              </a:rPr>
              <a:t>for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 err="1">
                <a:latin typeface="Courier New"/>
                <a:cs typeface="Courier New"/>
              </a:rPr>
              <a:t>i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859040"/>
                </a:solidFill>
                <a:latin typeface="Courier New"/>
                <a:cs typeface="Courier New"/>
              </a:rPr>
              <a:t>in</a:t>
            </a:r>
            <a:r>
              <a:rPr lang="en-US" sz="2000" b="1" dirty="0">
                <a:latin typeface="Courier New"/>
                <a:cs typeface="Courier New"/>
              </a:rPr>
              <a:t> x: y1.append(</a:t>
            </a:r>
            <a:r>
              <a:rPr lang="en-US" sz="2000" b="1" dirty="0" err="1">
                <a:latin typeface="Courier New"/>
                <a:cs typeface="Courier New"/>
              </a:rPr>
              <a:t>i</a:t>
            </a:r>
            <a:r>
              <a:rPr lang="en-US" sz="2000" b="1" dirty="0">
                <a:latin typeface="Courier New"/>
                <a:cs typeface="Courier New"/>
              </a:rPr>
              <a:t>**2)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859040"/>
                </a:solidFill>
                <a:latin typeface="Courier New"/>
                <a:cs typeface="Courier New"/>
              </a:rPr>
              <a:t>for</a:t>
            </a:r>
            <a:r>
              <a:rPr lang="en-US" sz="2000" b="1" dirty="0">
                <a:latin typeface="Courier New"/>
                <a:cs typeface="Courier New"/>
              </a:rPr>
              <a:t> i </a:t>
            </a:r>
            <a:r>
              <a:rPr lang="en-US" sz="2000" b="1" dirty="0">
                <a:solidFill>
                  <a:srgbClr val="859040"/>
                </a:solidFill>
                <a:latin typeface="Courier New"/>
                <a:cs typeface="Courier New"/>
              </a:rPr>
              <a:t>in</a:t>
            </a:r>
            <a:r>
              <a:rPr lang="en-US" sz="2000" b="1" dirty="0">
                <a:latin typeface="Courier New"/>
                <a:cs typeface="Courier New"/>
              </a:rPr>
              <a:t> x: y2.append(-i**2) </a:t>
            </a:r>
          </a:p>
          <a:p>
            <a:pPr marL="0" indent="0">
              <a:buNone/>
            </a:pPr>
            <a:endParaRPr lang="en-US" sz="16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plt.plot</a:t>
            </a:r>
            <a:r>
              <a:rPr lang="en-US" sz="2000" b="1" dirty="0">
                <a:latin typeface="Courier New"/>
                <a:cs typeface="Courier New"/>
              </a:rPr>
              <a:t>(x, y1)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plt.plot</a:t>
            </a:r>
            <a:r>
              <a:rPr lang="en-US" sz="2000" b="1" dirty="0">
                <a:latin typeface="Courier New"/>
                <a:cs typeface="Courier New"/>
              </a:rPr>
              <a:t>(x, y2)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plt.xlabel</a:t>
            </a:r>
            <a:r>
              <a:rPr lang="en-US" sz="2000" b="1" dirty="0">
                <a:latin typeface="Courier New"/>
                <a:cs typeface="Courier New"/>
              </a:rPr>
              <a:t>("</a:t>
            </a:r>
            <a:r>
              <a:rPr lang="en-US" sz="2000" b="1" dirty="0">
                <a:solidFill>
                  <a:srgbClr val="C00000"/>
                </a:solidFill>
                <a:latin typeface="Courier New"/>
                <a:cs typeface="Courier New"/>
              </a:rPr>
              <a:t>x</a:t>
            </a:r>
            <a:r>
              <a:rPr lang="en-US" sz="2000" b="1" dirty="0">
                <a:latin typeface="Courier New"/>
                <a:cs typeface="Courier New"/>
              </a:rPr>
              <a:t>")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plt.ylabel</a:t>
            </a:r>
            <a:r>
              <a:rPr lang="en-US" sz="2000" b="1" dirty="0">
                <a:latin typeface="Courier New"/>
                <a:cs typeface="Courier New"/>
              </a:rPr>
              <a:t>("</a:t>
            </a:r>
            <a:r>
              <a:rPr lang="en-US" sz="2000" b="1" dirty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r>
              <a:rPr lang="en-US" sz="2000" b="1" dirty="0">
                <a:latin typeface="Courier New"/>
                <a:cs typeface="Courier New"/>
              </a:rPr>
              <a:t>")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plt.ylim</a:t>
            </a:r>
            <a:r>
              <a:rPr lang="en-US" sz="2000" b="1" dirty="0">
                <a:latin typeface="Courier New"/>
                <a:cs typeface="Courier New"/>
              </a:rPr>
              <a:t>(-2000, 2000)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plt.axhline</a:t>
            </a:r>
            <a:r>
              <a:rPr lang="en-US" sz="2000" b="1" dirty="0">
                <a:latin typeface="Courier New"/>
                <a:cs typeface="Courier New"/>
              </a:rPr>
              <a:t>(0)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# horizontal line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plt.axvline</a:t>
            </a:r>
            <a:r>
              <a:rPr lang="en-US" sz="2000" b="1" dirty="0">
                <a:latin typeface="Courier New"/>
                <a:cs typeface="Courier New"/>
              </a:rPr>
              <a:t>(0)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# vertical line</a:t>
            </a:r>
            <a:endParaRPr lang="en-US" sz="2000" b="1" dirty="0"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0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plt.savefig</a:t>
            </a:r>
            <a:r>
              <a:rPr lang="en-US" sz="2000" b="1" dirty="0">
                <a:latin typeface="Courier New"/>
                <a:cs typeface="Courier New"/>
              </a:rPr>
              <a:t>("</a:t>
            </a:r>
            <a:r>
              <a:rPr lang="en-US" sz="2000" b="1" dirty="0">
                <a:solidFill>
                  <a:srgbClr val="C00000"/>
                </a:solidFill>
                <a:latin typeface="Courier New"/>
                <a:cs typeface="Courier New"/>
              </a:rPr>
              <a:t>quad.png</a:t>
            </a:r>
            <a:r>
              <a:rPr lang="en-US" sz="2000" b="1" dirty="0">
                <a:latin typeface="Courier New"/>
                <a:cs typeface="Courier New"/>
              </a:rPr>
              <a:t>")</a:t>
            </a:r>
          </a:p>
          <a:p>
            <a:pPr marL="0" indent="0">
              <a:buNone/>
            </a:pPr>
            <a:endParaRPr lang="en-US" sz="700" b="1" dirty="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b="1" dirty="0" err="1">
                <a:latin typeface="Courier New"/>
                <a:cs typeface="Courier New"/>
              </a:rPr>
              <a:t>plt.show</a:t>
            </a:r>
            <a:r>
              <a:rPr lang="en-US" sz="2000" b="1" dirty="0">
                <a:latin typeface="Courier New"/>
                <a:cs typeface="Courier New"/>
              </a:rPr>
              <a:t>()</a:t>
            </a:r>
          </a:p>
          <a:p>
            <a:pPr marL="0" indent="0">
              <a:buNone/>
            </a:pPr>
            <a:endParaRPr lang="en-US" sz="2000" b="1" dirty="0">
              <a:latin typeface="Courier New"/>
              <a:cs typeface="Courier New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486399" y="2971800"/>
            <a:ext cx="3505201" cy="3657600"/>
            <a:chOff x="5486399" y="2971800"/>
            <a:chExt cx="3505201" cy="3657600"/>
          </a:xfrm>
        </p:grpSpPr>
        <p:sp>
          <p:nvSpPr>
            <p:cNvPr id="4" name="TextBox 3"/>
            <p:cNvSpPr txBox="1"/>
            <p:nvPr/>
          </p:nvSpPr>
          <p:spPr>
            <a:xfrm>
              <a:off x="6019800" y="3893824"/>
              <a:ext cx="22098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</a:rPr>
                <a:t>Incrementally modify the figure.</a:t>
              </a:r>
            </a:p>
          </p:txBody>
        </p:sp>
        <p:sp>
          <p:nvSpPr>
            <p:cNvPr id="5" name="Right Brace 4"/>
            <p:cNvSpPr/>
            <p:nvPr/>
          </p:nvSpPr>
          <p:spPr>
            <a:xfrm>
              <a:off x="5486399" y="2971800"/>
              <a:ext cx="510823" cy="2514600"/>
            </a:xfrm>
            <a:prstGeom prst="righ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19800" y="6229290"/>
              <a:ext cx="2971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</a:rPr>
                <a:t>Show it on the screen</a:t>
              </a:r>
            </a:p>
          </p:txBody>
        </p:sp>
        <p:sp>
          <p:nvSpPr>
            <p:cNvPr id="7" name="Right Brace 6"/>
            <p:cNvSpPr/>
            <p:nvPr/>
          </p:nvSpPr>
          <p:spPr>
            <a:xfrm>
              <a:off x="5486400" y="6280089"/>
              <a:ext cx="457200" cy="304800"/>
            </a:xfrm>
            <a:prstGeom prst="righ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Brace 7"/>
            <p:cNvSpPr/>
            <p:nvPr/>
          </p:nvSpPr>
          <p:spPr>
            <a:xfrm>
              <a:off x="5486400" y="5910379"/>
              <a:ext cx="457200" cy="304800"/>
            </a:xfrm>
            <a:prstGeom prst="righ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97223" y="5837000"/>
              <a:ext cx="2895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</a:rPr>
                <a:t>Save your figure to a file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810" y="550813"/>
            <a:ext cx="3067034" cy="230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20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81000" y="1676400"/>
            <a:ext cx="5257800" cy="2885420"/>
            <a:chOff x="838200" y="1676400"/>
            <a:chExt cx="6096000" cy="2885420"/>
          </a:xfrm>
        </p:grpSpPr>
        <p:sp>
          <p:nvSpPr>
            <p:cNvPr id="4" name="Rectangle 3"/>
            <p:cNvSpPr/>
            <p:nvPr/>
          </p:nvSpPr>
          <p:spPr>
            <a:xfrm>
              <a:off x="838200" y="1676400"/>
              <a:ext cx="6096000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import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matplotlib.pyplot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as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plt</a:t>
              </a:r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x = [1, 2, 3, 4]</a:t>
              </a:r>
            </a:p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y = [1, 4, 9, 16]</a:t>
              </a:r>
            </a:p>
            <a:p>
              <a:endParaRPr lang="en-US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plt.plot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(x, y)</a:t>
              </a:r>
            </a:p>
            <a:p>
              <a:endParaRPr lang="en-US" dirty="0"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600" y="3429004"/>
              <a:ext cx="4267200" cy="1132816"/>
              <a:chOff x="990600" y="3429004"/>
              <a:chExt cx="4267200" cy="1132816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752600" y="4038600"/>
                <a:ext cx="350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no return value?</a:t>
                </a:r>
              </a:p>
            </p:txBody>
          </p:sp>
          <p:cxnSp>
            <p:nvCxnSpPr>
              <p:cNvPr id="7" name="Curved Connector 6"/>
              <p:cNvCxnSpPr>
                <a:stCxn id="5" idx="1"/>
              </p:cNvCxnSpPr>
              <p:nvPr/>
            </p:nvCxnSpPr>
            <p:spPr>
              <a:xfrm rot="10800000">
                <a:off x="990600" y="3429004"/>
                <a:ext cx="762000" cy="871206"/>
              </a:xfrm>
              <a:prstGeom prst="curvedConnector2">
                <a:avLst/>
              </a:prstGeom>
              <a:ln>
                <a:solidFill>
                  <a:schemeClr val="accent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TextBox 7"/>
          <p:cNvSpPr txBox="1"/>
          <p:nvPr/>
        </p:nvSpPr>
        <p:spPr>
          <a:xfrm>
            <a:off x="381000" y="4876800"/>
            <a:ext cx="8610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/>
              <a:t>We are operating on a “hidden” variable representing the figure.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This is a terrible, terrible trick.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Its only purpose is to pander to MATLAB users.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I’ll show you how this works in the next lecture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48968"/>
            <a:ext cx="3657600" cy="2743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782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p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4631911" cy="3286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3272" y="12192"/>
            <a:ext cx="4267200" cy="1143000"/>
          </a:xfrm>
        </p:spPr>
        <p:txBody>
          <a:bodyPr/>
          <a:lstStyle/>
          <a:p>
            <a:r>
              <a:rPr lang="en-US" dirty="0"/>
              <a:t>Simple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643890"/>
            <a:ext cx="4462272" cy="5909310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importing the required module 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x axis values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[1,2,3] 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corresponding y axis values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[2,4,1]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the points  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(x, y)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naming the x axis 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- axis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naming the y axis 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- axis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giving a title to my graph 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 first graph!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to show the plot 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37591" y="4728174"/>
            <a:ext cx="4267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x-axis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corresponding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y-axis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as lists.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them on canvas using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.plot()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name to x-axis and y-axis using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xlabel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ylabel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a title to your plot using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.title()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to view your plot, we use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.show()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</a:p>
        </p:txBody>
      </p:sp>
    </p:spTree>
    <p:extLst>
      <p:ext uri="{BB962C8B-B14F-4D97-AF65-F5344CB8AC3E}">
        <p14:creationId xmlns:p14="http://schemas.microsoft.com/office/powerpoint/2010/main" val="2615543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3272" y="12192"/>
            <a:ext cx="4267200" cy="1143000"/>
          </a:xfrm>
        </p:spPr>
        <p:txBody>
          <a:bodyPr/>
          <a:lstStyle/>
          <a:p>
            <a:r>
              <a:rPr lang="en-US" dirty="0"/>
              <a:t>Simple 2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154865"/>
            <a:ext cx="5029200" cy="6678751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line 1 points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x1 = [1,2,3]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y1 = [2,4,1]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the line 1 points 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(x1, y1, label="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1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line 2 points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x2 = [1,2,3]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y2 = [4,1,3]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the line 2 points 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(x2, y2, label = "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2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naming the x axis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- axis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naming the y axis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- axis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giving a title to my graph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Two lines on same graph!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 a legend on the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plt.legend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to show the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5400" y="4419600"/>
            <a:ext cx="3899391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Here, we plot two lines on same graph. We differentiate between them by giving them a name(label) which is passed as an argument of 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.plot()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function.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small rectangular box giving information about type of line and its color is called legend. We can add a legend to our plot using </a:t>
            </a:r>
            <a:r>
              <a:rPr lang="en-US" sz="14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.legend()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function.</a:t>
            </a:r>
          </a:p>
        </p:txBody>
      </p:sp>
      <p:pic>
        <p:nvPicPr>
          <p:cNvPr id="4098" name="Picture 2" descr="mp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371" y="1093542"/>
            <a:ext cx="370522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39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" y="185345"/>
            <a:ext cx="8991600" cy="6247864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x axis values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[1,2,3,4,5,6]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corresponding y axis values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[2,4,1,5,2,6]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the points 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(x, y, color='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dashed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linewidth = 3,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marker='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markerfacecolor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markersize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=12)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setting x and y axis range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plt.ylim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(1,8)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plt.xlim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(1,8)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naming the x axis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- axis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naming the y axis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- axis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giving a title to my graph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 cool customizations!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to show the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pic>
        <p:nvPicPr>
          <p:cNvPr id="5124" name="Picture 4" descr="mp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309277"/>
            <a:ext cx="36195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5820" y="381000"/>
            <a:ext cx="4267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Customization of Plots</a:t>
            </a:r>
          </a:p>
        </p:txBody>
      </p:sp>
    </p:spTree>
    <p:extLst>
      <p:ext uri="{BB962C8B-B14F-4D97-AF65-F5344CB8AC3E}">
        <p14:creationId xmlns:p14="http://schemas.microsoft.com/office/powerpoint/2010/main" val="303873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/>
              <a:t>Bar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867400"/>
            <a:ext cx="7658100" cy="761999"/>
          </a:xfrm>
        </p:spPr>
        <p:txBody>
          <a:bodyPr>
            <a:normAutofit/>
          </a:bodyPr>
          <a:lstStyle/>
          <a:p>
            <a:r>
              <a:rPr lang="en-US" sz="1800" dirty="0"/>
              <a:t>When using a bar graph, the change in code will be from</a:t>
            </a:r>
            <a:br>
              <a:rPr lang="en-US" sz="1800" dirty="0"/>
            </a:br>
            <a:r>
              <a:rPr 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b="1" dirty="0">
                <a:solidFill>
                  <a:srgbClr val="0070C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800" dirty="0"/>
              <a:t>to </a:t>
            </a:r>
            <a:r>
              <a:rPr 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plt.bar</a:t>
            </a: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800" dirty="0"/>
              <a:t>changes it into a bar chart.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997606"/>
            <a:ext cx="80010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9144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matplotlib.pyplot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plt</a:t>
            </a:r>
            <a:endParaRPr lang="en-US" b="1" dirty="0">
              <a:latin typeface="Courier New"/>
              <a:cs typeface="Courier New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latin typeface="Courier New"/>
              <a:cs typeface="Courier New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B050"/>
                </a:solidFill>
                <a:latin typeface="Courier New"/>
                <a:cs typeface="Courier New"/>
              </a:rPr>
              <a:t>#Create data for plotting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/>
                <a:cs typeface="Courier New"/>
              </a:rPr>
              <a:t>values = [5, 6, 3, 7, 2]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/>
                <a:cs typeface="Courier New"/>
              </a:rPr>
              <a:t>names  = ["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lang="en-US" b="1" dirty="0">
                <a:latin typeface="Courier New"/>
                <a:cs typeface="Courier New"/>
              </a:rPr>
              <a:t>", "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B</a:t>
            </a:r>
            <a:r>
              <a:rPr lang="en-US" b="1" dirty="0">
                <a:latin typeface="Courier New"/>
                <a:cs typeface="Courier New"/>
              </a:rPr>
              <a:t>", "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C</a:t>
            </a:r>
            <a:r>
              <a:rPr lang="en-US" b="1" dirty="0">
                <a:latin typeface="Courier New"/>
                <a:cs typeface="Courier New"/>
              </a:rPr>
              <a:t>", "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D</a:t>
            </a:r>
            <a:r>
              <a:rPr lang="en-US" b="1" dirty="0">
                <a:latin typeface="Courier New"/>
                <a:cs typeface="Courier New"/>
              </a:rPr>
              <a:t>", "</a:t>
            </a:r>
            <a:r>
              <a:rPr lang="en-US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lang="en-US" b="1" dirty="0">
                <a:latin typeface="Courier New"/>
                <a:cs typeface="Courier New"/>
              </a:rPr>
              <a:t>"]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latin typeface="Courier New"/>
              <a:cs typeface="Courier New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Courier New"/>
                <a:cs typeface="Courier New"/>
              </a:rPr>
              <a:t>plt.bar</a:t>
            </a:r>
            <a:r>
              <a:rPr lang="en-US" b="1" dirty="0">
                <a:latin typeface="Courier New"/>
                <a:cs typeface="Courier New"/>
              </a:rPr>
              <a:t>(names, values, color="green")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Courier New"/>
                <a:cs typeface="Courier New"/>
              </a:rPr>
              <a:t>plt.show</a:t>
            </a:r>
            <a:r>
              <a:rPr lang="en-US" b="1" dirty="0">
                <a:latin typeface="Courier New"/>
                <a:cs typeface="Courier New"/>
              </a:rPr>
              <a:t>() </a:t>
            </a:r>
            <a:endParaRPr kumimoji="0" lang="en-US" altLang="en-US" b="1" i="0" u="none" strike="noStrike" cap="none" normalizeH="0" baseline="0" dirty="0">
              <a:ln>
                <a:noFill/>
              </a:ln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075" name="Picture 3" descr="https://miro.medium.com/max/362/1*gEa8NOcEz7uaUEC2A7qDD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05200"/>
            <a:ext cx="34480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78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Bar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889966" cy="53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can also flip the bar graph horizontally with the following</a:t>
            </a:r>
          </a:p>
          <a:p>
            <a:endParaRPr lang="en-US" sz="24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85800" y="1683344"/>
            <a:ext cx="8001000" cy="2616101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9144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b="1" dirty="0">
                <a:solidFill>
                  <a:srgbClr val="A23A8A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matplotlib.pyplot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plt</a:t>
            </a:r>
            <a:endParaRPr lang="en-US" b="1" dirty="0">
              <a:latin typeface="Courier New"/>
              <a:cs typeface="Courier New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#Create data for plotting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values = [5,6,3,7,2]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  = ["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Adding an "h" after bar will flip the graph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plt.barh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values, color="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yellowgreen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pic>
        <p:nvPicPr>
          <p:cNvPr id="4099" name="Picture 3" descr="https://miro.medium.com/max/363/1*rCwDtlsbqnEJBRyRLulKQ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766" y="4327748"/>
            <a:ext cx="345757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27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92"/>
            <a:ext cx="8382000" cy="648553"/>
          </a:xfrm>
        </p:spPr>
        <p:txBody>
          <a:bodyPr>
            <a:normAutofit fontScale="90000"/>
          </a:bodyPr>
          <a:lstStyle/>
          <a:p>
            <a:r>
              <a:rPr lang="en-US" dirty="0"/>
              <a:t>Bar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58589"/>
            <a:ext cx="8382000" cy="5501506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heights of bars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height = [10, 24, 36, 40, 5] </a:t>
            </a:r>
          </a:p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labels for bars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names = ['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two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three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four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five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a bar chart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c1 =['red', 'green']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c2 =['b', 'g']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we can use this for color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plt.bar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(left, height, width=0.8, color=c1)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naming the x-axis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- axis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naming the y-axis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- axis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 title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 bar chart!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to show the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pic>
        <p:nvPicPr>
          <p:cNvPr id="6146" name="Picture 2" descr="mp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792" y="1066800"/>
            <a:ext cx="2770808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959096" y="4953000"/>
            <a:ext cx="3657600" cy="1077218"/>
          </a:xfrm>
          <a:prstGeom prst="rect">
            <a:avLst/>
          </a:prstGeom>
          <a:solidFill>
            <a:srgbClr val="FFC000">
              <a:alpha val="52000"/>
            </a:srgb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Here, we use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plt.bar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1600" dirty="0"/>
              <a:t>function to plot a bar chart.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can also give some name to x-axis coordinates by defining </a:t>
            </a:r>
            <a:r>
              <a:rPr lang="en-US" sz="1600" dirty="0" err="1"/>
              <a:t>tick_labels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0502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272" y="12192"/>
            <a:ext cx="8644128" cy="978408"/>
          </a:xfrm>
        </p:spPr>
        <p:txBody>
          <a:bodyPr>
            <a:normAutofit/>
          </a:bodyPr>
          <a:lstStyle/>
          <a:p>
            <a:r>
              <a:rPr lang="en-US" dirty="0"/>
              <a:t>Histogram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72" y="990600"/>
            <a:ext cx="8644128" cy="5509200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sz="1600" b="1" dirty="0">
                <a:solidFill>
                  <a:srgbClr val="A23A8A"/>
                </a:solidFill>
                <a:latin typeface="Courier New"/>
                <a:cs typeface="Courier New"/>
              </a:rPr>
              <a:t> </a:t>
            </a:r>
            <a:r>
              <a:rPr lang="en-US" sz="1600" b="1" dirty="0" err="1">
                <a:latin typeface="Courier New"/>
                <a:cs typeface="Courier New"/>
              </a:rPr>
              <a:t>matplotlib.pyplot</a:t>
            </a:r>
            <a:r>
              <a:rPr lang="en-US" sz="1600" b="1" dirty="0"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sz="1600" b="1" dirty="0">
                <a:latin typeface="Courier New"/>
                <a:cs typeface="Courier New"/>
              </a:rPr>
              <a:t> </a:t>
            </a:r>
            <a:r>
              <a:rPr lang="en-US" sz="1600" b="1" dirty="0" err="1">
                <a:latin typeface="Courier New"/>
                <a:cs typeface="Courier New"/>
              </a:rPr>
              <a:t>plt</a:t>
            </a:r>
            <a:endParaRPr lang="en-US" sz="1600" b="1" dirty="0">
              <a:latin typeface="Courier New"/>
              <a:cs typeface="Courier New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frequencies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ages=[2,5,70,40,30,45,50,45,43,40,44,60,7,13,57,18,90,77,32,21,20,40]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setting the ranges and no. of intervals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range = (0, 100)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bins = 10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a histogram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plt.hist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(ages, bins, range, color='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histtype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rwidth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=0.8)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x-axis label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frequency label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No. of people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 title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 histogram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to show the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172" name="Picture 4" descr="mp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32889"/>
            <a:ext cx="3619500" cy="252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18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276600"/>
            <a:ext cx="4953000" cy="2895599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Looking at the code snippet, I added two new arguments:</a:t>
            </a:r>
          </a:p>
          <a:p>
            <a:pPr lvl="1">
              <a:spcBef>
                <a:spcPts val="600"/>
              </a:spcBef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is an argument specific to a histogram and allows the user to customize how many bins they want.</a:t>
            </a:r>
          </a:p>
          <a:p>
            <a:pPr lvl="1">
              <a:spcBef>
                <a:spcPts val="600"/>
              </a:spcBef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is an argument that displays the level of transparency of the data points.</a:t>
            </a:r>
          </a:p>
          <a:p>
            <a:pPr>
              <a:spcBef>
                <a:spcPts val="600"/>
              </a:spcBef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3914" y="895915"/>
            <a:ext cx="8534400" cy="2246769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b="1" dirty="0">
                <a:solidFill>
                  <a:srgbClr val="A23A8A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matplotlib.pyplot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plt</a:t>
            </a:r>
            <a:endParaRPr lang="en-US" b="1" dirty="0">
              <a:latin typeface="Courier New"/>
              <a:cs typeface="Courier New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#generate fake data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[2,1,6,4,2,4,8,9,4,2,4,10,6,4,5,7,7,3,2,7,5,3,5,9,2,1]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#plot for a histogram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plt.hist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(x, bins = 10, color='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', alpha=0.5)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6146" name="Picture 2" descr="https://miro.medium.com/max/362/1*r3H8V-fX7qGOS3XBbv1nD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596" y="3962400"/>
            <a:ext cx="34480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97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508" y="274638"/>
            <a:ext cx="8373292" cy="702852"/>
          </a:xfrm>
        </p:spPr>
        <p:txBody>
          <a:bodyPr>
            <a:normAutofit fontScale="90000"/>
          </a:bodyPr>
          <a:lstStyle/>
          <a:p>
            <a:r>
              <a:rPr lang="en-US" dirty="0"/>
              <a:t>Scatter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508" y="3962401"/>
            <a:ext cx="3953692" cy="2286000"/>
          </a:xfrm>
        </p:spPr>
        <p:txBody>
          <a:bodyPr>
            <a:normAutofit/>
          </a:bodyPr>
          <a:lstStyle/>
          <a:p>
            <a:r>
              <a:rPr lang="en-US" sz="2000" dirty="0"/>
              <a:t>Can you see the pattern? Now the code changed from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plt.bar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 to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plt.scatter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1161895"/>
            <a:ext cx="8382000" cy="2616101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9144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b="1" dirty="0">
                <a:solidFill>
                  <a:srgbClr val="A23A8A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matplotlib.pyplot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plt</a:t>
            </a:r>
            <a:endParaRPr lang="en-US" b="1" dirty="0">
              <a:latin typeface="Courier New"/>
              <a:cs typeface="Courier New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#create data for plotting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x_values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[0,1,2,3,4,5]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y_values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[0,1,4,9,16,25]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plt.scatter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x_values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y_values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s=30, color=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915" y="3813165"/>
            <a:ext cx="3738885" cy="280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88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192"/>
            <a:ext cx="8597918" cy="1143000"/>
          </a:xfrm>
        </p:spPr>
        <p:txBody>
          <a:bodyPr>
            <a:normAutofit/>
          </a:bodyPr>
          <a:lstStyle/>
          <a:p>
            <a:r>
              <a:rPr lang="en-US" dirty="0"/>
              <a:t>Scatter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066800"/>
            <a:ext cx="8545667" cy="5262979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sz="1600" b="1" dirty="0">
                <a:solidFill>
                  <a:srgbClr val="A23A8A"/>
                </a:solidFill>
                <a:latin typeface="Courier New"/>
                <a:cs typeface="Courier New"/>
              </a:rPr>
              <a:t> </a:t>
            </a:r>
            <a:r>
              <a:rPr lang="en-US" sz="1600" b="1" dirty="0" err="1">
                <a:latin typeface="Courier New"/>
                <a:cs typeface="Courier New"/>
              </a:rPr>
              <a:t>matplotlib.pyplot</a:t>
            </a:r>
            <a:r>
              <a:rPr lang="en-US" sz="1600" b="1" dirty="0"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sz="1600" b="1" dirty="0">
                <a:latin typeface="Courier New"/>
                <a:cs typeface="Courier New"/>
              </a:rPr>
              <a:t> </a:t>
            </a:r>
            <a:r>
              <a:rPr lang="en-US" sz="1600" b="1" dirty="0" err="1">
                <a:latin typeface="Courier New"/>
                <a:cs typeface="Courier New"/>
              </a:rPr>
              <a:t>plt</a:t>
            </a:r>
            <a:endParaRPr lang="en-US" sz="1600" b="1" dirty="0">
              <a:latin typeface="Courier New"/>
              <a:cs typeface="Courier New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x-axis values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[1,2,3,4,5,6,7,8,9,10]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y-axis values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[2,4,5,7,6,8,9,11,12,12]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points as a scatter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plt.scatter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(x, y, label= "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color="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marker="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s=30)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x-axis label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- axis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frequency label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- axis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 title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 scatter plot!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showing legend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plt.legend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to show the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pic>
        <p:nvPicPr>
          <p:cNvPr id="8194" name="Picture 2" descr="mp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81400"/>
            <a:ext cx="367665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58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192"/>
            <a:ext cx="8610600" cy="902208"/>
          </a:xfrm>
        </p:spPr>
        <p:txBody>
          <a:bodyPr>
            <a:normAutofit/>
          </a:bodyPr>
          <a:lstStyle/>
          <a:p>
            <a:r>
              <a:rPr lang="en-US" dirty="0"/>
              <a:t>Pie-chart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990600"/>
            <a:ext cx="8610600" cy="5509200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ourier New"/>
                <a:cs typeface="Courier New"/>
              </a:rPr>
              <a:t>import</a:t>
            </a:r>
            <a:r>
              <a:rPr lang="en-US" sz="1600" b="1" dirty="0">
                <a:solidFill>
                  <a:srgbClr val="A23A8A"/>
                </a:solidFill>
                <a:latin typeface="Courier New"/>
                <a:cs typeface="Courier New"/>
              </a:rPr>
              <a:t> </a:t>
            </a:r>
            <a:r>
              <a:rPr lang="en-US" sz="1600" b="1" dirty="0" err="1">
                <a:latin typeface="Courier New"/>
                <a:cs typeface="Courier New"/>
              </a:rPr>
              <a:t>matplotlib.pyplot</a:t>
            </a:r>
            <a:r>
              <a:rPr lang="en-US" sz="1600" b="1" dirty="0">
                <a:latin typeface="Courier New"/>
                <a:cs typeface="Courier New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/>
                <a:cs typeface="Courier New"/>
              </a:rPr>
              <a:t>as</a:t>
            </a:r>
            <a:r>
              <a:rPr lang="en-US" sz="1600" b="1" dirty="0">
                <a:latin typeface="Courier New"/>
                <a:cs typeface="Courier New"/>
              </a:rPr>
              <a:t> </a:t>
            </a:r>
            <a:r>
              <a:rPr lang="en-US" sz="1600" b="1" dirty="0" err="1">
                <a:latin typeface="Courier New"/>
                <a:cs typeface="Courier New"/>
              </a:rPr>
              <a:t>plt</a:t>
            </a:r>
            <a:endParaRPr lang="en-US" sz="1600" b="1" dirty="0">
              <a:latin typeface="Courier New"/>
              <a:cs typeface="Courier New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defining labels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activities = ['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sleep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portion covered by each label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slices = [3, 7, 8, 6]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color for each label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colors = ['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the pie chart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plt.pie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(slices, labels = activities, colors=colors,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startangle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=90, shadow = True, explode = (0, 0, 0.1, 0),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radius = 1.2,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autopct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'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%1.1f%%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plotting legend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plt.legend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showing the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218" name="Picture 2" descr="mp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71600"/>
            <a:ext cx="2580322" cy="213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987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153400" cy="1143000"/>
          </a:xfrm>
        </p:spPr>
        <p:txBody>
          <a:bodyPr>
            <a:normAutofit/>
          </a:bodyPr>
          <a:lstStyle/>
          <a:p>
            <a:r>
              <a:rPr lang="en-US" dirty="0"/>
              <a:t>Plotting curves of given equation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992107"/>
            <a:ext cx="7696200" cy="3539430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importing the required modules </a:t>
            </a:r>
          </a:p>
          <a:p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np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setting the x - coordinates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(0, 2*(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np.pi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0.1)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setting the corresponding y - coordinates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np.sin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potting the points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(x, y)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to show the plot </a:t>
            </a:r>
          </a:p>
          <a:p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pic>
        <p:nvPicPr>
          <p:cNvPr id="10242" name="Picture 2" descr="mp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4460747"/>
            <a:ext cx="3714750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295400" y="6069496"/>
            <a:ext cx="411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Examples taken from:</a:t>
            </a:r>
          </a:p>
          <a:p>
            <a:r>
              <a:rPr lang="en-US" sz="1400" dirty="0">
                <a:hlinkClick r:id="rId3"/>
              </a:rPr>
              <a:t>Graph Plotting in Python | Set 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65910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"/>
            <a:ext cx="8229600" cy="877824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0852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We just scratched the surface of the power of </a:t>
            </a:r>
            <a:r>
              <a:rPr lang="en-US" sz="2400" dirty="0" err="1">
                <a:solidFill>
                  <a:srgbClr val="0070C0"/>
                </a:solidFill>
              </a:rPr>
              <a:t>matplotlib</a:t>
            </a:r>
            <a:r>
              <a:rPr lang="en-US" sz="24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You can read more and find how you can create more colorful, detailed, and vibrant graphs.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There are a lot more graphs available in the </a:t>
            </a:r>
            <a:r>
              <a:rPr lang="en-US" sz="2400" dirty="0" err="1">
                <a:solidFill>
                  <a:srgbClr val="0070C0"/>
                </a:solidFill>
              </a:rPr>
              <a:t>matplotlib</a:t>
            </a:r>
            <a:r>
              <a:rPr lang="en-US" sz="2400" dirty="0"/>
              <a:t> library as well as other popular libraries available in python, including: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/>
              <a:t>seaborn</a:t>
            </a:r>
            <a:endParaRPr lang="en-US" sz="2000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https://seaborn.pydata.org/</a:t>
            </a:r>
            <a:r>
              <a:rPr lang="en-US" sz="1600" dirty="0"/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pandas plot (</a:t>
            </a:r>
            <a:r>
              <a:rPr lang="en-US" sz="2000" dirty="0" err="1"/>
              <a:t>pandas.DataFrame.plot</a:t>
            </a:r>
            <a:r>
              <a:rPr lang="en-US" sz="2000" dirty="0"/>
              <a:t>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 </a:t>
            </a:r>
            <a:r>
              <a:rPr lang="en-US" sz="1600" dirty="0">
                <a:hlinkClick r:id="rId3"/>
              </a:rPr>
              <a:t>https://pandas.pydata.org/pandas-docs/stable/reference/api/pandas.DataFrame.plot.html</a:t>
            </a:r>
            <a:r>
              <a:rPr lang="en-US" sz="1600" dirty="0"/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/>
              <a:t>plotly</a:t>
            </a:r>
            <a:r>
              <a:rPr lang="en-US" sz="2000" dirty="0"/>
              <a:t> (</a:t>
            </a:r>
            <a:r>
              <a:rPr lang="en-US" sz="2000" dirty="0" err="1"/>
              <a:t>Plotly</a:t>
            </a:r>
            <a:r>
              <a:rPr lang="en-US" sz="2000" dirty="0"/>
              <a:t> Python Open Source Graphing Library)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 </a:t>
            </a:r>
            <a:r>
              <a:rPr lang="en-US" sz="1600" dirty="0">
                <a:hlinkClick r:id="rId4"/>
              </a:rPr>
              <a:t>https://plotly.com/python/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1640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err="1"/>
              <a:t>Matplotlib</a:t>
            </a:r>
            <a:r>
              <a:rPr lang="en-US" sz="2400" dirty="0"/>
              <a:t>: Visualization with Python</a:t>
            </a:r>
          </a:p>
          <a:p>
            <a:pPr lvl="1"/>
            <a:r>
              <a:rPr lang="en-US" sz="2000" dirty="0">
                <a:hlinkClick r:id="rId2"/>
              </a:rPr>
              <a:t>https://matplotlib.org/index.html</a:t>
            </a:r>
            <a:endParaRPr lang="en-US" sz="2000" dirty="0"/>
          </a:p>
          <a:p>
            <a:r>
              <a:rPr lang="en-US" sz="2400" dirty="0" err="1"/>
              <a:t>matplotlib.pyplot</a:t>
            </a:r>
            <a:endParaRPr lang="en-US" sz="2400" dirty="0"/>
          </a:p>
          <a:p>
            <a:pPr lvl="1"/>
            <a:r>
              <a:rPr lang="en-US" sz="2000" dirty="0">
                <a:hlinkClick r:id="rId3"/>
              </a:rPr>
              <a:t>https://matplotlib.org/3.2.1/api/pyplot_summary.html</a:t>
            </a:r>
            <a:endParaRPr lang="en-US" sz="2000" dirty="0"/>
          </a:p>
          <a:p>
            <a:r>
              <a:rPr lang="en-US" sz="2400" dirty="0"/>
              <a:t>Tutorials</a:t>
            </a:r>
          </a:p>
          <a:p>
            <a:pPr lvl="1"/>
            <a:r>
              <a:rPr lang="en-US" sz="2000" dirty="0">
                <a:hlinkClick r:id="rId4"/>
              </a:rPr>
              <a:t>https://matplotlib.org/tutorials/index.html</a:t>
            </a:r>
            <a:endParaRPr lang="en-US" sz="2000" dirty="0"/>
          </a:p>
          <a:p>
            <a:r>
              <a:rPr lang="en-US" sz="2400" dirty="0"/>
              <a:t>Gallery &amp; Examples</a:t>
            </a:r>
          </a:p>
          <a:p>
            <a:pPr lvl="1"/>
            <a:r>
              <a:rPr lang="en-US" sz="2000" dirty="0">
                <a:hlinkClick r:id="rId5"/>
              </a:rPr>
              <a:t>https://matplotlib.org/gallery/index.html</a:t>
            </a:r>
            <a:r>
              <a:rPr lang="en-US" sz="2000" dirty="0"/>
              <a:t> </a:t>
            </a:r>
          </a:p>
          <a:p>
            <a:r>
              <a:rPr lang="en-US" sz="2400" dirty="0"/>
              <a:t>Videos</a:t>
            </a:r>
          </a:p>
          <a:p>
            <a:pPr lvl="1"/>
            <a:r>
              <a:rPr lang="en-US" sz="2000" dirty="0">
                <a:hlinkClick r:id="rId6"/>
              </a:rPr>
              <a:t>https://www.youtube.com/watch?v=3Fp1zn5ao2M&amp;feature=plcp</a:t>
            </a:r>
            <a:endParaRPr lang="en-US" sz="2000" dirty="0"/>
          </a:p>
          <a:p>
            <a:r>
              <a:rPr lang="en-US" sz="2400" dirty="0"/>
              <a:t>Book: Mastering </a:t>
            </a:r>
            <a:r>
              <a:rPr lang="en-US" sz="2400" dirty="0" err="1"/>
              <a:t>matplotlib</a:t>
            </a:r>
            <a:r>
              <a:rPr lang="en-US" sz="2400" dirty="0"/>
              <a:t> </a:t>
            </a:r>
          </a:p>
          <a:p>
            <a:pPr lvl="1"/>
            <a:r>
              <a:rPr lang="en-US" sz="2000" dirty="0">
                <a:hlinkClick r:id="rId7"/>
              </a:rPr>
              <a:t>https://www.packtpub.com/big-data-and-business-intelligence/mastering-matplotlib</a:t>
            </a: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395658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27762</TotalTime>
  <Words>2519</Words>
  <Application>Microsoft Office PowerPoint</Application>
  <PresentationFormat>On-screen Show (4:3)</PresentationFormat>
  <Paragraphs>365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Courier New</vt:lpstr>
      <vt:lpstr>Times New Roman</vt:lpstr>
      <vt:lpstr>Office Theme</vt:lpstr>
      <vt:lpstr>Intro. to Data Visualization Simple Graphs in Python using</vt:lpstr>
      <vt:lpstr>What is data visualization?</vt:lpstr>
      <vt:lpstr>Matplotlib</vt:lpstr>
      <vt:lpstr>matplotlib</vt:lpstr>
      <vt:lpstr>E.g. Matplotlib</vt:lpstr>
      <vt:lpstr>Components or Parts of Matplotlib Figure</vt:lpstr>
      <vt:lpstr>Different Types of Plots in Matplotlib</vt:lpstr>
      <vt:lpstr>Line Graphs</vt:lpstr>
      <vt:lpstr>PowerPoint Presentation</vt:lpstr>
      <vt:lpstr>More on Line Graph</vt:lpstr>
      <vt:lpstr>pyplot</vt:lpstr>
      <vt:lpstr>PowerPoint Presentation</vt:lpstr>
      <vt:lpstr>Plot</vt:lpstr>
      <vt:lpstr>Simple line</vt:lpstr>
      <vt:lpstr>Simple 2 lines</vt:lpstr>
      <vt:lpstr>Customization of Plots</vt:lpstr>
      <vt:lpstr>Bar graphs</vt:lpstr>
      <vt:lpstr>Bar graphs</vt:lpstr>
      <vt:lpstr>Bar Chart</vt:lpstr>
      <vt:lpstr>Histogram</vt:lpstr>
      <vt:lpstr>Histograms</vt:lpstr>
      <vt:lpstr>Scatter Plots</vt:lpstr>
      <vt:lpstr>Scatter plot</vt:lpstr>
      <vt:lpstr>Pie-chart</vt:lpstr>
      <vt:lpstr>Plotting curves of given equation</vt:lpstr>
      <vt:lpstr>Summary</vt:lpstr>
      <vt:lpstr>References</vt:lpstr>
    </vt:vector>
  </TitlesOfParts>
  <Company>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D Ernst</dc:creator>
  <cp:lastModifiedBy>rakhee chhibber</cp:lastModifiedBy>
  <cp:revision>678</cp:revision>
  <cp:lastPrinted>2012-07-23T05:21:44Z</cp:lastPrinted>
  <dcterms:created xsi:type="dcterms:W3CDTF">2012-06-20T04:14:54Z</dcterms:created>
  <dcterms:modified xsi:type="dcterms:W3CDTF">2025-09-11T16:58:29Z</dcterms:modified>
</cp:coreProperties>
</file>